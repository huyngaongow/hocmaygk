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lineChart>
        <c:grouping val="standard"/>
        <c:varyColors val="0"/>
        <c:ser>
          <c:idx val="0"/>
          <c:order val="0"/>
          <c:tx>
            <c:strRef>
              <c:f>Sheet1!$B$1</c:f>
              <c:strCache>
                <c:ptCount val="1"/>
                <c:pt idx="0">
                  <c:v>Balanced accuracy CV</c:v>
                </c:pt>
              </c:strCache>
            </c:strRef>
          </c:tx>
          <c:spPr>
            <a:ln w="29209">
              <a:solidFill>
                <a:srgbClr val="087F82"/>
              </a:solidFill>
            </a:ln>
          </c:spPr>
          <c:marker>
            <c:symbol val="circle"/>
            <c:size val="8"/>
            <c:spPr>
              <a:solidFill>
                <a:srgbClr val="087F82"/>
              </a:solidFill>
              <a:ln>
                <a:solidFill>
                  <a:srgbClr val="FFFFFF"/>
                </a:solidFill>
              </a:ln>
            </c:spPr>
          </c:marker>
          <c:dLbls>
            <c:dLbl>
              <c:idx val="0"/>
              <c:tx>
                <c:rich>
                  <a:bodyPr/>
                  <a:lstStyle/>
                  <a:p>
                    <a:pPr>
                      <a:defRPr sz="1400">
                        <a:solidFill>
                          <a:srgbClr val="087F82"/>
                        </a:solidFill>
                        <a:latin typeface="Noto Sans"/>
                      </a:defRPr>
                    </a:pPr>
                    <a:r>
                      <a:t>92,33</a:t>
                    </a:r>
                  </a:p>
                </c:rich>
              </c:tx>
              <c:showLegendKey val="0"/>
              <c:showVal val="1"/>
              <c:showCatName val="0"/>
              <c:showSerName val="0"/>
              <c:showPercent val="0"/>
              <c:showBubbleSize val="0"/>
            </c:dLbl>
            <c:dLbl>
              <c:idx val="1"/>
              <c:tx>
                <c:rich>
                  <a:bodyPr/>
                  <a:lstStyle/>
                  <a:p>
                    <a:pPr>
                      <a:defRPr sz="1400">
                        <a:solidFill>
                          <a:srgbClr val="087F82"/>
                        </a:solidFill>
                        <a:latin typeface="Noto Sans"/>
                      </a:defRPr>
                    </a:pPr>
                    <a:r>
                      <a:t>92,83</a:t>
                    </a:r>
                  </a:p>
                </c:rich>
              </c:tx>
              <c:showLegendKey val="0"/>
              <c:showVal val="1"/>
              <c:showCatName val="0"/>
              <c:showSerName val="0"/>
              <c:showPercent val="0"/>
              <c:showBubbleSize val="0"/>
            </c:dLbl>
            <c:dLbl>
              <c:idx val="2"/>
              <c:tx>
                <c:rich>
                  <a:bodyPr/>
                  <a:lstStyle/>
                  <a:p>
                    <a:pPr>
                      <a:defRPr sz="1400">
                        <a:solidFill>
                          <a:srgbClr val="087F82"/>
                        </a:solidFill>
                        <a:latin typeface="Noto Sans"/>
                      </a:defRPr>
                    </a:pPr>
                    <a:r>
                      <a:t>94,44</a:t>
                    </a:r>
                  </a:p>
                </c:rich>
              </c:tx>
              <c:showLegendKey val="0"/>
              <c:showVal val="1"/>
              <c:showCatName val="0"/>
              <c:showSerName val="0"/>
              <c:showPercent val="0"/>
              <c:showBubbleSize val="0"/>
            </c:dLbl>
            <c:dLbl>
              <c:idx val="3"/>
              <c:tx>
                <c:rich>
                  <a:bodyPr/>
                  <a:lstStyle/>
                  <a:p>
                    <a:pPr>
                      <a:defRPr sz="1400">
                        <a:solidFill>
                          <a:srgbClr val="087F82"/>
                        </a:solidFill>
                        <a:latin typeface="Noto Sans"/>
                      </a:defRPr>
                    </a:pPr>
                    <a:r>
                      <a:t>94,88</a:t>
                    </a:r>
                  </a:p>
                </c:rich>
              </c:tx>
              <c:showLegendKey val="0"/>
              <c:showVal val="1"/>
              <c:showCatName val="0"/>
              <c:showSerName val="0"/>
              <c:showPercent val="0"/>
              <c:showBubbleSize val="0"/>
            </c:dLbl>
            <c:dLbl>
              <c:idx val="4"/>
              <c:tx>
                <c:rich>
                  <a:bodyPr/>
                  <a:lstStyle/>
                  <a:p>
                    <a:pPr>
                      <a:defRPr sz="1400">
                        <a:solidFill>
                          <a:srgbClr val="087F82"/>
                        </a:solidFill>
                        <a:latin typeface="Noto Sans"/>
                      </a:defRPr>
                    </a:pPr>
                    <a:r>
                      <a:t>95,26</a:t>
                    </a:r>
                  </a:p>
                </c:rich>
              </c:tx>
              <c:showLegendKey val="0"/>
              <c:showVal val="1"/>
              <c:showCatName val="0"/>
              <c:showSerName val="0"/>
              <c:showPercent val="0"/>
              <c:showBubbleSize val="0"/>
            </c:dLbl>
            <c:dLbl>
              <c:idx val="5"/>
              <c:tx>
                <c:rich>
                  <a:bodyPr/>
                  <a:lstStyle/>
                  <a:p>
                    <a:pPr>
                      <a:defRPr sz="1400">
                        <a:solidFill>
                          <a:srgbClr val="087F82"/>
                        </a:solidFill>
                        <a:latin typeface="Noto Sans"/>
                      </a:defRPr>
                    </a:pPr>
                    <a:r>
                      <a:t>95,07</a:t>
                    </a:r>
                  </a:p>
                </c:rich>
              </c:tx>
              <c:showLegendKey val="0"/>
              <c:showVal val="1"/>
              <c:showCatName val="0"/>
              <c:showSerName val="0"/>
              <c:showPercent val="0"/>
              <c:showBubbleSize val="0"/>
            </c:dLbl>
            <c:numFmt formatCode="0.00" sourceLinked="0"/>
            <c:txPr>
              <a:bodyPr/>
              <a:lstStyle/>
              <a:p>
                <a:pPr>
                  <a:defRPr sz="1400">
                    <a:solidFill>
                      <a:srgbClr val="087F82"/>
                    </a:solidFill>
                    <a:latin typeface="Noto Sans"/>
                  </a:defRPr>
                </a:pPr>
              </a:p>
            </c:txPr>
            <c:dLblPos val="t"/>
            <c:showLegendKey val="0"/>
            <c:showVal val="1"/>
            <c:showCatName val="0"/>
            <c:showSerName val="0"/>
            <c:showPercent val="0"/>
            <c:showBubbleSize val="0"/>
            <c:showLeaderLines val="1"/>
          </c:dLbls>
          <c:cat>
            <c:strRef>
              <c:f>Sheet1!$A$2:$A$7</c:f>
              <c:strCache>
                <c:ptCount val="6"/>
                <c:pt idx="0">
                  <c:v>1</c:v>
                </c:pt>
                <c:pt idx="1">
                  <c:v>5</c:v>
                </c:pt>
                <c:pt idx="2">
                  <c:v>11</c:v>
                </c:pt>
                <c:pt idx="3">
                  <c:v>21</c:v>
                </c:pt>
                <c:pt idx="4">
                  <c:v>51</c:v>
                </c:pt>
                <c:pt idx="5">
                  <c:v>101</c:v>
                </c:pt>
              </c:strCache>
            </c:strRef>
          </c:cat>
          <c:val>
            <c:numRef>
              <c:f>Sheet1!$B$2:$B$7</c:f>
              <c:numCache>
                <c:formatCode>General</c:formatCode>
                <c:ptCount val="6"/>
                <c:pt idx="0">
                  <c:v>92.3250786163522</c:v>
                </c:pt>
                <c:pt idx="1">
                  <c:v>92.8286600279525</c:v>
                </c:pt>
                <c:pt idx="2">
                  <c:v>94.44204227812719</c:v>
                </c:pt>
                <c:pt idx="3">
                  <c:v>94.881857092942</c:v>
                </c:pt>
                <c:pt idx="4">
                  <c:v>95.2557215234102</c:v>
                </c:pt>
                <c:pt idx="5">
                  <c:v>95.06704227812719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400">
                <a:latin typeface="Noto Sans"/>
              </a:defRPr>
            </a:pPr>
          </a:p>
        </c:txPr>
        <c:crossAx val="2140495176"/>
        <c:crosses val="autoZero"/>
        <c:auto val="1"/>
        <c:lblAlgn val="ctr"/>
        <c:lblOffset val="100"/>
        <c:noMultiLvlLbl val="0"/>
      </c:catAx>
      <c:valAx>
        <c:axId val="2140495176"/>
        <c:scaling>
          <c:max val="98.0"/>
          <c:min val="90.0"/>
        </c:scaling>
        <c:delete val="0"/>
        <c:axPos val="l"/>
        <c:majorGridlines>
          <c:spPr>
            <a:ln>
              <a:solidFill>
                <a:srgbClr val="DCE4EB"/>
              </a:solidFill>
            </a:ln>
          </c:spPr>
        </c:majorGridlines>
        <c:majorTickMark val="out"/>
        <c:minorTickMark val="none"/>
        <c:tickLblPos val="nextTo"/>
        <c:txPr>
          <a:bodyPr/>
          <a:lstStyle/>
          <a:p>
            <a:pPr>
              <a:defRPr sz="1300">
                <a:latin typeface="Noto Sans"/>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Mở đầu bằng câu hỏi: kết hợp nhiều mô hình giúp dự đoán thế nào? Bài đi sâu Bagging qua tính tay, mã tự triển khai và thực nghiệm; bổ sung AdaBoost, Voting và Stacking bằng scikit-learn để làm rõ các cách kết hợp khác. Nhóm tự viết bootstrap, hard voting và OOB; cây cơ sở dùng thư viện. Sơ đồ trên bìa minh họa cơ chế, không phải những cây đã học cụ thể. Bộ slide có 18 trang chính và 6 trang dự phòng. Luyện tập khoảng 14–17 phút rồi điều chỉnh theo thời lượng giảng viên giao; đây không phải thời lượng quy định trong đề.</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Bagging học trên các bootstrap; Boosting xây dựng mô hình tuần tự; Voting kết hợp nhãn hoặc xác suất; Stacking học bộ kết hợp từ dự đoán ngoài fold. Các hướng này không hoàn toàn tách rời: Bagging cũng dùng voting. Bài tự triển khai cơ chế Bagging và dùng scikit-learn cho AdaBoost, Voting, Stacking. Phần mở rộng là đối chiếu mô tả trên cùng các lần chia, không chứng minh một họ luôn tốt hơn. Hai slide tiếp theo giải thích cơ chế mới trước khi đi sâu Bagging.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AdaBoost trong sklearn 1.8 dùng SAMME. Tại mỗi vòng, học một cây với trọng số quan sát hiện tại, tính sai số có trọng số ε, rồi gán trọng số cây α. Với hai lớp, 0&lt;ε&lt;0,5 và learning_rate=1, α=ln((1−ε)/ε). Nếu học hoàn hảo hoặc gặp điều kiện dừng, thư viện xử lý riêng. Ví dụ ε=0,2 cho α=ln4≈1,386. Nhóm sai có tổng trọng số 0,2 nhân 4 thành 0,8; nhóm đúng0,8 nhân 1 vẫn 0,8. Chia cho tổng 1,6: hai nhóm đều 0,5. Đây là ví dụ giả định, không phải một vòng chạy đã đo trên dữ liệu u vú. Công thức AdaBoost nhị phân dạng ±1 thường dùng nửa alpha và cập nhật cả nhóm đúng/sai; không trộn hai quy ước. Mô hình có thể dừng trước51 vòng theo điều kiện của thư viện. Cấu hình được cố định, không chọn theo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Ba loại mô hình cơ sở gồm cây độ sâu cố định3, Logistic Regression với StandardScaler và Gaussian Naive Bayes. Voting hard đếm nhãn, soft trung bình xác suất với trọng số bằng nhau. Stacking chia train thành 5 fold: mỗi mô hình chỉ học 4 fold để dự đoán fold còn lại. Ghép các dự đoán ngoài fold thành đầu vào cho Logistic Regression tầng hai. Sau đó các mô hình cơ sở được học lại trên toàn train để dự đoán dữ liệu mới. Scaler ở trong pipeline nên được fit lại trong mỗi fold, không học trên validation/test. stack_method=predict_proba, passthrough=False; sklearn nhị phân bỏ một cột xác suất dư thừa mỗi mô hình. Độ sâu3 của cây cơ sở được cố định trong phần mở rộng, khác cây chọn độ sâu bằng CV của thí nghiệm Bagging gốc. Các mô hình đơn cùng cấu hình cũng được đánh giá để kiểm tra giá trị của tổ hợp. Ví dụ bổ sung khi cần giải thích hard và soft voting: Hard voting chỉ đếm nhãn nên chọn ác với hai trong ba phiếu. Soft voting lấy trung bình xác suất: (0,51 + 0,51 + 0,01)/3 ≈ 0,3433 cho lớp ác, tương ứng khoảng 0,6567 cho lớp lành, nên chọn lành. Hai quy tắc có thể cho kết quả khác; soft không tự động tốt hơn hard. Phần đối chứng ở slide 17 kiểm tra chúng trên cùng các cây đã học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Mỗi bootstrap có N lượt lấy có hoàn lại, nên một quan sát có thể lặp hoặc không xuất hiện. Mỗi cây học trên bootstrap riêng rồi cùng dự đoán một quan sát mới. Các cây học độc lập về quy trình, không có nghĩa dự đoán của chúng độc lập thống kê. Mã minh họa huấn luyện tuần tự. Mô hình tham chiếu có N = 426, B = 51 và max_depth = 3. Số cây lẻ tránh hòa trong bài toán hai lớp; khi có nhiều lớp vẫn có thể hòa, mã chọn lớp đầu trong classes_.</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Ví dụ gồm x = [1, 2, 3, 4, 5] và y = [1, 1, 0, 0, 0], với nhãn 1 là lành, nhãn 0 là ác. Các chỉ số hàng bắt đầu từ 0. Ba bootstrap được chọn cố định để dễ tính tay: h₁ vắng hàng 3, h₂ vắng hàng 2 và h₃ vắng hàng 0. Đây là dữ liệu giả lập, không đại diện cho một đặc trưng y tế cụ thể. Trong thí nghiệm chính, bootstrap vẫn được sinh ngẫu nhiên có hoàn lại theo seed.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Bootstrap của h₁ có các giá trị [1, 1, 3, 5, 2], gồm ba nhãn lành và hai nhãn ác. Gini ban đầu bằng 0,48. Các ngưỡng ứng viên là 1,5; 2,5 và 4,0, cho Gini sau chia lần lượt 0,2667; 0 và 0,30. Ngưỡng 2,5 có mức giảm lớn nhất nên được chọn. h₂ thiếu x = 3 nên học ngưỡng 3,0; h₃ có ngưỡng 2,5. Phép tính được đối chiếu với cây một mức của scikit-learn, không phải bộ học cây do nhóm tự cài từ đầu.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Đưa cùng quan sát mới x = 2,8 qua ba cây. Với h₁ và h₃, giá trị này lớn hơn ngưỡng 2,5 nên dự đoán ác, nhãn 0. Với h₂, 2,8 nhỏ hơn hoặc bằng ngưỡng 3,0 nên dự đoán lành, nhãn 1. Tổ hợp có hai phiếu ác và một phiếu lành, vì vậy chọn nhãn 0. Đây chỉ là minh họa quy tắc đa số. Mẫu mới chưa có nhãn thật, nên chưa thể kết luận dự đoán đúng hay sai; tỷ lệ phiếu cũng chưa phải xác suất bệnh.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Dữ liệu gồm 569 quan sát, 212 mẫu ác và 357 mẫu lành, với 30 đặc trưng số đã trích xuất từ nhân tế bào. Ác tính có nhãn 0 và được quy ước là lớp dương. Seed 42 chia có phân tầng theo tỷ lệ 75/25: train 426 gồm 159 ác, 267 lành; test 143 gồm 53 ác, 90 lành. Chỉ trên train, CV phân tầng năm fold thử độ sâu 2–6; độ sâu 3 đạt balanced accuracy CV cao nhất, 93,73%. Độ sâu được chọn bằng cây đơn rồi dùng chung cho ba mô hình; chưa tối ưu riêng từng ensemble. Test không tham gia lựa chọn. Mỗi seed 42–51 lặp lại quy trình này.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Đoạn trích nằm trong phương thức fit; X ở đây chỉ chứa train. Nhãn encoded được tạo bằng np.unique(y, return_inverse=True), giúp đưa các lớp về chỉ số liên tiếp. Bộ sinh rng khởi tạo từ random_state, rồi sinh n_samples chỉ số có hoàn lại và seed cho từng cây. Mỗi cây học X và nhãn trên cùng chỉ số bootstrap. Mã đầy đủ còn lưu estimators_samples_ để truy vết và tính OOB. Cây DecisionTreeClassifier dùng thư viện; phần nhóm tự triển khai là tổ chức lấy mẫu, nhiều cây và quản lý phiếu.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Nguyễn Nghĩa Hiếu.</a:t>
            </a:r>
          </a:p>
          <a:p/>
          <a:p>
            <a:r>
              <a:t>Các cây học nhãn mã hóa nên predict trả về chỉ số cột lớp. np.add.at cộng một phiếu vào đúng hàng và cột; argmax chọn lớp nhiều phiếu nhất, rồi self.classes_ ánh xạ về nhãn gốc. Trong mã đầy đủ, votes và predict là hai phương thức riêng; slide gộp để giải thích. Bộ kiểm thử xác minh hard/soft khác nhãn, cây học một lớp, OOB, phép đo bất đồng và quy trình mở rộng. Chuyển lời cho thành viên thứ hai: từ cơ chế đã kiểm chứng, phần tiếp theo xem các cây hoạt động ra sao trên dữ liệu thực.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Hàng của ma trận là nhãn thật, cột là dự đoán. Bagging có TP = 49, FN = 4, FP = 3 và TN = 87; cây đơn có TP = 48, FN = 5, FP = 3 và TN = 87. Bagging đúng 136/143, cây đơn đúng 135/143, chênh khoảng 0,70 điểm phần trăm accuracy. Precision ác của Bagging là 94,23%, F1 ác là 93,33%; xem phụ lục chỉ số khi được hỏi. Random Forest có cùng chỉ số tổng hợp ở seed 42 nhưng sai trên những quan sát khác: hai mô hình khác dự đoán ở hàng 291 và 128. Không suy ra tương đương từ điểm tổng hợp. ManualBagging dùng toàn bộ đặc trưng và hard voting; RF sklearn dùng ngẫu nhiên hóa đặc trưng và trung bình xác suất.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Trung bình được trình bày theo phần trăm; SD mẫu theo điểm phần trăm. Mỗi seed đều chia lại 75/25 có phân tầng và chọn độ sâu trên train. Khi so accuracy trong cùng seed, Bagging cao hơn cây đơn 9 lần, bằng 1 lần, thấp hơn 0 lần; chênh lệch trung bình khoảng +1,96 điểm phần trăm. So với RF, các số tương ứng là 2, 4 và 4, chênh lệch trung bình −0,28 điểm phần trăm. Các holdout có thể giao nhau, nên không coi là mười phép thử độc lập hay suy ra giá trị p từ số lần thắng.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Mọi mô hình dùng cùng train/test theo seed 42–51. Ba mô hình gốc được chạy lại và đối chiếu với kết quả cũ. Phần bổ sung dùng cấu hình cố định: AdaBoost tối đa51 cây một mức; Voting/Stacking dùng cây độ sâu 3, Logistic Regression chuẩn hóa trong pipeline và Gaussian NB. Chưa tối ưu riêng từng mô hình. Đây là mở rộng sau khi đã xem kết quả của bài gốc; giữ test ngoài huấn luyện và không tuning theo test không biến dữ liệu đã thấy thành xác nhận độc lập mới. Trung bình theo%, SD theo điểm phần trăm; các test có thể giao nhau. Không quy chênh lệch riêng cho một cơ chế vì kiến trúc/cấu hình khác nhau. Đối chiếu cả mô hình đơn: không mặc định tổ hợp phải tốt hơn Logistic Regression. Toàn bộ số liệu: Decision Tree: accuracy 92,80 ± 1,84%, recall ác 90,38 ± 4,66%; Manual Bagging: accuracy 94,76 ± 1,59%, recall ác 92,45 ± 3,77%; Random Forest (sklearn): accuracy 95,03 ± 1,85%, recall ác 92,26 ± 3,26%; Decision Tree (depth=3): accuracy 92,94 ± 2,15%, recall ác 90,19 ± 4,86%; Logistic Regression: accuracy 97,62 ± 0,82%, recall ác 96,60 ± 2,32%; Gaussian NB: accuracy 94,20 ± 1,40%, recall ác 90,19 ± 4,15%; AdaBoost: accuracy 96,43 ± 1,07%, recall ác 94,15 ± 2,08%; Voting (hard): accuracy 95,80 ± 1,23%, recall ác 92,64 ± 3,72%; Voting (soft): accuracy 95,66 ± 1,27%, recall ác 92,64 ± 3,72%; Stacking: accuracy 96,64 ± 1,22%, recall ác 95,09 ± 2,70%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Khảo sát chỉ dùng 426 mẫu train của seed 42, với năm fold ngoài. Trong phần học của mỗi fold, CV năm fold chọn độ sâu bằng cây đơn; các độ sâu là [2, 6, 2, 2, 6]. Các cấu hình B = [1, 5, 11, 21, 51, 101] dùng chung độ sâu và chuỗi seed tương ứng. Balanced accuracy trung bình tăng đến 95,26% ở 51 cây, rồi còn 95,07% ở 101 cây. SD tại 51 cây là 2,45 điểm phần trăm, không phải khoảng tin cậy. Đây là khảo sát bổ sung, chưa chứng minh 51 tối ưu tổng quát.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Quan sát được chọn có chỉ số test 2, tức mẫu thứ ba khi bắt đầu đếm từ 0, tương ứng hàng dữ liệu 291. Nhãn thật là lành tính, nhãn 1. Bagging nhận 27 phiếu ác và 24 phiếu lành, nên chọn nhãn 0 và tạo lỗi dương tính giả. Biên phiếu bằng 3/51 ≈ 0,0588; chênh lệch hai tỷ lệ là 5,88 điểm phần trăm, chưa phải xác suất bệnh đã hiệu chỉnh. RF dự đoán đúng mẫu này nhưng sai hàng 128, nên tổng FP vẫn bằng 3. Truy vết hai cây ở slide 21.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Đối chứng 2 × 2 tách hai yếu tố: xét toàn bộ đặc trưng hoặc sqrt; hard voting hoặc trung bình xác suất. Chỉ dùng 426 mẫu train của seed 42, không dùng test 143. Cùng năm fold ngoài, trong phần học mỗi fold, CV năm fold chọn độ sâu bằng cây đơn rồi dùng chung cho bốn cấu hình. Giữ nguyên bootstrap và seed từng cây giữa hai nhóm đặc trưng; hard/soft dùng chính cùng các cây đã học. All hard/soft đều đạt 95,26 ± 2,45%; sqrt hard 93,62 ± 3,48%, sqrt soft 93,44 ± 3,77%. All hard/soft trùng nhãn trên 426 lượt dự đoán ngoài fold; sqrt khác ở một quan sát. Giữ hard và đổi all sang sqrt, BA giảm khoảng 1,63 điểm phần trăm. Chưa có kiểm định ý nghĩa thống kê. Đây là phân tích bổ sung sau thí nghiệm gốc, chưa tối ưu riêng mỗi biến thể. D là tỷ lệ các cặp cây dự đoán khác nhãn, trung bình trên các quan sát và fold; chưa phải tương quan lỗi hay mức độc lập. Với hai lớp và 51 cây, D tối đa khoảng 50,98%. Ngẫu nhiên hóa đặc trưng làm tăng bất đồng nhưng giảm chất lượng cây cơ sở; balanced accuracy tổ hợp hard cũng giảm. Điều này chưa chứng minh xét toàn bộ đặc trưng luôn tốt hơn. Công thức phương sai σ²[ρ + (1 − ρ)/B] chỉ tạo trực giác khi các dự đoán số cùng phương sai và tương quan; không suy ρ từ 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Trần Quốc Bảo.</a:t>
            </a:r>
          </a:p>
          <a:p/>
          <a:p>
            <a:r>
              <a:t>Kết thúc bằng ba ý: Bagging, phạm vi các họ và cân bằng chất lượng/đa dạng. LR đơn có accuracy trung bình cao nhất trong phần mở rộng nên không mặc định tổ hợp tốt hơn; AdaBoost/Stacking cũng chưa phải lựa chọn tối ưu tổng quát.  Bagging liên hệ bootstrap với tổng hợp dự đoán; cải thiện so với cây đơn trong các lần chia đã khảo sát; nhưng tăng số cây hoặc mức bất đồng chưa tự động tạo mô hình tốt hơn. Chưa thể khẳng định Bagging vượt trội nhất quán so với RF, 51 cây tối ưu tổng quát hay mô hình đủ hiệu quả lâm sàng. Phần trình bày chính dừng tại đây. Hai thành viên cùng tham gia hỏi đáp và chỉ mở slide dự phòng phù hợp với câu hỏi. Bộ kiểm thử tự động giúp phát hiện lỗi cài đặt, không thay thế đánh giá ngoài mẫu. Thí nghiệm gốc dùng độ sâu chọn bằng cây đơn rồi dùng chung; phần mở rộng dùng cấu hình cố định riêng từng mô hình, chưa tuning riêng. Gói nộp kèm chương trình, kết quả và báo cáo. Chạy thí nghiệm gốc để tạo results.json trước ba script bổ sung; dùng các phiên bản thư viện trong requirements.txt. Học tuần tự B cây có chi phí xấp xỉ B lần chi phí một cây; dự đoán K quan sát, độ sâu d có bậc O(KBd). Khảo sát số cây và đối chứng chỉ dùng train seed 42; so sánh các họ dùng 10 split đã xuất hiện trong thí nghiệm gốc, nên là phân tích hậu nghiệm chứ không phải xác nhận độc lập. Đây là phân tích cấu trúc, chưa đo thời gian thực. Demo nhanh lưu ở outputs/quick để giữ riêng kết quả mặc định.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Mỗi quan sát chỉ nhận phiếu OOB từ các cây chưa lấy nó vào bootstrap. Hàng chưa có phiếu được giữ không xác định, tránh dùng argmax trên hàng toàn 0. Lần tham chiếu có coverage 100% và 401/426 dự đoán đúng. Với N = 426, xác suất vắng trong một bootstrap khoảng 36,74%. Số quan sát khác nhau kỳ vọng là 269,47, thực tế trung bình 268,04; số phiếu OOB kỳ vọng mỗi mẫu là 18,74, thực tế 18,91. Coverage khác accuracy. OOB được tính sau chọn độ sâu nên chưa độc lập hoàn toàn với tuning.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Ba đặc trưng được chọn từ tần suất xuất hiện tại nút gốc trên train: worst perimeter ở 16 cây, worst concave points ở 14 cây và worst radius ở 9 cây. Giá trị của mẫu 291 lần lượt là 109,10; 0,14890 và 16,25, đều nằm giữa trung vị hai lớp, đồng thời giữa Q3 lớp lành và Q1 lớp ác. Hộp biểu diễn Q1–Q3, vạch là trung vị, hình thoi là mẫu lỗi. Mỗi hàng có thang đo riêng, không so chiều dài giữa các đặc trưng. Phân tích này chưa xác định nguyên nhân y khoa.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Các ngưỡng trên slide đã làm tròn để dễ đọc; JSON lưu giá trị đầy đủ. Mẫu có worst radius = 16,25; worst concave points = 0,14890; worst symmetry = 0,29620; mean concave points = 0,04819 và worst perimeter = 109,10. Theo hai chuỗi điều kiện khác nhau, cây thứ nhất đến lá chứa 18 lượt nhãn ác; cây thứ hai đến lá có 256 lượt lành và 3 lượt ác. Bootstrap có thể lặp hàng nên số lượt chưa phải số bệnh nhân khác nhau. Hai đường đi chỉ giải thích hai phiếu; tổ hợp cuối dùng đủ 51 cây.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TP và FN đọc từ hàng nhãn thật ác tính; FP và TN từ hàng nhãn thật lành tính. Với Bagging tại seed 42, TP = 49, FN = 4, FP = 3 và TN = 87. Balanced accuracy bằng (49/53 + 87/90)/2 ≈ 94,56%. Vì lớp dương có nhãn 0, các hàm tính precision, recall và F1 dùng pos_label = 0. Phân biệt accuracy test 95,10% với balanced accuracy CV 95,26% trên train: chúng thuộc hai quy trình khác nhau. Tỷ lệ phiếu cây chưa phải xác suất bệnh đã hiệu chỉnh.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Bảng có ba mô hình của thí nghiệm gốc và bảy cấu hình bổ sung. Cây đơn CV được chọn độ sâu 2–6 trên train từng seed; cây đơn độ sâu 3 là đối chứng cùng cấu hình cây trong Voting/Stacking. Logistic Regression dùng StandardScaler trong pipeline; Gaussian NB không chuẩn hóa. Voting và Stacking có cùng ba loại mô hình cơ sở nhưng học các bản sao theo quy trình riêng; không phải cùng các đối tượng đã fit. Với binary predict_proba, sklearn Stacking bỏ cột đầu dư thừa và giữ xác suất lớp1 lành của mỗi mô hình làm ba đặc trưng tầng hai. AdaBoost dùng tối đa 51 stumps với learning_rate=1, có thể dừng sớm. Cấu hình được cố định trước khi chạy phần bổ sung, sau khi đã xem thí nghiệm gốc; không diễn giải thành kiểm định xác nhận độc lập. Decision Tree: accuracy 92,80 ± 1,84%, recall ác 90,38 ± 4,66%; Manual Bagging: accuracy 94,76 ± 1,59%, recall ác 92,45 ± 3,77%; Random Forest (sklearn): accuracy 95,03 ± 1,85%, recall ác 92,26 ± 3,26%; Decision Tree (depth=3): accuracy 92,94 ± 2,15%, recall ác 90,19 ± 4,86%; Logistic Regression: accuracy 97,62 ± 0,82%, recall ác 96,60 ± 2,32%; Gaussian NB: accuracy 94,20 ± 1,40%, recall ác 90,19 ± 4,15%; AdaBoost: accuracy 96,43 ± 1,07%, recall ác 94,15 ± 2,08%; Voting (hard): accuracy 95,80 ± 1,23%, recall ác 92,64 ± 3,72%; Voting (soft): accuracy 95,66 ± 1,27%, recall ác 92,64 ± 3,72%; Stacking: accuracy 96,64 ± 1,22%, recall ác 95,09 ± 2,70%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nói gợi ý: Cả hai — dự phòng khi hỏi đáp.</a:t>
            </a:r>
          </a:p>
          <a:p/>
          <a:p>
            <a:r>
              <a:t>Tài liệu: [1] https://doi.org/10.1007/BF00058655; [2] https://doi.org/10.1023/A:1010933404324; [3] https://scikit-learn.org/stable/modules/ensemble.html; [4] https://scikit-learn.org/stable/modules/generated/sklearn.datasets.load_breast_cancer.html; [5] https://scikit-learn.org/stable/modules/tree.html; [6] https://doi.org/10.1006/jcss.1997.1504; [7] https://doi.org/10.1016/S0893-6080(05)80023-1. Mã nhóm: https://github.com/Huyngaongow/hocmaygk. Dùng Python 3.12 và requirements.txt. Chạy thí nghiệm gốc trước ba phân tích bổ sung. Kiểm thử: python -m unittest discover -s tests -v. Ví dụ: python examples/toy_bagging.py. Demo nhanh: python de_5_ensemble_learning.py --repeats 1 --output-dir outputs/quick. Dùng Python trong venv đã cài thư viện; trên Windows có thể gọi trực tiếp .venv\Scripts\python.exe.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TIỂU LUẬN GIỮA KỲ · NHẬP MÔN HỌC MÁY</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01</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tdtu_logo.png"/>
          <p:cNvPicPr>
            <a:picLocks noChangeAspect="1"/>
          </p:cNvPicPr>
          <p:nvPr/>
        </p:nvPicPr>
        <p:blipFill>
          <a:blip r:embed="rId2"/>
          <a:stretch>
            <a:fillRect/>
          </a:stretch>
        </p:blipFill>
        <p:spPr>
          <a:xfrm>
            <a:off x="576072" y="786384"/>
            <a:ext cx="1188720" cy="657339"/>
          </a:xfrm>
          <a:prstGeom prst="rect">
            <a:avLst/>
          </a:prstGeom>
        </p:spPr>
      </p:pic>
      <p:sp>
        <p:nvSpPr>
          <p:cNvPr id="13" name="TextBox 12"/>
          <p:cNvSpPr txBox="1"/>
          <p:nvPr/>
        </p:nvSpPr>
        <p:spPr>
          <a:xfrm>
            <a:off x="2011680" y="896112"/>
            <a:ext cx="8046720" cy="594360"/>
          </a:xfrm>
          <a:prstGeom prst="rect">
            <a:avLst/>
          </a:prstGeom>
          <a:noFill/>
        </p:spPr>
        <p:txBody>
          <a:bodyPr wrap="square" lIns="0" rIns="0" tIns="0" bIns="0" anchor="t">
            <a:spAutoFit/>
          </a:bodyPr>
          <a:lstStyle/>
          <a:p>
            <a:pPr algn="l">
              <a:lnSpc>
                <a:spcPct val="112000"/>
              </a:lnSpc>
              <a:spcBef>
                <a:spcPts val="0"/>
              </a:spcBef>
              <a:spcAft>
                <a:spcPts val="0"/>
              </a:spcAft>
              <a:defRPr sz="1200" b="1">
                <a:solidFill>
                  <a:srgbClr val="5B6B7B"/>
                </a:solidFill>
                <a:latin typeface="Noto Sans"/>
              </a:defRPr>
            </a:pPr>
            <a:r>
              <a:t>TRƯỜNG ĐẠI HỌC TÔN ĐỨC THẮNG</a:t>
            </a:r>
          </a:p>
          <a:p>
            <a:pPr algn="l">
              <a:lnSpc>
                <a:spcPct val="112000"/>
              </a:lnSpc>
              <a:spcBef>
                <a:spcPts val="0"/>
              </a:spcBef>
              <a:spcAft>
                <a:spcPts val="0"/>
              </a:spcAft>
              <a:defRPr sz="1200" b="1">
                <a:solidFill>
                  <a:srgbClr val="5B6B7B"/>
                </a:solidFill>
                <a:latin typeface="Noto Sans"/>
              </a:defRPr>
            </a:pPr>
            <a:r>
              <a:t>KHOA CÔNG NGHỆ THÔNG TIN</a:t>
            </a:r>
          </a:p>
        </p:txBody>
      </p:sp>
      <p:sp>
        <p:nvSpPr>
          <p:cNvPr id="14" name="TextBox 13"/>
          <p:cNvSpPr txBox="1"/>
          <p:nvPr/>
        </p:nvSpPr>
        <p:spPr>
          <a:xfrm>
            <a:off x="566928" y="1828800"/>
            <a:ext cx="6583680" cy="1554480"/>
          </a:xfrm>
          <a:prstGeom prst="rect">
            <a:avLst/>
          </a:prstGeom>
          <a:noFill/>
        </p:spPr>
        <p:txBody>
          <a:bodyPr wrap="square" lIns="0" rIns="0" tIns="0" bIns="0" anchor="t">
            <a:spAutoFit/>
          </a:bodyPr>
          <a:lstStyle/>
          <a:p>
            <a:pPr algn="l">
              <a:lnSpc>
                <a:spcPct val="100000"/>
              </a:lnSpc>
              <a:spcBef>
                <a:spcPts val="0"/>
              </a:spcBef>
              <a:spcAft>
                <a:spcPts val="0"/>
              </a:spcAft>
              <a:defRPr sz="4800" b="1">
                <a:solidFill>
                  <a:srgbClr val="142D46"/>
                </a:solidFill>
                <a:latin typeface="Noto Sans"/>
              </a:defRPr>
            </a:pPr>
            <a:r>
              <a:t>ENSEMBLE</a:t>
            </a:r>
          </a:p>
          <a:p>
            <a:pPr algn="l">
              <a:lnSpc>
                <a:spcPct val="100000"/>
              </a:lnSpc>
              <a:spcBef>
                <a:spcPts val="0"/>
              </a:spcBef>
              <a:spcAft>
                <a:spcPts val="0"/>
              </a:spcAft>
              <a:defRPr sz="4800" b="1">
                <a:solidFill>
                  <a:srgbClr val="142D46"/>
                </a:solidFill>
                <a:latin typeface="Noto Sans"/>
              </a:defRPr>
            </a:pPr>
            <a:r>
              <a:t>LEARNING</a:t>
            </a:r>
          </a:p>
        </p:txBody>
      </p:sp>
      <p:sp>
        <p:nvSpPr>
          <p:cNvPr id="15" name="TextBox 14"/>
          <p:cNvSpPr txBox="1"/>
          <p:nvPr/>
        </p:nvSpPr>
        <p:spPr>
          <a:xfrm>
            <a:off x="612648" y="3675887"/>
            <a:ext cx="6537960" cy="1097280"/>
          </a:xfrm>
          <a:prstGeom prst="rect">
            <a:avLst/>
          </a:prstGeom>
          <a:noFill/>
        </p:spPr>
        <p:txBody>
          <a:bodyPr wrap="square" lIns="0" rIns="0" tIns="0" bIns="0" anchor="t">
            <a:spAutoFit/>
          </a:bodyPr>
          <a:lstStyle/>
          <a:p>
            <a:pPr algn="l">
              <a:lnSpc>
                <a:spcPct val="112000"/>
              </a:lnSpc>
              <a:spcBef>
                <a:spcPts val="0"/>
              </a:spcBef>
              <a:spcAft>
                <a:spcPts val="0"/>
              </a:spcAft>
              <a:defRPr sz="2300" b="0">
                <a:solidFill>
                  <a:srgbClr val="087F82"/>
                </a:solidFill>
                <a:latin typeface="Noto Sans"/>
              </a:defRPr>
            </a:pPr>
            <a:r>
              <a:t>Trọng tâm: Bagging cây quyết định</a:t>
            </a:r>
          </a:p>
          <a:p>
            <a:pPr algn="l">
              <a:lnSpc>
                <a:spcPct val="112000"/>
              </a:lnSpc>
              <a:spcBef>
                <a:spcPts val="0"/>
              </a:spcBef>
              <a:spcAft>
                <a:spcPts val="0"/>
              </a:spcAft>
              <a:defRPr sz="2300" b="0">
                <a:solidFill>
                  <a:srgbClr val="087F82"/>
                </a:solidFill>
                <a:latin typeface="Noto Sans"/>
              </a:defRPr>
            </a:pPr>
            <a:r>
              <a:t>Mở rộng: AdaBoost, Voting, Stacking</a:t>
            </a:r>
          </a:p>
        </p:txBody>
      </p:sp>
      <p:sp>
        <p:nvSpPr>
          <p:cNvPr id="16" name="TextBox 15"/>
          <p:cNvSpPr txBox="1"/>
          <p:nvPr/>
        </p:nvSpPr>
        <p:spPr>
          <a:xfrm>
            <a:off x="612648" y="5129784"/>
            <a:ext cx="6858000" cy="868680"/>
          </a:xfrm>
          <a:prstGeom prst="rect">
            <a:avLst/>
          </a:prstGeom>
          <a:noFill/>
        </p:spPr>
        <p:txBody>
          <a:bodyPr wrap="square" lIns="0" rIns="0" tIns="0" bIns="0" anchor="t">
            <a:spAutoFit/>
          </a:bodyPr>
          <a:lstStyle/>
          <a:p>
            <a:pPr algn="l">
              <a:lnSpc>
                <a:spcPct val="135000"/>
              </a:lnSpc>
              <a:spcBef>
                <a:spcPts val="0"/>
              </a:spcBef>
              <a:spcAft>
                <a:spcPts val="0"/>
              </a:spcAft>
              <a:defRPr sz="1350" b="0">
                <a:solidFill>
                  <a:srgbClr val="5B6B7B"/>
                </a:solidFill>
                <a:latin typeface="Noto Sans"/>
              </a:defRPr>
            </a:pPr>
            <a:r>
              <a:t>Nguyễn Nghĩa Hiếu  ·  52400013</a:t>
            </a:r>
          </a:p>
          <a:p>
            <a:pPr algn="l">
              <a:lnSpc>
                <a:spcPct val="135000"/>
              </a:lnSpc>
              <a:spcBef>
                <a:spcPts val="0"/>
              </a:spcBef>
              <a:spcAft>
                <a:spcPts val="0"/>
              </a:spcAft>
              <a:defRPr sz="1350" b="0">
                <a:solidFill>
                  <a:srgbClr val="5B6B7B"/>
                </a:solidFill>
                <a:latin typeface="Noto Sans"/>
              </a:defRPr>
            </a:pPr>
            <a:r>
              <a:t>Trần Quốc Bảo  ·  52400102</a:t>
            </a:r>
          </a:p>
          <a:p>
            <a:pPr algn="l">
              <a:lnSpc>
                <a:spcPct val="135000"/>
              </a:lnSpc>
              <a:spcBef>
                <a:spcPts val="0"/>
              </a:spcBef>
              <a:spcAft>
                <a:spcPts val="0"/>
              </a:spcAft>
              <a:defRPr sz="1350" b="0">
                <a:solidFill>
                  <a:srgbClr val="5B6B7B"/>
                </a:solidFill>
                <a:latin typeface="Noto Sans"/>
              </a:defRPr>
            </a:pPr>
            <a:r>
              <a:t>Giảng viên: TS. Trần Lương Quốc Đại</a:t>
            </a:r>
          </a:p>
        </p:txBody>
      </p:sp>
      <p:sp>
        <p:nvSpPr>
          <p:cNvPr id="17" name="Rounded Rectangle 16"/>
          <p:cNvSpPr/>
          <p:nvPr/>
        </p:nvSpPr>
        <p:spPr>
          <a:xfrm>
            <a:off x="7607808" y="1847088"/>
            <a:ext cx="4005072" cy="4261104"/>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909560" y="2194560"/>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8BE0CF"/>
                </a:solidFill>
                <a:latin typeface="Noto Sans"/>
              </a:defRPr>
            </a:pPr>
            <a:r>
              <a:t>BOOTSTRAP → VOTING</a:t>
            </a:r>
          </a:p>
        </p:txBody>
      </p:sp>
      <p:sp>
        <p:nvSpPr>
          <p:cNvPr id="19" name="Rounded Rectangle 18"/>
          <p:cNvSpPr/>
          <p:nvPr/>
        </p:nvSpPr>
        <p:spPr>
          <a:xfrm>
            <a:off x="7927848" y="2761488"/>
            <a:ext cx="1325880" cy="585216"/>
          </a:xfrm>
          <a:prstGeom prst="roundRect">
            <a:avLst>
              <a:gd name="adj" fmla="val 8000"/>
            </a:avLst>
          </a:prstGeom>
          <a:solidFill>
            <a:srgbClr val="2746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065008" y="2907792"/>
            <a:ext cx="1051560" cy="292608"/>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FFFFFF"/>
                </a:solidFill>
                <a:latin typeface="Noto Sans"/>
              </a:defRPr>
            </a:pPr>
            <a:r>
              <a:t>Cây 1</a:t>
            </a:r>
          </a:p>
        </p:txBody>
      </p:sp>
      <p:cxnSp>
        <p:nvCxnSpPr>
          <p:cNvPr id="21" name="Connector 20"/>
          <p:cNvCxnSpPr/>
          <p:nvPr/>
        </p:nvCxnSpPr>
        <p:spPr>
          <a:xfrm>
            <a:off x="9272016" y="3054096"/>
            <a:ext cx="859536" cy="859536"/>
          </a:xfrm>
          <a:prstGeom prst="line">
            <a:avLst/>
          </a:prstGeom>
          <a:ln w="19050">
            <a:solidFill>
              <a:srgbClr val="5CAAA7"/>
            </a:solidFill>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7927848" y="3621024"/>
            <a:ext cx="1325880" cy="585216"/>
          </a:xfrm>
          <a:prstGeom prst="roundRect">
            <a:avLst>
              <a:gd name="adj" fmla="val 8000"/>
            </a:avLst>
          </a:prstGeom>
          <a:solidFill>
            <a:srgbClr val="2746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065008" y="3767328"/>
            <a:ext cx="1051560" cy="292608"/>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FFFFFF"/>
                </a:solidFill>
                <a:latin typeface="Noto Sans"/>
              </a:defRPr>
            </a:pPr>
            <a:r>
              <a:t>Cây 2</a:t>
            </a:r>
          </a:p>
        </p:txBody>
      </p:sp>
      <p:cxnSp>
        <p:nvCxnSpPr>
          <p:cNvPr id="24" name="Connector 23"/>
          <p:cNvCxnSpPr/>
          <p:nvPr/>
        </p:nvCxnSpPr>
        <p:spPr>
          <a:xfrm>
            <a:off x="9272016" y="3913632"/>
            <a:ext cx="859536" cy="0"/>
          </a:xfrm>
          <a:prstGeom prst="line">
            <a:avLst/>
          </a:prstGeom>
          <a:ln w="19050">
            <a:solidFill>
              <a:srgbClr val="5CAAA7"/>
            </a:solidFill>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7927848" y="4480560"/>
            <a:ext cx="1325880" cy="585216"/>
          </a:xfrm>
          <a:prstGeom prst="roundRect">
            <a:avLst>
              <a:gd name="adj" fmla="val 8000"/>
            </a:avLst>
          </a:prstGeom>
          <a:solidFill>
            <a:srgbClr val="27465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065008" y="4626864"/>
            <a:ext cx="1051560" cy="292608"/>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FFFFFF"/>
                </a:solidFill>
                <a:latin typeface="Noto Sans"/>
              </a:defRPr>
            </a:pPr>
            <a:r>
              <a:t>Cây B</a:t>
            </a:r>
          </a:p>
        </p:txBody>
      </p:sp>
      <p:cxnSp>
        <p:nvCxnSpPr>
          <p:cNvPr id="27" name="Connector 26"/>
          <p:cNvCxnSpPr/>
          <p:nvPr/>
        </p:nvCxnSpPr>
        <p:spPr>
          <a:xfrm flipV="1">
            <a:off x="9272016" y="3913632"/>
            <a:ext cx="859536" cy="859536"/>
          </a:xfrm>
          <a:prstGeom prst="line">
            <a:avLst/>
          </a:prstGeom>
          <a:ln w="19050">
            <a:solidFill>
              <a:srgbClr val="5CAAA7"/>
            </a:solidFill>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9893808" y="3465576"/>
            <a:ext cx="1207008" cy="914400"/>
          </a:xfrm>
          <a:prstGeom prst="roundRect">
            <a:avLst>
              <a:gd name="adj" fmla="val 8000"/>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976104" y="3703320"/>
            <a:ext cx="1042415" cy="411480"/>
          </a:xfrm>
          <a:prstGeom prst="rect">
            <a:avLst/>
          </a:prstGeom>
          <a:noFill/>
        </p:spPr>
        <p:txBody>
          <a:bodyPr wrap="square" lIns="0" rIns="0" tIns="0" bIns="0" anchor="t">
            <a:spAutoFit/>
          </a:bodyPr>
          <a:lstStyle/>
          <a:p>
            <a:pPr algn="ctr">
              <a:lnSpc>
                <a:spcPct val="112000"/>
              </a:lnSpc>
              <a:spcBef>
                <a:spcPts val="0"/>
              </a:spcBef>
              <a:spcAft>
                <a:spcPts val="0"/>
              </a:spcAft>
              <a:defRPr sz="2500" b="1">
                <a:solidFill>
                  <a:srgbClr val="FFFFFF"/>
                </a:solidFill>
                <a:latin typeface="Noto Sans"/>
              </a:defRPr>
            </a:pPr>
            <a:r>
              <a:t>H(x)</a:t>
            </a:r>
          </a:p>
        </p:txBody>
      </p:sp>
      <p:sp>
        <p:nvSpPr>
          <p:cNvPr id="30" name="TextBox 29"/>
          <p:cNvSpPr txBox="1"/>
          <p:nvPr/>
        </p:nvSpPr>
        <p:spPr>
          <a:xfrm>
            <a:off x="7927848" y="5486400"/>
            <a:ext cx="3246120" cy="320040"/>
          </a:xfrm>
          <a:prstGeom prst="rect">
            <a:avLst/>
          </a:prstGeom>
          <a:noFill/>
        </p:spPr>
        <p:txBody>
          <a:bodyPr wrap="square" lIns="0" rIns="0" tIns="0" bIns="0" anchor="t">
            <a:spAutoFit/>
          </a:bodyPr>
          <a:lstStyle/>
          <a:p>
            <a:pPr algn="l">
              <a:lnSpc>
                <a:spcPct val="112000"/>
              </a:lnSpc>
              <a:spcBef>
                <a:spcPts val="0"/>
              </a:spcBef>
              <a:spcAft>
                <a:spcPts val="0"/>
              </a:spcAft>
              <a:defRPr sz="1500" b="0">
                <a:solidFill>
                  <a:srgbClr val="8BE0CF"/>
                </a:solidFill>
                <a:latin typeface="Noto Sans"/>
              </a:defRPr>
            </a:pPr>
            <a:r>
              <a:t>Nhiều cây · Một dự đoán</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01 / CƠ SỞ LÝ THUYẾT</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Bagging trong bức tranh học tổ hợp</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[1], [2], [3], [6], [7]</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02</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66928" y="1956816"/>
            <a:ext cx="2596896" cy="3355848"/>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768096" y="2267712"/>
            <a:ext cx="347472" cy="45720"/>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68096" y="2587752"/>
            <a:ext cx="2194560" cy="457200"/>
          </a:xfrm>
          <a:prstGeom prst="rect">
            <a:avLst/>
          </a:prstGeom>
          <a:noFill/>
        </p:spPr>
        <p:txBody>
          <a:bodyPr wrap="square" lIns="0" rIns="0" tIns="0" bIns="0" anchor="t">
            <a:spAutoFit/>
          </a:bodyPr>
          <a:lstStyle/>
          <a:p>
            <a:pPr algn="l">
              <a:lnSpc>
                <a:spcPct val="112000"/>
              </a:lnSpc>
              <a:spcBef>
                <a:spcPts val="0"/>
              </a:spcBef>
              <a:spcAft>
                <a:spcPts val="0"/>
              </a:spcAft>
              <a:defRPr sz="2600" b="1">
                <a:solidFill>
                  <a:srgbClr val="142D46"/>
                </a:solidFill>
                <a:latin typeface="Noto Sans"/>
              </a:defRPr>
            </a:pPr>
            <a:r>
              <a:t>Bagging</a:t>
            </a:r>
          </a:p>
        </p:txBody>
      </p:sp>
      <p:sp>
        <p:nvSpPr>
          <p:cNvPr id="15" name="TextBox 14"/>
          <p:cNvSpPr txBox="1"/>
          <p:nvPr/>
        </p:nvSpPr>
        <p:spPr>
          <a:xfrm>
            <a:off x="768096" y="3364992"/>
            <a:ext cx="2212848" cy="1280160"/>
          </a:xfrm>
          <a:prstGeom prst="rect">
            <a:avLst/>
          </a:prstGeom>
          <a:noFill/>
        </p:spPr>
        <p:txBody>
          <a:bodyPr wrap="square" lIns="0" rIns="0" tIns="0" bIns="0" anchor="t">
            <a:spAutoFit/>
          </a:bodyPr>
          <a:lstStyle/>
          <a:p>
            <a:pPr algn="l">
              <a:lnSpc>
                <a:spcPct val="130000"/>
              </a:lnSpc>
              <a:spcBef>
                <a:spcPts val="0"/>
              </a:spcBef>
              <a:spcAft>
                <a:spcPts val="0"/>
              </a:spcAft>
              <a:defRPr sz="2000" b="0">
                <a:solidFill>
                  <a:srgbClr val="5B6B7B"/>
                </a:solidFill>
                <a:latin typeface="Noto Sans"/>
              </a:defRPr>
            </a:pPr>
            <a:r>
              <a:t>Bootstrap</a:t>
            </a:r>
          </a:p>
          <a:p>
            <a:pPr algn="l">
              <a:lnSpc>
                <a:spcPct val="130000"/>
              </a:lnSpc>
              <a:spcBef>
                <a:spcPts val="0"/>
              </a:spcBef>
              <a:spcAft>
                <a:spcPts val="0"/>
              </a:spcAft>
              <a:defRPr sz="2000" b="0">
                <a:solidFill>
                  <a:srgbClr val="5B6B7B"/>
                </a:solidFill>
                <a:latin typeface="Noto Sans"/>
              </a:defRPr>
            </a:pPr>
            <a:r>
              <a:t>Học độc lập</a:t>
            </a:r>
          </a:p>
        </p:txBody>
      </p:sp>
      <p:sp>
        <p:nvSpPr>
          <p:cNvPr id="16" name="TextBox 15"/>
          <p:cNvSpPr txBox="1"/>
          <p:nvPr/>
        </p:nvSpPr>
        <p:spPr>
          <a:xfrm>
            <a:off x="768096" y="4828032"/>
            <a:ext cx="2212848" cy="365760"/>
          </a:xfrm>
          <a:prstGeom prst="rect">
            <a:avLst/>
          </a:prstGeom>
          <a:noFill/>
        </p:spPr>
        <p:txBody>
          <a:bodyPr wrap="square" lIns="0" rIns="0" tIns="0" bIns="0" anchor="t">
            <a:spAutoFit/>
          </a:bodyPr>
          <a:lstStyle/>
          <a:p>
            <a:pPr algn="l">
              <a:lnSpc>
                <a:spcPct val="112000"/>
              </a:lnSpc>
              <a:spcBef>
                <a:spcPts val="0"/>
              </a:spcBef>
              <a:spcAft>
                <a:spcPts val="0"/>
              </a:spcAft>
              <a:defRPr sz="1070" b="1">
                <a:solidFill>
                  <a:srgbClr val="087F82"/>
                </a:solidFill>
                <a:latin typeface="Noto Sans"/>
              </a:defRPr>
            </a:pPr>
            <a:r>
              <a:t>TRỌNG TÂM TRIỂN KHAI</a:t>
            </a:r>
          </a:p>
        </p:txBody>
      </p:sp>
      <p:sp>
        <p:nvSpPr>
          <p:cNvPr id="17" name="Rounded Rectangle 16"/>
          <p:cNvSpPr/>
          <p:nvPr/>
        </p:nvSpPr>
        <p:spPr>
          <a:xfrm>
            <a:off x="3383280" y="1956816"/>
            <a:ext cx="2596896" cy="3355848"/>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584448" y="2267712"/>
            <a:ext cx="347472" cy="45720"/>
          </a:xfrm>
          <a:prstGeom prst="rect">
            <a:avLst/>
          </a:prstGeom>
          <a:solidFill>
            <a:srgbClr val="416D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584448" y="2587752"/>
            <a:ext cx="2194560" cy="457200"/>
          </a:xfrm>
          <a:prstGeom prst="rect">
            <a:avLst/>
          </a:prstGeom>
          <a:noFill/>
        </p:spPr>
        <p:txBody>
          <a:bodyPr wrap="square" lIns="0" rIns="0" tIns="0" bIns="0" anchor="t">
            <a:spAutoFit/>
          </a:bodyPr>
          <a:lstStyle/>
          <a:p>
            <a:pPr algn="l">
              <a:lnSpc>
                <a:spcPct val="112000"/>
              </a:lnSpc>
              <a:spcBef>
                <a:spcPts val="0"/>
              </a:spcBef>
              <a:spcAft>
                <a:spcPts val="0"/>
              </a:spcAft>
              <a:defRPr sz="2600" b="1">
                <a:solidFill>
                  <a:srgbClr val="142D46"/>
                </a:solidFill>
                <a:latin typeface="Noto Sans"/>
              </a:defRPr>
            </a:pPr>
            <a:r>
              <a:t>Boosting</a:t>
            </a:r>
          </a:p>
        </p:txBody>
      </p:sp>
      <p:sp>
        <p:nvSpPr>
          <p:cNvPr id="20" name="TextBox 19"/>
          <p:cNvSpPr txBox="1"/>
          <p:nvPr/>
        </p:nvSpPr>
        <p:spPr>
          <a:xfrm>
            <a:off x="3584448" y="3364992"/>
            <a:ext cx="2212848" cy="1280160"/>
          </a:xfrm>
          <a:prstGeom prst="rect">
            <a:avLst/>
          </a:prstGeom>
          <a:noFill/>
        </p:spPr>
        <p:txBody>
          <a:bodyPr wrap="square" lIns="0" rIns="0" tIns="0" bIns="0" anchor="t">
            <a:spAutoFit/>
          </a:bodyPr>
          <a:lstStyle/>
          <a:p>
            <a:pPr algn="l">
              <a:lnSpc>
                <a:spcPct val="130000"/>
              </a:lnSpc>
              <a:spcBef>
                <a:spcPts val="0"/>
              </a:spcBef>
              <a:spcAft>
                <a:spcPts val="0"/>
              </a:spcAft>
              <a:defRPr sz="2000" b="0">
                <a:solidFill>
                  <a:srgbClr val="5B6B7B"/>
                </a:solidFill>
                <a:latin typeface="Noto Sans"/>
              </a:defRPr>
            </a:pPr>
            <a:r>
              <a:t>Học tuần tự</a:t>
            </a:r>
          </a:p>
          <a:p>
            <a:pPr algn="l">
              <a:lnSpc>
                <a:spcPct val="130000"/>
              </a:lnSpc>
              <a:spcBef>
                <a:spcPts val="0"/>
              </a:spcBef>
              <a:spcAft>
                <a:spcPts val="0"/>
              </a:spcAft>
              <a:defRPr sz="2000" b="0">
                <a:solidFill>
                  <a:srgbClr val="5B6B7B"/>
                </a:solidFill>
                <a:latin typeface="Noto Sans"/>
              </a:defRPr>
            </a:pPr>
            <a:r>
              <a:t>Giảm sai số / loss</a:t>
            </a:r>
          </a:p>
        </p:txBody>
      </p:sp>
      <p:sp>
        <p:nvSpPr>
          <p:cNvPr id="21" name="TextBox 20"/>
          <p:cNvSpPr txBox="1"/>
          <p:nvPr/>
        </p:nvSpPr>
        <p:spPr>
          <a:xfrm>
            <a:off x="3584448" y="4828032"/>
            <a:ext cx="2212848" cy="365760"/>
          </a:xfrm>
          <a:prstGeom prst="rect">
            <a:avLst/>
          </a:prstGeom>
          <a:noFill/>
        </p:spPr>
        <p:txBody>
          <a:bodyPr wrap="square" lIns="0" rIns="0" tIns="0" bIns="0" anchor="t">
            <a:spAutoFit/>
          </a:bodyPr>
          <a:lstStyle/>
          <a:p>
            <a:pPr algn="l">
              <a:lnSpc>
                <a:spcPct val="112000"/>
              </a:lnSpc>
              <a:spcBef>
                <a:spcPts val="0"/>
              </a:spcBef>
              <a:spcAft>
                <a:spcPts val="0"/>
              </a:spcAft>
              <a:defRPr sz="1070" b="1">
                <a:solidFill>
                  <a:srgbClr val="087F82"/>
                </a:solidFill>
                <a:latin typeface="Noto Sans"/>
              </a:defRPr>
            </a:pPr>
            <a:r>
              <a:t>AdaBoost / Gradient Boosting</a:t>
            </a:r>
          </a:p>
        </p:txBody>
      </p:sp>
      <p:sp>
        <p:nvSpPr>
          <p:cNvPr id="22" name="Rounded Rectangle 21"/>
          <p:cNvSpPr/>
          <p:nvPr/>
        </p:nvSpPr>
        <p:spPr>
          <a:xfrm>
            <a:off x="6199632" y="1956816"/>
            <a:ext cx="2596896" cy="3355848"/>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400800" y="2267712"/>
            <a:ext cx="347472" cy="45720"/>
          </a:xfrm>
          <a:prstGeom prst="rect">
            <a:avLst/>
          </a:prstGeom>
          <a:solidFill>
            <a:srgbClr val="416D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00800" y="2587752"/>
            <a:ext cx="2194560" cy="457200"/>
          </a:xfrm>
          <a:prstGeom prst="rect">
            <a:avLst/>
          </a:prstGeom>
          <a:noFill/>
        </p:spPr>
        <p:txBody>
          <a:bodyPr wrap="square" lIns="0" rIns="0" tIns="0" bIns="0" anchor="t">
            <a:spAutoFit/>
          </a:bodyPr>
          <a:lstStyle/>
          <a:p>
            <a:pPr algn="l">
              <a:lnSpc>
                <a:spcPct val="112000"/>
              </a:lnSpc>
              <a:spcBef>
                <a:spcPts val="0"/>
              </a:spcBef>
              <a:spcAft>
                <a:spcPts val="0"/>
              </a:spcAft>
              <a:defRPr sz="2600" b="1">
                <a:solidFill>
                  <a:srgbClr val="142D46"/>
                </a:solidFill>
                <a:latin typeface="Noto Sans"/>
              </a:defRPr>
            </a:pPr>
            <a:r>
              <a:t>Voting</a:t>
            </a:r>
          </a:p>
        </p:txBody>
      </p:sp>
      <p:sp>
        <p:nvSpPr>
          <p:cNvPr id="25" name="TextBox 24"/>
          <p:cNvSpPr txBox="1"/>
          <p:nvPr/>
        </p:nvSpPr>
        <p:spPr>
          <a:xfrm>
            <a:off x="6400800" y="3364992"/>
            <a:ext cx="2212848" cy="1280160"/>
          </a:xfrm>
          <a:prstGeom prst="rect">
            <a:avLst/>
          </a:prstGeom>
          <a:noFill/>
        </p:spPr>
        <p:txBody>
          <a:bodyPr wrap="square" lIns="0" rIns="0" tIns="0" bIns="0" anchor="t">
            <a:spAutoFit/>
          </a:bodyPr>
          <a:lstStyle/>
          <a:p>
            <a:pPr algn="l">
              <a:lnSpc>
                <a:spcPct val="130000"/>
              </a:lnSpc>
              <a:spcBef>
                <a:spcPts val="0"/>
              </a:spcBef>
              <a:spcAft>
                <a:spcPts val="0"/>
              </a:spcAft>
              <a:defRPr sz="2000" b="0">
                <a:solidFill>
                  <a:srgbClr val="5B6B7B"/>
                </a:solidFill>
                <a:latin typeface="Noto Sans"/>
              </a:defRPr>
            </a:pPr>
            <a:r>
              <a:t>Kết hợp nhãn</a:t>
            </a:r>
          </a:p>
          <a:p>
            <a:pPr algn="l">
              <a:lnSpc>
                <a:spcPct val="130000"/>
              </a:lnSpc>
              <a:spcBef>
                <a:spcPts val="0"/>
              </a:spcBef>
              <a:spcAft>
                <a:spcPts val="0"/>
              </a:spcAft>
              <a:defRPr sz="2000" b="0">
                <a:solidFill>
                  <a:srgbClr val="5B6B7B"/>
                </a:solidFill>
                <a:latin typeface="Noto Sans"/>
              </a:defRPr>
            </a:pPr>
            <a:r>
              <a:t>hoặc xác suất</a:t>
            </a:r>
          </a:p>
        </p:txBody>
      </p:sp>
      <p:sp>
        <p:nvSpPr>
          <p:cNvPr id="26" name="TextBox 25"/>
          <p:cNvSpPr txBox="1"/>
          <p:nvPr/>
        </p:nvSpPr>
        <p:spPr>
          <a:xfrm>
            <a:off x="6400800" y="4828032"/>
            <a:ext cx="2212848" cy="365760"/>
          </a:xfrm>
          <a:prstGeom prst="rect">
            <a:avLst/>
          </a:prstGeom>
          <a:noFill/>
        </p:spPr>
        <p:txBody>
          <a:bodyPr wrap="square" lIns="0" rIns="0" tIns="0" bIns="0" anchor="t">
            <a:spAutoFit/>
          </a:bodyPr>
          <a:lstStyle/>
          <a:p>
            <a:pPr algn="l">
              <a:lnSpc>
                <a:spcPct val="112000"/>
              </a:lnSpc>
              <a:spcBef>
                <a:spcPts val="0"/>
              </a:spcBef>
              <a:spcAft>
                <a:spcPts val="0"/>
              </a:spcAft>
              <a:defRPr sz="1070" b="1">
                <a:solidFill>
                  <a:srgbClr val="087F82"/>
                </a:solidFill>
                <a:latin typeface="Noto Sans"/>
              </a:defRPr>
            </a:pPr>
            <a:r>
              <a:t>Hard / Soft</a:t>
            </a:r>
          </a:p>
        </p:txBody>
      </p:sp>
      <p:sp>
        <p:nvSpPr>
          <p:cNvPr id="27" name="Rounded Rectangle 26"/>
          <p:cNvSpPr/>
          <p:nvPr/>
        </p:nvSpPr>
        <p:spPr>
          <a:xfrm>
            <a:off x="9015984" y="1956816"/>
            <a:ext cx="2596896" cy="3355848"/>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9217152" y="2267712"/>
            <a:ext cx="347472" cy="45720"/>
          </a:xfrm>
          <a:prstGeom prst="rect">
            <a:avLst/>
          </a:prstGeom>
          <a:solidFill>
            <a:srgbClr val="416DC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217152" y="2587752"/>
            <a:ext cx="2194560" cy="457200"/>
          </a:xfrm>
          <a:prstGeom prst="rect">
            <a:avLst/>
          </a:prstGeom>
          <a:noFill/>
        </p:spPr>
        <p:txBody>
          <a:bodyPr wrap="square" lIns="0" rIns="0" tIns="0" bIns="0" anchor="t">
            <a:spAutoFit/>
          </a:bodyPr>
          <a:lstStyle/>
          <a:p>
            <a:pPr algn="l">
              <a:lnSpc>
                <a:spcPct val="112000"/>
              </a:lnSpc>
              <a:spcBef>
                <a:spcPts val="0"/>
              </a:spcBef>
              <a:spcAft>
                <a:spcPts val="0"/>
              </a:spcAft>
              <a:defRPr sz="2600" b="1">
                <a:solidFill>
                  <a:srgbClr val="142D46"/>
                </a:solidFill>
                <a:latin typeface="Noto Sans"/>
              </a:defRPr>
            </a:pPr>
            <a:r>
              <a:t>Stacking</a:t>
            </a:r>
          </a:p>
        </p:txBody>
      </p:sp>
      <p:sp>
        <p:nvSpPr>
          <p:cNvPr id="30" name="TextBox 29"/>
          <p:cNvSpPr txBox="1"/>
          <p:nvPr/>
        </p:nvSpPr>
        <p:spPr>
          <a:xfrm>
            <a:off x="9217152" y="3364992"/>
            <a:ext cx="2212848" cy="1280160"/>
          </a:xfrm>
          <a:prstGeom prst="rect">
            <a:avLst/>
          </a:prstGeom>
          <a:noFill/>
        </p:spPr>
        <p:txBody>
          <a:bodyPr wrap="square" lIns="0" rIns="0" tIns="0" bIns="0" anchor="t">
            <a:spAutoFit/>
          </a:bodyPr>
          <a:lstStyle/>
          <a:p>
            <a:pPr algn="l">
              <a:lnSpc>
                <a:spcPct val="130000"/>
              </a:lnSpc>
              <a:spcBef>
                <a:spcPts val="0"/>
              </a:spcBef>
              <a:spcAft>
                <a:spcPts val="0"/>
              </a:spcAft>
              <a:defRPr sz="2000" b="0">
                <a:solidFill>
                  <a:srgbClr val="5B6B7B"/>
                </a:solidFill>
                <a:latin typeface="Noto Sans"/>
              </a:defRPr>
            </a:pPr>
            <a:r>
              <a:t>Dự đoán OOF</a:t>
            </a:r>
          </a:p>
          <a:p>
            <a:pPr algn="l">
              <a:lnSpc>
                <a:spcPct val="130000"/>
              </a:lnSpc>
              <a:spcBef>
                <a:spcPts val="0"/>
              </a:spcBef>
              <a:spcAft>
                <a:spcPts val="0"/>
              </a:spcAft>
              <a:defRPr sz="2000" b="0">
                <a:solidFill>
                  <a:srgbClr val="5B6B7B"/>
                </a:solidFill>
                <a:latin typeface="Noto Sans"/>
              </a:defRPr>
            </a:pPr>
            <a:r>
              <a:t>→ học tầng hai</a:t>
            </a:r>
          </a:p>
        </p:txBody>
      </p:sp>
      <p:sp>
        <p:nvSpPr>
          <p:cNvPr id="31" name="TextBox 30"/>
          <p:cNvSpPr txBox="1"/>
          <p:nvPr/>
        </p:nvSpPr>
        <p:spPr>
          <a:xfrm>
            <a:off x="9217152" y="4828032"/>
            <a:ext cx="2212848" cy="365760"/>
          </a:xfrm>
          <a:prstGeom prst="rect">
            <a:avLst/>
          </a:prstGeom>
          <a:noFill/>
        </p:spPr>
        <p:txBody>
          <a:bodyPr wrap="square" lIns="0" rIns="0" tIns="0" bIns="0" anchor="t">
            <a:spAutoFit/>
          </a:bodyPr>
          <a:lstStyle/>
          <a:p>
            <a:pPr algn="l">
              <a:lnSpc>
                <a:spcPct val="112000"/>
              </a:lnSpc>
              <a:spcBef>
                <a:spcPts val="0"/>
              </a:spcBef>
              <a:spcAft>
                <a:spcPts val="0"/>
              </a:spcAft>
              <a:defRPr sz="1070" b="1">
                <a:solidFill>
                  <a:srgbClr val="087F82"/>
                </a:solidFill>
                <a:latin typeface="Noto Sans"/>
              </a:defRPr>
            </a:pPr>
            <a:r>
              <a:t>Meta-model</a:t>
            </a:r>
          </a:p>
        </p:txBody>
      </p:sp>
      <p:sp>
        <p:nvSpPr>
          <p:cNvPr id="32" name="Rounded Rectangle 31"/>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Bagging được triển khai sâu; ba hướng còn lại có minh họa và thực nghiệm.</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01 / BOOSTING</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AdaBoost: tăng trọng số cho mẫu sai</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[3], [6] · AdaBoostClassifier (SAMME) · Ví dụ giả định</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03</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21792" y="1874519"/>
            <a:ext cx="365760" cy="36576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087F82"/>
                </a:solidFill>
                <a:latin typeface="Noto Sans"/>
              </a:defRPr>
            </a:pPr>
            <a:r>
              <a:t>1</a:t>
            </a:r>
          </a:p>
        </p:txBody>
      </p:sp>
      <p:sp>
        <p:nvSpPr>
          <p:cNvPr id="13" name="TextBox 12"/>
          <p:cNvSpPr txBox="1"/>
          <p:nvPr/>
        </p:nvSpPr>
        <p:spPr>
          <a:xfrm>
            <a:off x="1124712" y="1874519"/>
            <a:ext cx="4572000" cy="393192"/>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142D46"/>
                </a:solidFill>
                <a:latin typeface="Noto Sans"/>
              </a:defRPr>
            </a:pPr>
            <a:r>
              <a:t>Khởi tạo trọng số đều</a:t>
            </a:r>
          </a:p>
        </p:txBody>
      </p:sp>
      <p:sp>
        <p:nvSpPr>
          <p:cNvPr id="14" name="TextBox 13"/>
          <p:cNvSpPr txBox="1"/>
          <p:nvPr/>
        </p:nvSpPr>
        <p:spPr>
          <a:xfrm>
            <a:off x="1124712" y="2313432"/>
            <a:ext cx="4572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Mỗi quan sát train có trọng số 1/N.</a:t>
            </a:r>
          </a:p>
        </p:txBody>
      </p:sp>
      <p:sp>
        <p:nvSpPr>
          <p:cNvPr id="15" name="TextBox 14"/>
          <p:cNvSpPr txBox="1"/>
          <p:nvPr/>
        </p:nvSpPr>
        <p:spPr>
          <a:xfrm>
            <a:off x="621792" y="2734056"/>
            <a:ext cx="365760" cy="36576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087F82"/>
                </a:solidFill>
                <a:latin typeface="Noto Sans"/>
              </a:defRPr>
            </a:pPr>
            <a:r>
              <a:t>2</a:t>
            </a:r>
          </a:p>
        </p:txBody>
      </p:sp>
      <p:sp>
        <p:nvSpPr>
          <p:cNvPr id="16" name="TextBox 15"/>
          <p:cNvSpPr txBox="1"/>
          <p:nvPr/>
        </p:nvSpPr>
        <p:spPr>
          <a:xfrm>
            <a:off x="1124712" y="2734056"/>
            <a:ext cx="4572000" cy="393192"/>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142D46"/>
                </a:solidFill>
                <a:latin typeface="Noto Sans"/>
              </a:defRPr>
            </a:pPr>
            <a:r>
              <a:t>Học cây nông có trọng số</a:t>
            </a:r>
          </a:p>
        </p:txBody>
      </p:sp>
      <p:sp>
        <p:nvSpPr>
          <p:cNvPr id="17" name="TextBox 16"/>
          <p:cNvSpPr txBox="1"/>
          <p:nvPr/>
        </p:nvSpPr>
        <p:spPr>
          <a:xfrm>
            <a:off x="1124712" y="3172968"/>
            <a:ext cx="4572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Tính sai số có trọng số ε của cây.</a:t>
            </a:r>
          </a:p>
        </p:txBody>
      </p:sp>
      <p:sp>
        <p:nvSpPr>
          <p:cNvPr id="18" name="TextBox 17"/>
          <p:cNvSpPr txBox="1"/>
          <p:nvPr/>
        </p:nvSpPr>
        <p:spPr>
          <a:xfrm>
            <a:off x="621792" y="3593591"/>
            <a:ext cx="365760" cy="36576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087F82"/>
                </a:solidFill>
                <a:latin typeface="Noto Sans"/>
              </a:defRPr>
            </a:pPr>
            <a:r>
              <a:t>3</a:t>
            </a:r>
          </a:p>
        </p:txBody>
      </p:sp>
      <p:sp>
        <p:nvSpPr>
          <p:cNvPr id="19" name="TextBox 18"/>
          <p:cNvSpPr txBox="1"/>
          <p:nvPr/>
        </p:nvSpPr>
        <p:spPr>
          <a:xfrm>
            <a:off x="1124712" y="3593591"/>
            <a:ext cx="4572000" cy="393192"/>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142D46"/>
                </a:solidFill>
                <a:latin typeface="Noto Sans"/>
              </a:defRPr>
            </a:pPr>
            <a:r>
              <a:t>Tính trọng số của cây</a:t>
            </a:r>
          </a:p>
        </p:txBody>
      </p:sp>
      <p:sp>
        <p:nvSpPr>
          <p:cNvPr id="20" name="TextBox 19"/>
          <p:cNvSpPr txBox="1"/>
          <p:nvPr/>
        </p:nvSpPr>
        <p:spPr>
          <a:xfrm>
            <a:off x="1124712" y="4032504"/>
            <a:ext cx="4572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SAMME nhị phân: α = ln((1 − ε)/ε).</a:t>
            </a:r>
          </a:p>
        </p:txBody>
      </p:sp>
      <p:sp>
        <p:nvSpPr>
          <p:cNvPr id="21" name="TextBox 20"/>
          <p:cNvSpPr txBox="1"/>
          <p:nvPr/>
        </p:nvSpPr>
        <p:spPr>
          <a:xfrm>
            <a:off x="621792" y="4453127"/>
            <a:ext cx="365760" cy="36576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087F82"/>
                </a:solidFill>
                <a:latin typeface="Noto Sans"/>
              </a:defRPr>
            </a:pPr>
            <a:r>
              <a:t>4</a:t>
            </a:r>
          </a:p>
        </p:txBody>
      </p:sp>
      <p:sp>
        <p:nvSpPr>
          <p:cNvPr id="22" name="TextBox 21"/>
          <p:cNvSpPr txBox="1"/>
          <p:nvPr/>
        </p:nvSpPr>
        <p:spPr>
          <a:xfrm>
            <a:off x="1124712" y="4453127"/>
            <a:ext cx="4572000" cy="393192"/>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142D46"/>
                </a:solidFill>
                <a:latin typeface="Noto Sans"/>
              </a:defRPr>
            </a:pPr>
            <a:r>
              <a:t>Cập nhật rồi học tiếp</a:t>
            </a:r>
          </a:p>
        </p:txBody>
      </p:sp>
      <p:sp>
        <p:nvSpPr>
          <p:cNvPr id="23" name="TextBox 22"/>
          <p:cNvSpPr txBox="1"/>
          <p:nvPr/>
        </p:nvSpPr>
        <p:spPr>
          <a:xfrm>
            <a:off x="1124712" y="4892040"/>
            <a:ext cx="4572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Tăng trọng số mẫu sai, chuẩn hóa tổng = 1.</a:t>
            </a:r>
          </a:p>
        </p:txBody>
      </p:sp>
      <p:sp>
        <p:nvSpPr>
          <p:cNvPr id="24" name="TextBox 23"/>
          <p:cNvSpPr txBox="1"/>
          <p:nvPr/>
        </p:nvSpPr>
        <p:spPr>
          <a:xfrm>
            <a:off x="6172200" y="1938528"/>
            <a:ext cx="521208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VÍ DỤ: Ε = 0,2; LEARNING RATE = 1</a:t>
            </a:r>
          </a:p>
        </p:txBody>
      </p:sp>
      <p:sp>
        <p:nvSpPr>
          <p:cNvPr id="25" name="TextBox 24"/>
          <p:cNvSpPr txBox="1"/>
          <p:nvPr/>
        </p:nvSpPr>
        <p:spPr>
          <a:xfrm>
            <a:off x="6172200" y="2450592"/>
            <a:ext cx="5074920" cy="548640"/>
          </a:xfrm>
          <a:prstGeom prst="rect">
            <a:avLst/>
          </a:prstGeom>
          <a:noFill/>
        </p:spPr>
        <p:txBody>
          <a:bodyPr wrap="square" lIns="0" rIns="0" tIns="0" bIns="0" anchor="t">
            <a:spAutoFit/>
          </a:bodyPr>
          <a:lstStyle/>
          <a:p>
            <a:pPr algn="l">
              <a:lnSpc>
                <a:spcPct val="112000"/>
              </a:lnSpc>
              <a:spcBef>
                <a:spcPts val="0"/>
              </a:spcBef>
              <a:spcAft>
                <a:spcPts val="0"/>
              </a:spcAft>
              <a:defRPr sz="2900" b="1">
                <a:solidFill>
                  <a:srgbClr val="142D46"/>
                </a:solidFill>
                <a:latin typeface="Noto Sans"/>
              </a:defRPr>
            </a:pPr>
            <a:r>
              <a:t>α = ln 4 ≈ 1,386</a:t>
            </a:r>
          </a:p>
        </p:txBody>
      </p:sp>
      <p:sp>
        <p:nvSpPr>
          <p:cNvPr id="26" name="Rectangle 25"/>
          <p:cNvSpPr/>
          <p:nvPr/>
        </p:nvSpPr>
        <p:spPr>
          <a:xfrm>
            <a:off x="6172200" y="3182112"/>
            <a:ext cx="169164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327648" y="3328416"/>
            <a:ext cx="1380744" cy="438912"/>
          </a:xfrm>
          <a:prstGeom prst="rect">
            <a:avLst/>
          </a:prstGeom>
          <a:noFill/>
        </p:spPr>
        <p:txBody>
          <a:bodyPr wrap="square" lIns="0" rIns="0" tIns="0" bIns="0" anchor="t">
            <a:spAutoFit/>
          </a:bodyPr>
          <a:lstStyle/>
          <a:p>
            <a:pPr algn="l">
              <a:lnSpc>
                <a:spcPct val="112000"/>
              </a:lnSpc>
              <a:spcBef>
                <a:spcPts val="0"/>
              </a:spcBef>
              <a:spcAft>
                <a:spcPts val="0"/>
              </a:spcAft>
              <a:defRPr sz="1500" b="1">
                <a:solidFill>
                  <a:srgbClr val="FFFFFF"/>
                </a:solidFill>
                <a:latin typeface="Noto Sans"/>
              </a:defRPr>
            </a:pPr>
            <a:r>
              <a:t>Nhóm</a:t>
            </a:r>
          </a:p>
        </p:txBody>
      </p:sp>
      <p:sp>
        <p:nvSpPr>
          <p:cNvPr id="28" name="Rectangle 27"/>
          <p:cNvSpPr/>
          <p:nvPr/>
        </p:nvSpPr>
        <p:spPr>
          <a:xfrm>
            <a:off x="7863840" y="3182112"/>
            <a:ext cx="100584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019288" y="3328416"/>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a:defRPr>
            </a:pPr>
            <a:r>
              <a:t>Trước</a:t>
            </a:r>
          </a:p>
        </p:txBody>
      </p:sp>
      <p:sp>
        <p:nvSpPr>
          <p:cNvPr id="30" name="Rectangle 29"/>
          <p:cNvSpPr/>
          <p:nvPr/>
        </p:nvSpPr>
        <p:spPr>
          <a:xfrm>
            <a:off x="8869680" y="3182112"/>
            <a:ext cx="100584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025128" y="3328416"/>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a:defRPr>
            </a:pPr>
            <a:r>
              <a:t>Nhân</a:t>
            </a:r>
          </a:p>
        </p:txBody>
      </p:sp>
      <p:sp>
        <p:nvSpPr>
          <p:cNvPr id="32" name="Rectangle 31"/>
          <p:cNvSpPr/>
          <p:nvPr/>
        </p:nvSpPr>
        <p:spPr>
          <a:xfrm>
            <a:off x="9875519" y="3182112"/>
            <a:ext cx="164592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030967" y="3328416"/>
            <a:ext cx="1335024" cy="438912"/>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a:defRPr>
            </a:pPr>
            <a:r>
              <a:t>Chuẩn hóa</a:t>
            </a:r>
          </a:p>
        </p:txBody>
      </p:sp>
      <p:sp>
        <p:nvSpPr>
          <p:cNvPr id="34" name="Rectangle 33"/>
          <p:cNvSpPr/>
          <p:nvPr/>
        </p:nvSpPr>
        <p:spPr>
          <a:xfrm>
            <a:off x="6172200" y="3785615"/>
            <a:ext cx="169164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27648" y="3931920"/>
            <a:ext cx="1380744" cy="43891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192F43"/>
                </a:solidFill>
                <a:latin typeface="Noto Sans"/>
              </a:defRPr>
            </a:pPr>
            <a:r>
              <a:t>Dự đoán sai</a:t>
            </a:r>
          </a:p>
        </p:txBody>
      </p:sp>
      <p:sp>
        <p:nvSpPr>
          <p:cNvPr id="36" name="Rectangle 35"/>
          <p:cNvSpPr/>
          <p:nvPr/>
        </p:nvSpPr>
        <p:spPr>
          <a:xfrm>
            <a:off x="7863840" y="3785615"/>
            <a:ext cx="100584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019288" y="3931920"/>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20%</a:t>
            </a:r>
          </a:p>
        </p:txBody>
      </p:sp>
      <p:sp>
        <p:nvSpPr>
          <p:cNvPr id="38" name="Rectangle 37"/>
          <p:cNvSpPr/>
          <p:nvPr/>
        </p:nvSpPr>
        <p:spPr>
          <a:xfrm>
            <a:off x="8869680" y="3785615"/>
            <a:ext cx="100584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9025128" y="3931920"/>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×4</a:t>
            </a:r>
          </a:p>
        </p:txBody>
      </p:sp>
      <p:sp>
        <p:nvSpPr>
          <p:cNvPr id="40" name="Rectangle 39"/>
          <p:cNvSpPr/>
          <p:nvPr/>
        </p:nvSpPr>
        <p:spPr>
          <a:xfrm>
            <a:off x="9875519" y="3785615"/>
            <a:ext cx="164592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10030967" y="3931920"/>
            <a:ext cx="133502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50%</a:t>
            </a:r>
          </a:p>
        </p:txBody>
      </p:sp>
      <p:cxnSp>
        <p:nvCxnSpPr>
          <p:cNvPr id="42" name="Connector 41"/>
          <p:cNvCxnSpPr/>
          <p:nvPr/>
        </p:nvCxnSpPr>
        <p:spPr>
          <a:xfrm>
            <a:off x="6172200" y="4389120"/>
            <a:ext cx="534924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172200" y="4389120"/>
            <a:ext cx="1691640" cy="60350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6327648" y="4535424"/>
            <a:ext cx="1380744" cy="438912"/>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192F43"/>
                </a:solidFill>
                <a:latin typeface="Noto Sans"/>
              </a:defRPr>
            </a:pPr>
            <a:r>
              <a:t>Dự đoán đúng</a:t>
            </a:r>
          </a:p>
        </p:txBody>
      </p:sp>
      <p:sp>
        <p:nvSpPr>
          <p:cNvPr id="45" name="Rectangle 44"/>
          <p:cNvSpPr/>
          <p:nvPr/>
        </p:nvSpPr>
        <p:spPr>
          <a:xfrm>
            <a:off x="7863840" y="4389120"/>
            <a:ext cx="1005840" cy="60350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8019288" y="4535424"/>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80%</a:t>
            </a:r>
          </a:p>
        </p:txBody>
      </p:sp>
      <p:sp>
        <p:nvSpPr>
          <p:cNvPr id="47" name="Rectangle 46"/>
          <p:cNvSpPr/>
          <p:nvPr/>
        </p:nvSpPr>
        <p:spPr>
          <a:xfrm>
            <a:off x="8869680" y="4389120"/>
            <a:ext cx="1005840" cy="60350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9025128" y="4535424"/>
            <a:ext cx="69494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×1</a:t>
            </a:r>
          </a:p>
        </p:txBody>
      </p:sp>
      <p:sp>
        <p:nvSpPr>
          <p:cNvPr id="49" name="Rectangle 48"/>
          <p:cNvSpPr/>
          <p:nvPr/>
        </p:nvSpPr>
        <p:spPr>
          <a:xfrm>
            <a:off x="9875519" y="4389120"/>
            <a:ext cx="1645920" cy="60350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10030967" y="4535424"/>
            <a:ext cx="1335024" cy="438912"/>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50%</a:t>
            </a:r>
          </a:p>
        </p:txBody>
      </p:sp>
      <p:cxnSp>
        <p:nvCxnSpPr>
          <p:cNvPr id="51" name="Connector 50"/>
          <p:cNvCxnSpPr/>
          <p:nvPr/>
        </p:nvCxnSpPr>
        <p:spPr>
          <a:xfrm>
            <a:off x="6172200" y="4992624"/>
            <a:ext cx="534924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6172200" y="5166360"/>
            <a:ext cx="5166360" cy="365760"/>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C86449"/>
                </a:solidFill>
                <a:latin typeface="Noto Sans"/>
              </a:defRPr>
            </a:pPr>
            <a:r>
              <a:t>Trọng số thay đổi; chưa phải accuracy tăng.</a:t>
            </a:r>
          </a:p>
        </p:txBody>
      </p:sp>
      <p:sp>
        <p:nvSpPr>
          <p:cNvPr id="53" name="Rounded Rectangle 52"/>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Thực nghiệm: tối đa 51 cây một mức; tổng hợp theo trọng số của từng cây.</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01 / VOTING VÀ STACKING</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Voting dùng quy tắc; Stacking học bộ kết hợp</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[3], [7] · VotingClassifier / StackingClassifier</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04</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58368" y="1810512"/>
            <a:ext cx="10927080" cy="502920"/>
          </a:xfrm>
          <a:prstGeom prst="rect">
            <a:avLst/>
          </a:prstGeom>
          <a:noFill/>
        </p:spPr>
        <p:txBody>
          <a:bodyPr wrap="square" lIns="0" rIns="0" tIns="0" bIns="0" anchor="t">
            <a:spAutoFit/>
          </a:bodyPr>
          <a:lstStyle/>
          <a:p>
            <a:pPr algn="l">
              <a:lnSpc>
                <a:spcPct val="112000"/>
              </a:lnSpc>
              <a:spcBef>
                <a:spcPts val="0"/>
              </a:spcBef>
              <a:spcAft>
                <a:spcPts val="0"/>
              </a:spcAft>
              <a:defRPr sz="2000" b="1">
                <a:solidFill>
                  <a:srgbClr val="142D46"/>
                </a:solidFill>
                <a:latin typeface="Noto Sans"/>
              </a:defRPr>
            </a:pPr>
            <a:r>
              <a:t>Cùng ba loại mô hình: cây độ sâu 3 · Logistic Regression · Gaussian NB</a:t>
            </a:r>
          </a:p>
        </p:txBody>
      </p:sp>
      <p:sp>
        <p:nvSpPr>
          <p:cNvPr id="13" name="Rounded Rectangle 12"/>
          <p:cNvSpPr/>
          <p:nvPr/>
        </p:nvSpPr>
        <p:spPr>
          <a:xfrm>
            <a:off x="621792" y="2532888"/>
            <a:ext cx="5285232" cy="292608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0392" y="2770632"/>
            <a:ext cx="475488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VOTING</a:t>
            </a:r>
          </a:p>
        </p:txBody>
      </p:sp>
      <p:sp>
        <p:nvSpPr>
          <p:cNvPr id="15" name="Rounded Rectangle 14"/>
          <p:cNvSpPr/>
          <p:nvPr/>
        </p:nvSpPr>
        <p:spPr>
          <a:xfrm>
            <a:off x="6291072" y="2532888"/>
            <a:ext cx="5285232" cy="292608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2770632"/>
            <a:ext cx="475488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416DC4"/>
                </a:solidFill>
                <a:latin typeface="Noto Sans"/>
              </a:defRPr>
            </a:pPr>
            <a:r>
              <a:t>STACKING</a:t>
            </a:r>
          </a:p>
        </p:txBody>
      </p:sp>
      <p:sp>
        <p:nvSpPr>
          <p:cNvPr id="17" name="TextBox 16"/>
          <p:cNvSpPr txBox="1"/>
          <p:nvPr/>
        </p:nvSpPr>
        <p:spPr>
          <a:xfrm>
            <a:off x="868680" y="3300984"/>
            <a:ext cx="4754880" cy="1508760"/>
          </a:xfrm>
          <a:prstGeom prst="rect">
            <a:avLst/>
          </a:prstGeom>
          <a:noFill/>
        </p:spPr>
        <p:txBody>
          <a:bodyPr wrap="square" lIns="0" rIns="0" tIns="0" bIns="0" anchor="t">
            <a:spAutoFit/>
          </a:bodyPr>
          <a:lstStyle/>
          <a:p>
            <a:pPr algn="l">
              <a:lnSpc>
                <a:spcPct val="150000"/>
              </a:lnSpc>
              <a:spcBef>
                <a:spcPts val="0"/>
              </a:spcBef>
              <a:spcAft>
                <a:spcPts val="0"/>
              </a:spcAft>
              <a:defRPr sz="2100" b="0">
                <a:solidFill>
                  <a:srgbClr val="192F43"/>
                </a:solidFill>
                <a:latin typeface="Noto Sans"/>
              </a:defRPr>
            </a:pPr>
            <a:r>
              <a:t>Hard: đếm nhãn.</a:t>
            </a:r>
          </a:p>
          <a:p>
            <a:pPr algn="l">
              <a:lnSpc>
                <a:spcPct val="150000"/>
              </a:lnSpc>
              <a:spcBef>
                <a:spcPts val="0"/>
              </a:spcBef>
              <a:spcAft>
                <a:spcPts val="0"/>
              </a:spcAft>
              <a:defRPr sz="2100" b="0">
                <a:solidFill>
                  <a:srgbClr val="192F43"/>
                </a:solidFill>
                <a:latin typeface="Noto Sans"/>
              </a:defRPr>
            </a:pPr>
            <a:r>
              <a:t>Soft: trung bình xác suất.</a:t>
            </a:r>
          </a:p>
          <a:p>
            <a:pPr algn="l">
              <a:lnSpc>
                <a:spcPct val="150000"/>
              </a:lnSpc>
              <a:spcBef>
                <a:spcPts val="0"/>
              </a:spcBef>
              <a:spcAft>
                <a:spcPts val="0"/>
              </a:spcAft>
              <a:defRPr sz="2100" b="0">
                <a:solidFill>
                  <a:srgbClr val="192F43"/>
                </a:solidFill>
                <a:latin typeface="Noto Sans"/>
              </a:defRPr>
            </a:pPr>
            <a:r>
              <a:t>Trọng số bằng nhau.</a:t>
            </a:r>
          </a:p>
        </p:txBody>
      </p:sp>
      <p:sp>
        <p:nvSpPr>
          <p:cNvPr id="18" name="TextBox 17"/>
          <p:cNvSpPr txBox="1"/>
          <p:nvPr/>
        </p:nvSpPr>
        <p:spPr>
          <a:xfrm>
            <a:off x="6528816" y="3300984"/>
            <a:ext cx="4754880" cy="1508760"/>
          </a:xfrm>
          <a:prstGeom prst="rect">
            <a:avLst/>
          </a:prstGeom>
          <a:noFill/>
        </p:spPr>
        <p:txBody>
          <a:bodyPr wrap="square" lIns="0" rIns="0" tIns="0" bIns="0" anchor="t">
            <a:spAutoFit/>
          </a:bodyPr>
          <a:lstStyle/>
          <a:p>
            <a:pPr algn="l">
              <a:lnSpc>
                <a:spcPct val="150000"/>
              </a:lnSpc>
              <a:spcBef>
                <a:spcPts val="0"/>
              </a:spcBef>
              <a:spcAft>
                <a:spcPts val="0"/>
              </a:spcAft>
              <a:defRPr sz="2100" b="0">
                <a:solidFill>
                  <a:srgbClr val="192F43"/>
                </a:solidFill>
                <a:latin typeface="Noto Sans"/>
              </a:defRPr>
            </a:pPr>
            <a:r>
              <a:t>Dự đoán ngoài fold (OOF).</a:t>
            </a:r>
          </a:p>
          <a:p>
            <a:pPr algn="l">
              <a:lnSpc>
                <a:spcPct val="150000"/>
              </a:lnSpc>
              <a:spcBef>
                <a:spcPts val="0"/>
              </a:spcBef>
              <a:spcAft>
                <a:spcPts val="0"/>
              </a:spcAft>
              <a:defRPr sz="2100" b="0">
                <a:solidFill>
                  <a:srgbClr val="192F43"/>
                </a:solidFill>
                <a:latin typeface="Noto Sans"/>
              </a:defRPr>
            </a:pPr>
            <a:r>
              <a:t>Logistic Regression tầng hai.</a:t>
            </a:r>
          </a:p>
          <a:p>
            <a:pPr algn="l">
              <a:lnSpc>
                <a:spcPct val="150000"/>
              </a:lnSpc>
              <a:spcBef>
                <a:spcPts val="0"/>
              </a:spcBef>
              <a:spcAft>
                <a:spcPts val="0"/>
              </a:spcAft>
              <a:defRPr sz="2100" b="0">
                <a:solidFill>
                  <a:srgbClr val="192F43"/>
                </a:solidFill>
                <a:latin typeface="Noto Sans"/>
              </a:defRPr>
            </a:pPr>
            <a:r>
              <a:t>Học lại mô hình cơ sở trên train.</a:t>
            </a:r>
          </a:p>
        </p:txBody>
      </p:sp>
      <p:sp>
        <p:nvSpPr>
          <p:cNvPr id="19" name="TextBox 18"/>
          <p:cNvSpPr txBox="1"/>
          <p:nvPr/>
        </p:nvSpPr>
        <p:spPr>
          <a:xfrm>
            <a:off x="868680" y="4965192"/>
            <a:ext cx="4754880" cy="34747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087F82"/>
                </a:solidFill>
                <a:latin typeface="Noto Sans"/>
              </a:defRPr>
            </a:pPr>
            <a:r>
              <a:t>Quy tắc cố định, không học tầng hai.</a:t>
            </a:r>
          </a:p>
        </p:txBody>
      </p:sp>
      <p:sp>
        <p:nvSpPr>
          <p:cNvPr id="20" name="TextBox 19"/>
          <p:cNvSpPr txBox="1"/>
          <p:nvPr/>
        </p:nvSpPr>
        <p:spPr>
          <a:xfrm>
            <a:off x="6528816" y="4965192"/>
            <a:ext cx="4754880" cy="34747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416DC4"/>
                </a:solidFill>
                <a:latin typeface="Noto Sans"/>
              </a:defRPr>
            </a:pPr>
            <a:r>
              <a:t>OOF: dự đoán cho mẫu chưa dùng để học.</a:t>
            </a:r>
          </a:p>
        </p:txBody>
      </p:sp>
      <p:sp>
        <p:nvSpPr>
          <p:cNvPr id="21" name="Rounded Rectangle 20"/>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Stacking: 5 fold trong train; chuẩn hóa nằm trong pipeline.</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02 / CƠ CHẾ</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Bagging: lấy mẫu rồi bỏ phiếu</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[1], [3] · ensemble_model.py</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05</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66928" y="2176272"/>
            <a:ext cx="24231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BƯỚC 1</a:t>
            </a:r>
          </a:p>
        </p:txBody>
      </p:sp>
      <p:cxnSp>
        <p:nvCxnSpPr>
          <p:cNvPr id="13" name="Connector 12"/>
          <p:cNvCxnSpPr/>
          <p:nvPr/>
        </p:nvCxnSpPr>
        <p:spPr>
          <a:xfrm>
            <a:off x="566928" y="2688336"/>
            <a:ext cx="2423160" cy="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66928" y="2999232"/>
            <a:ext cx="2487168" cy="59436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142D46"/>
                </a:solidFill>
                <a:latin typeface="Noto Sans"/>
              </a:defRPr>
            </a:pPr>
            <a:r>
              <a:t>Giữ riêng test</a:t>
            </a:r>
          </a:p>
        </p:txBody>
      </p:sp>
      <p:sp>
        <p:nvSpPr>
          <p:cNvPr id="15" name="TextBox 14"/>
          <p:cNvSpPr txBox="1"/>
          <p:nvPr/>
        </p:nvSpPr>
        <p:spPr>
          <a:xfrm>
            <a:off x="566928" y="3904487"/>
            <a:ext cx="2487168" cy="1051560"/>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5B6B7B"/>
                </a:solidFill>
                <a:latin typeface="Noto Sans"/>
              </a:defRPr>
            </a:pPr>
            <a:r>
              <a:t>Chỉ lấy mẫu</a:t>
            </a:r>
          </a:p>
          <a:p>
            <a:pPr algn="l">
              <a:lnSpc>
                <a:spcPct val="112000"/>
              </a:lnSpc>
              <a:spcBef>
                <a:spcPts val="0"/>
              </a:spcBef>
              <a:spcAft>
                <a:spcPts val="0"/>
              </a:spcAft>
              <a:defRPr sz="2100" b="0">
                <a:solidFill>
                  <a:srgbClr val="5B6B7B"/>
                </a:solidFill>
                <a:latin typeface="Noto Sans"/>
              </a:defRPr>
            </a:pPr>
            <a:r>
              <a:t>từ tập train.</a:t>
            </a:r>
          </a:p>
        </p:txBody>
      </p:sp>
      <p:sp>
        <p:nvSpPr>
          <p:cNvPr id="16" name="Right Arrow 15"/>
          <p:cNvSpPr/>
          <p:nvPr/>
        </p:nvSpPr>
        <p:spPr>
          <a:xfrm>
            <a:off x="3054096" y="3154680"/>
            <a:ext cx="228600" cy="182880"/>
          </a:xfrm>
          <a:prstGeom prst="rightArrow">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401568" y="2176272"/>
            <a:ext cx="24231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BƯỚC 2</a:t>
            </a:r>
          </a:p>
        </p:txBody>
      </p:sp>
      <p:cxnSp>
        <p:nvCxnSpPr>
          <p:cNvPr id="18" name="Connector 17"/>
          <p:cNvCxnSpPr/>
          <p:nvPr/>
        </p:nvCxnSpPr>
        <p:spPr>
          <a:xfrm>
            <a:off x="3401568" y="2688336"/>
            <a:ext cx="2423160" cy="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3401568" y="2999232"/>
            <a:ext cx="2487168" cy="59436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142D46"/>
                </a:solidFill>
                <a:latin typeface="Noto Sans"/>
              </a:defRPr>
            </a:pPr>
            <a:r>
              <a:t>Tạo bootstrap</a:t>
            </a:r>
          </a:p>
        </p:txBody>
      </p:sp>
      <p:sp>
        <p:nvSpPr>
          <p:cNvPr id="20" name="TextBox 19"/>
          <p:cNvSpPr txBox="1"/>
          <p:nvPr/>
        </p:nvSpPr>
        <p:spPr>
          <a:xfrm>
            <a:off x="3401568" y="3904487"/>
            <a:ext cx="2487168" cy="1051560"/>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5B6B7B"/>
                </a:solidFill>
                <a:latin typeface="Noto Sans"/>
              </a:defRPr>
            </a:pPr>
            <a:r>
              <a:t>N lượt lấy</a:t>
            </a:r>
          </a:p>
          <a:p>
            <a:pPr algn="l">
              <a:lnSpc>
                <a:spcPct val="112000"/>
              </a:lnSpc>
              <a:spcBef>
                <a:spcPts val="0"/>
              </a:spcBef>
              <a:spcAft>
                <a:spcPts val="0"/>
              </a:spcAft>
              <a:defRPr sz="2100" b="0">
                <a:solidFill>
                  <a:srgbClr val="5B6B7B"/>
                </a:solidFill>
                <a:latin typeface="Noto Sans"/>
              </a:defRPr>
            </a:pPr>
            <a:r>
              <a:t>có hoàn lại / cây.</a:t>
            </a:r>
          </a:p>
        </p:txBody>
      </p:sp>
      <p:sp>
        <p:nvSpPr>
          <p:cNvPr id="21" name="Right Arrow 20"/>
          <p:cNvSpPr/>
          <p:nvPr/>
        </p:nvSpPr>
        <p:spPr>
          <a:xfrm>
            <a:off x="5888736" y="3154680"/>
            <a:ext cx="228600" cy="182880"/>
          </a:xfrm>
          <a:prstGeom prst="rightArrow">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236208" y="2176272"/>
            <a:ext cx="24231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BƯỚC 3</a:t>
            </a:r>
          </a:p>
        </p:txBody>
      </p:sp>
      <p:cxnSp>
        <p:nvCxnSpPr>
          <p:cNvPr id="23" name="Connector 22"/>
          <p:cNvCxnSpPr/>
          <p:nvPr/>
        </p:nvCxnSpPr>
        <p:spPr>
          <a:xfrm>
            <a:off x="6236208" y="2688336"/>
            <a:ext cx="2423160" cy="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6236208" y="2999232"/>
            <a:ext cx="2487168" cy="59436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142D46"/>
                </a:solidFill>
                <a:latin typeface="Noto Sans"/>
              </a:defRPr>
            </a:pPr>
            <a:r>
              <a:t>Học B cây</a:t>
            </a:r>
          </a:p>
        </p:txBody>
      </p:sp>
      <p:sp>
        <p:nvSpPr>
          <p:cNvPr id="25" name="TextBox 24"/>
          <p:cNvSpPr txBox="1"/>
          <p:nvPr/>
        </p:nvSpPr>
        <p:spPr>
          <a:xfrm>
            <a:off x="6236208" y="3904487"/>
            <a:ext cx="2487168" cy="1051560"/>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5B6B7B"/>
                </a:solidFill>
                <a:latin typeface="Noto Sans"/>
              </a:defRPr>
            </a:pPr>
            <a:r>
              <a:t>Một cây học</a:t>
            </a:r>
          </a:p>
          <a:p>
            <a:pPr algn="l">
              <a:lnSpc>
                <a:spcPct val="112000"/>
              </a:lnSpc>
              <a:spcBef>
                <a:spcPts val="0"/>
              </a:spcBef>
              <a:spcAft>
                <a:spcPts val="0"/>
              </a:spcAft>
              <a:defRPr sz="2100" b="0">
                <a:solidFill>
                  <a:srgbClr val="5B6B7B"/>
                </a:solidFill>
                <a:latin typeface="Noto Sans"/>
              </a:defRPr>
            </a:pPr>
            <a:r>
              <a:t>trên mỗi bootstrap.</a:t>
            </a:r>
          </a:p>
        </p:txBody>
      </p:sp>
      <p:sp>
        <p:nvSpPr>
          <p:cNvPr id="26" name="Right Arrow 25"/>
          <p:cNvSpPr/>
          <p:nvPr/>
        </p:nvSpPr>
        <p:spPr>
          <a:xfrm>
            <a:off x="8723376" y="3154680"/>
            <a:ext cx="228600" cy="182880"/>
          </a:xfrm>
          <a:prstGeom prst="rightArrow">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070848" y="2176272"/>
            <a:ext cx="24231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BƯỚC 4</a:t>
            </a:r>
          </a:p>
        </p:txBody>
      </p:sp>
      <p:cxnSp>
        <p:nvCxnSpPr>
          <p:cNvPr id="28" name="Connector 27"/>
          <p:cNvCxnSpPr/>
          <p:nvPr/>
        </p:nvCxnSpPr>
        <p:spPr>
          <a:xfrm>
            <a:off x="9070848" y="2688336"/>
            <a:ext cx="2423160" cy="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9070848" y="2999232"/>
            <a:ext cx="2487168" cy="59436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142D46"/>
                </a:solidFill>
                <a:latin typeface="Noto Sans"/>
              </a:defRPr>
            </a:pPr>
            <a:r>
              <a:t>Đếm phiếu</a:t>
            </a:r>
          </a:p>
        </p:txBody>
      </p:sp>
      <p:sp>
        <p:nvSpPr>
          <p:cNvPr id="30" name="TextBox 29"/>
          <p:cNvSpPr txBox="1"/>
          <p:nvPr/>
        </p:nvSpPr>
        <p:spPr>
          <a:xfrm>
            <a:off x="9070848" y="3904487"/>
            <a:ext cx="2487168" cy="1051560"/>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5B6B7B"/>
                </a:solidFill>
                <a:latin typeface="Noto Sans"/>
              </a:defRPr>
            </a:pPr>
            <a:r>
              <a:t>Cùng một mẫu mới</a:t>
            </a:r>
          </a:p>
          <a:p>
            <a:pPr algn="l">
              <a:lnSpc>
                <a:spcPct val="112000"/>
              </a:lnSpc>
              <a:spcBef>
                <a:spcPts val="0"/>
              </a:spcBef>
              <a:spcAft>
                <a:spcPts val="0"/>
              </a:spcAft>
              <a:defRPr sz="2100" b="0">
                <a:solidFill>
                  <a:srgbClr val="5B6B7B"/>
                </a:solidFill>
                <a:latin typeface="Noto Sans"/>
              </a:defRPr>
            </a:pPr>
            <a:r>
              <a:t>→ chọn lớp đa số.</a:t>
            </a:r>
          </a:p>
        </p:txBody>
      </p:sp>
      <p:sp>
        <p:nvSpPr>
          <p:cNvPr id="31" name="Rounded Rectangle 30"/>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Mỗi bootstrap lấy N lượt có hoàn lại từ cùng tập train.</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02 / VÍ DỤ TÍNH TAY</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5 quan sát → 3 tập bootstrap</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examples/toy_bagging.py · Dữ liệu giả lập</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06</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12648" y="1810512"/>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DỮ LIỆU GỐC</a:t>
            </a:r>
          </a:p>
        </p:txBody>
      </p:sp>
      <p:sp>
        <p:nvSpPr>
          <p:cNvPr id="13" name="TextBox 12"/>
          <p:cNvSpPr txBox="1"/>
          <p:nvPr/>
        </p:nvSpPr>
        <p:spPr>
          <a:xfrm>
            <a:off x="2743200" y="1783080"/>
            <a:ext cx="1463040" cy="402336"/>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142D46"/>
                </a:solidFill>
                <a:latin typeface="Noto Sans"/>
              </a:defRPr>
            </a:pPr>
            <a:r>
              <a:t>x = 1</a:t>
            </a:r>
          </a:p>
        </p:txBody>
      </p:sp>
      <p:sp>
        <p:nvSpPr>
          <p:cNvPr id="14" name="TextBox 13"/>
          <p:cNvSpPr txBox="1"/>
          <p:nvPr/>
        </p:nvSpPr>
        <p:spPr>
          <a:xfrm>
            <a:off x="2743200" y="2267712"/>
            <a:ext cx="1463040" cy="320040"/>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087F82"/>
                </a:solidFill>
                <a:latin typeface="Noto Sans"/>
              </a:defRPr>
            </a:pPr>
            <a:r>
              <a:t>Lành</a:t>
            </a:r>
          </a:p>
        </p:txBody>
      </p:sp>
      <p:sp>
        <p:nvSpPr>
          <p:cNvPr id="15" name="TextBox 14"/>
          <p:cNvSpPr txBox="1"/>
          <p:nvPr/>
        </p:nvSpPr>
        <p:spPr>
          <a:xfrm>
            <a:off x="4453128" y="1783080"/>
            <a:ext cx="1463040" cy="402336"/>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142D46"/>
                </a:solidFill>
                <a:latin typeface="Noto Sans"/>
              </a:defRPr>
            </a:pPr>
            <a:r>
              <a:t>x = 2</a:t>
            </a:r>
          </a:p>
        </p:txBody>
      </p:sp>
      <p:sp>
        <p:nvSpPr>
          <p:cNvPr id="16" name="TextBox 15"/>
          <p:cNvSpPr txBox="1"/>
          <p:nvPr/>
        </p:nvSpPr>
        <p:spPr>
          <a:xfrm>
            <a:off x="4453128" y="2267712"/>
            <a:ext cx="1463040" cy="320040"/>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087F82"/>
                </a:solidFill>
                <a:latin typeface="Noto Sans"/>
              </a:defRPr>
            </a:pPr>
            <a:r>
              <a:t>Lành</a:t>
            </a:r>
          </a:p>
        </p:txBody>
      </p:sp>
      <p:sp>
        <p:nvSpPr>
          <p:cNvPr id="17" name="TextBox 16"/>
          <p:cNvSpPr txBox="1"/>
          <p:nvPr/>
        </p:nvSpPr>
        <p:spPr>
          <a:xfrm>
            <a:off x="6163056" y="1783080"/>
            <a:ext cx="1463040" cy="402336"/>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142D46"/>
                </a:solidFill>
                <a:latin typeface="Noto Sans"/>
              </a:defRPr>
            </a:pPr>
            <a:r>
              <a:t>x = 3</a:t>
            </a:r>
          </a:p>
        </p:txBody>
      </p:sp>
      <p:sp>
        <p:nvSpPr>
          <p:cNvPr id="18" name="TextBox 17"/>
          <p:cNvSpPr txBox="1"/>
          <p:nvPr/>
        </p:nvSpPr>
        <p:spPr>
          <a:xfrm>
            <a:off x="6163056" y="2267712"/>
            <a:ext cx="1463040" cy="320040"/>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C86449"/>
                </a:solidFill>
                <a:latin typeface="Noto Sans"/>
              </a:defRPr>
            </a:pPr>
            <a:r>
              <a:t>Ác</a:t>
            </a:r>
          </a:p>
        </p:txBody>
      </p:sp>
      <p:sp>
        <p:nvSpPr>
          <p:cNvPr id="19" name="TextBox 18"/>
          <p:cNvSpPr txBox="1"/>
          <p:nvPr/>
        </p:nvSpPr>
        <p:spPr>
          <a:xfrm>
            <a:off x="7872983" y="1783080"/>
            <a:ext cx="1463040" cy="402336"/>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142D46"/>
                </a:solidFill>
                <a:latin typeface="Noto Sans"/>
              </a:defRPr>
            </a:pPr>
            <a:r>
              <a:t>x = 4</a:t>
            </a:r>
          </a:p>
        </p:txBody>
      </p:sp>
      <p:sp>
        <p:nvSpPr>
          <p:cNvPr id="20" name="TextBox 19"/>
          <p:cNvSpPr txBox="1"/>
          <p:nvPr/>
        </p:nvSpPr>
        <p:spPr>
          <a:xfrm>
            <a:off x="7872983" y="2267712"/>
            <a:ext cx="1463040" cy="320040"/>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C86449"/>
                </a:solidFill>
                <a:latin typeface="Noto Sans"/>
              </a:defRPr>
            </a:pPr>
            <a:r>
              <a:t>Ác</a:t>
            </a:r>
          </a:p>
        </p:txBody>
      </p:sp>
      <p:sp>
        <p:nvSpPr>
          <p:cNvPr id="21" name="TextBox 20"/>
          <p:cNvSpPr txBox="1"/>
          <p:nvPr/>
        </p:nvSpPr>
        <p:spPr>
          <a:xfrm>
            <a:off x="9582912" y="1783080"/>
            <a:ext cx="1463040" cy="402336"/>
          </a:xfrm>
          <a:prstGeom prst="rect">
            <a:avLst/>
          </a:prstGeom>
          <a:noFill/>
        </p:spPr>
        <p:txBody>
          <a:bodyPr wrap="square" lIns="0" rIns="0" tIns="0" bIns="0" anchor="t">
            <a:spAutoFit/>
          </a:bodyPr>
          <a:lstStyle/>
          <a:p>
            <a:pPr algn="ctr">
              <a:lnSpc>
                <a:spcPct val="112000"/>
              </a:lnSpc>
              <a:spcBef>
                <a:spcPts val="0"/>
              </a:spcBef>
              <a:spcAft>
                <a:spcPts val="0"/>
              </a:spcAft>
              <a:defRPr sz="2200" b="1">
                <a:solidFill>
                  <a:srgbClr val="142D46"/>
                </a:solidFill>
                <a:latin typeface="Noto Sans"/>
              </a:defRPr>
            </a:pPr>
            <a:r>
              <a:t>x = 5</a:t>
            </a:r>
          </a:p>
        </p:txBody>
      </p:sp>
      <p:sp>
        <p:nvSpPr>
          <p:cNvPr id="22" name="TextBox 21"/>
          <p:cNvSpPr txBox="1"/>
          <p:nvPr/>
        </p:nvSpPr>
        <p:spPr>
          <a:xfrm>
            <a:off x="9582912" y="2267712"/>
            <a:ext cx="1463040" cy="320040"/>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C86449"/>
                </a:solidFill>
                <a:latin typeface="Noto Sans"/>
              </a:defRPr>
            </a:pPr>
            <a:r>
              <a:t>Ác</a:t>
            </a:r>
          </a:p>
        </p:txBody>
      </p:sp>
      <p:sp>
        <p:nvSpPr>
          <p:cNvPr id="23" name="Rectangle 22"/>
          <p:cNvSpPr/>
          <p:nvPr/>
        </p:nvSpPr>
        <p:spPr>
          <a:xfrm>
            <a:off x="612648" y="2926080"/>
            <a:ext cx="1463040" cy="59436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68096" y="3072384"/>
            <a:ext cx="1152144" cy="429768"/>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FFFFFF"/>
                </a:solidFill>
                <a:latin typeface="Noto Sans"/>
              </a:defRPr>
            </a:pPr>
            <a:r>
              <a:t>Cây</a:t>
            </a:r>
          </a:p>
        </p:txBody>
      </p:sp>
      <p:sp>
        <p:nvSpPr>
          <p:cNvPr id="25" name="Rectangle 24"/>
          <p:cNvSpPr/>
          <p:nvPr/>
        </p:nvSpPr>
        <p:spPr>
          <a:xfrm>
            <a:off x="2075688" y="2926080"/>
            <a:ext cx="5943600" cy="59436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231136" y="3072384"/>
            <a:ext cx="5632704" cy="429768"/>
          </a:xfrm>
          <a:prstGeom prst="rect">
            <a:avLst/>
          </a:prstGeom>
          <a:noFill/>
        </p:spPr>
        <p:txBody>
          <a:bodyPr wrap="square" lIns="0" rIns="0" tIns="0" bIns="0" anchor="t">
            <a:spAutoFit/>
          </a:bodyPr>
          <a:lstStyle/>
          <a:p>
            <a:pPr algn="ctr">
              <a:lnSpc>
                <a:spcPct val="112000"/>
              </a:lnSpc>
              <a:spcBef>
                <a:spcPts val="0"/>
              </a:spcBef>
              <a:spcAft>
                <a:spcPts val="0"/>
              </a:spcAft>
              <a:defRPr sz="1900" b="1">
                <a:solidFill>
                  <a:srgbClr val="FFFFFF"/>
                </a:solidFill>
                <a:latin typeface="Noto Sans"/>
              </a:defRPr>
            </a:pPr>
            <a:r>
              <a:t>Chỉ số bootstrap (từ 0)</a:t>
            </a:r>
          </a:p>
        </p:txBody>
      </p:sp>
      <p:sp>
        <p:nvSpPr>
          <p:cNvPr id="27" name="Rectangle 26"/>
          <p:cNvSpPr/>
          <p:nvPr/>
        </p:nvSpPr>
        <p:spPr>
          <a:xfrm>
            <a:off x="8019288" y="2926080"/>
            <a:ext cx="3520440" cy="59436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174736" y="3072384"/>
            <a:ext cx="3209544" cy="429768"/>
          </a:xfrm>
          <a:prstGeom prst="rect">
            <a:avLst/>
          </a:prstGeom>
          <a:noFill/>
        </p:spPr>
        <p:txBody>
          <a:bodyPr wrap="square" lIns="0" rIns="0" tIns="0" bIns="0" anchor="t">
            <a:spAutoFit/>
          </a:bodyPr>
          <a:lstStyle/>
          <a:p>
            <a:pPr algn="ctr">
              <a:lnSpc>
                <a:spcPct val="112000"/>
              </a:lnSpc>
              <a:spcBef>
                <a:spcPts val="0"/>
              </a:spcBef>
              <a:spcAft>
                <a:spcPts val="0"/>
              </a:spcAft>
              <a:defRPr sz="1900" b="1">
                <a:solidFill>
                  <a:srgbClr val="FFFFFF"/>
                </a:solidFill>
                <a:latin typeface="Noto Sans"/>
              </a:defRPr>
            </a:pPr>
            <a:r>
              <a:t>Quan sát vắng mặt</a:t>
            </a:r>
          </a:p>
        </p:txBody>
      </p:sp>
      <p:sp>
        <p:nvSpPr>
          <p:cNvPr id="29" name="Rectangle 28"/>
          <p:cNvSpPr/>
          <p:nvPr/>
        </p:nvSpPr>
        <p:spPr>
          <a:xfrm>
            <a:off x="612648" y="3520440"/>
            <a:ext cx="14630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68096" y="3666744"/>
            <a:ext cx="1152144" cy="429768"/>
          </a:xfrm>
          <a:prstGeom prst="rect">
            <a:avLst/>
          </a:prstGeom>
          <a:noFill/>
        </p:spPr>
        <p:txBody>
          <a:bodyPr wrap="square" lIns="0" rIns="0" tIns="0" bIns="0" anchor="t">
            <a:spAutoFit/>
          </a:bodyPr>
          <a:lstStyle/>
          <a:p>
            <a:pPr algn="l">
              <a:lnSpc>
                <a:spcPct val="112000"/>
              </a:lnSpc>
              <a:spcBef>
                <a:spcPts val="0"/>
              </a:spcBef>
              <a:spcAft>
                <a:spcPts val="0"/>
              </a:spcAft>
              <a:defRPr sz="2000" b="0">
                <a:solidFill>
                  <a:srgbClr val="192F43"/>
                </a:solidFill>
                <a:latin typeface="Noto Sans"/>
              </a:defRPr>
            </a:pPr>
            <a:r>
              <a:t>h1</a:t>
            </a:r>
          </a:p>
        </p:txBody>
      </p:sp>
      <p:sp>
        <p:nvSpPr>
          <p:cNvPr id="31" name="Rectangle 30"/>
          <p:cNvSpPr/>
          <p:nvPr/>
        </p:nvSpPr>
        <p:spPr>
          <a:xfrm>
            <a:off x="2075688" y="3520440"/>
            <a:ext cx="594360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231136" y="3666744"/>
            <a:ext cx="563270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[0, 0, 2, 4, 1]</a:t>
            </a:r>
          </a:p>
        </p:txBody>
      </p:sp>
      <p:sp>
        <p:nvSpPr>
          <p:cNvPr id="33" name="Rectangle 32"/>
          <p:cNvSpPr/>
          <p:nvPr/>
        </p:nvSpPr>
        <p:spPr>
          <a:xfrm>
            <a:off x="8019288" y="3520440"/>
            <a:ext cx="35204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174736" y="3666744"/>
            <a:ext cx="320954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3</a:t>
            </a:r>
          </a:p>
        </p:txBody>
      </p:sp>
      <p:cxnSp>
        <p:nvCxnSpPr>
          <p:cNvPr id="35" name="Connector 34"/>
          <p:cNvCxnSpPr/>
          <p:nvPr/>
        </p:nvCxnSpPr>
        <p:spPr>
          <a:xfrm>
            <a:off x="612648" y="411480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6" name="Rectangle 35"/>
          <p:cNvSpPr/>
          <p:nvPr/>
        </p:nvSpPr>
        <p:spPr>
          <a:xfrm>
            <a:off x="612648" y="4114800"/>
            <a:ext cx="1463040" cy="59436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68096" y="4261104"/>
            <a:ext cx="1152144" cy="429768"/>
          </a:xfrm>
          <a:prstGeom prst="rect">
            <a:avLst/>
          </a:prstGeom>
          <a:noFill/>
        </p:spPr>
        <p:txBody>
          <a:bodyPr wrap="square" lIns="0" rIns="0" tIns="0" bIns="0" anchor="t">
            <a:spAutoFit/>
          </a:bodyPr>
          <a:lstStyle/>
          <a:p>
            <a:pPr algn="l">
              <a:lnSpc>
                <a:spcPct val="112000"/>
              </a:lnSpc>
              <a:spcBef>
                <a:spcPts val="0"/>
              </a:spcBef>
              <a:spcAft>
                <a:spcPts val="0"/>
              </a:spcAft>
              <a:defRPr sz="2000" b="0">
                <a:solidFill>
                  <a:srgbClr val="192F43"/>
                </a:solidFill>
                <a:latin typeface="Noto Sans"/>
              </a:defRPr>
            </a:pPr>
            <a:r>
              <a:t>h2</a:t>
            </a:r>
          </a:p>
        </p:txBody>
      </p:sp>
      <p:sp>
        <p:nvSpPr>
          <p:cNvPr id="38" name="Rectangle 37"/>
          <p:cNvSpPr/>
          <p:nvPr/>
        </p:nvSpPr>
        <p:spPr>
          <a:xfrm>
            <a:off x="2075688" y="4114800"/>
            <a:ext cx="5943600" cy="59436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2231136" y="4261104"/>
            <a:ext cx="563270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[0, 0, 1, 3, 4]</a:t>
            </a:r>
          </a:p>
        </p:txBody>
      </p:sp>
      <p:sp>
        <p:nvSpPr>
          <p:cNvPr id="40" name="Rectangle 39"/>
          <p:cNvSpPr/>
          <p:nvPr/>
        </p:nvSpPr>
        <p:spPr>
          <a:xfrm>
            <a:off x="8019288" y="4114800"/>
            <a:ext cx="3520440" cy="59436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8174736" y="4261104"/>
            <a:ext cx="320954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2</a:t>
            </a:r>
          </a:p>
        </p:txBody>
      </p:sp>
      <p:cxnSp>
        <p:nvCxnSpPr>
          <p:cNvPr id="42" name="Connector 41"/>
          <p:cNvCxnSpPr/>
          <p:nvPr/>
        </p:nvCxnSpPr>
        <p:spPr>
          <a:xfrm>
            <a:off x="612648" y="470916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3" name="Rectangle 42"/>
          <p:cNvSpPr/>
          <p:nvPr/>
        </p:nvSpPr>
        <p:spPr>
          <a:xfrm>
            <a:off x="612648" y="4709160"/>
            <a:ext cx="14630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68096" y="4855464"/>
            <a:ext cx="1152144" cy="429768"/>
          </a:xfrm>
          <a:prstGeom prst="rect">
            <a:avLst/>
          </a:prstGeom>
          <a:noFill/>
        </p:spPr>
        <p:txBody>
          <a:bodyPr wrap="square" lIns="0" rIns="0" tIns="0" bIns="0" anchor="t">
            <a:spAutoFit/>
          </a:bodyPr>
          <a:lstStyle/>
          <a:p>
            <a:pPr algn="l">
              <a:lnSpc>
                <a:spcPct val="112000"/>
              </a:lnSpc>
              <a:spcBef>
                <a:spcPts val="0"/>
              </a:spcBef>
              <a:spcAft>
                <a:spcPts val="0"/>
              </a:spcAft>
              <a:defRPr sz="2000" b="0">
                <a:solidFill>
                  <a:srgbClr val="192F43"/>
                </a:solidFill>
                <a:latin typeface="Noto Sans"/>
              </a:defRPr>
            </a:pPr>
            <a:r>
              <a:t>h3</a:t>
            </a:r>
          </a:p>
        </p:txBody>
      </p:sp>
      <p:sp>
        <p:nvSpPr>
          <p:cNvPr id="45" name="Rectangle 44"/>
          <p:cNvSpPr/>
          <p:nvPr/>
        </p:nvSpPr>
        <p:spPr>
          <a:xfrm>
            <a:off x="2075688" y="4709160"/>
            <a:ext cx="594360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2231136" y="4855464"/>
            <a:ext cx="563270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[4, 2, 4, 1, 3]</a:t>
            </a:r>
          </a:p>
        </p:txBody>
      </p:sp>
      <p:sp>
        <p:nvSpPr>
          <p:cNvPr id="47" name="Rectangle 46"/>
          <p:cNvSpPr/>
          <p:nvPr/>
        </p:nvSpPr>
        <p:spPr>
          <a:xfrm>
            <a:off x="8019288" y="4709160"/>
            <a:ext cx="3520440" cy="5943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8174736" y="4855464"/>
            <a:ext cx="3209544" cy="429768"/>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192F43"/>
                </a:solidFill>
                <a:latin typeface="Noto Sans"/>
              </a:defRPr>
            </a:pPr>
            <a:r>
              <a:t>0</a:t>
            </a:r>
          </a:p>
        </p:txBody>
      </p:sp>
      <p:cxnSp>
        <p:nvCxnSpPr>
          <p:cNvPr id="49" name="Connector 48"/>
          <p:cNvCxnSpPr/>
          <p:nvPr/>
        </p:nvCxnSpPr>
        <p:spPr>
          <a:xfrm>
            <a:off x="612648" y="530352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0" name="Rounded Rectangle 49"/>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Có lặp, có quan sát vắng mặt; tổng số lượt lấy vẫn bằng N.</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02 / VÍ DỤ TÍNH TAY</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Gini chọn ngưỡng 2,5</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examples/toy_bagging.py · [5]</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07</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12648" y="1920240"/>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TRƯỚC KHI CHIA</a:t>
            </a:r>
          </a:p>
        </p:txBody>
      </p:sp>
      <p:sp>
        <p:nvSpPr>
          <p:cNvPr id="13" name="TextBox 12"/>
          <p:cNvSpPr txBox="1"/>
          <p:nvPr/>
        </p:nvSpPr>
        <p:spPr>
          <a:xfrm>
            <a:off x="612648" y="2441448"/>
            <a:ext cx="5029200" cy="475488"/>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3 lành + 2 ác</a:t>
            </a:r>
          </a:p>
        </p:txBody>
      </p:sp>
      <p:sp>
        <p:nvSpPr>
          <p:cNvPr id="14" name="TextBox 13"/>
          <p:cNvSpPr txBox="1"/>
          <p:nvPr/>
        </p:nvSpPr>
        <p:spPr>
          <a:xfrm>
            <a:off x="612648" y="3145536"/>
            <a:ext cx="5029200" cy="822960"/>
          </a:xfrm>
          <a:prstGeom prst="rect">
            <a:avLst/>
          </a:prstGeom>
          <a:noFill/>
        </p:spPr>
        <p:txBody>
          <a:bodyPr wrap="square" lIns="0" rIns="0" tIns="0" bIns="0" anchor="t">
            <a:spAutoFit/>
          </a:bodyPr>
          <a:lstStyle/>
          <a:p>
            <a:pPr algn="l">
              <a:lnSpc>
                <a:spcPct val="130000"/>
              </a:lnSpc>
              <a:spcBef>
                <a:spcPts val="0"/>
              </a:spcBef>
              <a:spcAft>
                <a:spcPts val="0"/>
              </a:spcAft>
              <a:defRPr sz="2400" b="0">
                <a:solidFill>
                  <a:srgbClr val="087F82"/>
                </a:solidFill>
                <a:latin typeface="Noto Sans"/>
              </a:defRPr>
            </a:pPr>
            <a:r>
              <a:t>Gini = 1 − (3/5)² − (2/5)²</a:t>
            </a:r>
          </a:p>
          <a:p>
            <a:pPr algn="l">
              <a:lnSpc>
                <a:spcPct val="130000"/>
              </a:lnSpc>
              <a:spcBef>
                <a:spcPts val="0"/>
              </a:spcBef>
              <a:spcAft>
                <a:spcPts val="0"/>
              </a:spcAft>
              <a:defRPr sz="2400" b="0">
                <a:solidFill>
                  <a:srgbClr val="087F82"/>
                </a:solidFill>
                <a:latin typeface="Noto Sans"/>
              </a:defRPr>
            </a:pPr>
            <a:r>
              <a:t>        = 0,48</a:t>
            </a:r>
          </a:p>
        </p:txBody>
      </p:sp>
      <p:sp>
        <p:nvSpPr>
          <p:cNvPr id="15" name="Rectangle 14"/>
          <p:cNvSpPr/>
          <p:nvPr/>
        </p:nvSpPr>
        <p:spPr>
          <a:xfrm>
            <a:off x="612648" y="4407408"/>
            <a:ext cx="2331720" cy="53035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8096" y="4553712"/>
            <a:ext cx="2020824" cy="365759"/>
          </a:xfrm>
          <a:prstGeom prst="rect">
            <a:avLst/>
          </a:prstGeom>
          <a:noFill/>
        </p:spPr>
        <p:txBody>
          <a:bodyPr wrap="square" lIns="0" rIns="0" tIns="0" bIns="0" anchor="t">
            <a:spAutoFit/>
          </a:bodyPr>
          <a:lstStyle/>
          <a:p>
            <a:pPr algn="l">
              <a:lnSpc>
                <a:spcPct val="112000"/>
              </a:lnSpc>
              <a:spcBef>
                <a:spcPts val="0"/>
              </a:spcBef>
              <a:spcAft>
                <a:spcPts val="0"/>
              </a:spcAft>
              <a:defRPr sz="1500" b="1">
                <a:solidFill>
                  <a:srgbClr val="FFFFFF"/>
                </a:solidFill>
                <a:latin typeface="Noto Sans"/>
              </a:defRPr>
            </a:pPr>
            <a:r>
              <a:t>Ngưỡng</a:t>
            </a:r>
          </a:p>
        </p:txBody>
      </p:sp>
      <p:sp>
        <p:nvSpPr>
          <p:cNvPr id="17" name="Rectangle 16"/>
          <p:cNvSpPr/>
          <p:nvPr/>
        </p:nvSpPr>
        <p:spPr>
          <a:xfrm>
            <a:off x="2944368" y="4407408"/>
            <a:ext cx="2377440" cy="53035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099815" y="4553712"/>
            <a:ext cx="2066544" cy="365759"/>
          </a:xfrm>
          <a:prstGeom prst="rect">
            <a:avLst/>
          </a:prstGeom>
          <a:noFill/>
        </p:spPr>
        <p:txBody>
          <a:bodyPr wrap="square" lIns="0" rIns="0" tIns="0" bIns="0" anchor="t">
            <a:spAutoFit/>
          </a:bodyPr>
          <a:lstStyle/>
          <a:p>
            <a:pPr algn="ctr">
              <a:lnSpc>
                <a:spcPct val="112000"/>
              </a:lnSpc>
              <a:spcBef>
                <a:spcPts val="0"/>
              </a:spcBef>
              <a:spcAft>
                <a:spcPts val="0"/>
              </a:spcAft>
              <a:defRPr sz="1500" b="1">
                <a:solidFill>
                  <a:srgbClr val="FFFFFF"/>
                </a:solidFill>
                <a:latin typeface="Noto Sans"/>
              </a:defRPr>
            </a:pPr>
            <a:r>
              <a:t>Gini sau chia</a:t>
            </a:r>
          </a:p>
        </p:txBody>
      </p:sp>
      <p:sp>
        <p:nvSpPr>
          <p:cNvPr id="19" name="Rectangle 18"/>
          <p:cNvSpPr/>
          <p:nvPr/>
        </p:nvSpPr>
        <p:spPr>
          <a:xfrm>
            <a:off x="612648" y="4937760"/>
            <a:ext cx="233172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68096" y="5084064"/>
            <a:ext cx="2020824" cy="365759"/>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192F43"/>
                </a:solidFill>
                <a:latin typeface="Noto Sans"/>
              </a:defRPr>
            </a:pPr>
            <a:r>
              <a:t>1,5 / 2,5 / 4,0</a:t>
            </a:r>
          </a:p>
        </p:txBody>
      </p:sp>
      <p:sp>
        <p:nvSpPr>
          <p:cNvPr id="21" name="Rectangle 20"/>
          <p:cNvSpPr/>
          <p:nvPr/>
        </p:nvSpPr>
        <p:spPr>
          <a:xfrm>
            <a:off x="2944368" y="4937760"/>
            <a:ext cx="237744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099815" y="5084064"/>
            <a:ext cx="2066544" cy="365759"/>
          </a:xfrm>
          <a:prstGeom prst="rect">
            <a:avLst/>
          </a:prstGeom>
          <a:noFill/>
        </p:spPr>
        <p:txBody>
          <a:bodyPr wrap="square" lIns="0" rIns="0" tIns="0" bIns="0" anchor="t">
            <a:spAutoFit/>
          </a:bodyPr>
          <a:lstStyle/>
          <a:p>
            <a:pPr algn="ctr">
              <a:lnSpc>
                <a:spcPct val="112000"/>
              </a:lnSpc>
              <a:spcBef>
                <a:spcPts val="0"/>
              </a:spcBef>
              <a:spcAft>
                <a:spcPts val="0"/>
              </a:spcAft>
              <a:defRPr sz="1600" b="0">
                <a:solidFill>
                  <a:srgbClr val="192F43"/>
                </a:solidFill>
                <a:latin typeface="Noto Sans"/>
              </a:defRPr>
            </a:pPr>
            <a:r>
              <a:t>0,2667 / 0 / 0,30</a:t>
            </a:r>
          </a:p>
        </p:txBody>
      </p:sp>
      <p:cxnSp>
        <p:nvCxnSpPr>
          <p:cNvPr id="23" name="Connector 22"/>
          <p:cNvCxnSpPr/>
          <p:nvPr/>
        </p:nvCxnSpPr>
        <p:spPr>
          <a:xfrm>
            <a:off x="612648" y="5468112"/>
            <a:ext cx="470916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6217920" y="1874519"/>
            <a:ext cx="5376672" cy="352044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7616952" y="2267712"/>
            <a:ext cx="2560320" cy="640080"/>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818120" y="2423160"/>
            <a:ext cx="2157984" cy="347472"/>
          </a:xfrm>
          <a:prstGeom prst="rect">
            <a:avLst/>
          </a:prstGeom>
          <a:noFill/>
        </p:spPr>
        <p:txBody>
          <a:bodyPr wrap="square" lIns="0" rIns="0" tIns="0" bIns="0" anchor="t">
            <a:spAutoFit/>
          </a:bodyPr>
          <a:lstStyle/>
          <a:p>
            <a:pPr algn="ctr">
              <a:lnSpc>
                <a:spcPct val="112000"/>
              </a:lnSpc>
              <a:spcBef>
                <a:spcPts val="0"/>
              </a:spcBef>
              <a:spcAft>
                <a:spcPts val="0"/>
              </a:spcAft>
              <a:defRPr sz="2400" b="1">
                <a:solidFill>
                  <a:srgbClr val="FFFFFF"/>
                </a:solidFill>
                <a:latin typeface="Noto Sans"/>
              </a:defRPr>
            </a:pPr>
            <a:r>
              <a:t>x ≤ 2,5 ?</a:t>
            </a:r>
          </a:p>
        </p:txBody>
      </p:sp>
      <p:cxnSp>
        <p:nvCxnSpPr>
          <p:cNvPr id="27" name="Connector 26"/>
          <p:cNvCxnSpPr/>
          <p:nvPr/>
        </p:nvCxnSpPr>
        <p:spPr>
          <a:xfrm flipH="1">
            <a:off x="7406640" y="2926080"/>
            <a:ext cx="822960" cy="86868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9555480" y="2926080"/>
            <a:ext cx="832104" cy="868680"/>
          </a:xfrm>
          <a:prstGeom prst="line">
            <a:avLst/>
          </a:prstGeom>
          <a:ln w="254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931152" y="3264408"/>
            <a:ext cx="1097280" cy="274320"/>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ĐÚNG</a:t>
            </a:r>
          </a:p>
        </p:txBody>
      </p:sp>
      <p:sp>
        <p:nvSpPr>
          <p:cNvPr id="30" name="TextBox 29"/>
          <p:cNvSpPr txBox="1"/>
          <p:nvPr/>
        </p:nvSpPr>
        <p:spPr>
          <a:xfrm>
            <a:off x="9784080" y="3264408"/>
            <a:ext cx="1097280" cy="274320"/>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C86449"/>
                </a:solidFill>
                <a:latin typeface="Noto Sans"/>
              </a:defRPr>
            </a:pPr>
            <a:r>
              <a:t>SAI</a:t>
            </a:r>
          </a:p>
        </p:txBody>
      </p:sp>
      <p:sp>
        <p:nvSpPr>
          <p:cNvPr id="31" name="TextBox 30"/>
          <p:cNvSpPr txBox="1"/>
          <p:nvPr/>
        </p:nvSpPr>
        <p:spPr>
          <a:xfrm>
            <a:off x="6565392" y="3895344"/>
            <a:ext cx="2377440" cy="438912"/>
          </a:xfrm>
          <a:prstGeom prst="rect">
            <a:avLst/>
          </a:prstGeom>
          <a:noFill/>
        </p:spPr>
        <p:txBody>
          <a:bodyPr wrap="square" lIns="0" rIns="0" tIns="0" bIns="0" anchor="t">
            <a:spAutoFit/>
          </a:bodyPr>
          <a:lstStyle/>
          <a:p>
            <a:pPr algn="ctr">
              <a:lnSpc>
                <a:spcPct val="112000"/>
              </a:lnSpc>
              <a:spcBef>
                <a:spcPts val="0"/>
              </a:spcBef>
              <a:spcAft>
                <a:spcPts val="0"/>
              </a:spcAft>
              <a:defRPr sz="2700" b="1">
                <a:solidFill>
                  <a:srgbClr val="087F82"/>
                </a:solidFill>
                <a:latin typeface="Noto Sans"/>
              </a:defRPr>
            </a:pPr>
            <a:r>
              <a:t>3 lành</a:t>
            </a:r>
          </a:p>
        </p:txBody>
      </p:sp>
      <p:sp>
        <p:nvSpPr>
          <p:cNvPr id="32" name="TextBox 31"/>
          <p:cNvSpPr txBox="1"/>
          <p:nvPr/>
        </p:nvSpPr>
        <p:spPr>
          <a:xfrm>
            <a:off x="9125712" y="3895344"/>
            <a:ext cx="2194560" cy="438912"/>
          </a:xfrm>
          <a:prstGeom prst="rect">
            <a:avLst/>
          </a:prstGeom>
          <a:noFill/>
        </p:spPr>
        <p:txBody>
          <a:bodyPr wrap="square" lIns="0" rIns="0" tIns="0" bIns="0" anchor="t">
            <a:spAutoFit/>
          </a:bodyPr>
          <a:lstStyle/>
          <a:p>
            <a:pPr algn="ctr">
              <a:lnSpc>
                <a:spcPct val="112000"/>
              </a:lnSpc>
              <a:spcBef>
                <a:spcPts val="0"/>
              </a:spcBef>
              <a:spcAft>
                <a:spcPts val="0"/>
              </a:spcAft>
              <a:defRPr sz="2700" b="1">
                <a:solidFill>
                  <a:srgbClr val="C86449"/>
                </a:solidFill>
                <a:latin typeface="Noto Sans"/>
              </a:defRPr>
            </a:pPr>
            <a:r>
              <a:t>2 ác</a:t>
            </a:r>
          </a:p>
        </p:txBody>
      </p:sp>
      <p:sp>
        <p:nvSpPr>
          <p:cNvPr id="33" name="TextBox 32"/>
          <p:cNvSpPr txBox="1"/>
          <p:nvPr/>
        </p:nvSpPr>
        <p:spPr>
          <a:xfrm>
            <a:off x="6656832" y="4617720"/>
            <a:ext cx="4572000" cy="365760"/>
          </a:xfrm>
          <a:prstGeom prst="rect">
            <a:avLst/>
          </a:prstGeom>
          <a:noFill/>
        </p:spPr>
        <p:txBody>
          <a:bodyPr wrap="square" lIns="0" rIns="0" tIns="0" bIns="0" anchor="t">
            <a:spAutoFit/>
          </a:bodyPr>
          <a:lstStyle/>
          <a:p>
            <a:pPr algn="ctr">
              <a:lnSpc>
                <a:spcPct val="112000"/>
              </a:lnSpc>
              <a:spcBef>
                <a:spcPts val="0"/>
              </a:spcBef>
              <a:spcAft>
                <a:spcPts val="0"/>
              </a:spcAft>
              <a:defRPr sz="2000" b="0">
                <a:solidFill>
                  <a:srgbClr val="5B6B7B"/>
                </a:solidFill>
                <a:latin typeface="Noto Sans"/>
              </a:defRPr>
            </a:pPr>
            <a:r>
              <a:t>Cả hai nhánh: Gini = 0</a:t>
            </a:r>
          </a:p>
        </p:txBody>
      </p:sp>
      <p:sp>
        <p:nvSpPr>
          <p:cNvPr id="34" name="Rounded Rectangle 33"/>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Ngưỡng 2,5: Gini giảm từ 0,48 xuống 0.</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02 / VÍ DỤ TÍNH TAY</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Tại x = 2,8: hai phiếu ác, một phiếu lành</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Cùng ba bootstrap ở slide 6 · examples/toy_bagging.py</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08</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12648" y="2029968"/>
            <a:ext cx="3465576" cy="242316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1248" y="2295144"/>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CÂY H1</a:t>
            </a:r>
          </a:p>
        </p:txBody>
      </p:sp>
      <p:sp>
        <p:nvSpPr>
          <p:cNvPr id="14" name="TextBox 13"/>
          <p:cNvSpPr txBox="1"/>
          <p:nvPr/>
        </p:nvSpPr>
        <p:spPr>
          <a:xfrm>
            <a:off x="841248" y="2852928"/>
            <a:ext cx="3017520" cy="429768"/>
          </a:xfrm>
          <a:prstGeom prst="rect">
            <a:avLst/>
          </a:prstGeom>
          <a:noFill/>
        </p:spPr>
        <p:txBody>
          <a:bodyPr wrap="square" lIns="0" rIns="0" tIns="0" bIns="0" anchor="t">
            <a:spAutoFit/>
          </a:bodyPr>
          <a:lstStyle/>
          <a:p>
            <a:pPr algn="l">
              <a:lnSpc>
                <a:spcPct val="112000"/>
              </a:lnSpc>
              <a:spcBef>
                <a:spcPts val="0"/>
              </a:spcBef>
              <a:spcAft>
                <a:spcPts val="0"/>
              </a:spcAft>
              <a:defRPr sz="2800" b="1">
                <a:solidFill>
                  <a:srgbClr val="142D46"/>
                </a:solidFill>
                <a:latin typeface="Noto Sans"/>
              </a:defRPr>
            </a:pPr>
            <a:r>
              <a:t>2,8 &gt; 2,5</a:t>
            </a:r>
          </a:p>
        </p:txBody>
      </p:sp>
      <p:sp>
        <p:nvSpPr>
          <p:cNvPr id="15" name="TextBox 14"/>
          <p:cNvSpPr txBox="1"/>
          <p:nvPr/>
        </p:nvSpPr>
        <p:spPr>
          <a:xfrm>
            <a:off x="841248" y="3602736"/>
            <a:ext cx="3017520" cy="457200"/>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C86449"/>
                </a:solidFill>
                <a:latin typeface="Noto Sans"/>
              </a:defRPr>
            </a:pPr>
            <a:r>
              <a:t>Ác tính</a:t>
            </a:r>
          </a:p>
        </p:txBody>
      </p:sp>
      <p:sp>
        <p:nvSpPr>
          <p:cNvPr id="16" name="Rounded Rectangle 15"/>
          <p:cNvSpPr/>
          <p:nvPr/>
        </p:nvSpPr>
        <p:spPr>
          <a:xfrm>
            <a:off x="4389120" y="2029968"/>
            <a:ext cx="3465576" cy="242316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617720" y="2295144"/>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CÂY H2</a:t>
            </a:r>
          </a:p>
        </p:txBody>
      </p:sp>
      <p:sp>
        <p:nvSpPr>
          <p:cNvPr id="18" name="TextBox 17"/>
          <p:cNvSpPr txBox="1"/>
          <p:nvPr/>
        </p:nvSpPr>
        <p:spPr>
          <a:xfrm>
            <a:off x="4617720" y="2852928"/>
            <a:ext cx="3017520" cy="429768"/>
          </a:xfrm>
          <a:prstGeom prst="rect">
            <a:avLst/>
          </a:prstGeom>
          <a:noFill/>
        </p:spPr>
        <p:txBody>
          <a:bodyPr wrap="square" lIns="0" rIns="0" tIns="0" bIns="0" anchor="t">
            <a:spAutoFit/>
          </a:bodyPr>
          <a:lstStyle/>
          <a:p>
            <a:pPr algn="l">
              <a:lnSpc>
                <a:spcPct val="112000"/>
              </a:lnSpc>
              <a:spcBef>
                <a:spcPts val="0"/>
              </a:spcBef>
              <a:spcAft>
                <a:spcPts val="0"/>
              </a:spcAft>
              <a:defRPr sz="2800" b="1">
                <a:solidFill>
                  <a:srgbClr val="142D46"/>
                </a:solidFill>
                <a:latin typeface="Noto Sans"/>
              </a:defRPr>
            </a:pPr>
            <a:r>
              <a:t>2,8 ≤ 3,0</a:t>
            </a:r>
          </a:p>
        </p:txBody>
      </p:sp>
      <p:sp>
        <p:nvSpPr>
          <p:cNvPr id="19" name="TextBox 18"/>
          <p:cNvSpPr txBox="1"/>
          <p:nvPr/>
        </p:nvSpPr>
        <p:spPr>
          <a:xfrm>
            <a:off x="4617720" y="3602736"/>
            <a:ext cx="3017520" cy="457200"/>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087F82"/>
                </a:solidFill>
                <a:latin typeface="Noto Sans"/>
              </a:defRPr>
            </a:pPr>
            <a:r>
              <a:t>Lành tính</a:t>
            </a:r>
          </a:p>
        </p:txBody>
      </p:sp>
      <p:sp>
        <p:nvSpPr>
          <p:cNvPr id="20" name="Rounded Rectangle 19"/>
          <p:cNvSpPr/>
          <p:nvPr/>
        </p:nvSpPr>
        <p:spPr>
          <a:xfrm>
            <a:off x="8165592" y="2029968"/>
            <a:ext cx="3465576" cy="2423160"/>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394192" y="2295144"/>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CÂY H3</a:t>
            </a:r>
          </a:p>
        </p:txBody>
      </p:sp>
      <p:sp>
        <p:nvSpPr>
          <p:cNvPr id="22" name="TextBox 21"/>
          <p:cNvSpPr txBox="1"/>
          <p:nvPr/>
        </p:nvSpPr>
        <p:spPr>
          <a:xfrm>
            <a:off x="8394192" y="2852928"/>
            <a:ext cx="3017520" cy="429768"/>
          </a:xfrm>
          <a:prstGeom prst="rect">
            <a:avLst/>
          </a:prstGeom>
          <a:noFill/>
        </p:spPr>
        <p:txBody>
          <a:bodyPr wrap="square" lIns="0" rIns="0" tIns="0" bIns="0" anchor="t">
            <a:spAutoFit/>
          </a:bodyPr>
          <a:lstStyle/>
          <a:p>
            <a:pPr algn="l">
              <a:lnSpc>
                <a:spcPct val="112000"/>
              </a:lnSpc>
              <a:spcBef>
                <a:spcPts val="0"/>
              </a:spcBef>
              <a:spcAft>
                <a:spcPts val="0"/>
              </a:spcAft>
              <a:defRPr sz="2800" b="1">
                <a:solidFill>
                  <a:srgbClr val="142D46"/>
                </a:solidFill>
                <a:latin typeface="Noto Sans"/>
              </a:defRPr>
            </a:pPr>
            <a:r>
              <a:t>2,8 &gt; 2,5</a:t>
            </a:r>
          </a:p>
        </p:txBody>
      </p:sp>
      <p:sp>
        <p:nvSpPr>
          <p:cNvPr id="23" name="TextBox 22"/>
          <p:cNvSpPr txBox="1"/>
          <p:nvPr/>
        </p:nvSpPr>
        <p:spPr>
          <a:xfrm>
            <a:off x="8394192" y="3602736"/>
            <a:ext cx="3017520" cy="457200"/>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C86449"/>
                </a:solidFill>
                <a:latin typeface="Noto Sans"/>
              </a:defRPr>
            </a:pPr>
            <a:r>
              <a:t>Ác tính</a:t>
            </a:r>
          </a:p>
        </p:txBody>
      </p:sp>
      <p:sp>
        <p:nvSpPr>
          <p:cNvPr id="24" name="TextBox 23"/>
          <p:cNvSpPr txBox="1"/>
          <p:nvPr/>
        </p:nvSpPr>
        <p:spPr>
          <a:xfrm>
            <a:off x="640080" y="4727448"/>
            <a:ext cx="3931920" cy="731520"/>
          </a:xfrm>
          <a:prstGeom prst="rect">
            <a:avLst/>
          </a:prstGeom>
          <a:noFill/>
        </p:spPr>
        <p:txBody>
          <a:bodyPr wrap="square" lIns="0" rIns="0" tIns="0" bIns="0" anchor="t">
            <a:spAutoFit/>
          </a:bodyPr>
          <a:lstStyle/>
          <a:p>
            <a:pPr algn="l">
              <a:lnSpc>
                <a:spcPct val="112000"/>
              </a:lnSpc>
              <a:spcBef>
                <a:spcPts val="0"/>
              </a:spcBef>
              <a:spcAft>
                <a:spcPts val="0"/>
              </a:spcAft>
              <a:defRPr sz="4600" b="1">
                <a:solidFill>
                  <a:srgbClr val="C86449"/>
                </a:solidFill>
                <a:latin typeface="Noto Sans"/>
              </a:defRPr>
            </a:pPr>
            <a:r>
              <a:t>2 : 1</a:t>
            </a:r>
          </a:p>
        </p:txBody>
      </p:sp>
      <p:sp>
        <p:nvSpPr>
          <p:cNvPr id="25" name="TextBox 24"/>
          <p:cNvSpPr txBox="1"/>
          <p:nvPr/>
        </p:nvSpPr>
        <p:spPr>
          <a:xfrm>
            <a:off x="4315968" y="4882896"/>
            <a:ext cx="7040880" cy="548640"/>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142D46"/>
                </a:solidFill>
                <a:latin typeface="Noto Sans"/>
              </a:defRPr>
            </a:pPr>
            <a:r>
              <a:t>Hard voting chọn ác tính (0).</a:t>
            </a:r>
          </a:p>
        </p:txBody>
      </p:sp>
      <p:sp>
        <p:nvSpPr>
          <p:cNvPr id="26" name="Rounded Rectangle 25"/>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Ví dụ giả lập, chưa có nhãn thật; tỷ lệ phiếu không phải xác suất bệnh.</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03 / DỮ LIỆU VÀ GIAO THỨC</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569 mẫu: chọn cấu hình trên train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Breast Cancer Wisconsin Diagnostic · seed 42 · [4]</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09</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7512" y="1856231"/>
            <a:ext cx="3108960" cy="777240"/>
          </a:xfrm>
          <a:prstGeom prst="rect">
            <a:avLst/>
          </a:prstGeom>
          <a:noFill/>
        </p:spPr>
        <p:txBody>
          <a:bodyPr wrap="square" lIns="0" rIns="0" tIns="0" bIns="0" anchor="t">
            <a:spAutoFit/>
          </a:bodyPr>
          <a:lstStyle/>
          <a:p>
            <a:pPr algn="l">
              <a:lnSpc>
                <a:spcPct val="112000"/>
              </a:lnSpc>
              <a:spcBef>
                <a:spcPts val="0"/>
              </a:spcBef>
              <a:spcAft>
                <a:spcPts val="0"/>
              </a:spcAft>
              <a:defRPr sz="4400" b="1">
                <a:solidFill>
                  <a:srgbClr val="087F82"/>
                </a:solidFill>
                <a:latin typeface="Noto Sans"/>
              </a:defRPr>
            </a:pPr>
            <a:r>
              <a:t>569</a:t>
            </a:r>
          </a:p>
        </p:txBody>
      </p:sp>
      <p:sp>
        <p:nvSpPr>
          <p:cNvPr id="13" name="TextBox 12"/>
          <p:cNvSpPr txBox="1"/>
          <p:nvPr/>
        </p:nvSpPr>
        <p:spPr>
          <a:xfrm>
            <a:off x="667512" y="2779776"/>
            <a:ext cx="3108960" cy="36576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5B6B7B"/>
                </a:solidFill>
                <a:latin typeface="Noto Sans"/>
              </a:defRPr>
            </a:pPr>
            <a:r>
              <a:t>quan sát</a:t>
            </a:r>
          </a:p>
        </p:txBody>
      </p:sp>
      <p:sp>
        <p:nvSpPr>
          <p:cNvPr id="14" name="TextBox 13"/>
          <p:cNvSpPr txBox="1"/>
          <p:nvPr/>
        </p:nvSpPr>
        <p:spPr>
          <a:xfrm>
            <a:off x="4416552" y="1856231"/>
            <a:ext cx="3108960" cy="777240"/>
          </a:xfrm>
          <a:prstGeom prst="rect">
            <a:avLst/>
          </a:prstGeom>
          <a:noFill/>
        </p:spPr>
        <p:txBody>
          <a:bodyPr wrap="square" lIns="0" rIns="0" tIns="0" bIns="0" anchor="t">
            <a:spAutoFit/>
          </a:bodyPr>
          <a:lstStyle/>
          <a:p>
            <a:pPr algn="l">
              <a:lnSpc>
                <a:spcPct val="112000"/>
              </a:lnSpc>
              <a:spcBef>
                <a:spcPts val="0"/>
              </a:spcBef>
              <a:spcAft>
                <a:spcPts val="0"/>
              </a:spcAft>
              <a:defRPr sz="4400" b="1">
                <a:solidFill>
                  <a:srgbClr val="087F82"/>
                </a:solidFill>
                <a:latin typeface="Noto Sans"/>
              </a:defRPr>
            </a:pPr>
            <a:r>
              <a:t>30</a:t>
            </a:r>
          </a:p>
        </p:txBody>
      </p:sp>
      <p:sp>
        <p:nvSpPr>
          <p:cNvPr id="15" name="TextBox 14"/>
          <p:cNvSpPr txBox="1"/>
          <p:nvPr/>
        </p:nvSpPr>
        <p:spPr>
          <a:xfrm>
            <a:off x="4416552" y="2779776"/>
            <a:ext cx="3108960" cy="36576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5B6B7B"/>
                </a:solidFill>
                <a:latin typeface="Noto Sans"/>
              </a:defRPr>
            </a:pPr>
            <a:r>
              <a:t>đặc trưng số</a:t>
            </a:r>
          </a:p>
        </p:txBody>
      </p:sp>
      <p:sp>
        <p:nvSpPr>
          <p:cNvPr id="16" name="TextBox 15"/>
          <p:cNvSpPr txBox="1"/>
          <p:nvPr/>
        </p:nvSpPr>
        <p:spPr>
          <a:xfrm>
            <a:off x="8165592" y="1856231"/>
            <a:ext cx="3108960" cy="777240"/>
          </a:xfrm>
          <a:prstGeom prst="rect">
            <a:avLst/>
          </a:prstGeom>
          <a:noFill/>
        </p:spPr>
        <p:txBody>
          <a:bodyPr wrap="square" lIns="0" rIns="0" tIns="0" bIns="0" anchor="t">
            <a:spAutoFit/>
          </a:bodyPr>
          <a:lstStyle/>
          <a:p>
            <a:pPr algn="l">
              <a:lnSpc>
                <a:spcPct val="112000"/>
              </a:lnSpc>
              <a:spcBef>
                <a:spcPts val="0"/>
              </a:spcBef>
              <a:spcAft>
                <a:spcPts val="0"/>
              </a:spcAft>
              <a:defRPr sz="4400" b="1">
                <a:solidFill>
                  <a:srgbClr val="087F82"/>
                </a:solidFill>
                <a:latin typeface="Noto Sans"/>
              </a:defRPr>
            </a:pPr>
            <a:r>
              <a:t>2</a:t>
            </a:r>
          </a:p>
        </p:txBody>
      </p:sp>
      <p:sp>
        <p:nvSpPr>
          <p:cNvPr id="17" name="TextBox 16"/>
          <p:cNvSpPr txBox="1"/>
          <p:nvPr/>
        </p:nvSpPr>
        <p:spPr>
          <a:xfrm>
            <a:off x="8165592" y="2779776"/>
            <a:ext cx="3108960" cy="36576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5B6B7B"/>
                </a:solidFill>
                <a:latin typeface="Noto Sans"/>
              </a:defRPr>
            </a:pPr>
            <a:r>
              <a:t>lớp: ác (0), lành (1)</a:t>
            </a:r>
          </a:p>
        </p:txBody>
      </p:sp>
      <p:sp>
        <p:nvSpPr>
          <p:cNvPr id="18" name="Rounded Rectangle 17"/>
          <p:cNvSpPr/>
          <p:nvPr/>
        </p:nvSpPr>
        <p:spPr>
          <a:xfrm>
            <a:off x="612648" y="3538728"/>
            <a:ext cx="7406640" cy="194767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59536" y="3776472"/>
            <a:ext cx="67665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TRAIN 426 MẪU · 75%</a:t>
            </a:r>
          </a:p>
        </p:txBody>
      </p:sp>
      <p:sp>
        <p:nvSpPr>
          <p:cNvPr id="20" name="TextBox 19"/>
          <p:cNvSpPr txBox="1"/>
          <p:nvPr/>
        </p:nvSpPr>
        <p:spPr>
          <a:xfrm>
            <a:off x="868680" y="4443984"/>
            <a:ext cx="2743200" cy="457200"/>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142D46"/>
                </a:solidFill>
                <a:latin typeface="Noto Sans"/>
              </a:defRPr>
            </a:pPr>
            <a:r>
              <a:t>CV 5 fold</a:t>
            </a:r>
          </a:p>
        </p:txBody>
      </p:sp>
      <p:sp>
        <p:nvSpPr>
          <p:cNvPr id="21" name="Right Arrow 20"/>
          <p:cNvSpPr/>
          <p:nvPr/>
        </p:nvSpPr>
        <p:spPr>
          <a:xfrm>
            <a:off x="3840480" y="4608576"/>
            <a:ext cx="365760" cy="182880"/>
          </a:xfrm>
          <a:prstGeom prst="rightArrow">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4590288" y="4443984"/>
            <a:ext cx="2834640" cy="457200"/>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087F82"/>
                </a:solidFill>
                <a:latin typeface="Noto Sans"/>
              </a:defRPr>
            </a:pPr>
            <a:r>
              <a:t>Độ sâu 3</a:t>
            </a:r>
          </a:p>
        </p:txBody>
      </p:sp>
      <p:sp>
        <p:nvSpPr>
          <p:cNvPr id="23" name="Rounded Rectangle 22"/>
          <p:cNvSpPr/>
          <p:nvPr/>
        </p:nvSpPr>
        <p:spPr>
          <a:xfrm>
            <a:off x="8247888" y="3538728"/>
            <a:ext cx="3328416" cy="1947672"/>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503920" y="3776472"/>
            <a:ext cx="278892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8BE0CF"/>
                </a:solidFill>
                <a:latin typeface="Noto Sans"/>
              </a:defRPr>
            </a:pPr>
            <a:r>
              <a:t>TEST GIỮ RIÊNG</a:t>
            </a:r>
          </a:p>
        </p:txBody>
      </p:sp>
      <p:sp>
        <p:nvSpPr>
          <p:cNvPr id="25" name="TextBox 24"/>
          <p:cNvSpPr txBox="1"/>
          <p:nvPr/>
        </p:nvSpPr>
        <p:spPr>
          <a:xfrm>
            <a:off x="8503920" y="4443984"/>
            <a:ext cx="2788920" cy="59436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FFFFFF"/>
                </a:solidFill>
                <a:latin typeface="Noto Sans"/>
              </a:defRPr>
            </a:pPr>
            <a:r>
              <a:t>143 mẫu</a:t>
            </a:r>
          </a:p>
        </p:txBody>
      </p:sp>
      <p:sp>
        <p:nvSpPr>
          <p:cNvPr id="26" name="Rounded Rectangle 25"/>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Chọn độ sâu bằng cây đơn trên train, rồi dùng chung cho ba mô hình.</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04 / TRIỂN KHAI</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Code 1: tạo bootstrap và học cây</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Trích lược ensemble_model.py · ManualBagging.fit</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10</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12648" y="1828800"/>
            <a:ext cx="7507224" cy="3758184"/>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029968"/>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8BE0CF"/>
                </a:solidFill>
                <a:latin typeface="Noto Sans"/>
              </a:defRPr>
            </a:pPr>
            <a:r>
              <a:t>PYTHON · TRÍCH LƯỢC</a:t>
            </a:r>
          </a:p>
        </p:txBody>
      </p:sp>
      <p:sp>
        <p:nvSpPr>
          <p:cNvPr id="14" name="TextBox 13"/>
          <p:cNvSpPr txBox="1"/>
          <p:nvPr/>
        </p:nvSpPr>
        <p:spPr>
          <a:xfrm>
            <a:off x="868680" y="2551176"/>
            <a:ext cx="6995160" cy="2907792"/>
          </a:xfrm>
          <a:prstGeom prst="rect">
            <a:avLst/>
          </a:prstGeom>
          <a:noFill/>
        </p:spPr>
        <p:txBody>
          <a:bodyPr wrap="square" lIns="0" rIns="0" tIns="0" bIns="0" anchor="t">
            <a:spAutoFit/>
          </a:bodyPr>
          <a:lstStyle/>
          <a:p>
            <a:pPr algn="l">
              <a:lnSpc>
                <a:spcPct val="122000"/>
              </a:lnSpc>
              <a:spcBef>
                <a:spcPts val="0"/>
              </a:spcBef>
              <a:spcAft>
                <a:spcPts val="0"/>
              </a:spcAft>
              <a:defRPr sz="1730" b="0">
                <a:solidFill>
                  <a:srgbClr val="FFFFFF"/>
                </a:solidFill>
                <a:latin typeface="DejaVu Sans Mono"/>
              </a:defRPr>
            </a:pPr>
            <a:r>
              <a:t>indices = rng.integers(</a:t>
            </a:r>
          </a:p>
          <a:p>
            <a:pPr algn="l">
              <a:lnSpc>
                <a:spcPct val="122000"/>
              </a:lnSpc>
              <a:spcBef>
                <a:spcPts val="0"/>
              </a:spcBef>
              <a:spcAft>
                <a:spcPts val="0"/>
              </a:spcAft>
              <a:defRPr sz="1730" b="0">
                <a:solidFill>
                  <a:srgbClr val="FFFFFF"/>
                </a:solidFill>
                <a:latin typeface="DejaVu Sans Mono"/>
              </a:defRPr>
            </a:pPr>
            <a:r>
              <a:t>    0, n_samples, size=n_samples</a:t>
            </a:r>
          </a:p>
          <a:p>
            <a:pPr algn="l">
              <a:lnSpc>
                <a:spcPct val="122000"/>
              </a:lnSpc>
              <a:spcBef>
                <a:spcPts val="0"/>
              </a:spcBef>
              <a:spcAft>
                <a:spcPts val="0"/>
              </a:spcAft>
              <a:defRPr sz="1730" b="0">
                <a:solidFill>
                  <a:srgbClr val="FFFFFF"/>
                </a:solidFill>
                <a:latin typeface="DejaVu Sans Mono"/>
              </a:defRPr>
            </a:pPr>
            <a:r>
              <a:t>)</a:t>
            </a:r>
          </a:p>
          <a:p>
            <a:pPr algn="l">
              <a:lnSpc>
                <a:spcPct val="122000"/>
              </a:lnSpc>
              <a:spcBef>
                <a:spcPts val="0"/>
              </a:spcBef>
              <a:spcAft>
                <a:spcPts val="0"/>
              </a:spcAft>
              <a:defRPr sz="1730" b="0">
                <a:solidFill>
                  <a:srgbClr val="FFFFFF"/>
                </a:solidFill>
                <a:latin typeface="DejaVu Sans Mono"/>
              </a:defRPr>
            </a:pPr>
            <a:r>
              <a:t>tree = DecisionTreeClassifier(</a:t>
            </a:r>
          </a:p>
          <a:p>
            <a:pPr algn="l">
              <a:lnSpc>
                <a:spcPct val="122000"/>
              </a:lnSpc>
              <a:spcBef>
                <a:spcPts val="0"/>
              </a:spcBef>
              <a:spcAft>
                <a:spcPts val="0"/>
              </a:spcAft>
              <a:defRPr sz="1730" b="0">
                <a:solidFill>
                  <a:srgbClr val="FFFFFF"/>
                </a:solidFill>
                <a:latin typeface="DejaVu Sans Mono"/>
              </a:defRPr>
            </a:pPr>
            <a:r>
              <a:t>    max_depth=self.max_depth,</a:t>
            </a:r>
          </a:p>
          <a:p>
            <a:pPr algn="l">
              <a:lnSpc>
                <a:spcPct val="122000"/>
              </a:lnSpc>
              <a:spcBef>
                <a:spcPts val="0"/>
              </a:spcBef>
              <a:spcAft>
                <a:spcPts val="0"/>
              </a:spcAft>
              <a:defRPr sz="1730" b="0">
                <a:solidFill>
                  <a:srgbClr val="FFFFFF"/>
                </a:solidFill>
                <a:latin typeface="DejaVu Sans Mono"/>
              </a:defRPr>
            </a:pPr>
            <a:r>
              <a:t>    random_state=int(rng.integers(0, 2**31 - 1)),</a:t>
            </a:r>
          </a:p>
          <a:p>
            <a:pPr algn="l">
              <a:lnSpc>
                <a:spcPct val="122000"/>
              </a:lnSpc>
              <a:spcBef>
                <a:spcPts val="0"/>
              </a:spcBef>
              <a:spcAft>
                <a:spcPts val="0"/>
              </a:spcAft>
              <a:defRPr sz="1730" b="0">
                <a:solidFill>
                  <a:srgbClr val="FFFFFF"/>
                </a:solidFill>
                <a:latin typeface="DejaVu Sans Mono"/>
              </a:defRPr>
            </a:pPr>
            <a:r>
              <a:t>)</a:t>
            </a:r>
          </a:p>
          <a:p>
            <a:pPr algn="l">
              <a:lnSpc>
                <a:spcPct val="122000"/>
              </a:lnSpc>
              <a:spcBef>
                <a:spcPts val="0"/>
              </a:spcBef>
              <a:spcAft>
                <a:spcPts val="0"/>
              </a:spcAft>
              <a:defRPr sz="1730" b="0">
                <a:solidFill>
                  <a:srgbClr val="FFFFFF"/>
                </a:solidFill>
                <a:latin typeface="DejaVu Sans Mono"/>
              </a:defRPr>
            </a:pPr>
            <a:r>
              <a:t>tree.fit(X[indices], encoded[indices])</a:t>
            </a:r>
          </a:p>
          <a:p>
            <a:pPr algn="l">
              <a:lnSpc>
                <a:spcPct val="122000"/>
              </a:lnSpc>
              <a:spcBef>
                <a:spcPts val="0"/>
              </a:spcBef>
              <a:spcAft>
                <a:spcPts val="0"/>
              </a:spcAft>
              <a:defRPr sz="1730" b="0">
                <a:solidFill>
                  <a:srgbClr val="FFFFFF"/>
                </a:solidFill>
                <a:latin typeface="DejaVu Sans Mono"/>
              </a:defRPr>
            </a:pPr>
            <a:r>
              <a:t>self.estimators_.append(tree)</a:t>
            </a:r>
          </a:p>
        </p:txBody>
      </p:sp>
      <p:sp>
        <p:nvSpPr>
          <p:cNvPr id="15" name="TextBox 14"/>
          <p:cNvSpPr txBox="1"/>
          <p:nvPr/>
        </p:nvSpPr>
        <p:spPr>
          <a:xfrm>
            <a:off x="8458200" y="2084831"/>
            <a:ext cx="283464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01</a:t>
            </a:r>
          </a:p>
        </p:txBody>
      </p:sp>
      <p:sp>
        <p:nvSpPr>
          <p:cNvPr id="16" name="TextBox 15"/>
          <p:cNvSpPr txBox="1"/>
          <p:nvPr/>
        </p:nvSpPr>
        <p:spPr>
          <a:xfrm>
            <a:off x="8458200" y="2377439"/>
            <a:ext cx="2880360" cy="384048"/>
          </a:xfrm>
          <a:prstGeom prst="rect">
            <a:avLst/>
          </a:prstGeom>
          <a:noFill/>
        </p:spPr>
        <p:txBody>
          <a:bodyPr wrap="square" lIns="0" rIns="0" tIns="0" bIns="0" anchor="t">
            <a:spAutoFit/>
          </a:bodyPr>
          <a:lstStyle/>
          <a:p>
            <a:pPr algn="l">
              <a:lnSpc>
                <a:spcPct val="112000"/>
              </a:lnSpc>
              <a:spcBef>
                <a:spcPts val="0"/>
              </a:spcBef>
              <a:spcAft>
                <a:spcPts val="0"/>
              </a:spcAft>
              <a:defRPr sz="2000" b="1">
                <a:solidFill>
                  <a:srgbClr val="142D46"/>
                </a:solidFill>
                <a:latin typeface="Noto Sans"/>
              </a:defRPr>
            </a:pPr>
            <a:r>
              <a:t>Lấy có hoàn lại</a:t>
            </a:r>
          </a:p>
        </p:txBody>
      </p:sp>
      <p:sp>
        <p:nvSpPr>
          <p:cNvPr id="17" name="TextBox 16"/>
          <p:cNvSpPr txBox="1"/>
          <p:nvPr/>
        </p:nvSpPr>
        <p:spPr>
          <a:xfrm>
            <a:off x="8458200" y="2862072"/>
            <a:ext cx="2880360" cy="320040"/>
          </a:xfrm>
          <a:prstGeom prst="rect">
            <a:avLst/>
          </a:prstGeom>
          <a:noFill/>
        </p:spPr>
        <p:txBody>
          <a:bodyPr wrap="square" lIns="0" rIns="0" tIns="0" bIns="0" anchor="t">
            <a:spAutoFit/>
          </a:bodyPr>
          <a:lstStyle/>
          <a:p>
            <a:pPr algn="l">
              <a:lnSpc>
                <a:spcPct val="112000"/>
              </a:lnSpc>
              <a:spcBef>
                <a:spcPts val="0"/>
              </a:spcBef>
              <a:spcAft>
                <a:spcPts val="0"/>
              </a:spcAft>
              <a:defRPr sz="1550" b="0">
                <a:solidFill>
                  <a:srgbClr val="5B6B7B"/>
                </a:solidFill>
                <a:latin typeface="Noto Sans"/>
              </a:defRPr>
            </a:pPr>
            <a:r>
              <a:t>Có thể lặp chỉ số.</a:t>
            </a:r>
          </a:p>
        </p:txBody>
      </p:sp>
      <p:sp>
        <p:nvSpPr>
          <p:cNvPr id="18" name="TextBox 17"/>
          <p:cNvSpPr txBox="1"/>
          <p:nvPr/>
        </p:nvSpPr>
        <p:spPr>
          <a:xfrm>
            <a:off x="8458200" y="3154679"/>
            <a:ext cx="283464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02</a:t>
            </a:r>
          </a:p>
        </p:txBody>
      </p:sp>
      <p:sp>
        <p:nvSpPr>
          <p:cNvPr id="19" name="TextBox 18"/>
          <p:cNvSpPr txBox="1"/>
          <p:nvPr/>
        </p:nvSpPr>
        <p:spPr>
          <a:xfrm>
            <a:off x="8458200" y="3447287"/>
            <a:ext cx="2880360" cy="384048"/>
          </a:xfrm>
          <a:prstGeom prst="rect">
            <a:avLst/>
          </a:prstGeom>
          <a:noFill/>
        </p:spPr>
        <p:txBody>
          <a:bodyPr wrap="square" lIns="0" rIns="0" tIns="0" bIns="0" anchor="t">
            <a:spAutoFit/>
          </a:bodyPr>
          <a:lstStyle/>
          <a:p>
            <a:pPr algn="l">
              <a:lnSpc>
                <a:spcPct val="112000"/>
              </a:lnSpc>
              <a:spcBef>
                <a:spcPts val="0"/>
              </a:spcBef>
              <a:spcAft>
                <a:spcPts val="0"/>
              </a:spcAft>
              <a:defRPr sz="2000" b="1">
                <a:solidFill>
                  <a:srgbClr val="142D46"/>
                </a:solidFill>
                <a:latin typeface="Noto Sans"/>
              </a:defRPr>
            </a:pPr>
            <a:r>
              <a:t>Seed riêng từng cây</a:t>
            </a:r>
          </a:p>
        </p:txBody>
      </p:sp>
      <p:sp>
        <p:nvSpPr>
          <p:cNvPr id="20" name="TextBox 19"/>
          <p:cNvSpPr txBox="1"/>
          <p:nvPr/>
        </p:nvSpPr>
        <p:spPr>
          <a:xfrm>
            <a:off x="8458200" y="3931920"/>
            <a:ext cx="2880360" cy="320040"/>
          </a:xfrm>
          <a:prstGeom prst="rect">
            <a:avLst/>
          </a:prstGeom>
          <a:noFill/>
        </p:spPr>
        <p:txBody>
          <a:bodyPr wrap="square" lIns="0" rIns="0" tIns="0" bIns="0" anchor="t">
            <a:spAutoFit/>
          </a:bodyPr>
          <a:lstStyle/>
          <a:p>
            <a:pPr algn="l">
              <a:lnSpc>
                <a:spcPct val="112000"/>
              </a:lnSpc>
              <a:spcBef>
                <a:spcPts val="0"/>
              </a:spcBef>
              <a:spcAft>
                <a:spcPts val="0"/>
              </a:spcAft>
              <a:defRPr sz="1550" b="0">
                <a:solidFill>
                  <a:srgbClr val="5B6B7B"/>
                </a:solidFill>
                <a:latin typeface="Noto Sans"/>
              </a:defRPr>
            </a:pPr>
            <a:r>
              <a:t>Hỗ trợ tái lập.</a:t>
            </a:r>
          </a:p>
        </p:txBody>
      </p:sp>
      <p:sp>
        <p:nvSpPr>
          <p:cNvPr id="21" name="TextBox 20"/>
          <p:cNvSpPr txBox="1"/>
          <p:nvPr/>
        </p:nvSpPr>
        <p:spPr>
          <a:xfrm>
            <a:off x="8458200" y="4224527"/>
            <a:ext cx="283464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03</a:t>
            </a:r>
          </a:p>
        </p:txBody>
      </p:sp>
      <p:sp>
        <p:nvSpPr>
          <p:cNvPr id="22" name="TextBox 21"/>
          <p:cNvSpPr txBox="1"/>
          <p:nvPr/>
        </p:nvSpPr>
        <p:spPr>
          <a:xfrm>
            <a:off x="8458200" y="4517136"/>
            <a:ext cx="2880360" cy="384048"/>
          </a:xfrm>
          <a:prstGeom prst="rect">
            <a:avLst/>
          </a:prstGeom>
          <a:noFill/>
        </p:spPr>
        <p:txBody>
          <a:bodyPr wrap="square" lIns="0" rIns="0" tIns="0" bIns="0" anchor="t">
            <a:spAutoFit/>
          </a:bodyPr>
          <a:lstStyle/>
          <a:p>
            <a:pPr algn="l">
              <a:lnSpc>
                <a:spcPct val="112000"/>
              </a:lnSpc>
              <a:spcBef>
                <a:spcPts val="0"/>
              </a:spcBef>
              <a:spcAft>
                <a:spcPts val="0"/>
              </a:spcAft>
              <a:defRPr sz="2000" b="1">
                <a:solidFill>
                  <a:srgbClr val="142D46"/>
                </a:solidFill>
                <a:latin typeface="Noto Sans"/>
              </a:defRPr>
            </a:pPr>
            <a:r>
              <a:t>Đúng cặp X và y</a:t>
            </a:r>
          </a:p>
        </p:txBody>
      </p:sp>
      <p:sp>
        <p:nvSpPr>
          <p:cNvPr id="23" name="TextBox 22"/>
          <p:cNvSpPr txBox="1"/>
          <p:nvPr/>
        </p:nvSpPr>
        <p:spPr>
          <a:xfrm>
            <a:off x="8458200" y="5001767"/>
            <a:ext cx="2880360" cy="320040"/>
          </a:xfrm>
          <a:prstGeom prst="rect">
            <a:avLst/>
          </a:prstGeom>
          <a:noFill/>
        </p:spPr>
        <p:txBody>
          <a:bodyPr wrap="square" lIns="0" rIns="0" tIns="0" bIns="0" anchor="t">
            <a:spAutoFit/>
          </a:bodyPr>
          <a:lstStyle/>
          <a:p>
            <a:pPr algn="l">
              <a:lnSpc>
                <a:spcPct val="112000"/>
              </a:lnSpc>
              <a:spcBef>
                <a:spcPts val="0"/>
              </a:spcBef>
              <a:spcAft>
                <a:spcPts val="0"/>
              </a:spcAft>
              <a:defRPr sz="1550" b="0">
                <a:solidFill>
                  <a:srgbClr val="5B6B7B"/>
                </a:solidFill>
                <a:latin typeface="Noto Sans"/>
              </a:defRPr>
            </a:pPr>
            <a:r>
              <a:t>Dùng cùng indices.</a:t>
            </a:r>
          </a:p>
        </p:txBody>
      </p:sp>
      <p:sp>
        <p:nvSpPr>
          <p:cNvPr id="24" name="Rounded Rectangle 23"/>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Tự viết bootstrap, voting và OOB; cây cơ sở dùng scikit-learn.</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04 / TRIỂN KHAI</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Code 2: đếm phiếu và trả về nhãn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Trích lược ensemble_model.py · votes / predict</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11</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12648" y="1828800"/>
            <a:ext cx="7507224" cy="3758184"/>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029968"/>
            <a:ext cx="36576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8BE0CF"/>
                </a:solidFill>
                <a:latin typeface="Noto Sans"/>
              </a:defRPr>
            </a:pPr>
            <a:r>
              <a:t>PYTHON · TRÍCH LƯỢC</a:t>
            </a:r>
          </a:p>
        </p:txBody>
      </p:sp>
      <p:sp>
        <p:nvSpPr>
          <p:cNvPr id="14" name="TextBox 13"/>
          <p:cNvSpPr txBox="1"/>
          <p:nvPr/>
        </p:nvSpPr>
        <p:spPr>
          <a:xfrm>
            <a:off x="868680" y="2551176"/>
            <a:ext cx="6995160" cy="2907792"/>
          </a:xfrm>
          <a:prstGeom prst="rect">
            <a:avLst/>
          </a:prstGeom>
          <a:noFill/>
        </p:spPr>
        <p:txBody>
          <a:bodyPr wrap="square" lIns="0" rIns="0" tIns="0" bIns="0" anchor="t">
            <a:spAutoFit/>
          </a:bodyPr>
          <a:lstStyle/>
          <a:p>
            <a:pPr algn="l">
              <a:lnSpc>
                <a:spcPct val="122000"/>
              </a:lnSpc>
              <a:spcBef>
                <a:spcPts val="0"/>
              </a:spcBef>
              <a:spcAft>
                <a:spcPts val="0"/>
              </a:spcAft>
              <a:defRPr sz="1730" b="0">
                <a:solidFill>
                  <a:srgbClr val="FFFFFF"/>
                </a:solidFill>
                <a:latin typeface="DejaVu Sans Mono"/>
              </a:defRPr>
            </a:pPr>
            <a:r>
              <a:t>counts = np.zeros(</a:t>
            </a:r>
          </a:p>
          <a:p>
            <a:pPr algn="l">
              <a:lnSpc>
                <a:spcPct val="122000"/>
              </a:lnSpc>
              <a:spcBef>
                <a:spcPts val="0"/>
              </a:spcBef>
              <a:spcAft>
                <a:spcPts val="0"/>
              </a:spcAft>
              <a:defRPr sz="1730" b="0">
                <a:solidFill>
                  <a:srgbClr val="FFFFFF"/>
                </a:solidFill>
                <a:latin typeface="DejaVu Sans Mono"/>
              </a:defRPr>
            </a:pPr>
            <a:r>
              <a:t>    (len(X), len(self.classes_)), dtype=np.int64</a:t>
            </a:r>
          </a:p>
          <a:p>
            <a:pPr algn="l">
              <a:lnSpc>
                <a:spcPct val="122000"/>
              </a:lnSpc>
              <a:spcBef>
                <a:spcPts val="0"/>
              </a:spcBef>
              <a:spcAft>
                <a:spcPts val="0"/>
              </a:spcAft>
              <a:defRPr sz="1730" b="0">
                <a:solidFill>
                  <a:srgbClr val="FFFFFF"/>
                </a:solidFill>
                <a:latin typeface="DejaVu Sans Mono"/>
              </a:defRPr>
            </a:pPr>
            <a:r>
              <a:t>)</a:t>
            </a:r>
          </a:p>
          <a:p>
            <a:pPr algn="l">
              <a:lnSpc>
                <a:spcPct val="122000"/>
              </a:lnSpc>
              <a:spcBef>
                <a:spcPts val="0"/>
              </a:spcBef>
              <a:spcAft>
                <a:spcPts val="0"/>
              </a:spcAft>
              <a:defRPr sz="1730" b="0">
                <a:solidFill>
                  <a:srgbClr val="FFFFFF"/>
                </a:solidFill>
                <a:latin typeface="DejaVu Sans Mono"/>
              </a:defRPr>
            </a:pPr>
            <a:r>
              <a:t>rows = np.arange(len(X))</a:t>
            </a:r>
          </a:p>
          <a:p>
            <a:pPr algn="l">
              <a:lnSpc>
                <a:spcPct val="122000"/>
              </a:lnSpc>
              <a:spcBef>
                <a:spcPts val="0"/>
              </a:spcBef>
              <a:spcAft>
                <a:spcPts val="0"/>
              </a:spcAft>
              <a:defRPr sz="1730" b="0">
                <a:solidFill>
                  <a:srgbClr val="FFFFFF"/>
                </a:solidFill>
                <a:latin typeface="DejaVu Sans Mono"/>
              </a:defRPr>
            </a:pPr>
            <a:r>
              <a:t>for tree in self.estimators_:</a:t>
            </a:r>
          </a:p>
          <a:p>
            <a:pPr algn="l">
              <a:lnSpc>
                <a:spcPct val="122000"/>
              </a:lnSpc>
              <a:spcBef>
                <a:spcPts val="0"/>
              </a:spcBef>
              <a:spcAft>
                <a:spcPts val="0"/>
              </a:spcAft>
              <a:defRPr sz="1730" b="0">
                <a:solidFill>
                  <a:srgbClr val="FFFFFF"/>
                </a:solidFill>
                <a:latin typeface="DejaVu Sans Mono"/>
              </a:defRPr>
            </a:pPr>
            <a:r>
              <a:t>    predicted = tree.predict(X).astype(int)</a:t>
            </a:r>
          </a:p>
          <a:p>
            <a:pPr algn="l">
              <a:lnSpc>
                <a:spcPct val="122000"/>
              </a:lnSpc>
              <a:spcBef>
                <a:spcPts val="0"/>
              </a:spcBef>
              <a:spcAft>
                <a:spcPts val="0"/>
              </a:spcAft>
              <a:defRPr sz="1730" b="0">
                <a:solidFill>
                  <a:srgbClr val="FFFFFF"/>
                </a:solidFill>
                <a:latin typeface="DejaVu Sans Mono"/>
              </a:defRPr>
            </a:pPr>
            <a:r>
              <a:t>    np.add.at(counts, (rows, predicted), 1)</a:t>
            </a:r>
          </a:p>
          <a:p>
            <a:pPr algn="l">
              <a:lnSpc>
                <a:spcPct val="122000"/>
              </a:lnSpc>
              <a:spcBef>
                <a:spcPts val="0"/>
              </a:spcBef>
              <a:spcAft>
                <a:spcPts val="0"/>
              </a:spcAft>
              <a:defRPr sz="1730" b="0">
                <a:solidFill>
                  <a:srgbClr val="FFFFFF"/>
                </a:solidFill>
                <a:latin typeface="DejaVu Sans Mono"/>
              </a:defRPr>
            </a:pPr>
            <a:r>
              <a:t>labels = self.classes_[counts.argmax(axis=1)]</a:t>
            </a:r>
          </a:p>
        </p:txBody>
      </p:sp>
      <p:sp>
        <p:nvSpPr>
          <p:cNvPr id="15" name="TextBox 14"/>
          <p:cNvSpPr txBox="1"/>
          <p:nvPr/>
        </p:nvSpPr>
        <p:spPr>
          <a:xfrm>
            <a:off x="8458200" y="2157984"/>
            <a:ext cx="2852928" cy="77724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142D46"/>
                </a:solidFill>
                <a:latin typeface="Noto Sans"/>
              </a:defRPr>
            </a:pPr>
            <a:r>
              <a:t>Mỗi hàng =</a:t>
            </a:r>
          </a:p>
          <a:p>
            <a:pPr algn="l">
              <a:lnSpc>
                <a:spcPct val="112000"/>
              </a:lnSpc>
              <a:spcBef>
                <a:spcPts val="0"/>
              </a:spcBef>
              <a:spcAft>
                <a:spcPts val="0"/>
              </a:spcAft>
              <a:defRPr sz="2300" b="1">
                <a:solidFill>
                  <a:srgbClr val="142D46"/>
                </a:solidFill>
                <a:latin typeface="Noto Sans"/>
              </a:defRPr>
            </a:pPr>
            <a:r>
              <a:t>một quan sát</a:t>
            </a:r>
          </a:p>
        </p:txBody>
      </p:sp>
      <p:sp>
        <p:nvSpPr>
          <p:cNvPr id="16" name="TextBox 15"/>
          <p:cNvSpPr txBox="1"/>
          <p:nvPr/>
        </p:nvSpPr>
        <p:spPr>
          <a:xfrm>
            <a:off x="8458200" y="3401568"/>
            <a:ext cx="2852928" cy="777240"/>
          </a:xfrm>
          <a:prstGeom prst="rect">
            <a:avLst/>
          </a:prstGeom>
          <a:noFill/>
        </p:spPr>
        <p:txBody>
          <a:bodyPr wrap="square" lIns="0" rIns="0" tIns="0" bIns="0" anchor="t">
            <a:spAutoFit/>
          </a:bodyPr>
          <a:lstStyle/>
          <a:p>
            <a:pPr algn="l">
              <a:lnSpc>
                <a:spcPct val="112000"/>
              </a:lnSpc>
              <a:spcBef>
                <a:spcPts val="0"/>
              </a:spcBef>
              <a:spcAft>
                <a:spcPts val="0"/>
              </a:spcAft>
              <a:defRPr sz="2300" b="1">
                <a:solidFill>
                  <a:srgbClr val="142D46"/>
                </a:solidFill>
                <a:latin typeface="Noto Sans"/>
              </a:defRPr>
            </a:pPr>
            <a:r>
              <a:t>Mỗi cột =</a:t>
            </a:r>
          </a:p>
          <a:p>
            <a:pPr algn="l">
              <a:lnSpc>
                <a:spcPct val="112000"/>
              </a:lnSpc>
              <a:spcBef>
                <a:spcPts val="0"/>
              </a:spcBef>
              <a:spcAft>
                <a:spcPts val="0"/>
              </a:spcAft>
              <a:defRPr sz="2300" b="1">
                <a:solidFill>
                  <a:srgbClr val="142D46"/>
                </a:solidFill>
                <a:latin typeface="Noto Sans"/>
              </a:defRPr>
            </a:pPr>
            <a:r>
              <a:t>một lớp</a:t>
            </a:r>
          </a:p>
        </p:txBody>
      </p:sp>
      <p:sp>
        <p:nvSpPr>
          <p:cNvPr id="17" name="TextBox 16"/>
          <p:cNvSpPr txBox="1"/>
          <p:nvPr/>
        </p:nvSpPr>
        <p:spPr>
          <a:xfrm>
            <a:off x="8458200" y="4626864"/>
            <a:ext cx="2852928" cy="594360"/>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087F82"/>
                </a:solidFill>
                <a:latin typeface="Noto Sans"/>
              </a:defRPr>
            </a:pPr>
            <a:r>
              <a:t>Tổng phiếu / hàng = B</a:t>
            </a:r>
          </a:p>
        </p:txBody>
      </p:sp>
      <p:sp>
        <p:nvSpPr>
          <p:cNvPr id="18" name="Rounded Rectangle 17"/>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Mỗi cây bỏ một phiếu; argmax chọn lớp có nhiều phiếu nhất.</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05 / KẾT QUẢ GỐC</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Seed 42: Bagging đúng thêm một mẫu</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outputs/results.json · ác tính (0) là lớp dương</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12</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2648" y="2386584"/>
            <a:ext cx="256032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68096" y="2532888"/>
            <a:ext cx="2249424" cy="438912"/>
          </a:xfrm>
          <a:prstGeom prst="rect">
            <a:avLst/>
          </a:prstGeom>
          <a:noFill/>
        </p:spPr>
        <p:txBody>
          <a:bodyPr wrap="square" lIns="0" rIns="0" tIns="0" bIns="0" anchor="t">
            <a:spAutoFit/>
          </a:bodyPr>
          <a:lstStyle/>
          <a:p>
            <a:pPr algn="l">
              <a:lnSpc>
                <a:spcPct val="112000"/>
              </a:lnSpc>
              <a:spcBef>
                <a:spcPts val="0"/>
              </a:spcBef>
              <a:spcAft>
                <a:spcPts val="0"/>
              </a:spcAft>
              <a:defRPr sz="1750" b="1">
                <a:solidFill>
                  <a:srgbClr val="FFFFFF"/>
                </a:solidFill>
                <a:latin typeface="Noto Sans"/>
              </a:defRPr>
            </a:pPr>
            <a:r>
              <a:t>Mô hình</a:t>
            </a:r>
          </a:p>
        </p:txBody>
      </p:sp>
      <p:sp>
        <p:nvSpPr>
          <p:cNvPr id="14" name="Rectangle 13"/>
          <p:cNvSpPr/>
          <p:nvPr/>
        </p:nvSpPr>
        <p:spPr>
          <a:xfrm>
            <a:off x="3172968" y="2386584"/>
            <a:ext cx="150876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328415" y="2532888"/>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750" b="1">
                <a:solidFill>
                  <a:srgbClr val="FFFFFF"/>
                </a:solidFill>
                <a:latin typeface="Noto Sans"/>
              </a:defRPr>
            </a:pPr>
            <a:r>
              <a:t>Accuracy</a:t>
            </a:r>
          </a:p>
        </p:txBody>
      </p:sp>
      <p:sp>
        <p:nvSpPr>
          <p:cNvPr id="16" name="Rectangle 15"/>
          <p:cNvSpPr/>
          <p:nvPr/>
        </p:nvSpPr>
        <p:spPr>
          <a:xfrm>
            <a:off x="4681727" y="2386584"/>
            <a:ext cx="1508760" cy="60350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837175" y="2532888"/>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750" b="1">
                <a:solidFill>
                  <a:srgbClr val="FFFFFF"/>
                </a:solidFill>
                <a:latin typeface="Noto Sans"/>
              </a:defRPr>
            </a:pPr>
            <a:r>
              <a:t>Recall ác</a:t>
            </a:r>
          </a:p>
        </p:txBody>
      </p:sp>
      <p:sp>
        <p:nvSpPr>
          <p:cNvPr id="18" name="Rectangle 17"/>
          <p:cNvSpPr/>
          <p:nvPr/>
        </p:nvSpPr>
        <p:spPr>
          <a:xfrm>
            <a:off x="612648" y="2990088"/>
            <a:ext cx="256032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 y="3136392"/>
            <a:ext cx="2249424" cy="438912"/>
          </a:xfrm>
          <a:prstGeom prst="rect">
            <a:avLst/>
          </a:prstGeom>
          <a:noFill/>
        </p:spPr>
        <p:txBody>
          <a:bodyPr wrap="square" lIns="0" rIns="0" tIns="0" bIns="0" anchor="t">
            <a:spAutoFit/>
          </a:bodyPr>
          <a:lstStyle/>
          <a:p>
            <a:pPr algn="l">
              <a:lnSpc>
                <a:spcPct val="112000"/>
              </a:lnSpc>
              <a:spcBef>
                <a:spcPts val="0"/>
              </a:spcBef>
              <a:spcAft>
                <a:spcPts val="0"/>
              </a:spcAft>
              <a:defRPr sz="1850" b="0">
                <a:solidFill>
                  <a:srgbClr val="192F43"/>
                </a:solidFill>
                <a:latin typeface="Noto Sans"/>
              </a:defRPr>
            </a:pPr>
            <a:r>
              <a:t>Cây đơn</a:t>
            </a:r>
          </a:p>
        </p:txBody>
      </p:sp>
      <p:sp>
        <p:nvSpPr>
          <p:cNvPr id="20" name="Rectangle 19"/>
          <p:cNvSpPr/>
          <p:nvPr/>
        </p:nvSpPr>
        <p:spPr>
          <a:xfrm>
            <a:off x="3172968" y="2990088"/>
            <a:ext cx="150876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3328415" y="3136392"/>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0">
                <a:solidFill>
                  <a:srgbClr val="192F43"/>
                </a:solidFill>
                <a:latin typeface="Noto Sans"/>
              </a:defRPr>
            </a:pPr>
            <a:r>
              <a:t>94,41%</a:t>
            </a:r>
          </a:p>
        </p:txBody>
      </p:sp>
      <p:sp>
        <p:nvSpPr>
          <p:cNvPr id="22" name="Rectangle 21"/>
          <p:cNvSpPr/>
          <p:nvPr/>
        </p:nvSpPr>
        <p:spPr>
          <a:xfrm>
            <a:off x="4681727" y="2990088"/>
            <a:ext cx="150876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837175" y="3136392"/>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0">
                <a:solidFill>
                  <a:srgbClr val="192F43"/>
                </a:solidFill>
                <a:latin typeface="Noto Sans"/>
              </a:defRPr>
            </a:pPr>
            <a:r>
              <a:t>90,57%</a:t>
            </a:r>
          </a:p>
        </p:txBody>
      </p:sp>
      <p:cxnSp>
        <p:nvCxnSpPr>
          <p:cNvPr id="24" name="Connector 23"/>
          <p:cNvCxnSpPr/>
          <p:nvPr/>
        </p:nvCxnSpPr>
        <p:spPr>
          <a:xfrm>
            <a:off x="612648" y="3593591"/>
            <a:ext cx="557784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12648" y="3593591"/>
            <a:ext cx="2560320" cy="603504"/>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739896"/>
            <a:ext cx="2249424" cy="438912"/>
          </a:xfrm>
          <a:prstGeom prst="rect">
            <a:avLst/>
          </a:prstGeom>
          <a:noFill/>
        </p:spPr>
        <p:txBody>
          <a:bodyPr wrap="square" lIns="0" rIns="0" tIns="0" bIns="0" anchor="t">
            <a:spAutoFit/>
          </a:bodyPr>
          <a:lstStyle/>
          <a:p>
            <a:pPr algn="l">
              <a:lnSpc>
                <a:spcPct val="112000"/>
              </a:lnSpc>
              <a:spcBef>
                <a:spcPts val="0"/>
              </a:spcBef>
              <a:spcAft>
                <a:spcPts val="0"/>
              </a:spcAft>
              <a:defRPr sz="1850" b="1">
                <a:solidFill>
                  <a:srgbClr val="192F43"/>
                </a:solidFill>
                <a:latin typeface="Noto Sans"/>
              </a:defRPr>
            </a:pPr>
            <a:r>
              <a:t>Bagging</a:t>
            </a:r>
          </a:p>
        </p:txBody>
      </p:sp>
      <p:sp>
        <p:nvSpPr>
          <p:cNvPr id="27" name="Rectangle 26"/>
          <p:cNvSpPr/>
          <p:nvPr/>
        </p:nvSpPr>
        <p:spPr>
          <a:xfrm>
            <a:off x="3172968" y="3593591"/>
            <a:ext cx="1508760" cy="603504"/>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328415" y="3739896"/>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1">
                <a:solidFill>
                  <a:srgbClr val="192F43"/>
                </a:solidFill>
                <a:latin typeface="Noto Sans"/>
              </a:defRPr>
            </a:pPr>
            <a:r>
              <a:t>95,10%</a:t>
            </a:r>
          </a:p>
        </p:txBody>
      </p:sp>
      <p:sp>
        <p:nvSpPr>
          <p:cNvPr id="29" name="Rectangle 28"/>
          <p:cNvSpPr/>
          <p:nvPr/>
        </p:nvSpPr>
        <p:spPr>
          <a:xfrm>
            <a:off x="4681727" y="3593591"/>
            <a:ext cx="1508760" cy="603504"/>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4837175" y="3739896"/>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1">
                <a:solidFill>
                  <a:srgbClr val="192F43"/>
                </a:solidFill>
                <a:latin typeface="Noto Sans"/>
              </a:defRPr>
            </a:pPr>
            <a:r>
              <a:t>92,45%</a:t>
            </a:r>
          </a:p>
        </p:txBody>
      </p:sp>
      <p:cxnSp>
        <p:nvCxnSpPr>
          <p:cNvPr id="31" name="Connector 30"/>
          <p:cNvCxnSpPr/>
          <p:nvPr/>
        </p:nvCxnSpPr>
        <p:spPr>
          <a:xfrm>
            <a:off x="612648" y="4197096"/>
            <a:ext cx="557784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12648" y="4197096"/>
            <a:ext cx="256032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68096" y="4343400"/>
            <a:ext cx="2249424" cy="438912"/>
          </a:xfrm>
          <a:prstGeom prst="rect">
            <a:avLst/>
          </a:prstGeom>
          <a:noFill/>
        </p:spPr>
        <p:txBody>
          <a:bodyPr wrap="square" lIns="0" rIns="0" tIns="0" bIns="0" anchor="t">
            <a:spAutoFit/>
          </a:bodyPr>
          <a:lstStyle/>
          <a:p>
            <a:pPr algn="l">
              <a:lnSpc>
                <a:spcPct val="112000"/>
              </a:lnSpc>
              <a:spcBef>
                <a:spcPts val="0"/>
              </a:spcBef>
              <a:spcAft>
                <a:spcPts val="0"/>
              </a:spcAft>
              <a:defRPr sz="1850" b="0">
                <a:solidFill>
                  <a:srgbClr val="192F43"/>
                </a:solidFill>
                <a:latin typeface="Noto Sans"/>
              </a:defRPr>
            </a:pPr>
            <a:r>
              <a:t>Random Forest</a:t>
            </a:r>
          </a:p>
        </p:txBody>
      </p:sp>
      <p:sp>
        <p:nvSpPr>
          <p:cNvPr id="34" name="Rectangle 33"/>
          <p:cNvSpPr/>
          <p:nvPr/>
        </p:nvSpPr>
        <p:spPr>
          <a:xfrm>
            <a:off x="3172968" y="4197096"/>
            <a:ext cx="150876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328415" y="4343400"/>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0">
                <a:solidFill>
                  <a:srgbClr val="192F43"/>
                </a:solidFill>
                <a:latin typeface="Noto Sans"/>
              </a:defRPr>
            </a:pPr>
            <a:r>
              <a:t>95,10%</a:t>
            </a:r>
          </a:p>
        </p:txBody>
      </p:sp>
      <p:sp>
        <p:nvSpPr>
          <p:cNvPr id="36" name="Rectangle 35"/>
          <p:cNvSpPr/>
          <p:nvPr/>
        </p:nvSpPr>
        <p:spPr>
          <a:xfrm>
            <a:off x="4681727" y="4197096"/>
            <a:ext cx="1508760" cy="60350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4837175" y="4343400"/>
            <a:ext cx="1197863" cy="438912"/>
          </a:xfrm>
          <a:prstGeom prst="rect">
            <a:avLst/>
          </a:prstGeom>
          <a:noFill/>
        </p:spPr>
        <p:txBody>
          <a:bodyPr wrap="square" lIns="0" rIns="0" tIns="0" bIns="0" anchor="t">
            <a:spAutoFit/>
          </a:bodyPr>
          <a:lstStyle/>
          <a:p>
            <a:pPr algn="ctr">
              <a:lnSpc>
                <a:spcPct val="112000"/>
              </a:lnSpc>
              <a:spcBef>
                <a:spcPts val="0"/>
              </a:spcBef>
              <a:spcAft>
                <a:spcPts val="0"/>
              </a:spcAft>
              <a:defRPr sz="1850" b="0">
                <a:solidFill>
                  <a:srgbClr val="192F43"/>
                </a:solidFill>
                <a:latin typeface="Noto Sans"/>
              </a:defRPr>
            </a:pPr>
            <a:r>
              <a:t>92,45%</a:t>
            </a:r>
          </a:p>
        </p:txBody>
      </p:sp>
      <p:cxnSp>
        <p:nvCxnSpPr>
          <p:cNvPr id="38" name="Connector 37"/>
          <p:cNvCxnSpPr/>
          <p:nvPr/>
        </p:nvCxnSpPr>
        <p:spPr>
          <a:xfrm>
            <a:off x="612648" y="4800600"/>
            <a:ext cx="557784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6455664" y="1856231"/>
            <a:ext cx="493776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MA TRẬN BAGGING</a:t>
            </a:r>
          </a:p>
        </p:txBody>
      </p:sp>
      <p:sp>
        <p:nvSpPr>
          <p:cNvPr id="40" name="TextBox 39"/>
          <p:cNvSpPr txBox="1"/>
          <p:nvPr/>
        </p:nvSpPr>
        <p:spPr>
          <a:xfrm>
            <a:off x="7699248" y="2386584"/>
            <a:ext cx="2926080" cy="274320"/>
          </a:xfrm>
          <a:prstGeom prst="rect">
            <a:avLst/>
          </a:prstGeom>
          <a:noFill/>
        </p:spPr>
        <p:txBody>
          <a:bodyPr wrap="square" lIns="0" rIns="0" tIns="0" bIns="0" anchor="t">
            <a:spAutoFit/>
          </a:bodyPr>
          <a:lstStyle/>
          <a:p>
            <a:pPr algn="ctr">
              <a:lnSpc>
                <a:spcPct val="112000"/>
              </a:lnSpc>
              <a:spcBef>
                <a:spcPts val="0"/>
              </a:spcBef>
              <a:spcAft>
                <a:spcPts val="0"/>
              </a:spcAft>
              <a:defRPr sz="1100" b="1">
                <a:solidFill>
                  <a:srgbClr val="5B6B7B"/>
                </a:solidFill>
                <a:latin typeface="Noto Sans"/>
              </a:defRPr>
            </a:pPr>
            <a:r>
              <a:t>DỰ ĐOÁN</a:t>
            </a:r>
          </a:p>
        </p:txBody>
      </p:sp>
      <p:sp>
        <p:nvSpPr>
          <p:cNvPr id="41" name="TextBox 40"/>
          <p:cNvSpPr txBox="1"/>
          <p:nvPr/>
        </p:nvSpPr>
        <p:spPr>
          <a:xfrm>
            <a:off x="7735824" y="2743200"/>
            <a:ext cx="1371600" cy="320040"/>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Ác</a:t>
            </a:r>
          </a:p>
        </p:txBody>
      </p:sp>
      <p:sp>
        <p:nvSpPr>
          <p:cNvPr id="42" name="TextBox 41"/>
          <p:cNvSpPr txBox="1"/>
          <p:nvPr/>
        </p:nvSpPr>
        <p:spPr>
          <a:xfrm>
            <a:off x="9208008" y="2743200"/>
            <a:ext cx="1371600" cy="320040"/>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Lành</a:t>
            </a:r>
          </a:p>
        </p:txBody>
      </p:sp>
      <p:sp>
        <p:nvSpPr>
          <p:cNvPr id="43" name="TextBox 42"/>
          <p:cNvSpPr txBox="1"/>
          <p:nvPr/>
        </p:nvSpPr>
        <p:spPr>
          <a:xfrm>
            <a:off x="6400800" y="3401568"/>
            <a:ext cx="1143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Thật ác</a:t>
            </a:r>
          </a:p>
        </p:txBody>
      </p:sp>
      <p:sp>
        <p:nvSpPr>
          <p:cNvPr id="44" name="Rectangle 43"/>
          <p:cNvSpPr/>
          <p:nvPr/>
        </p:nvSpPr>
        <p:spPr>
          <a:xfrm>
            <a:off x="7708392" y="3154680"/>
            <a:ext cx="1399032" cy="841248"/>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708392" y="3300984"/>
            <a:ext cx="1399032" cy="502920"/>
          </a:xfrm>
          <a:prstGeom prst="rect">
            <a:avLst/>
          </a:prstGeom>
          <a:noFill/>
        </p:spPr>
        <p:txBody>
          <a:bodyPr wrap="square" lIns="0" rIns="0" tIns="0" bIns="0" anchor="t">
            <a:spAutoFit/>
          </a:bodyPr>
          <a:lstStyle/>
          <a:p>
            <a:pPr algn="ctr">
              <a:lnSpc>
                <a:spcPct val="112000"/>
              </a:lnSpc>
              <a:spcBef>
                <a:spcPts val="0"/>
              </a:spcBef>
              <a:spcAft>
                <a:spcPts val="0"/>
              </a:spcAft>
              <a:defRPr sz="3100" b="1">
                <a:solidFill>
                  <a:srgbClr val="087F82"/>
                </a:solidFill>
                <a:latin typeface="Noto Sans"/>
              </a:defRPr>
            </a:pPr>
            <a:r>
              <a:t>49</a:t>
            </a:r>
          </a:p>
        </p:txBody>
      </p:sp>
      <p:sp>
        <p:nvSpPr>
          <p:cNvPr id="46" name="Rectangle 45"/>
          <p:cNvSpPr/>
          <p:nvPr/>
        </p:nvSpPr>
        <p:spPr>
          <a:xfrm>
            <a:off x="9180576" y="3154680"/>
            <a:ext cx="1399032" cy="841248"/>
          </a:xfrm>
          <a:prstGeom prst="rect">
            <a:avLst/>
          </a:prstGeom>
          <a:solidFill>
            <a:srgbClr val="FA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9180576" y="3300984"/>
            <a:ext cx="1399032" cy="502920"/>
          </a:xfrm>
          <a:prstGeom prst="rect">
            <a:avLst/>
          </a:prstGeom>
          <a:noFill/>
        </p:spPr>
        <p:txBody>
          <a:bodyPr wrap="square" lIns="0" rIns="0" tIns="0" bIns="0" anchor="t">
            <a:spAutoFit/>
          </a:bodyPr>
          <a:lstStyle/>
          <a:p>
            <a:pPr algn="ctr">
              <a:lnSpc>
                <a:spcPct val="112000"/>
              </a:lnSpc>
              <a:spcBef>
                <a:spcPts val="0"/>
              </a:spcBef>
              <a:spcAft>
                <a:spcPts val="0"/>
              </a:spcAft>
              <a:defRPr sz="3100" b="1">
                <a:solidFill>
                  <a:srgbClr val="C86449"/>
                </a:solidFill>
                <a:latin typeface="Noto Sans"/>
              </a:defRPr>
            </a:pPr>
            <a:r>
              <a:t>4</a:t>
            </a:r>
          </a:p>
        </p:txBody>
      </p:sp>
      <p:sp>
        <p:nvSpPr>
          <p:cNvPr id="48" name="TextBox 47"/>
          <p:cNvSpPr txBox="1"/>
          <p:nvPr/>
        </p:nvSpPr>
        <p:spPr>
          <a:xfrm>
            <a:off x="6400800" y="4297680"/>
            <a:ext cx="1143000" cy="365760"/>
          </a:xfrm>
          <a:prstGeom prst="rect">
            <a:avLst/>
          </a:prstGeom>
          <a:noFill/>
        </p:spPr>
        <p:txBody>
          <a:bodyPr wrap="square" lIns="0" rIns="0" tIns="0" bIns="0" anchor="t">
            <a:spAutoFit/>
          </a:bodyPr>
          <a:lstStyle/>
          <a:p>
            <a:pPr algn="l">
              <a:lnSpc>
                <a:spcPct val="112000"/>
              </a:lnSpc>
              <a:spcBef>
                <a:spcPts val="0"/>
              </a:spcBef>
              <a:spcAft>
                <a:spcPts val="0"/>
              </a:spcAft>
              <a:defRPr sz="1650" b="0">
                <a:solidFill>
                  <a:srgbClr val="5B6B7B"/>
                </a:solidFill>
                <a:latin typeface="Noto Sans"/>
              </a:defRPr>
            </a:pPr>
            <a:r>
              <a:t>Thật lành</a:t>
            </a:r>
          </a:p>
        </p:txBody>
      </p:sp>
      <p:sp>
        <p:nvSpPr>
          <p:cNvPr id="49" name="Rectangle 48"/>
          <p:cNvSpPr/>
          <p:nvPr/>
        </p:nvSpPr>
        <p:spPr>
          <a:xfrm>
            <a:off x="7708392" y="4050791"/>
            <a:ext cx="1399032" cy="841248"/>
          </a:xfrm>
          <a:prstGeom prst="rect">
            <a:avLst/>
          </a:prstGeom>
          <a:solidFill>
            <a:srgbClr val="FA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7708392" y="4197096"/>
            <a:ext cx="1399032" cy="502920"/>
          </a:xfrm>
          <a:prstGeom prst="rect">
            <a:avLst/>
          </a:prstGeom>
          <a:noFill/>
        </p:spPr>
        <p:txBody>
          <a:bodyPr wrap="square" lIns="0" rIns="0" tIns="0" bIns="0" anchor="t">
            <a:spAutoFit/>
          </a:bodyPr>
          <a:lstStyle/>
          <a:p>
            <a:pPr algn="ctr">
              <a:lnSpc>
                <a:spcPct val="112000"/>
              </a:lnSpc>
              <a:spcBef>
                <a:spcPts val="0"/>
              </a:spcBef>
              <a:spcAft>
                <a:spcPts val="0"/>
              </a:spcAft>
              <a:defRPr sz="3100" b="1">
                <a:solidFill>
                  <a:srgbClr val="C86449"/>
                </a:solidFill>
                <a:latin typeface="Noto Sans"/>
              </a:defRPr>
            </a:pPr>
            <a:r>
              <a:t>3</a:t>
            </a:r>
          </a:p>
        </p:txBody>
      </p:sp>
      <p:sp>
        <p:nvSpPr>
          <p:cNvPr id="51" name="Rectangle 50"/>
          <p:cNvSpPr/>
          <p:nvPr/>
        </p:nvSpPr>
        <p:spPr>
          <a:xfrm>
            <a:off x="9180576" y="4050791"/>
            <a:ext cx="1399032" cy="841248"/>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9180576" y="4197096"/>
            <a:ext cx="1399032" cy="502920"/>
          </a:xfrm>
          <a:prstGeom prst="rect">
            <a:avLst/>
          </a:prstGeom>
          <a:noFill/>
        </p:spPr>
        <p:txBody>
          <a:bodyPr wrap="square" lIns="0" rIns="0" tIns="0" bIns="0" anchor="t">
            <a:spAutoFit/>
          </a:bodyPr>
          <a:lstStyle/>
          <a:p>
            <a:pPr algn="ctr">
              <a:lnSpc>
                <a:spcPct val="112000"/>
              </a:lnSpc>
              <a:spcBef>
                <a:spcPts val="0"/>
              </a:spcBef>
              <a:spcAft>
                <a:spcPts val="0"/>
              </a:spcAft>
              <a:defRPr sz="3100" b="1">
                <a:solidFill>
                  <a:srgbClr val="087F82"/>
                </a:solidFill>
                <a:latin typeface="Noto Sans"/>
              </a:defRPr>
            </a:pPr>
            <a:r>
              <a:t>87</a:t>
            </a:r>
          </a:p>
        </p:txBody>
      </p:sp>
      <p:sp>
        <p:nvSpPr>
          <p:cNvPr id="53" name="TextBox 52"/>
          <p:cNvSpPr txBox="1"/>
          <p:nvPr/>
        </p:nvSpPr>
        <p:spPr>
          <a:xfrm>
            <a:off x="694944" y="5166360"/>
            <a:ext cx="5394960" cy="393192"/>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087F82"/>
                </a:solidFill>
                <a:latin typeface="Noto Sans"/>
              </a:defRPr>
            </a:pPr>
            <a:r>
              <a:t>Bỏ sót ác: 5 → 4</a:t>
            </a:r>
          </a:p>
        </p:txBody>
      </p:sp>
      <p:sp>
        <p:nvSpPr>
          <p:cNvPr id="54" name="TextBox 53"/>
          <p:cNvSpPr txBox="1"/>
          <p:nvPr/>
        </p:nvSpPr>
        <p:spPr>
          <a:xfrm>
            <a:off x="6473952" y="5166360"/>
            <a:ext cx="4800600" cy="393192"/>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5B6B7B"/>
                </a:solidFill>
                <a:latin typeface="Noto Sans"/>
              </a:defRPr>
            </a:pPr>
            <a:r>
              <a:t>Dương tính giả: 3</a:t>
            </a:r>
          </a:p>
        </p:txBody>
      </p:sp>
      <p:sp>
        <p:nvSpPr>
          <p:cNvPr id="55" name="Rounded Rectangle 54"/>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Bagging vẫn bỏ sót 4/53 mẫu ác tính.</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05 / MƯỜI LẦN CHIA GỐC</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10 lần chia: Bagging cao hơn cây đơn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outputs/results.json · controlled_comparison.json · seed 42–51</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13</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2648" y="1920240"/>
            <a:ext cx="4069080" cy="658368"/>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68096" y="2066544"/>
            <a:ext cx="3758184" cy="493775"/>
          </a:xfrm>
          <a:prstGeom prst="rect">
            <a:avLst/>
          </a:prstGeom>
          <a:noFill/>
        </p:spPr>
        <p:txBody>
          <a:bodyPr wrap="square" lIns="0" rIns="0" tIns="0" bIns="0" anchor="t">
            <a:spAutoFit/>
          </a:bodyPr>
          <a:lstStyle/>
          <a:p>
            <a:pPr algn="l">
              <a:lnSpc>
                <a:spcPct val="112000"/>
              </a:lnSpc>
              <a:spcBef>
                <a:spcPts val="0"/>
              </a:spcBef>
              <a:spcAft>
                <a:spcPts val="0"/>
              </a:spcAft>
              <a:defRPr sz="2000" b="1">
                <a:solidFill>
                  <a:srgbClr val="FFFFFF"/>
                </a:solidFill>
                <a:latin typeface="Noto Sans"/>
              </a:defRPr>
            </a:pPr>
            <a:r>
              <a:t>Mô hình</a:t>
            </a:r>
          </a:p>
        </p:txBody>
      </p:sp>
      <p:sp>
        <p:nvSpPr>
          <p:cNvPr id="14" name="Rectangle 13"/>
          <p:cNvSpPr/>
          <p:nvPr/>
        </p:nvSpPr>
        <p:spPr>
          <a:xfrm>
            <a:off x="4681728" y="1920240"/>
            <a:ext cx="3429000" cy="658368"/>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837176" y="2066544"/>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a:defRPr>
            </a:pPr>
            <a:r>
              <a:t>Accuracy (%)</a:t>
            </a:r>
          </a:p>
        </p:txBody>
      </p:sp>
      <p:sp>
        <p:nvSpPr>
          <p:cNvPr id="16" name="Rectangle 15"/>
          <p:cNvSpPr/>
          <p:nvPr/>
        </p:nvSpPr>
        <p:spPr>
          <a:xfrm>
            <a:off x="8110728" y="1920240"/>
            <a:ext cx="3429000" cy="658368"/>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66176" y="2066544"/>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000" b="1">
                <a:solidFill>
                  <a:srgbClr val="FFFFFF"/>
                </a:solidFill>
                <a:latin typeface="Noto Sans"/>
              </a:defRPr>
            </a:pPr>
            <a:r>
              <a:t>Recall ác (%)</a:t>
            </a:r>
          </a:p>
        </p:txBody>
      </p:sp>
      <p:sp>
        <p:nvSpPr>
          <p:cNvPr id="18" name="Rectangle 17"/>
          <p:cNvSpPr/>
          <p:nvPr/>
        </p:nvSpPr>
        <p:spPr>
          <a:xfrm>
            <a:off x="612648" y="2578608"/>
            <a:ext cx="406908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 y="2724912"/>
            <a:ext cx="3758184" cy="493775"/>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192F43"/>
                </a:solidFill>
                <a:latin typeface="Noto Sans"/>
              </a:defRPr>
            </a:pPr>
            <a:r>
              <a:t>Cây đơn</a:t>
            </a:r>
          </a:p>
        </p:txBody>
      </p:sp>
      <p:sp>
        <p:nvSpPr>
          <p:cNvPr id="20" name="Rectangle 19"/>
          <p:cNvSpPr/>
          <p:nvPr/>
        </p:nvSpPr>
        <p:spPr>
          <a:xfrm>
            <a:off x="4681728" y="2578608"/>
            <a:ext cx="34290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837176" y="2724912"/>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0">
                <a:solidFill>
                  <a:srgbClr val="192F43"/>
                </a:solidFill>
                <a:latin typeface="Noto Sans"/>
              </a:defRPr>
            </a:pPr>
            <a:r>
              <a:t>92,80 ± 1,84</a:t>
            </a:r>
          </a:p>
        </p:txBody>
      </p:sp>
      <p:sp>
        <p:nvSpPr>
          <p:cNvPr id="22" name="Rectangle 21"/>
          <p:cNvSpPr/>
          <p:nvPr/>
        </p:nvSpPr>
        <p:spPr>
          <a:xfrm>
            <a:off x="8110728" y="2578608"/>
            <a:ext cx="34290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66176" y="2724912"/>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0">
                <a:solidFill>
                  <a:srgbClr val="192F43"/>
                </a:solidFill>
                <a:latin typeface="Noto Sans"/>
              </a:defRPr>
            </a:pPr>
            <a:r>
              <a:t>90,38 ± 4,66</a:t>
            </a:r>
          </a:p>
        </p:txBody>
      </p:sp>
      <p:cxnSp>
        <p:nvCxnSpPr>
          <p:cNvPr id="24" name="Connector 23"/>
          <p:cNvCxnSpPr/>
          <p:nvPr/>
        </p:nvCxnSpPr>
        <p:spPr>
          <a:xfrm>
            <a:off x="612648" y="3236976"/>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12648" y="3236976"/>
            <a:ext cx="4069080" cy="658368"/>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383280"/>
            <a:ext cx="3758184" cy="493775"/>
          </a:xfrm>
          <a:prstGeom prst="rect">
            <a:avLst/>
          </a:prstGeom>
          <a:noFill/>
        </p:spPr>
        <p:txBody>
          <a:bodyPr wrap="square" lIns="0" rIns="0" tIns="0" bIns="0" anchor="t">
            <a:spAutoFit/>
          </a:bodyPr>
          <a:lstStyle/>
          <a:p>
            <a:pPr algn="l">
              <a:lnSpc>
                <a:spcPct val="112000"/>
              </a:lnSpc>
              <a:spcBef>
                <a:spcPts val="0"/>
              </a:spcBef>
              <a:spcAft>
                <a:spcPts val="0"/>
              </a:spcAft>
              <a:defRPr sz="2100" b="1">
                <a:solidFill>
                  <a:srgbClr val="192F43"/>
                </a:solidFill>
                <a:latin typeface="Noto Sans"/>
              </a:defRPr>
            </a:pPr>
            <a:r>
              <a:t>Bagging</a:t>
            </a:r>
          </a:p>
        </p:txBody>
      </p:sp>
      <p:sp>
        <p:nvSpPr>
          <p:cNvPr id="27" name="Rectangle 26"/>
          <p:cNvSpPr/>
          <p:nvPr/>
        </p:nvSpPr>
        <p:spPr>
          <a:xfrm>
            <a:off x="4681728" y="3236976"/>
            <a:ext cx="3429000" cy="658368"/>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837176" y="3383280"/>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1">
                <a:solidFill>
                  <a:srgbClr val="192F43"/>
                </a:solidFill>
                <a:latin typeface="Noto Sans"/>
              </a:defRPr>
            </a:pPr>
            <a:r>
              <a:t>94,76 ± 1,59</a:t>
            </a:r>
          </a:p>
        </p:txBody>
      </p:sp>
      <p:sp>
        <p:nvSpPr>
          <p:cNvPr id="29" name="Rectangle 28"/>
          <p:cNvSpPr/>
          <p:nvPr/>
        </p:nvSpPr>
        <p:spPr>
          <a:xfrm>
            <a:off x="8110728" y="3236976"/>
            <a:ext cx="3429000" cy="658368"/>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66176" y="3383280"/>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1">
                <a:solidFill>
                  <a:srgbClr val="192F43"/>
                </a:solidFill>
                <a:latin typeface="Noto Sans"/>
              </a:defRPr>
            </a:pPr>
            <a:r>
              <a:t>92,45 ± 3,77</a:t>
            </a:r>
          </a:p>
        </p:txBody>
      </p:sp>
      <p:cxnSp>
        <p:nvCxnSpPr>
          <p:cNvPr id="31" name="Connector 30"/>
          <p:cNvCxnSpPr/>
          <p:nvPr/>
        </p:nvCxnSpPr>
        <p:spPr>
          <a:xfrm>
            <a:off x="612648" y="3895344"/>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12648" y="3895344"/>
            <a:ext cx="406908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68096" y="4041648"/>
            <a:ext cx="3758184" cy="493775"/>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192F43"/>
                </a:solidFill>
                <a:latin typeface="Noto Sans"/>
              </a:defRPr>
            </a:pPr>
            <a:r>
              <a:t>Random Forest</a:t>
            </a:r>
          </a:p>
        </p:txBody>
      </p:sp>
      <p:sp>
        <p:nvSpPr>
          <p:cNvPr id="34" name="Rectangle 33"/>
          <p:cNvSpPr/>
          <p:nvPr/>
        </p:nvSpPr>
        <p:spPr>
          <a:xfrm>
            <a:off x="4681728" y="3895344"/>
            <a:ext cx="34290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837176" y="4041648"/>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0">
                <a:solidFill>
                  <a:srgbClr val="192F43"/>
                </a:solidFill>
                <a:latin typeface="Noto Sans"/>
              </a:defRPr>
            </a:pPr>
            <a:r>
              <a:t>95,03 ± 1,85</a:t>
            </a:r>
          </a:p>
        </p:txBody>
      </p:sp>
      <p:sp>
        <p:nvSpPr>
          <p:cNvPr id="36" name="Rectangle 35"/>
          <p:cNvSpPr/>
          <p:nvPr/>
        </p:nvSpPr>
        <p:spPr>
          <a:xfrm>
            <a:off x="8110728" y="3895344"/>
            <a:ext cx="3429000" cy="65836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66176" y="4041648"/>
            <a:ext cx="3118104" cy="493775"/>
          </a:xfrm>
          <a:prstGeom prst="rect">
            <a:avLst/>
          </a:prstGeom>
          <a:noFill/>
        </p:spPr>
        <p:txBody>
          <a:bodyPr wrap="square" lIns="0" rIns="0" tIns="0" bIns="0" anchor="t">
            <a:spAutoFit/>
          </a:bodyPr>
          <a:lstStyle/>
          <a:p>
            <a:pPr algn="ctr">
              <a:lnSpc>
                <a:spcPct val="112000"/>
              </a:lnSpc>
              <a:spcBef>
                <a:spcPts val="0"/>
              </a:spcBef>
              <a:spcAft>
                <a:spcPts val="0"/>
              </a:spcAft>
              <a:defRPr sz="2100" b="0">
                <a:solidFill>
                  <a:srgbClr val="192F43"/>
                </a:solidFill>
                <a:latin typeface="Noto Sans"/>
              </a:defRPr>
            </a:pPr>
            <a:r>
              <a:t>92,26 ± 3,26</a:t>
            </a:r>
          </a:p>
        </p:txBody>
      </p:sp>
      <p:cxnSp>
        <p:nvCxnSpPr>
          <p:cNvPr id="38" name="Connector 37"/>
          <p:cNvCxnSpPr/>
          <p:nvPr/>
        </p:nvCxnSpPr>
        <p:spPr>
          <a:xfrm>
            <a:off x="612648" y="455371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685800" y="4846320"/>
            <a:ext cx="3657600" cy="640080"/>
          </a:xfrm>
          <a:prstGeom prst="rect">
            <a:avLst/>
          </a:prstGeom>
          <a:noFill/>
        </p:spPr>
        <p:txBody>
          <a:bodyPr wrap="square" lIns="0" rIns="0" tIns="0" bIns="0" anchor="t">
            <a:spAutoFit/>
          </a:bodyPr>
          <a:lstStyle/>
          <a:p>
            <a:pPr algn="l">
              <a:lnSpc>
                <a:spcPct val="112000"/>
              </a:lnSpc>
              <a:spcBef>
                <a:spcPts val="0"/>
              </a:spcBef>
              <a:spcAft>
                <a:spcPts val="0"/>
              </a:spcAft>
              <a:defRPr sz="3500" b="1">
                <a:solidFill>
                  <a:srgbClr val="087F82"/>
                </a:solidFill>
                <a:latin typeface="Noto Sans"/>
              </a:defRPr>
            </a:pPr>
            <a:r>
              <a:t>+1,96 đpt</a:t>
            </a:r>
          </a:p>
        </p:txBody>
      </p:sp>
      <p:sp>
        <p:nvSpPr>
          <p:cNvPr id="40" name="TextBox 39"/>
          <p:cNvSpPr txBox="1"/>
          <p:nvPr/>
        </p:nvSpPr>
        <p:spPr>
          <a:xfrm>
            <a:off x="4572000" y="4791456"/>
            <a:ext cx="6812280" cy="777240"/>
          </a:xfrm>
          <a:prstGeom prst="rect">
            <a:avLst/>
          </a:prstGeom>
          <a:noFill/>
        </p:spPr>
        <p:txBody>
          <a:bodyPr wrap="square" lIns="0" rIns="0" tIns="0" bIns="0" anchor="t">
            <a:spAutoFit/>
          </a:bodyPr>
          <a:lstStyle/>
          <a:p>
            <a:pPr algn="l">
              <a:lnSpc>
                <a:spcPct val="130000"/>
              </a:lnSpc>
              <a:spcBef>
                <a:spcPts val="0"/>
              </a:spcBef>
              <a:spcAft>
                <a:spcPts val="0"/>
              </a:spcAft>
              <a:defRPr sz="2000" b="0">
                <a:solidFill>
                  <a:srgbClr val="5B6B7B"/>
                </a:solidFill>
                <a:latin typeface="Noto Sans"/>
              </a:defRPr>
            </a:pPr>
            <a:r>
              <a:t>Accuracy trung bình so với cây đơn.</a:t>
            </a:r>
          </a:p>
          <a:p>
            <a:pPr algn="l">
              <a:lnSpc>
                <a:spcPct val="130000"/>
              </a:lnSpc>
              <a:spcBef>
                <a:spcPts val="0"/>
              </a:spcBef>
              <a:spcAft>
                <a:spcPts val="0"/>
              </a:spcAft>
              <a:defRPr sz="2000" b="0">
                <a:solidFill>
                  <a:srgbClr val="5B6B7B"/>
                </a:solidFill>
                <a:latin typeface="Noto Sans"/>
              </a:defRPr>
            </a:pPr>
            <a:r>
              <a:t>So với RF: chưa có ưu thế nhất quán.</a:t>
            </a:r>
          </a:p>
        </p:txBody>
      </p:sp>
      <p:sp>
        <p:nvSpPr>
          <p:cNvPr id="41" name="Rounded Rectangle 40"/>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Trung bình ± SD mẫu; các test có thể giao nhau.</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05 / MỞ RỘNG CÁC HỌ ENSEMBLE</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Mở rộng: tổ hợp và mô hình đơn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family_comparison.json · 10 holdout seed 42–51 · trung bình ± SD mẫu</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14</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2648" y="1856231"/>
            <a:ext cx="4069080" cy="50292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68096" y="1965960"/>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FFFFFF"/>
                </a:solidFill>
                <a:latin typeface="Noto Sans"/>
              </a:defRPr>
            </a:pPr>
            <a:r>
              <a:t>Mô hình</a:t>
            </a:r>
          </a:p>
        </p:txBody>
      </p:sp>
      <p:sp>
        <p:nvSpPr>
          <p:cNvPr id="14" name="Rectangle 13"/>
          <p:cNvSpPr/>
          <p:nvPr/>
        </p:nvSpPr>
        <p:spPr>
          <a:xfrm>
            <a:off x="4681728" y="1856231"/>
            <a:ext cx="3429000" cy="50292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837176" y="196596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a:defRPr>
            </a:pPr>
            <a:r>
              <a:t>Accuracy (%)</a:t>
            </a:r>
          </a:p>
        </p:txBody>
      </p:sp>
      <p:sp>
        <p:nvSpPr>
          <p:cNvPr id="16" name="Rectangle 15"/>
          <p:cNvSpPr/>
          <p:nvPr/>
        </p:nvSpPr>
        <p:spPr>
          <a:xfrm>
            <a:off x="8110728" y="1856231"/>
            <a:ext cx="3429000" cy="502920"/>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266176" y="196596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FFFFFF"/>
                </a:solidFill>
                <a:latin typeface="Noto Sans"/>
              </a:defRPr>
            </a:pPr>
            <a:r>
              <a:t>Recall ác (%)</a:t>
            </a:r>
          </a:p>
        </p:txBody>
      </p:sp>
      <p:sp>
        <p:nvSpPr>
          <p:cNvPr id="18" name="Rectangle 17"/>
          <p:cNvSpPr/>
          <p:nvPr/>
        </p:nvSpPr>
        <p:spPr>
          <a:xfrm>
            <a:off x="612648" y="2359152"/>
            <a:ext cx="4069080" cy="502920"/>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 y="2468880"/>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92F43"/>
                </a:solidFill>
                <a:latin typeface="Noto Sans"/>
              </a:defRPr>
            </a:pPr>
            <a:r>
              <a:t>Bagging tự triển khai</a:t>
            </a:r>
          </a:p>
        </p:txBody>
      </p:sp>
      <p:sp>
        <p:nvSpPr>
          <p:cNvPr id="20" name="Rectangle 19"/>
          <p:cNvSpPr/>
          <p:nvPr/>
        </p:nvSpPr>
        <p:spPr>
          <a:xfrm>
            <a:off x="4681728" y="2359152"/>
            <a:ext cx="3429000" cy="502920"/>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837176" y="246888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1">
                <a:solidFill>
                  <a:srgbClr val="192F43"/>
                </a:solidFill>
                <a:latin typeface="Noto Sans"/>
              </a:defRPr>
            </a:pPr>
            <a:r>
              <a:t>94,76 ± 1,59</a:t>
            </a:r>
          </a:p>
        </p:txBody>
      </p:sp>
      <p:sp>
        <p:nvSpPr>
          <p:cNvPr id="22" name="Rectangle 21"/>
          <p:cNvSpPr/>
          <p:nvPr/>
        </p:nvSpPr>
        <p:spPr>
          <a:xfrm>
            <a:off x="8110728" y="2359152"/>
            <a:ext cx="3429000" cy="502920"/>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266176" y="246888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1">
                <a:solidFill>
                  <a:srgbClr val="192F43"/>
                </a:solidFill>
                <a:latin typeface="Noto Sans"/>
              </a:defRPr>
            </a:pPr>
            <a:r>
              <a:t>92,45 ± 3,77</a:t>
            </a:r>
          </a:p>
        </p:txBody>
      </p:sp>
      <p:cxnSp>
        <p:nvCxnSpPr>
          <p:cNvPr id="24" name="Connector 23"/>
          <p:cNvCxnSpPr/>
          <p:nvPr/>
        </p:nvCxnSpPr>
        <p:spPr>
          <a:xfrm>
            <a:off x="612648" y="286207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12648" y="2862072"/>
            <a:ext cx="406908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2971800"/>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192F43"/>
                </a:solidFill>
                <a:latin typeface="Noto Sans"/>
              </a:defRPr>
            </a:pPr>
            <a:r>
              <a:t>AdaBoost</a:t>
            </a:r>
          </a:p>
        </p:txBody>
      </p:sp>
      <p:sp>
        <p:nvSpPr>
          <p:cNvPr id="27" name="Rectangle 26"/>
          <p:cNvSpPr/>
          <p:nvPr/>
        </p:nvSpPr>
        <p:spPr>
          <a:xfrm>
            <a:off x="4681728" y="2862072"/>
            <a:ext cx="342900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837176" y="297180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96,43 ± 1,07</a:t>
            </a:r>
          </a:p>
        </p:txBody>
      </p:sp>
      <p:sp>
        <p:nvSpPr>
          <p:cNvPr id="29" name="Rectangle 28"/>
          <p:cNvSpPr/>
          <p:nvPr/>
        </p:nvSpPr>
        <p:spPr>
          <a:xfrm>
            <a:off x="8110728" y="2862072"/>
            <a:ext cx="342900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66176" y="297180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94,15 ± 2,08</a:t>
            </a:r>
          </a:p>
        </p:txBody>
      </p:sp>
      <p:cxnSp>
        <p:nvCxnSpPr>
          <p:cNvPr id="31" name="Connector 30"/>
          <p:cNvCxnSpPr/>
          <p:nvPr/>
        </p:nvCxnSpPr>
        <p:spPr>
          <a:xfrm>
            <a:off x="612648" y="3364991"/>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12648" y="3364991"/>
            <a:ext cx="406908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68096" y="3474720"/>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192F43"/>
                </a:solidFill>
                <a:latin typeface="Noto Sans"/>
              </a:defRPr>
            </a:pPr>
            <a:r>
              <a:t>Voting hard</a:t>
            </a:r>
          </a:p>
        </p:txBody>
      </p:sp>
      <p:sp>
        <p:nvSpPr>
          <p:cNvPr id="34" name="Rectangle 33"/>
          <p:cNvSpPr/>
          <p:nvPr/>
        </p:nvSpPr>
        <p:spPr>
          <a:xfrm>
            <a:off x="4681728" y="3364991"/>
            <a:ext cx="342900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837176" y="347472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95,80 ± 1,23</a:t>
            </a:r>
          </a:p>
        </p:txBody>
      </p:sp>
      <p:sp>
        <p:nvSpPr>
          <p:cNvPr id="36" name="Rectangle 35"/>
          <p:cNvSpPr/>
          <p:nvPr/>
        </p:nvSpPr>
        <p:spPr>
          <a:xfrm>
            <a:off x="8110728" y="3364991"/>
            <a:ext cx="342900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66176" y="347472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92,64 ± 3,72</a:t>
            </a:r>
          </a:p>
        </p:txBody>
      </p:sp>
      <p:cxnSp>
        <p:nvCxnSpPr>
          <p:cNvPr id="38" name="Connector 37"/>
          <p:cNvCxnSpPr/>
          <p:nvPr/>
        </p:nvCxnSpPr>
        <p:spPr>
          <a:xfrm>
            <a:off x="612648" y="386791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9" name="Rectangle 38"/>
          <p:cNvSpPr/>
          <p:nvPr/>
        </p:nvSpPr>
        <p:spPr>
          <a:xfrm>
            <a:off x="612648" y="3867912"/>
            <a:ext cx="406908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68096" y="3977640"/>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192F43"/>
                </a:solidFill>
                <a:latin typeface="Noto Sans"/>
              </a:defRPr>
            </a:pPr>
            <a:r>
              <a:t>Voting soft</a:t>
            </a:r>
          </a:p>
        </p:txBody>
      </p:sp>
      <p:sp>
        <p:nvSpPr>
          <p:cNvPr id="41" name="Rectangle 40"/>
          <p:cNvSpPr/>
          <p:nvPr/>
        </p:nvSpPr>
        <p:spPr>
          <a:xfrm>
            <a:off x="4681728" y="3867912"/>
            <a:ext cx="342900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4837176" y="397764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95,66 ± 1,27</a:t>
            </a:r>
          </a:p>
        </p:txBody>
      </p:sp>
      <p:sp>
        <p:nvSpPr>
          <p:cNvPr id="43" name="Rectangle 42"/>
          <p:cNvSpPr/>
          <p:nvPr/>
        </p:nvSpPr>
        <p:spPr>
          <a:xfrm>
            <a:off x="8110728" y="3867912"/>
            <a:ext cx="3429000" cy="50292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266176" y="3977640"/>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92,64 ± 3,72</a:t>
            </a:r>
          </a:p>
        </p:txBody>
      </p:sp>
      <p:cxnSp>
        <p:nvCxnSpPr>
          <p:cNvPr id="45" name="Connector 44"/>
          <p:cNvCxnSpPr/>
          <p:nvPr/>
        </p:nvCxnSpPr>
        <p:spPr>
          <a:xfrm>
            <a:off x="612648" y="4370831"/>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6" name="Rectangle 45"/>
          <p:cNvSpPr/>
          <p:nvPr/>
        </p:nvSpPr>
        <p:spPr>
          <a:xfrm>
            <a:off x="612648" y="4370831"/>
            <a:ext cx="406908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 y="4480559"/>
            <a:ext cx="3758184" cy="374904"/>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192F43"/>
                </a:solidFill>
                <a:latin typeface="Noto Sans"/>
              </a:defRPr>
            </a:pPr>
            <a:r>
              <a:t>Stacking</a:t>
            </a:r>
          </a:p>
        </p:txBody>
      </p:sp>
      <p:sp>
        <p:nvSpPr>
          <p:cNvPr id="48" name="Rectangle 47"/>
          <p:cNvSpPr/>
          <p:nvPr/>
        </p:nvSpPr>
        <p:spPr>
          <a:xfrm>
            <a:off x="4681728" y="4370831"/>
            <a:ext cx="342900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4837176" y="4480559"/>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96,64 ± 1,22</a:t>
            </a:r>
          </a:p>
        </p:txBody>
      </p:sp>
      <p:sp>
        <p:nvSpPr>
          <p:cNvPr id="50" name="Rectangle 49"/>
          <p:cNvSpPr/>
          <p:nvPr/>
        </p:nvSpPr>
        <p:spPr>
          <a:xfrm>
            <a:off x="8110728" y="4370831"/>
            <a:ext cx="3429000" cy="5029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266176" y="4480559"/>
            <a:ext cx="3118104" cy="374904"/>
          </a:xfrm>
          <a:prstGeom prst="rect">
            <a:avLst/>
          </a:prstGeom>
          <a:noFill/>
        </p:spPr>
        <p:txBody>
          <a:bodyPr wrap="square" lIns="0" rIns="0" tIns="0" bIns="0" anchor="t">
            <a:spAutoFit/>
          </a:bodyPr>
          <a:lstStyle/>
          <a:p>
            <a:pPr algn="ctr">
              <a:lnSpc>
                <a:spcPct val="112000"/>
              </a:lnSpc>
              <a:spcBef>
                <a:spcPts val="0"/>
              </a:spcBef>
              <a:spcAft>
                <a:spcPts val="0"/>
              </a:spcAft>
              <a:defRPr sz="1900" b="0">
                <a:solidFill>
                  <a:srgbClr val="192F43"/>
                </a:solidFill>
                <a:latin typeface="Noto Sans"/>
              </a:defRPr>
            </a:pPr>
            <a:r>
              <a:t>95,09 ± 2,70</a:t>
            </a:r>
          </a:p>
        </p:txBody>
      </p:sp>
      <p:cxnSp>
        <p:nvCxnSpPr>
          <p:cNvPr id="52" name="Connector 51"/>
          <p:cNvCxnSpPr/>
          <p:nvPr/>
        </p:nvCxnSpPr>
        <p:spPr>
          <a:xfrm>
            <a:off x="612648" y="487375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694944" y="5056632"/>
            <a:ext cx="10789920" cy="457200"/>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087F82"/>
                </a:solidFill>
                <a:latin typeface="Noto Sans"/>
              </a:defRPr>
            </a:pPr>
            <a:r>
              <a:t>LR đơn: accuracy 97,62 ± 0,82% — cao nhất trong cấu hình khảo sát.</a:t>
            </a:r>
          </a:p>
        </p:txBody>
      </p:sp>
      <p:sp>
        <p:nvSpPr>
          <p:cNvPr id="54" name="Rounded Rectangle 53"/>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Cùng 10 lần chia; cấu hình khác nhau; phân tích hậu nghiệm.</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06 / KHẢO SÁT BỔ SUNG TRÊN TRAIN</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51 cây đạt BA CV cao nhất trong khảo sát</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outputs/extensions/analysis.json · CV ngoài 5 fold · không dùng test</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15</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2" name="Chart 11"/>
          <p:cNvGraphicFramePr>
            <a:graphicFrameLocks noGrp="1"/>
          </p:cNvGraphicFramePr>
          <p:nvPr/>
        </p:nvGraphicFramePr>
        <p:xfrm>
          <a:off x="640080" y="1874519"/>
          <a:ext cx="6858000" cy="3291840"/>
        </p:xfrm>
        <a:graphic>
          <a:graphicData uri="http://schemas.openxmlformats.org/drawingml/2006/chart">
            <c:chart xmlns:c="http://schemas.openxmlformats.org/drawingml/2006/chart" r:id="rId2"/>
          </a:graphicData>
        </a:graphic>
      </p:graphicFrame>
      <p:sp>
        <p:nvSpPr>
          <p:cNvPr id="13" name="TextBox 12"/>
          <p:cNvSpPr txBox="1"/>
          <p:nvPr/>
        </p:nvSpPr>
        <p:spPr>
          <a:xfrm>
            <a:off x="841248" y="1773936"/>
            <a:ext cx="621792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5B6B7B"/>
                </a:solidFill>
                <a:latin typeface="Noto Sans"/>
              </a:defRPr>
            </a:pPr>
            <a:r>
              <a:t>BALANCED ACCURACY CV (%)</a:t>
            </a:r>
          </a:p>
        </p:txBody>
      </p:sp>
      <p:sp>
        <p:nvSpPr>
          <p:cNvPr id="14" name="TextBox 13"/>
          <p:cNvSpPr txBox="1"/>
          <p:nvPr/>
        </p:nvSpPr>
        <p:spPr>
          <a:xfrm>
            <a:off x="2743200" y="5257800"/>
            <a:ext cx="3749039" cy="274320"/>
          </a:xfrm>
          <a:prstGeom prst="rect">
            <a:avLst/>
          </a:prstGeom>
          <a:noFill/>
        </p:spPr>
        <p:txBody>
          <a:bodyPr wrap="square" lIns="0" rIns="0" tIns="0" bIns="0" anchor="t">
            <a:spAutoFit/>
          </a:bodyPr>
          <a:lstStyle/>
          <a:p>
            <a:pPr algn="ctr">
              <a:lnSpc>
                <a:spcPct val="112000"/>
              </a:lnSpc>
              <a:spcBef>
                <a:spcPts val="0"/>
              </a:spcBef>
              <a:spcAft>
                <a:spcPts val="0"/>
              </a:spcAft>
              <a:defRPr sz="1300" b="0">
                <a:solidFill>
                  <a:srgbClr val="5B6B7B"/>
                </a:solidFill>
                <a:latin typeface="Noto Sans"/>
              </a:defRPr>
            </a:pPr>
            <a:r>
              <a:t>Số cây B (các cấu hình đã xét)</a:t>
            </a:r>
          </a:p>
        </p:txBody>
      </p:sp>
      <p:sp>
        <p:nvSpPr>
          <p:cNvPr id="15" name="Rounded Rectangle 14"/>
          <p:cNvSpPr/>
          <p:nvPr/>
        </p:nvSpPr>
        <p:spPr>
          <a:xfrm>
            <a:off x="8019288" y="1947672"/>
            <a:ext cx="3547872" cy="3547872"/>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75320" y="2231136"/>
            <a:ext cx="27432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51 CÂY</a:t>
            </a:r>
          </a:p>
        </p:txBody>
      </p:sp>
      <p:sp>
        <p:nvSpPr>
          <p:cNvPr id="17" name="TextBox 16"/>
          <p:cNvSpPr txBox="1"/>
          <p:nvPr/>
        </p:nvSpPr>
        <p:spPr>
          <a:xfrm>
            <a:off x="8275320" y="2779776"/>
            <a:ext cx="3017520" cy="685800"/>
          </a:xfrm>
          <a:prstGeom prst="rect">
            <a:avLst/>
          </a:prstGeom>
          <a:noFill/>
        </p:spPr>
        <p:txBody>
          <a:bodyPr wrap="square" lIns="0" rIns="0" tIns="0" bIns="0" anchor="t">
            <a:spAutoFit/>
          </a:bodyPr>
          <a:lstStyle/>
          <a:p>
            <a:pPr algn="l">
              <a:lnSpc>
                <a:spcPct val="112000"/>
              </a:lnSpc>
              <a:spcBef>
                <a:spcPts val="0"/>
              </a:spcBef>
              <a:spcAft>
                <a:spcPts val="0"/>
              </a:spcAft>
              <a:defRPr sz="3100" b="1">
                <a:solidFill>
                  <a:srgbClr val="087F82"/>
                </a:solidFill>
                <a:latin typeface="Noto Sans"/>
              </a:defRPr>
            </a:pPr>
            <a:r>
              <a:t>95,26 ± 2,45</a:t>
            </a:r>
          </a:p>
        </p:txBody>
      </p:sp>
      <p:sp>
        <p:nvSpPr>
          <p:cNvPr id="18" name="TextBox 17"/>
          <p:cNvSpPr txBox="1"/>
          <p:nvPr/>
        </p:nvSpPr>
        <p:spPr>
          <a:xfrm>
            <a:off x="8275320" y="3657600"/>
            <a:ext cx="2880360" cy="548640"/>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5B6B7B"/>
                </a:solidFill>
                <a:latin typeface="Noto Sans"/>
              </a:defRPr>
            </a:pPr>
            <a:r>
              <a:t>BA CV (%) · trung bình ± SD</a:t>
            </a:r>
          </a:p>
        </p:txBody>
      </p:sp>
      <p:sp>
        <p:nvSpPr>
          <p:cNvPr id="19" name="TextBox 18"/>
          <p:cNvSpPr txBox="1"/>
          <p:nvPr/>
        </p:nvSpPr>
        <p:spPr>
          <a:xfrm>
            <a:off x="8275320" y="4425696"/>
            <a:ext cx="2880360" cy="777240"/>
          </a:xfrm>
          <a:prstGeom prst="rect">
            <a:avLst/>
          </a:prstGeom>
          <a:noFill/>
        </p:spPr>
        <p:txBody>
          <a:bodyPr wrap="square" lIns="0" rIns="0" tIns="0" bIns="0" anchor="t">
            <a:spAutoFit/>
          </a:bodyPr>
          <a:lstStyle/>
          <a:p>
            <a:pPr algn="l">
              <a:lnSpc>
                <a:spcPct val="130000"/>
              </a:lnSpc>
              <a:spcBef>
                <a:spcPts val="0"/>
              </a:spcBef>
              <a:spcAft>
                <a:spcPts val="0"/>
              </a:spcAft>
              <a:defRPr sz="2000" b="1">
                <a:solidFill>
                  <a:srgbClr val="142D46"/>
                </a:solidFill>
                <a:latin typeface="Noto Sans"/>
              </a:defRPr>
            </a:pPr>
            <a:r>
              <a:t>101 cây: 95,07%</a:t>
            </a:r>
          </a:p>
          <a:p>
            <a:pPr algn="l">
              <a:lnSpc>
                <a:spcPct val="130000"/>
              </a:lnSpc>
              <a:spcBef>
                <a:spcPts val="0"/>
              </a:spcBef>
              <a:spcAft>
                <a:spcPts val="0"/>
              </a:spcAft>
              <a:defRPr sz="2000" b="1">
                <a:solidFill>
                  <a:srgbClr val="142D46"/>
                </a:solidFill>
                <a:latin typeface="Noto Sans"/>
              </a:defRPr>
            </a:pPr>
            <a:r>
              <a:t>Chưa cải thiện thêm.</a:t>
            </a:r>
          </a:p>
        </p:txBody>
      </p:sp>
      <p:sp>
        <p:nvSpPr>
          <p:cNvPr id="20" name="Rounded Rectangle 19"/>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Khảo sát trên train; 51 cây chưa được chứng minh tối ưu tổng quát.</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06 / PHÂN TÍCH MẪU 291</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Mẫu 291: tổ hợp vẫn dự đoán sai</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outputs/extensions/analysis.json → reference_error</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16</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0080" y="1938528"/>
            <a:ext cx="640080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NHÃN THẬT: LÀNH TÍNH</a:t>
            </a:r>
          </a:p>
        </p:txBody>
      </p:sp>
      <p:sp>
        <p:nvSpPr>
          <p:cNvPr id="13" name="TextBox 12"/>
          <p:cNvSpPr txBox="1"/>
          <p:nvPr/>
        </p:nvSpPr>
        <p:spPr>
          <a:xfrm>
            <a:off x="640080" y="2532888"/>
            <a:ext cx="7132320" cy="566928"/>
          </a:xfrm>
          <a:prstGeom prst="rect">
            <a:avLst/>
          </a:prstGeom>
          <a:noFill/>
        </p:spPr>
        <p:txBody>
          <a:bodyPr wrap="square" lIns="0" rIns="0" tIns="0" bIns="0" anchor="t">
            <a:spAutoFit/>
          </a:bodyPr>
          <a:lstStyle/>
          <a:p>
            <a:pPr algn="l">
              <a:lnSpc>
                <a:spcPct val="112000"/>
              </a:lnSpc>
              <a:spcBef>
                <a:spcPts val="0"/>
              </a:spcBef>
              <a:spcAft>
                <a:spcPts val="0"/>
              </a:spcAft>
              <a:defRPr sz="3200" b="1">
                <a:solidFill>
                  <a:srgbClr val="142D46"/>
                </a:solidFill>
                <a:latin typeface="Noto Sans"/>
              </a:defRPr>
            </a:pPr>
            <a:r>
              <a:t>27 phiếu ác / 24 phiếu lành</a:t>
            </a:r>
          </a:p>
        </p:txBody>
      </p:sp>
      <p:sp>
        <p:nvSpPr>
          <p:cNvPr id="14" name="Rectangle 13"/>
          <p:cNvSpPr/>
          <p:nvPr/>
        </p:nvSpPr>
        <p:spPr>
          <a:xfrm>
            <a:off x="658368" y="3593592"/>
            <a:ext cx="5751038" cy="694944"/>
          </a:xfrm>
          <a:prstGeom prst="rect">
            <a:avLst/>
          </a:prstGeom>
          <a:solidFill>
            <a:srgbClr val="C864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6409406" y="3593592"/>
            <a:ext cx="5112033" cy="69494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95528" y="3739896"/>
            <a:ext cx="5394960" cy="365760"/>
          </a:xfrm>
          <a:prstGeom prst="rect">
            <a:avLst/>
          </a:prstGeom>
          <a:noFill/>
        </p:spPr>
        <p:txBody>
          <a:bodyPr wrap="square" lIns="0" rIns="0" tIns="0" bIns="0" anchor="t">
            <a:spAutoFit/>
          </a:bodyPr>
          <a:lstStyle/>
          <a:p>
            <a:pPr algn="l">
              <a:lnSpc>
                <a:spcPct val="112000"/>
              </a:lnSpc>
              <a:spcBef>
                <a:spcPts val="0"/>
              </a:spcBef>
              <a:spcAft>
                <a:spcPts val="0"/>
              </a:spcAft>
              <a:defRPr sz="2200" b="1">
                <a:solidFill>
                  <a:srgbClr val="FFFFFF"/>
                </a:solidFill>
                <a:latin typeface="Noto Sans"/>
              </a:defRPr>
            </a:pPr>
            <a:r>
              <a:t>27 · Ác</a:t>
            </a:r>
          </a:p>
        </p:txBody>
      </p:sp>
      <p:sp>
        <p:nvSpPr>
          <p:cNvPr id="17" name="TextBox 16"/>
          <p:cNvSpPr txBox="1"/>
          <p:nvPr/>
        </p:nvSpPr>
        <p:spPr>
          <a:xfrm>
            <a:off x="6446520" y="3739896"/>
            <a:ext cx="4846320" cy="365760"/>
          </a:xfrm>
          <a:prstGeom prst="rect">
            <a:avLst/>
          </a:prstGeom>
          <a:noFill/>
        </p:spPr>
        <p:txBody>
          <a:bodyPr wrap="square" lIns="0" rIns="0" tIns="0" bIns="0" anchor="t">
            <a:spAutoFit/>
          </a:bodyPr>
          <a:lstStyle/>
          <a:p>
            <a:pPr algn="r">
              <a:lnSpc>
                <a:spcPct val="112000"/>
              </a:lnSpc>
              <a:spcBef>
                <a:spcPts val="0"/>
              </a:spcBef>
              <a:spcAft>
                <a:spcPts val="0"/>
              </a:spcAft>
              <a:defRPr sz="2200" b="1">
                <a:solidFill>
                  <a:srgbClr val="FFFFFF"/>
                </a:solidFill>
                <a:latin typeface="Noto Sans"/>
              </a:defRPr>
            </a:pPr>
            <a:r>
              <a:t>24 · Lành</a:t>
            </a:r>
          </a:p>
        </p:txBody>
      </p:sp>
      <p:sp>
        <p:nvSpPr>
          <p:cNvPr id="18" name="TextBox 17"/>
          <p:cNvSpPr txBox="1"/>
          <p:nvPr/>
        </p:nvSpPr>
        <p:spPr>
          <a:xfrm>
            <a:off x="685800" y="4727448"/>
            <a:ext cx="6309360" cy="594360"/>
          </a:xfrm>
          <a:prstGeom prst="rect">
            <a:avLst/>
          </a:prstGeom>
          <a:noFill/>
        </p:spPr>
        <p:txBody>
          <a:bodyPr wrap="square" lIns="0" rIns="0" tIns="0" bIns="0" anchor="t">
            <a:spAutoFit/>
          </a:bodyPr>
          <a:lstStyle/>
          <a:p>
            <a:pPr algn="l">
              <a:lnSpc>
                <a:spcPct val="112000"/>
              </a:lnSpc>
              <a:spcBef>
                <a:spcPts val="0"/>
              </a:spcBef>
              <a:spcAft>
                <a:spcPts val="0"/>
              </a:spcAft>
              <a:defRPr sz="2500" b="1">
                <a:solidFill>
                  <a:srgbClr val="C86449"/>
                </a:solidFill>
                <a:latin typeface="Noto Sans"/>
              </a:defRPr>
            </a:pPr>
            <a:r>
              <a:t>Đa số chọn ác → dương tính giả</a:t>
            </a:r>
          </a:p>
        </p:txBody>
      </p:sp>
      <p:sp>
        <p:nvSpPr>
          <p:cNvPr id="19" name="TextBox 18"/>
          <p:cNvSpPr txBox="1"/>
          <p:nvPr/>
        </p:nvSpPr>
        <p:spPr>
          <a:xfrm>
            <a:off x="8247888" y="4681728"/>
            <a:ext cx="3017520" cy="822960"/>
          </a:xfrm>
          <a:prstGeom prst="rect">
            <a:avLst/>
          </a:prstGeom>
          <a:noFill/>
        </p:spPr>
        <p:txBody>
          <a:bodyPr wrap="square" lIns="0" rIns="0" tIns="0" bIns="0" anchor="t">
            <a:spAutoFit/>
          </a:bodyPr>
          <a:lstStyle/>
          <a:p>
            <a:pPr algn="r">
              <a:lnSpc>
                <a:spcPct val="112000"/>
              </a:lnSpc>
              <a:spcBef>
                <a:spcPts val="0"/>
              </a:spcBef>
              <a:spcAft>
                <a:spcPts val="0"/>
              </a:spcAft>
              <a:defRPr sz="1900" b="0">
                <a:solidFill>
                  <a:srgbClr val="5B6B7B"/>
                </a:solidFill>
                <a:latin typeface="Noto Sans"/>
              </a:defRPr>
            </a:pPr>
            <a:r>
              <a:t>Biên phiếu</a:t>
            </a:r>
          </a:p>
          <a:p>
            <a:pPr algn="r">
              <a:lnSpc>
                <a:spcPct val="112000"/>
              </a:lnSpc>
              <a:spcBef>
                <a:spcPts val="0"/>
              </a:spcBef>
              <a:spcAft>
                <a:spcPts val="0"/>
              </a:spcAft>
              <a:defRPr sz="1900" b="0">
                <a:solidFill>
                  <a:srgbClr val="5B6B7B"/>
                </a:solidFill>
                <a:latin typeface="Noto Sans"/>
              </a:defRPr>
            </a:pPr>
            <a:r>
              <a:t>3/51 ≈ 5,88%</a:t>
            </a:r>
          </a:p>
        </p:txBody>
      </p:sp>
      <p:sp>
        <p:nvSpPr>
          <p:cNvPr id="20" name="Rounded Rectangle 19"/>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Mẫu đầu tiên có hai phía phiếu, được chọn theo thứ tự test.</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06 / ĐỐI CHỨNG TRÊN TRAIN</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Đa dạng hơn cần đi cùng cây đủ tốt</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controlled_comparison.json · CV 5 fold trên train · trung bình ± SD mẫu</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17</a:t>
            </a:r>
          </a:p>
        </p:txBody>
      </p:sp>
      <p:sp>
        <p:nvSpPr>
          <p:cNvPr id="8" name="Rectangle 7"/>
          <p:cNvSpPr/>
          <p:nvPr/>
        </p:nvSpPr>
        <p:spPr>
          <a:xfrm>
            <a:off x="10671048"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DCE4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819656"/>
            <a:ext cx="10835640" cy="393192"/>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5B6B7B"/>
                </a:solidFill>
                <a:latin typeface="Noto Sans"/>
              </a:defRPr>
            </a:pPr>
            <a:r>
              <a:t>426 mẫu train · 51 cây · Cùng bootstrap và seed từng cây</a:t>
            </a:r>
          </a:p>
        </p:txBody>
      </p:sp>
      <p:sp>
        <p:nvSpPr>
          <p:cNvPr id="13" name="Rectangle 12"/>
          <p:cNvSpPr/>
          <p:nvPr/>
        </p:nvSpPr>
        <p:spPr>
          <a:xfrm>
            <a:off x="612648" y="2523744"/>
            <a:ext cx="1965960" cy="53035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68096" y="2642615"/>
            <a:ext cx="1655063" cy="393191"/>
          </a:xfrm>
          <a:prstGeom prst="rect">
            <a:avLst/>
          </a:prstGeom>
          <a:noFill/>
        </p:spPr>
        <p:txBody>
          <a:bodyPr wrap="square" lIns="0" rIns="0" tIns="0" bIns="0" anchor="t">
            <a:spAutoFit/>
          </a:bodyPr>
          <a:lstStyle/>
          <a:p>
            <a:pPr algn="l">
              <a:lnSpc>
                <a:spcPct val="112000"/>
              </a:lnSpc>
              <a:spcBef>
                <a:spcPts val="0"/>
              </a:spcBef>
              <a:spcAft>
                <a:spcPts val="0"/>
              </a:spcAft>
              <a:defRPr sz="1700" b="1">
                <a:solidFill>
                  <a:srgbClr val="FFFFFF"/>
                </a:solidFill>
                <a:latin typeface="Noto Sans"/>
              </a:defRPr>
            </a:pPr>
            <a:r>
              <a:t>Đặc trưng</a:t>
            </a:r>
          </a:p>
        </p:txBody>
      </p:sp>
      <p:sp>
        <p:nvSpPr>
          <p:cNvPr id="15" name="Rectangle 14"/>
          <p:cNvSpPr/>
          <p:nvPr/>
        </p:nvSpPr>
        <p:spPr>
          <a:xfrm>
            <a:off x="2578608" y="2523744"/>
            <a:ext cx="1143000" cy="53035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2734056" y="2642615"/>
            <a:ext cx="832103" cy="393191"/>
          </a:xfrm>
          <a:prstGeom prst="rect">
            <a:avLst/>
          </a:prstGeom>
          <a:noFill/>
        </p:spPr>
        <p:txBody>
          <a:bodyPr wrap="square" lIns="0" rIns="0" tIns="0" bIns="0" anchor="t">
            <a:spAutoFit/>
          </a:bodyPr>
          <a:lstStyle/>
          <a:p>
            <a:pPr algn="ctr">
              <a:lnSpc>
                <a:spcPct val="112000"/>
              </a:lnSpc>
              <a:spcBef>
                <a:spcPts val="0"/>
              </a:spcBef>
              <a:spcAft>
                <a:spcPts val="0"/>
              </a:spcAft>
              <a:defRPr sz="1700" b="1">
                <a:solidFill>
                  <a:srgbClr val="FFFFFF"/>
                </a:solidFill>
                <a:latin typeface="Noto Sans"/>
              </a:defRPr>
            </a:pPr>
            <a:r>
              <a:t>Phiếu</a:t>
            </a:r>
          </a:p>
        </p:txBody>
      </p:sp>
      <p:sp>
        <p:nvSpPr>
          <p:cNvPr id="17" name="Rectangle 16"/>
          <p:cNvSpPr/>
          <p:nvPr/>
        </p:nvSpPr>
        <p:spPr>
          <a:xfrm>
            <a:off x="3721608" y="2523744"/>
            <a:ext cx="2743200" cy="53035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877056" y="2642615"/>
            <a:ext cx="2432304" cy="393191"/>
          </a:xfrm>
          <a:prstGeom prst="rect">
            <a:avLst/>
          </a:prstGeom>
          <a:noFill/>
        </p:spPr>
        <p:txBody>
          <a:bodyPr wrap="square" lIns="0" rIns="0" tIns="0" bIns="0" anchor="t">
            <a:spAutoFit/>
          </a:bodyPr>
          <a:lstStyle/>
          <a:p>
            <a:pPr algn="ctr">
              <a:lnSpc>
                <a:spcPct val="112000"/>
              </a:lnSpc>
              <a:spcBef>
                <a:spcPts val="0"/>
              </a:spcBef>
              <a:spcAft>
                <a:spcPts val="0"/>
              </a:spcAft>
              <a:defRPr sz="1700" b="1">
                <a:solidFill>
                  <a:srgbClr val="FFFFFF"/>
                </a:solidFill>
                <a:latin typeface="Noto Sans"/>
              </a:defRPr>
            </a:pPr>
            <a:r>
              <a:t>BA CV (%)</a:t>
            </a:r>
          </a:p>
        </p:txBody>
      </p:sp>
      <p:sp>
        <p:nvSpPr>
          <p:cNvPr id="19" name="Rectangle 18"/>
          <p:cNvSpPr/>
          <p:nvPr/>
        </p:nvSpPr>
        <p:spPr>
          <a:xfrm>
            <a:off x="612648" y="3054096"/>
            <a:ext cx="196596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68096" y="3172968"/>
            <a:ext cx="1655063" cy="393191"/>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92F43"/>
                </a:solidFill>
                <a:latin typeface="Noto Sans"/>
              </a:defRPr>
            </a:pPr>
            <a:r>
              <a:t>Toàn bộ</a:t>
            </a:r>
          </a:p>
        </p:txBody>
      </p:sp>
      <p:sp>
        <p:nvSpPr>
          <p:cNvPr id="21" name="Rectangle 20"/>
          <p:cNvSpPr/>
          <p:nvPr/>
        </p:nvSpPr>
        <p:spPr>
          <a:xfrm>
            <a:off x="2578608" y="3054096"/>
            <a:ext cx="114300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734056" y="3172968"/>
            <a:ext cx="832103" cy="393191"/>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192F43"/>
                </a:solidFill>
                <a:latin typeface="Noto Sans"/>
              </a:defRPr>
            </a:pPr>
            <a:r>
              <a:t>Hard</a:t>
            </a:r>
          </a:p>
        </p:txBody>
      </p:sp>
      <p:sp>
        <p:nvSpPr>
          <p:cNvPr id="23" name="Rectangle 22"/>
          <p:cNvSpPr/>
          <p:nvPr/>
        </p:nvSpPr>
        <p:spPr>
          <a:xfrm>
            <a:off x="3721608" y="3054096"/>
            <a:ext cx="274320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877056" y="3172968"/>
            <a:ext cx="2432304" cy="393191"/>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192F43"/>
                </a:solidFill>
                <a:latin typeface="Noto Sans"/>
              </a:defRPr>
            </a:pPr>
            <a:r>
              <a:t>95,26 ± 2,45</a:t>
            </a:r>
          </a:p>
        </p:txBody>
      </p:sp>
      <p:cxnSp>
        <p:nvCxnSpPr>
          <p:cNvPr id="25" name="Connector 24"/>
          <p:cNvCxnSpPr/>
          <p:nvPr/>
        </p:nvCxnSpPr>
        <p:spPr>
          <a:xfrm>
            <a:off x="612648" y="3584448"/>
            <a:ext cx="585216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6" name="Rectangle 25"/>
          <p:cNvSpPr/>
          <p:nvPr/>
        </p:nvSpPr>
        <p:spPr>
          <a:xfrm>
            <a:off x="612648" y="3584448"/>
            <a:ext cx="196596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68096" y="3703320"/>
            <a:ext cx="1655063" cy="393191"/>
          </a:xfrm>
          <a:prstGeom prst="rect">
            <a:avLst/>
          </a:prstGeom>
          <a:noFill/>
        </p:spPr>
        <p:txBody>
          <a:bodyPr wrap="square" lIns="0" rIns="0" tIns="0" bIns="0" anchor="t">
            <a:spAutoFit/>
          </a:bodyPr>
          <a:lstStyle/>
          <a:p>
            <a:pPr algn="l">
              <a:lnSpc>
                <a:spcPct val="112000"/>
              </a:lnSpc>
              <a:spcBef>
                <a:spcPts val="0"/>
              </a:spcBef>
              <a:spcAft>
                <a:spcPts val="0"/>
              </a:spcAft>
              <a:defRPr sz="1800" b="1">
                <a:solidFill>
                  <a:srgbClr val="192F43"/>
                </a:solidFill>
                <a:latin typeface="Noto Sans"/>
              </a:defRPr>
            </a:pPr>
            <a:r>
              <a:t>Toàn bộ</a:t>
            </a:r>
          </a:p>
        </p:txBody>
      </p:sp>
      <p:sp>
        <p:nvSpPr>
          <p:cNvPr id="28" name="Rectangle 27"/>
          <p:cNvSpPr/>
          <p:nvPr/>
        </p:nvSpPr>
        <p:spPr>
          <a:xfrm>
            <a:off x="2578608" y="3584448"/>
            <a:ext cx="114300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2734056" y="3703320"/>
            <a:ext cx="832103" cy="393191"/>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192F43"/>
                </a:solidFill>
                <a:latin typeface="Noto Sans"/>
              </a:defRPr>
            </a:pPr>
            <a:r>
              <a:t>Soft</a:t>
            </a:r>
          </a:p>
        </p:txBody>
      </p:sp>
      <p:sp>
        <p:nvSpPr>
          <p:cNvPr id="30" name="Rectangle 29"/>
          <p:cNvSpPr/>
          <p:nvPr/>
        </p:nvSpPr>
        <p:spPr>
          <a:xfrm>
            <a:off x="3721608" y="3584448"/>
            <a:ext cx="2743200" cy="530352"/>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3877056" y="3703320"/>
            <a:ext cx="2432304" cy="393191"/>
          </a:xfrm>
          <a:prstGeom prst="rect">
            <a:avLst/>
          </a:prstGeom>
          <a:noFill/>
        </p:spPr>
        <p:txBody>
          <a:bodyPr wrap="square" lIns="0" rIns="0" tIns="0" bIns="0" anchor="t">
            <a:spAutoFit/>
          </a:bodyPr>
          <a:lstStyle/>
          <a:p>
            <a:pPr algn="ctr">
              <a:lnSpc>
                <a:spcPct val="112000"/>
              </a:lnSpc>
              <a:spcBef>
                <a:spcPts val="0"/>
              </a:spcBef>
              <a:spcAft>
                <a:spcPts val="0"/>
              </a:spcAft>
              <a:defRPr sz="1800" b="1">
                <a:solidFill>
                  <a:srgbClr val="192F43"/>
                </a:solidFill>
                <a:latin typeface="Noto Sans"/>
              </a:defRPr>
            </a:pPr>
            <a:r>
              <a:t>95,26 ± 2,45</a:t>
            </a:r>
          </a:p>
        </p:txBody>
      </p:sp>
      <p:cxnSp>
        <p:nvCxnSpPr>
          <p:cNvPr id="32" name="Connector 31"/>
          <p:cNvCxnSpPr/>
          <p:nvPr/>
        </p:nvCxnSpPr>
        <p:spPr>
          <a:xfrm>
            <a:off x="612648" y="4114800"/>
            <a:ext cx="585216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3" name="Rectangle 32"/>
          <p:cNvSpPr/>
          <p:nvPr/>
        </p:nvSpPr>
        <p:spPr>
          <a:xfrm>
            <a:off x="612648" y="4114800"/>
            <a:ext cx="196596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68096" y="4233672"/>
            <a:ext cx="1655063" cy="393191"/>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92F43"/>
                </a:solidFill>
                <a:latin typeface="Noto Sans"/>
              </a:defRPr>
            </a:pPr>
            <a:r>
              <a:t>sqrt</a:t>
            </a:r>
          </a:p>
        </p:txBody>
      </p:sp>
      <p:sp>
        <p:nvSpPr>
          <p:cNvPr id="35" name="Rectangle 34"/>
          <p:cNvSpPr/>
          <p:nvPr/>
        </p:nvSpPr>
        <p:spPr>
          <a:xfrm>
            <a:off x="2578608" y="4114800"/>
            <a:ext cx="114300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2734056" y="4233672"/>
            <a:ext cx="832103" cy="393191"/>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Hard</a:t>
            </a:r>
          </a:p>
        </p:txBody>
      </p:sp>
      <p:sp>
        <p:nvSpPr>
          <p:cNvPr id="37" name="Rectangle 36"/>
          <p:cNvSpPr/>
          <p:nvPr/>
        </p:nvSpPr>
        <p:spPr>
          <a:xfrm>
            <a:off x="3721608" y="4114800"/>
            <a:ext cx="2743200" cy="53035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3877056" y="4233672"/>
            <a:ext cx="2432304" cy="393191"/>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93,62 ± 3,48</a:t>
            </a:r>
          </a:p>
        </p:txBody>
      </p:sp>
      <p:cxnSp>
        <p:nvCxnSpPr>
          <p:cNvPr id="39" name="Connector 38"/>
          <p:cNvCxnSpPr/>
          <p:nvPr/>
        </p:nvCxnSpPr>
        <p:spPr>
          <a:xfrm>
            <a:off x="612648" y="4645152"/>
            <a:ext cx="585216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0" name="Rectangle 39"/>
          <p:cNvSpPr/>
          <p:nvPr/>
        </p:nvSpPr>
        <p:spPr>
          <a:xfrm>
            <a:off x="612648" y="4645152"/>
            <a:ext cx="1965960" cy="53035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68096" y="4764024"/>
            <a:ext cx="1655063" cy="393191"/>
          </a:xfrm>
          <a:prstGeom prst="rect">
            <a:avLst/>
          </a:prstGeom>
          <a:noFill/>
        </p:spPr>
        <p:txBody>
          <a:bodyPr wrap="square" lIns="0" rIns="0" tIns="0" bIns="0" anchor="t">
            <a:spAutoFit/>
          </a:bodyPr>
          <a:lstStyle/>
          <a:p>
            <a:pPr algn="l">
              <a:lnSpc>
                <a:spcPct val="112000"/>
              </a:lnSpc>
              <a:spcBef>
                <a:spcPts val="0"/>
              </a:spcBef>
              <a:spcAft>
                <a:spcPts val="0"/>
              </a:spcAft>
              <a:defRPr sz="1800" b="0">
                <a:solidFill>
                  <a:srgbClr val="192F43"/>
                </a:solidFill>
                <a:latin typeface="Noto Sans"/>
              </a:defRPr>
            </a:pPr>
            <a:r>
              <a:t>sqrt</a:t>
            </a:r>
          </a:p>
        </p:txBody>
      </p:sp>
      <p:sp>
        <p:nvSpPr>
          <p:cNvPr id="42" name="Rectangle 41"/>
          <p:cNvSpPr/>
          <p:nvPr/>
        </p:nvSpPr>
        <p:spPr>
          <a:xfrm>
            <a:off x="2578608" y="4645152"/>
            <a:ext cx="1143000" cy="53035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2734056" y="4764024"/>
            <a:ext cx="832103" cy="393191"/>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Soft</a:t>
            </a:r>
          </a:p>
        </p:txBody>
      </p:sp>
      <p:sp>
        <p:nvSpPr>
          <p:cNvPr id="44" name="Rectangle 43"/>
          <p:cNvSpPr/>
          <p:nvPr/>
        </p:nvSpPr>
        <p:spPr>
          <a:xfrm>
            <a:off x="3721608" y="4645152"/>
            <a:ext cx="2743200" cy="53035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877056" y="4764024"/>
            <a:ext cx="2432304" cy="393191"/>
          </a:xfrm>
          <a:prstGeom prst="rect">
            <a:avLst/>
          </a:prstGeom>
          <a:noFill/>
        </p:spPr>
        <p:txBody>
          <a:bodyPr wrap="square" lIns="0" rIns="0" tIns="0" bIns="0" anchor="t">
            <a:spAutoFit/>
          </a:bodyPr>
          <a:lstStyle/>
          <a:p>
            <a:pPr algn="ctr">
              <a:lnSpc>
                <a:spcPct val="112000"/>
              </a:lnSpc>
              <a:spcBef>
                <a:spcPts val="0"/>
              </a:spcBef>
              <a:spcAft>
                <a:spcPts val="0"/>
              </a:spcAft>
              <a:defRPr sz="1800" b="0">
                <a:solidFill>
                  <a:srgbClr val="192F43"/>
                </a:solidFill>
                <a:latin typeface="Noto Sans"/>
              </a:defRPr>
            </a:pPr>
            <a:r>
              <a:t>93,44 ± 3,77</a:t>
            </a:r>
          </a:p>
        </p:txBody>
      </p:sp>
      <p:cxnSp>
        <p:nvCxnSpPr>
          <p:cNvPr id="46" name="Connector 45"/>
          <p:cNvCxnSpPr/>
          <p:nvPr/>
        </p:nvCxnSpPr>
        <p:spPr>
          <a:xfrm>
            <a:off x="612648" y="5175504"/>
            <a:ext cx="585216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7004304" y="2569464"/>
            <a:ext cx="443484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BẤT ĐỒNG GIỮA CÁC CÂY</a:t>
            </a:r>
          </a:p>
        </p:txBody>
      </p:sp>
      <p:sp>
        <p:nvSpPr>
          <p:cNvPr id="48" name="TextBox 47"/>
          <p:cNvSpPr txBox="1"/>
          <p:nvPr/>
        </p:nvSpPr>
        <p:spPr>
          <a:xfrm>
            <a:off x="7004304" y="2962656"/>
            <a:ext cx="4526280" cy="576072"/>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142D46"/>
                </a:solidFill>
                <a:latin typeface="Noto Sans"/>
              </a:defRPr>
            </a:pPr>
            <a:r>
              <a:t>7,99% → 10,52%</a:t>
            </a:r>
          </a:p>
        </p:txBody>
      </p:sp>
      <p:sp>
        <p:nvSpPr>
          <p:cNvPr id="49" name="TextBox 48"/>
          <p:cNvSpPr txBox="1"/>
          <p:nvPr/>
        </p:nvSpPr>
        <p:spPr>
          <a:xfrm>
            <a:off x="7004304" y="3557016"/>
            <a:ext cx="4434840" cy="283464"/>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5B6B7B"/>
                </a:solidFill>
                <a:latin typeface="Noto Sans"/>
              </a:defRPr>
            </a:pPr>
            <a:r>
              <a:t>Tăng khi dùng sqrt</a:t>
            </a:r>
          </a:p>
        </p:txBody>
      </p:sp>
      <p:sp>
        <p:nvSpPr>
          <p:cNvPr id="50" name="TextBox 49"/>
          <p:cNvSpPr txBox="1"/>
          <p:nvPr/>
        </p:nvSpPr>
        <p:spPr>
          <a:xfrm>
            <a:off x="7004304" y="4050791"/>
            <a:ext cx="443484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BA TRUNG BÌNH MỘT CÂY</a:t>
            </a:r>
          </a:p>
        </p:txBody>
      </p:sp>
      <p:sp>
        <p:nvSpPr>
          <p:cNvPr id="51" name="TextBox 50"/>
          <p:cNvSpPr txBox="1"/>
          <p:nvPr/>
        </p:nvSpPr>
        <p:spPr>
          <a:xfrm>
            <a:off x="7004304" y="4443983"/>
            <a:ext cx="4526280" cy="576072"/>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142D46"/>
                </a:solidFill>
                <a:latin typeface="Noto Sans"/>
              </a:defRPr>
            </a:pPr>
            <a:r>
              <a:t>91,67% → 89,75%</a:t>
            </a:r>
          </a:p>
        </p:txBody>
      </p:sp>
      <p:sp>
        <p:nvSpPr>
          <p:cNvPr id="52" name="TextBox 51"/>
          <p:cNvSpPr txBox="1"/>
          <p:nvPr/>
        </p:nvSpPr>
        <p:spPr>
          <a:xfrm>
            <a:off x="7004304" y="5038344"/>
            <a:ext cx="4434840" cy="283464"/>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5B6B7B"/>
                </a:solidFill>
                <a:latin typeface="Noto Sans"/>
              </a:defRPr>
            </a:pPr>
            <a:r>
              <a:t>Giảm khi dùng sqrt</a:t>
            </a:r>
          </a:p>
        </p:txBody>
      </p:sp>
      <p:sp>
        <p:nvSpPr>
          <p:cNvPr id="53" name="Rounded Rectangle 52"/>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Trong khảo sát này, sqrt tăng bất đồng nhưng chưa cải thiện tổ hợp.</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2D46"/>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8BE0CF"/>
                </a:solidFill>
                <a:latin typeface="Noto Sans"/>
              </a:defRPr>
            </a:pPr>
            <a:r>
              <a:t>07 / KẾT LUẬN VÀ TRAO ĐỔI</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FFFFFF"/>
                </a:solidFill>
                <a:latin typeface="Noto Sans"/>
              </a:defRPr>
            </a:pPr>
            <a:r>
              <a:t>Ba kết luận từ thực nghiệm</a:t>
            </a:r>
          </a:p>
        </p:txBody>
      </p:sp>
      <p:cxnSp>
        <p:nvCxnSpPr>
          <p:cNvPr id="4" name="Connector 3"/>
          <p:cNvCxnSpPr/>
          <p:nvPr/>
        </p:nvCxnSpPr>
        <p:spPr>
          <a:xfrm>
            <a:off x="566928" y="6419088"/>
            <a:ext cx="11045952" cy="0"/>
          </a:xfrm>
          <a:prstGeom prst="line">
            <a:avLst/>
          </a:prstGeom>
          <a:ln w="8890">
            <a:solidFill>
              <a:srgbClr val="35516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8BE0CF"/>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B5CAD8"/>
                </a:solidFill>
                <a:latin typeface="Noto Sans"/>
              </a:defRPr>
            </a:pPr>
            <a:r>
              <a:t>Cảm ơn thầy và các bạn · Slide 19–24 dành cho hỏi đáp</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8BE0CF"/>
                </a:solidFill>
                <a:latin typeface="Noto Sans"/>
              </a:defRPr>
            </a:pPr>
            <a:r>
              <a:t>18</a:t>
            </a:r>
          </a:p>
        </p:txBody>
      </p:sp>
      <p:sp>
        <p:nvSpPr>
          <p:cNvPr id="8" name="Rectangle 7"/>
          <p:cNvSpPr/>
          <p:nvPr/>
        </p:nvSpPr>
        <p:spPr>
          <a:xfrm>
            <a:off x="10671048" y="329184"/>
            <a:ext cx="164592" cy="32004"/>
          </a:xfrm>
          <a:prstGeom prst="rect">
            <a:avLst/>
          </a:prstGeom>
          <a:solidFill>
            <a:srgbClr val="3551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3551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3551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8BE0C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819656"/>
            <a:ext cx="548640" cy="50292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8BE0CF"/>
                </a:solidFill>
                <a:latin typeface="Noto Sans"/>
              </a:defRPr>
            </a:pPr>
            <a:r>
              <a:t>01</a:t>
            </a:r>
          </a:p>
        </p:txBody>
      </p:sp>
      <p:sp>
        <p:nvSpPr>
          <p:cNvPr id="13" name="TextBox 12"/>
          <p:cNvSpPr txBox="1"/>
          <p:nvPr/>
        </p:nvSpPr>
        <p:spPr>
          <a:xfrm>
            <a:off x="1554480" y="1819656"/>
            <a:ext cx="9692640" cy="475488"/>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FFFFFF"/>
                </a:solidFill>
                <a:latin typeface="Noto Sans"/>
              </a:defRPr>
            </a:pPr>
            <a:r>
              <a:t>Bagging cải thiện so với cây đơn</a:t>
            </a:r>
          </a:p>
        </p:txBody>
      </p:sp>
      <p:sp>
        <p:nvSpPr>
          <p:cNvPr id="14" name="TextBox 13"/>
          <p:cNvSpPr txBox="1"/>
          <p:nvPr/>
        </p:nvSpPr>
        <p:spPr>
          <a:xfrm>
            <a:off x="1554480" y="2441448"/>
            <a:ext cx="9692640" cy="45720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C5D6E1"/>
                </a:solidFill>
                <a:latin typeface="Noto Sans"/>
              </a:defRPr>
            </a:pPr>
            <a:r>
              <a:t>9/10 lần chia; accuracy trung bình +1,96 đpt.</a:t>
            </a:r>
          </a:p>
        </p:txBody>
      </p:sp>
      <p:sp>
        <p:nvSpPr>
          <p:cNvPr id="15" name="TextBox 14"/>
          <p:cNvSpPr txBox="1"/>
          <p:nvPr/>
        </p:nvSpPr>
        <p:spPr>
          <a:xfrm>
            <a:off x="685800" y="2990088"/>
            <a:ext cx="548640" cy="50292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8BE0CF"/>
                </a:solidFill>
                <a:latin typeface="Noto Sans"/>
              </a:defRPr>
            </a:pPr>
            <a:r>
              <a:t>02</a:t>
            </a:r>
          </a:p>
        </p:txBody>
      </p:sp>
      <p:sp>
        <p:nvSpPr>
          <p:cNvPr id="16" name="TextBox 15"/>
          <p:cNvSpPr txBox="1"/>
          <p:nvPr/>
        </p:nvSpPr>
        <p:spPr>
          <a:xfrm>
            <a:off x="1554480" y="2990088"/>
            <a:ext cx="9692640" cy="475488"/>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FFFFFF"/>
                </a:solidFill>
                <a:latin typeface="Noto Sans"/>
              </a:defRPr>
            </a:pPr>
            <a:r>
              <a:t>Mở rộng không tự động tốt hơn</a:t>
            </a:r>
          </a:p>
        </p:txBody>
      </p:sp>
      <p:sp>
        <p:nvSpPr>
          <p:cNvPr id="17" name="TextBox 16"/>
          <p:cNvSpPr txBox="1"/>
          <p:nvPr/>
        </p:nvSpPr>
        <p:spPr>
          <a:xfrm>
            <a:off x="1554480" y="3611880"/>
            <a:ext cx="9692640" cy="45720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C5D6E1"/>
                </a:solidFill>
                <a:latin typeface="Noto Sans"/>
              </a:defRPr>
            </a:pPr>
            <a:r>
              <a:t>LR đơn có accuracy trung bình cao nhất.</a:t>
            </a:r>
          </a:p>
        </p:txBody>
      </p:sp>
      <p:sp>
        <p:nvSpPr>
          <p:cNvPr id="18" name="TextBox 17"/>
          <p:cNvSpPr txBox="1"/>
          <p:nvPr/>
        </p:nvSpPr>
        <p:spPr>
          <a:xfrm>
            <a:off x="685800" y="4160520"/>
            <a:ext cx="548640" cy="502920"/>
          </a:xfrm>
          <a:prstGeom prst="rect">
            <a:avLst/>
          </a:prstGeom>
          <a:noFill/>
        </p:spPr>
        <p:txBody>
          <a:bodyPr wrap="square" lIns="0" rIns="0" tIns="0" bIns="0" anchor="t">
            <a:spAutoFit/>
          </a:bodyPr>
          <a:lstStyle/>
          <a:p>
            <a:pPr algn="l">
              <a:lnSpc>
                <a:spcPct val="112000"/>
              </a:lnSpc>
              <a:spcBef>
                <a:spcPts val="0"/>
              </a:spcBef>
              <a:spcAft>
                <a:spcPts val="0"/>
              </a:spcAft>
              <a:defRPr sz="2400" b="1">
                <a:solidFill>
                  <a:srgbClr val="8BE0CF"/>
                </a:solidFill>
                <a:latin typeface="Noto Sans"/>
              </a:defRPr>
            </a:pPr>
            <a:r>
              <a:t>03</a:t>
            </a:r>
          </a:p>
        </p:txBody>
      </p:sp>
      <p:sp>
        <p:nvSpPr>
          <p:cNvPr id="19" name="TextBox 18"/>
          <p:cNvSpPr txBox="1"/>
          <p:nvPr/>
        </p:nvSpPr>
        <p:spPr>
          <a:xfrm>
            <a:off x="1554480" y="4160520"/>
            <a:ext cx="9692640" cy="475488"/>
          </a:xfrm>
          <a:prstGeom prst="rect">
            <a:avLst/>
          </a:prstGeom>
          <a:noFill/>
        </p:spPr>
        <p:txBody>
          <a:bodyPr wrap="square" lIns="0" rIns="0" tIns="0" bIns="0" anchor="t">
            <a:spAutoFit/>
          </a:bodyPr>
          <a:lstStyle/>
          <a:p>
            <a:pPr algn="l">
              <a:lnSpc>
                <a:spcPct val="112000"/>
              </a:lnSpc>
              <a:spcBef>
                <a:spcPts val="0"/>
              </a:spcBef>
              <a:spcAft>
                <a:spcPts val="0"/>
              </a:spcAft>
              <a:defRPr sz="2700" b="1">
                <a:solidFill>
                  <a:srgbClr val="FFFFFF"/>
                </a:solidFill>
                <a:latin typeface="Noto Sans"/>
              </a:defRPr>
            </a:pPr>
            <a:r>
              <a:t>Đa dạng đi cùng chất lượng</a:t>
            </a:r>
          </a:p>
        </p:txBody>
      </p:sp>
      <p:sp>
        <p:nvSpPr>
          <p:cNvPr id="20" name="TextBox 19"/>
          <p:cNvSpPr txBox="1"/>
          <p:nvPr/>
        </p:nvSpPr>
        <p:spPr>
          <a:xfrm>
            <a:off x="1554480" y="4782312"/>
            <a:ext cx="9692640" cy="457200"/>
          </a:xfrm>
          <a:prstGeom prst="rect">
            <a:avLst/>
          </a:prstGeom>
          <a:noFill/>
        </p:spPr>
        <p:txBody>
          <a:bodyPr wrap="square" lIns="0" rIns="0" tIns="0" bIns="0" anchor="t">
            <a:spAutoFit/>
          </a:bodyPr>
          <a:lstStyle/>
          <a:p>
            <a:pPr algn="l">
              <a:lnSpc>
                <a:spcPct val="112000"/>
              </a:lnSpc>
              <a:spcBef>
                <a:spcPts val="0"/>
              </a:spcBef>
              <a:spcAft>
                <a:spcPts val="0"/>
              </a:spcAft>
              <a:defRPr sz="1900" b="0">
                <a:solidFill>
                  <a:srgbClr val="C5D6E1"/>
                </a:solidFill>
                <a:latin typeface="Noto Sans"/>
              </a:defRPr>
            </a:pPr>
            <a:r>
              <a:t>Cây cơ sở cần đủ tốt để tổ hợp có lợi.</a:t>
            </a:r>
          </a:p>
        </p:txBody>
      </p:sp>
      <p:sp>
        <p:nvSpPr>
          <p:cNvPr id="21" name="Rounded Rectangle 20"/>
          <p:cNvSpPr/>
          <p:nvPr/>
        </p:nvSpPr>
        <p:spPr>
          <a:xfrm>
            <a:off x="566928" y="5879592"/>
            <a:ext cx="11045952" cy="438912"/>
          </a:xfrm>
          <a:prstGeom prst="roundRect">
            <a:avLst>
              <a:gd name="adj" fmla="val 8000"/>
            </a:avLst>
          </a:prstGeom>
          <a:solidFill>
            <a:srgbClr val="213E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9808" y="5975604"/>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8BE0CF"/>
                </a:solidFill>
                <a:latin typeface="Noto Sans"/>
              </a:defRPr>
            </a:pPr>
            <a:r>
              <a:t>Giới hạn: holdout giao nhau · chưa tối ưu riêng · chưa xác nhận ngoài.</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OOB</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A. OOB chỉ dùng cây chưa học quan sát đó</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outputs/results.json → oob · [1]</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19</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12648" y="1901952"/>
            <a:ext cx="5541264" cy="3547872"/>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77824" y="2267712"/>
            <a:ext cx="3291840" cy="393192"/>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192F43"/>
                </a:solidFill>
                <a:latin typeface="Noto Sans"/>
              </a:defRPr>
            </a:pPr>
            <a:r>
              <a:t>Cây 1: có mẫu i</a:t>
            </a:r>
          </a:p>
        </p:txBody>
      </p:sp>
      <p:sp>
        <p:nvSpPr>
          <p:cNvPr id="14" name="TextBox 13"/>
          <p:cNvSpPr txBox="1"/>
          <p:nvPr/>
        </p:nvSpPr>
        <p:spPr>
          <a:xfrm>
            <a:off x="4169663" y="2267712"/>
            <a:ext cx="1645920" cy="39319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5B6B7B"/>
                </a:solidFill>
                <a:latin typeface="Noto Sans"/>
              </a:defRPr>
            </a:pPr>
            <a:r>
              <a:t>Không tính</a:t>
            </a:r>
          </a:p>
        </p:txBody>
      </p:sp>
      <p:sp>
        <p:nvSpPr>
          <p:cNvPr id="15" name="TextBox 14"/>
          <p:cNvSpPr txBox="1"/>
          <p:nvPr/>
        </p:nvSpPr>
        <p:spPr>
          <a:xfrm>
            <a:off x="877824" y="3182112"/>
            <a:ext cx="3291840" cy="393192"/>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192F43"/>
                </a:solidFill>
                <a:latin typeface="Noto Sans"/>
              </a:defRPr>
            </a:pPr>
            <a:r>
              <a:t>Cây 2: vắng mẫu i</a:t>
            </a:r>
          </a:p>
        </p:txBody>
      </p:sp>
      <p:sp>
        <p:nvSpPr>
          <p:cNvPr id="16" name="TextBox 15"/>
          <p:cNvSpPr txBox="1"/>
          <p:nvPr/>
        </p:nvSpPr>
        <p:spPr>
          <a:xfrm>
            <a:off x="4169663" y="3182112"/>
            <a:ext cx="1645920" cy="39319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087F82"/>
                </a:solidFill>
                <a:latin typeface="Noto Sans"/>
              </a:defRPr>
            </a:pPr>
            <a:r>
              <a:t>Được bỏ phiếu</a:t>
            </a:r>
          </a:p>
        </p:txBody>
      </p:sp>
      <p:sp>
        <p:nvSpPr>
          <p:cNvPr id="17" name="TextBox 16"/>
          <p:cNvSpPr txBox="1"/>
          <p:nvPr/>
        </p:nvSpPr>
        <p:spPr>
          <a:xfrm>
            <a:off x="877824" y="4096512"/>
            <a:ext cx="3291840" cy="393192"/>
          </a:xfrm>
          <a:prstGeom prst="rect">
            <a:avLst/>
          </a:prstGeom>
          <a:noFill/>
        </p:spPr>
        <p:txBody>
          <a:bodyPr wrap="square" lIns="0" rIns="0" tIns="0" bIns="0" anchor="t">
            <a:spAutoFit/>
          </a:bodyPr>
          <a:lstStyle/>
          <a:p>
            <a:pPr algn="l">
              <a:lnSpc>
                <a:spcPct val="112000"/>
              </a:lnSpc>
              <a:spcBef>
                <a:spcPts val="0"/>
              </a:spcBef>
              <a:spcAft>
                <a:spcPts val="0"/>
              </a:spcAft>
              <a:defRPr sz="2100" b="0">
                <a:solidFill>
                  <a:srgbClr val="192F43"/>
                </a:solidFill>
                <a:latin typeface="Noto Sans"/>
              </a:defRPr>
            </a:pPr>
            <a:r>
              <a:t>Cây 3: vắng mẫu i</a:t>
            </a:r>
          </a:p>
        </p:txBody>
      </p:sp>
      <p:sp>
        <p:nvSpPr>
          <p:cNvPr id="18" name="TextBox 17"/>
          <p:cNvSpPr txBox="1"/>
          <p:nvPr/>
        </p:nvSpPr>
        <p:spPr>
          <a:xfrm>
            <a:off x="4169663" y="4096512"/>
            <a:ext cx="1645920" cy="39319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087F82"/>
                </a:solidFill>
                <a:latin typeface="Noto Sans"/>
              </a:defRPr>
            </a:pPr>
            <a:r>
              <a:t>Được bỏ phiếu</a:t>
            </a:r>
          </a:p>
        </p:txBody>
      </p:sp>
      <p:sp>
        <p:nvSpPr>
          <p:cNvPr id="19" name="TextBox 18"/>
          <p:cNvSpPr txBox="1"/>
          <p:nvPr/>
        </p:nvSpPr>
        <p:spPr>
          <a:xfrm>
            <a:off x="6556248" y="2011680"/>
            <a:ext cx="4572000" cy="777240"/>
          </a:xfrm>
          <a:prstGeom prst="rect">
            <a:avLst/>
          </a:prstGeom>
          <a:noFill/>
        </p:spPr>
        <p:txBody>
          <a:bodyPr wrap="square" lIns="0" rIns="0" tIns="0" bIns="0" anchor="t">
            <a:spAutoFit/>
          </a:bodyPr>
          <a:lstStyle/>
          <a:p>
            <a:pPr algn="l">
              <a:lnSpc>
                <a:spcPct val="112000"/>
              </a:lnSpc>
              <a:spcBef>
                <a:spcPts val="0"/>
              </a:spcBef>
              <a:spcAft>
                <a:spcPts val="0"/>
              </a:spcAft>
              <a:defRPr sz="4500" b="1">
                <a:solidFill>
                  <a:srgbClr val="087F82"/>
                </a:solidFill>
                <a:latin typeface="Noto Sans"/>
              </a:defRPr>
            </a:pPr>
            <a:r>
              <a:t>94,13%</a:t>
            </a:r>
          </a:p>
        </p:txBody>
      </p:sp>
      <p:sp>
        <p:nvSpPr>
          <p:cNvPr id="20" name="TextBox 19"/>
          <p:cNvSpPr txBox="1"/>
          <p:nvPr/>
        </p:nvSpPr>
        <p:spPr>
          <a:xfrm>
            <a:off x="6556248" y="2880360"/>
            <a:ext cx="4572000" cy="457200"/>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92F43"/>
                </a:solidFill>
                <a:latin typeface="Noto Sans"/>
              </a:defRPr>
            </a:pPr>
            <a:r>
              <a:t>Accuracy OOB</a:t>
            </a:r>
          </a:p>
        </p:txBody>
      </p:sp>
      <p:sp>
        <p:nvSpPr>
          <p:cNvPr id="21" name="TextBox 20"/>
          <p:cNvSpPr txBox="1"/>
          <p:nvPr/>
        </p:nvSpPr>
        <p:spPr>
          <a:xfrm>
            <a:off x="6556248" y="3474720"/>
            <a:ext cx="4572000" cy="731520"/>
          </a:xfrm>
          <a:prstGeom prst="rect">
            <a:avLst/>
          </a:prstGeom>
          <a:noFill/>
        </p:spPr>
        <p:txBody>
          <a:bodyPr wrap="square" lIns="0" rIns="0" tIns="0" bIns="0" anchor="t">
            <a:spAutoFit/>
          </a:bodyPr>
          <a:lstStyle/>
          <a:p>
            <a:pPr algn="l">
              <a:lnSpc>
                <a:spcPct val="112000"/>
              </a:lnSpc>
              <a:spcBef>
                <a:spcPts val="0"/>
              </a:spcBef>
              <a:spcAft>
                <a:spcPts val="0"/>
              </a:spcAft>
              <a:defRPr sz="1600" b="0">
                <a:solidFill>
                  <a:srgbClr val="5B6B7B"/>
                </a:solidFill>
                <a:latin typeface="Noto Sans"/>
              </a:defRPr>
            </a:pPr>
            <a:r>
              <a:t>401/426 dự đoán đúng</a:t>
            </a:r>
          </a:p>
        </p:txBody>
      </p:sp>
      <p:sp>
        <p:nvSpPr>
          <p:cNvPr id="22" name="TextBox 21"/>
          <p:cNvSpPr txBox="1"/>
          <p:nvPr/>
        </p:nvSpPr>
        <p:spPr>
          <a:xfrm>
            <a:off x="6556248" y="4572000"/>
            <a:ext cx="4663440" cy="731520"/>
          </a:xfrm>
          <a:prstGeom prst="rect">
            <a:avLst/>
          </a:prstGeom>
          <a:noFill/>
        </p:spPr>
        <p:txBody>
          <a:bodyPr wrap="square" lIns="0" rIns="0" tIns="0" bIns="0" anchor="t">
            <a:spAutoFit/>
          </a:bodyPr>
          <a:lstStyle/>
          <a:p>
            <a:pPr algn="l">
              <a:lnSpc>
                <a:spcPct val="130000"/>
              </a:lnSpc>
              <a:spcBef>
                <a:spcPts val="0"/>
              </a:spcBef>
              <a:spcAft>
                <a:spcPts val="0"/>
              </a:spcAft>
              <a:defRPr sz="2100" b="1">
                <a:solidFill>
                  <a:srgbClr val="142D46"/>
                </a:solidFill>
                <a:latin typeface="Noto Sans"/>
              </a:defRPr>
            </a:pPr>
            <a:r>
              <a:t>Coverage 100%</a:t>
            </a:r>
          </a:p>
          <a:p>
            <a:pPr algn="l">
              <a:lnSpc>
                <a:spcPct val="130000"/>
              </a:lnSpc>
              <a:spcBef>
                <a:spcPts val="0"/>
              </a:spcBef>
              <a:spcAft>
                <a:spcPts val="0"/>
              </a:spcAft>
              <a:defRPr sz="2100" b="1">
                <a:solidFill>
                  <a:srgbClr val="142D46"/>
                </a:solidFill>
                <a:latin typeface="Noto Sans"/>
              </a:defRPr>
            </a:pPr>
            <a:r>
              <a:t>Mỗi mẫu: 8–34 phiếu OOB</a:t>
            </a:r>
          </a:p>
        </p:txBody>
      </p:sp>
      <p:sp>
        <p:nvSpPr>
          <p:cNvPr id="23" name="Rounded Rectangle 22"/>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OOB là đánh giá bổ sung, được tính sau chọn độ sâu.</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ĐẶC TRƯNG MẪU SAI</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B. Mẫu 291 giữa các vùng trung tâm của hai lớp</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Đặc trưng chọn theo nút gốc trên train · outputs/extensions/analysis.json</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20</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49224" y="2029968"/>
            <a:ext cx="3429000" cy="411480"/>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42D46"/>
                </a:solidFill>
                <a:latin typeface="Noto Sans"/>
              </a:defRPr>
            </a:pPr>
            <a:r>
              <a:t>worst perimeter</a:t>
            </a:r>
          </a:p>
        </p:txBody>
      </p:sp>
      <p:cxnSp>
        <p:nvCxnSpPr>
          <p:cNvPr id="13" name="Connector 12"/>
          <p:cNvCxnSpPr/>
          <p:nvPr/>
        </p:nvCxnSpPr>
        <p:spPr>
          <a:xfrm>
            <a:off x="4572000" y="2313432"/>
            <a:ext cx="5623560" cy="0"/>
          </a:xfrm>
          <a:prstGeom prst="line">
            <a:avLst/>
          </a:prstGeom>
          <a:ln w="127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14" name="Rectangle 13"/>
          <p:cNvSpPr/>
          <p:nvPr/>
        </p:nvSpPr>
        <p:spPr>
          <a:xfrm>
            <a:off x="4754880" y="2157984"/>
            <a:ext cx="1168101" cy="310896"/>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5306891" y="2121408"/>
            <a:ext cx="0" cy="384048"/>
          </a:xfrm>
          <a:prstGeom prst="line">
            <a:avLst/>
          </a:prstGeom>
          <a:ln w="25400">
            <a:solidFill>
              <a:srgbClr val="087F82"/>
            </a:solidFill>
          </a:ln>
          <a:effectLst/>
        </p:spPr>
        <p:style>
          <a:lnRef idx="2">
            <a:schemeClr val="accent1"/>
          </a:lnRef>
          <a:fillRef idx="0">
            <a:schemeClr val="accent1"/>
          </a:fillRef>
          <a:effectRef idx="0">
            <a:schemeClr val="accent1"/>
          </a:effectRef>
          <a:fontRef idx="minor">
            <a:schemeClr val="tx1"/>
          </a:fontRef>
        </p:style>
      </p:cxnSp>
      <p:sp>
        <p:nvSpPr>
          <p:cNvPr id="16" name="Rectangle 15"/>
          <p:cNvSpPr/>
          <p:nvPr/>
        </p:nvSpPr>
        <p:spPr>
          <a:xfrm>
            <a:off x="7334267" y="2157984"/>
            <a:ext cx="2541252" cy="310896"/>
          </a:xfrm>
          <a:prstGeom prst="rect">
            <a:avLst/>
          </a:prstGeom>
          <a:solidFill>
            <a:srgbClr val="FA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325136" y="2121408"/>
            <a:ext cx="0" cy="384048"/>
          </a:xfrm>
          <a:prstGeom prst="line">
            <a:avLst/>
          </a:prstGeom>
          <a:ln w="25400">
            <a:solidFill>
              <a:srgbClr val="C86449"/>
            </a:solidFill>
          </a:ln>
          <a:effectLst/>
        </p:spPr>
        <p:style>
          <a:lnRef idx="2">
            <a:schemeClr val="accent1"/>
          </a:lnRef>
          <a:fillRef idx="0">
            <a:schemeClr val="accent1"/>
          </a:fillRef>
          <a:effectRef idx="0">
            <a:schemeClr val="accent1"/>
          </a:effectRef>
          <a:fontRef idx="minor">
            <a:schemeClr val="tx1"/>
          </a:fontRef>
        </p:style>
      </p:cxnSp>
      <p:sp>
        <p:nvSpPr>
          <p:cNvPr id="18" name="Diamond 17"/>
          <p:cNvSpPr/>
          <p:nvPr/>
        </p:nvSpPr>
        <p:spPr>
          <a:xfrm>
            <a:off x="6635727" y="2231136"/>
            <a:ext cx="128016" cy="164592"/>
          </a:xfrm>
          <a:prstGeom prst="diamond">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10387584" y="2020824"/>
            <a:ext cx="1060704" cy="384048"/>
          </a:xfrm>
          <a:prstGeom prst="rect">
            <a:avLst/>
          </a:prstGeom>
          <a:noFill/>
        </p:spPr>
        <p:txBody>
          <a:bodyPr wrap="square" lIns="0" rIns="0" tIns="0" bIns="0" anchor="t">
            <a:spAutoFit/>
          </a:bodyPr>
          <a:lstStyle/>
          <a:p>
            <a:pPr algn="r">
              <a:lnSpc>
                <a:spcPct val="112000"/>
              </a:lnSpc>
              <a:spcBef>
                <a:spcPts val="0"/>
              </a:spcBef>
              <a:spcAft>
                <a:spcPts val="0"/>
              </a:spcAft>
              <a:defRPr sz="1800" b="1">
                <a:solidFill>
                  <a:srgbClr val="142D46"/>
                </a:solidFill>
                <a:latin typeface="Noto Sans"/>
              </a:defRPr>
            </a:pPr>
            <a:r>
              <a:t>109,10</a:t>
            </a:r>
          </a:p>
        </p:txBody>
      </p:sp>
      <p:sp>
        <p:nvSpPr>
          <p:cNvPr id="20" name="TextBox 19"/>
          <p:cNvSpPr txBox="1"/>
          <p:nvPr/>
        </p:nvSpPr>
        <p:spPr>
          <a:xfrm>
            <a:off x="4617720" y="2624328"/>
            <a:ext cx="1097280" cy="228600"/>
          </a:xfrm>
          <a:prstGeom prst="rect">
            <a:avLst/>
          </a:prstGeom>
          <a:noFill/>
        </p:spPr>
        <p:txBody>
          <a:bodyPr wrap="square" lIns="0" rIns="0" tIns="0" bIns="0" anchor="t">
            <a:spAutoFit/>
          </a:bodyPr>
          <a:lstStyle/>
          <a:p>
            <a:pPr algn="l">
              <a:lnSpc>
                <a:spcPct val="112000"/>
              </a:lnSpc>
              <a:spcBef>
                <a:spcPts val="0"/>
              </a:spcBef>
              <a:spcAft>
                <a:spcPts val="0"/>
              </a:spcAft>
              <a:defRPr sz="1100" b="0">
                <a:solidFill>
                  <a:srgbClr val="5B6B7B"/>
                </a:solidFill>
                <a:latin typeface="Noto Sans"/>
              </a:defRPr>
            </a:pPr>
            <a:r>
              <a:t>78,0</a:t>
            </a:r>
          </a:p>
        </p:txBody>
      </p:sp>
      <p:sp>
        <p:nvSpPr>
          <p:cNvPr id="21" name="TextBox 20"/>
          <p:cNvSpPr txBox="1"/>
          <p:nvPr/>
        </p:nvSpPr>
        <p:spPr>
          <a:xfrm>
            <a:off x="9144000" y="2624328"/>
            <a:ext cx="1051560" cy="228600"/>
          </a:xfrm>
          <a:prstGeom prst="rect">
            <a:avLst/>
          </a:prstGeom>
          <a:noFill/>
        </p:spPr>
        <p:txBody>
          <a:bodyPr wrap="square" lIns="0" rIns="0" tIns="0" bIns="0" anchor="t">
            <a:spAutoFit/>
          </a:bodyPr>
          <a:lstStyle/>
          <a:p>
            <a:pPr algn="r">
              <a:lnSpc>
                <a:spcPct val="112000"/>
              </a:lnSpc>
              <a:spcBef>
                <a:spcPts val="0"/>
              </a:spcBef>
              <a:spcAft>
                <a:spcPts val="0"/>
              </a:spcAft>
              <a:defRPr sz="1100" b="0">
                <a:solidFill>
                  <a:srgbClr val="5B6B7B"/>
                </a:solidFill>
                <a:latin typeface="Noto Sans"/>
              </a:defRPr>
            </a:pPr>
            <a:r>
              <a:t>159,9</a:t>
            </a:r>
          </a:p>
        </p:txBody>
      </p:sp>
      <p:sp>
        <p:nvSpPr>
          <p:cNvPr id="22" name="TextBox 21"/>
          <p:cNvSpPr txBox="1"/>
          <p:nvPr/>
        </p:nvSpPr>
        <p:spPr>
          <a:xfrm>
            <a:off x="649224" y="3209544"/>
            <a:ext cx="3429000" cy="411480"/>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42D46"/>
                </a:solidFill>
                <a:latin typeface="Noto Sans"/>
              </a:defRPr>
            </a:pPr>
            <a:r>
              <a:t>worst concave points</a:t>
            </a:r>
          </a:p>
        </p:txBody>
      </p:sp>
      <p:cxnSp>
        <p:nvCxnSpPr>
          <p:cNvPr id="23" name="Connector 22"/>
          <p:cNvCxnSpPr/>
          <p:nvPr/>
        </p:nvCxnSpPr>
        <p:spPr>
          <a:xfrm>
            <a:off x="4572000" y="3493008"/>
            <a:ext cx="5623560" cy="0"/>
          </a:xfrm>
          <a:prstGeom prst="line">
            <a:avLst/>
          </a:prstGeom>
          <a:ln w="127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4" name="Rectangle 23"/>
          <p:cNvSpPr/>
          <p:nvPr/>
        </p:nvSpPr>
        <p:spPr>
          <a:xfrm>
            <a:off x="4754880" y="3337560"/>
            <a:ext cx="1392722" cy="310896"/>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5417404" y="3300984"/>
            <a:ext cx="0" cy="384048"/>
          </a:xfrm>
          <a:prstGeom prst="line">
            <a:avLst/>
          </a:prstGeom>
          <a:ln w="25400">
            <a:solidFill>
              <a:srgbClr val="087F82"/>
            </a:solidFill>
          </a:ln>
          <a:effectLst/>
        </p:spPr>
        <p:style>
          <a:lnRef idx="2">
            <a:schemeClr val="accent1"/>
          </a:lnRef>
          <a:fillRef idx="0">
            <a:schemeClr val="accent1"/>
          </a:fillRef>
          <a:effectRef idx="0">
            <a:schemeClr val="accent1"/>
          </a:effectRef>
          <a:fontRef idx="minor">
            <a:schemeClr val="tx1"/>
          </a:fontRef>
        </p:style>
      </p:cxnSp>
      <p:sp>
        <p:nvSpPr>
          <p:cNvPr id="26" name="Rectangle 25"/>
          <p:cNvSpPr/>
          <p:nvPr/>
        </p:nvSpPr>
        <p:spPr>
          <a:xfrm>
            <a:off x="8054415" y="3337560"/>
            <a:ext cx="1821104" cy="310896"/>
          </a:xfrm>
          <a:prstGeom prst="rect">
            <a:avLst/>
          </a:prstGeom>
          <a:solidFill>
            <a:srgbClr val="FA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8959381" y="3300984"/>
            <a:ext cx="0" cy="384048"/>
          </a:xfrm>
          <a:prstGeom prst="line">
            <a:avLst/>
          </a:prstGeom>
          <a:ln w="25400">
            <a:solidFill>
              <a:srgbClr val="C86449"/>
            </a:solidFill>
          </a:ln>
          <a:effectLst/>
        </p:spPr>
        <p:style>
          <a:lnRef idx="2">
            <a:schemeClr val="accent1"/>
          </a:lnRef>
          <a:fillRef idx="0">
            <a:schemeClr val="accent1"/>
          </a:fillRef>
          <a:effectRef idx="0">
            <a:schemeClr val="accent1"/>
          </a:effectRef>
          <a:fontRef idx="minor">
            <a:schemeClr val="tx1"/>
          </a:fontRef>
        </p:style>
      </p:cxnSp>
      <p:sp>
        <p:nvSpPr>
          <p:cNvPr id="28" name="Diamond 27"/>
          <p:cNvSpPr/>
          <p:nvPr/>
        </p:nvSpPr>
        <p:spPr>
          <a:xfrm>
            <a:off x="7816436" y="3410712"/>
            <a:ext cx="128016" cy="164592"/>
          </a:xfrm>
          <a:prstGeom prst="diamond">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0387584" y="3200400"/>
            <a:ext cx="1060704" cy="384048"/>
          </a:xfrm>
          <a:prstGeom prst="rect">
            <a:avLst/>
          </a:prstGeom>
          <a:noFill/>
        </p:spPr>
        <p:txBody>
          <a:bodyPr wrap="square" lIns="0" rIns="0" tIns="0" bIns="0" anchor="t">
            <a:spAutoFit/>
          </a:bodyPr>
          <a:lstStyle/>
          <a:p>
            <a:pPr algn="r">
              <a:lnSpc>
                <a:spcPct val="112000"/>
              </a:lnSpc>
              <a:spcBef>
                <a:spcPts val="0"/>
              </a:spcBef>
              <a:spcAft>
                <a:spcPts val="0"/>
              </a:spcAft>
              <a:defRPr sz="1800" b="1">
                <a:solidFill>
                  <a:srgbClr val="142D46"/>
                </a:solidFill>
                <a:latin typeface="Noto Sans"/>
              </a:defRPr>
            </a:pPr>
            <a:r>
              <a:t>0,14890</a:t>
            </a:r>
          </a:p>
        </p:txBody>
      </p:sp>
      <p:sp>
        <p:nvSpPr>
          <p:cNvPr id="30" name="TextBox 29"/>
          <p:cNvSpPr txBox="1"/>
          <p:nvPr/>
        </p:nvSpPr>
        <p:spPr>
          <a:xfrm>
            <a:off x="4617720" y="3803904"/>
            <a:ext cx="1097280" cy="228600"/>
          </a:xfrm>
          <a:prstGeom prst="rect">
            <a:avLst/>
          </a:prstGeom>
          <a:noFill/>
        </p:spPr>
        <p:txBody>
          <a:bodyPr wrap="square" lIns="0" rIns="0" tIns="0" bIns="0" anchor="t">
            <a:spAutoFit/>
          </a:bodyPr>
          <a:lstStyle/>
          <a:p>
            <a:pPr algn="l">
              <a:lnSpc>
                <a:spcPct val="112000"/>
              </a:lnSpc>
              <a:spcBef>
                <a:spcPts val="0"/>
              </a:spcBef>
              <a:spcAft>
                <a:spcPts val="0"/>
              </a:spcAft>
              <a:defRPr sz="1100" b="0">
                <a:solidFill>
                  <a:srgbClr val="5B6B7B"/>
                </a:solidFill>
                <a:latin typeface="Noto Sans"/>
              </a:defRPr>
            </a:pPr>
            <a:r>
              <a:t>0,051</a:t>
            </a:r>
          </a:p>
        </p:txBody>
      </p:sp>
      <p:sp>
        <p:nvSpPr>
          <p:cNvPr id="31" name="TextBox 30"/>
          <p:cNvSpPr txBox="1"/>
          <p:nvPr/>
        </p:nvSpPr>
        <p:spPr>
          <a:xfrm>
            <a:off x="9144000" y="3803904"/>
            <a:ext cx="1051560" cy="228600"/>
          </a:xfrm>
          <a:prstGeom prst="rect">
            <a:avLst/>
          </a:prstGeom>
          <a:noFill/>
        </p:spPr>
        <p:txBody>
          <a:bodyPr wrap="square" lIns="0" rIns="0" tIns="0" bIns="0" anchor="t">
            <a:spAutoFit/>
          </a:bodyPr>
          <a:lstStyle/>
          <a:p>
            <a:pPr algn="r">
              <a:lnSpc>
                <a:spcPct val="112000"/>
              </a:lnSpc>
              <a:spcBef>
                <a:spcPts val="0"/>
              </a:spcBef>
              <a:spcAft>
                <a:spcPts val="0"/>
              </a:spcAft>
              <a:defRPr sz="1100" b="0">
                <a:solidFill>
                  <a:srgbClr val="5B6B7B"/>
                </a:solidFill>
                <a:latin typeface="Noto Sans"/>
              </a:defRPr>
            </a:pPr>
            <a:r>
              <a:t>0,211</a:t>
            </a:r>
          </a:p>
        </p:txBody>
      </p:sp>
      <p:sp>
        <p:nvSpPr>
          <p:cNvPr id="32" name="TextBox 31"/>
          <p:cNvSpPr txBox="1"/>
          <p:nvPr/>
        </p:nvSpPr>
        <p:spPr>
          <a:xfrm>
            <a:off x="649224" y="4389120"/>
            <a:ext cx="3429000" cy="411480"/>
          </a:xfrm>
          <a:prstGeom prst="rect">
            <a:avLst/>
          </a:prstGeom>
          <a:noFill/>
        </p:spPr>
        <p:txBody>
          <a:bodyPr wrap="square" lIns="0" rIns="0" tIns="0" bIns="0" anchor="t">
            <a:spAutoFit/>
          </a:bodyPr>
          <a:lstStyle/>
          <a:p>
            <a:pPr algn="l">
              <a:lnSpc>
                <a:spcPct val="112000"/>
              </a:lnSpc>
              <a:spcBef>
                <a:spcPts val="0"/>
              </a:spcBef>
              <a:spcAft>
                <a:spcPts val="0"/>
              </a:spcAft>
              <a:defRPr sz="1900" b="1">
                <a:solidFill>
                  <a:srgbClr val="142D46"/>
                </a:solidFill>
                <a:latin typeface="Noto Sans"/>
              </a:defRPr>
            </a:pPr>
            <a:r>
              <a:t>worst radius</a:t>
            </a:r>
          </a:p>
        </p:txBody>
      </p:sp>
      <p:cxnSp>
        <p:nvCxnSpPr>
          <p:cNvPr id="33" name="Connector 32"/>
          <p:cNvCxnSpPr/>
          <p:nvPr/>
        </p:nvCxnSpPr>
        <p:spPr>
          <a:xfrm>
            <a:off x="4572000" y="4672583"/>
            <a:ext cx="5623560" cy="0"/>
          </a:xfrm>
          <a:prstGeom prst="line">
            <a:avLst/>
          </a:prstGeom>
          <a:ln w="1270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4" name="Rectangle 33"/>
          <p:cNvSpPr/>
          <p:nvPr/>
        </p:nvSpPr>
        <p:spPr>
          <a:xfrm>
            <a:off x="4754880" y="4517136"/>
            <a:ext cx="1172168" cy="310896"/>
          </a:xfrm>
          <a:prstGeom prst="rect">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a:off x="5327940" y="4480559"/>
            <a:ext cx="0" cy="384048"/>
          </a:xfrm>
          <a:prstGeom prst="line">
            <a:avLst/>
          </a:prstGeom>
          <a:ln w="25400">
            <a:solidFill>
              <a:srgbClr val="087F82"/>
            </a:solidFill>
          </a:ln>
          <a:effectLst/>
        </p:spPr>
        <p:style>
          <a:lnRef idx="2">
            <a:schemeClr val="accent1"/>
          </a:lnRef>
          <a:fillRef idx="0">
            <a:schemeClr val="accent1"/>
          </a:fillRef>
          <a:effectRef idx="0">
            <a:schemeClr val="accent1"/>
          </a:effectRef>
          <a:fontRef idx="minor">
            <a:schemeClr val="tx1"/>
          </a:fontRef>
        </p:style>
      </p:cxnSp>
      <p:sp>
        <p:nvSpPr>
          <p:cNvPr id="36" name="Rectangle 35"/>
          <p:cNvSpPr/>
          <p:nvPr/>
        </p:nvSpPr>
        <p:spPr>
          <a:xfrm>
            <a:off x="7173020" y="4517136"/>
            <a:ext cx="2702499" cy="310896"/>
          </a:xfrm>
          <a:prstGeom prst="rect">
            <a:avLst/>
          </a:prstGeom>
          <a:solidFill>
            <a:srgbClr val="FAED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7" name="Connector 36"/>
          <p:cNvCxnSpPr/>
          <p:nvPr/>
        </p:nvCxnSpPr>
        <p:spPr>
          <a:xfrm>
            <a:off x="8397285" y="4480559"/>
            <a:ext cx="0" cy="384048"/>
          </a:xfrm>
          <a:prstGeom prst="line">
            <a:avLst/>
          </a:prstGeom>
          <a:ln w="25400">
            <a:solidFill>
              <a:srgbClr val="C86449"/>
            </a:solidFill>
          </a:ln>
          <a:effectLst/>
        </p:spPr>
        <p:style>
          <a:lnRef idx="2">
            <a:schemeClr val="accent1"/>
          </a:lnRef>
          <a:fillRef idx="0">
            <a:schemeClr val="accent1"/>
          </a:fillRef>
          <a:effectRef idx="0">
            <a:schemeClr val="accent1"/>
          </a:effectRef>
          <a:fontRef idx="minor">
            <a:schemeClr val="tx1"/>
          </a:fontRef>
        </p:style>
      </p:cxnSp>
      <p:sp>
        <p:nvSpPr>
          <p:cNvPr id="38" name="Diamond 37"/>
          <p:cNvSpPr/>
          <p:nvPr/>
        </p:nvSpPr>
        <p:spPr>
          <a:xfrm>
            <a:off x="6522928" y="4590288"/>
            <a:ext cx="128016" cy="164592"/>
          </a:xfrm>
          <a:prstGeom prst="diamond">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10387584" y="4379976"/>
            <a:ext cx="1060704" cy="384048"/>
          </a:xfrm>
          <a:prstGeom prst="rect">
            <a:avLst/>
          </a:prstGeom>
          <a:noFill/>
        </p:spPr>
        <p:txBody>
          <a:bodyPr wrap="square" lIns="0" rIns="0" tIns="0" bIns="0" anchor="t">
            <a:spAutoFit/>
          </a:bodyPr>
          <a:lstStyle/>
          <a:p>
            <a:pPr algn="r">
              <a:lnSpc>
                <a:spcPct val="112000"/>
              </a:lnSpc>
              <a:spcBef>
                <a:spcPts val="0"/>
              </a:spcBef>
              <a:spcAft>
                <a:spcPts val="0"/>
              </a:spcAft>
              <a:defRPr sz="1800" b="1">
                <a:solidFill>
                  <a:srgbClr val="142D46"/>
                </a:solidFill>
                <a:latin typeface="Noto Sans"/>
              </a:defRPr>
            </a:pPr>
            <a:r>
              <a:t>16,25</a:t>
            </a:r>
          </a:p>
        </p:txBody>
      </p:sp>
      <p:sp>
        <p:nvSpPr>
          <p:cNvPr id="40" name="TextBox 39"/>
          <p:cNvSpPr txBox="1"/>
          <p:nvPr/>
        </p:nvSpPr>
        <p:spPr>
          <a:xfrm>
            <a:off x="4617720" y="4983479"/>
            <a:ext cx="1097280" cy="228600"/>
          </a:xfrm>
          <a:prstGeom prst="rect">
            <a:avLst/>
          </a:prstGeom>
          <a:noFill/>
        </p:spPr>
        <p:txBody>
          <a:bodyPr wrap="square" lIns="0" rIns="0" tIns="0" bIns="0" anchor="t">
            <a:spAutoFit/>
          </a:bodyPr>
          <a:lstStyle/>
          <a:p>
            <a:pPr algn="l">
              <a:lnSpc>
                <a:spcPct val="112000"/>
              </a:lnSpc>
              <a:spcBef>
                <a:spcPts val="0"/>
              </a:spcBef>
              <a:spcAft>
                <a:spcPts val="0"/>
              </a:spcAft>
              <a:defRPr sz="1100" b="0">
                <a:solidFill>
                  <a:srgbClr val="5B6B7B"/>
                </a:solidFill>
                <a:latin typeface="Noto Sans"/>
              </a:defRPr>
            </a:pPr>
            <a:r>
              <a:t>12,0</a:t>
            </a:r>
          </a:p>
        </p:txBody>
      </p:sp>
      <p:sp>
        <p:nvSpPr>
          <p:cNvPr id="41" name="TextBox 40"/>
          <p:cNvSpPr txBox="1"/>
          <p:nvPr/>
        </p:nvSpPr>
        <p:spPr>
          <a:xfrm>
            <a:off x="9144000" y="4983479"/>
            <a:ext cx="1051560" cy="228600"/>
          </a:xfrm>
          <a:prstGeom prst="rect">
            <a:avLst/>
          </a:prstGeom>
          <a:noFill/>
        </p:spPr>
        <p:txBody>
          <a:bodyPr wrap="square" lIns="0" rIns="0" tIns="0" bIns="0" anchor="t">
            <a:spAutoFit/>
          </a:bodyPr>
          <a:lstStyle/>
          <a:p>
            <a:pPr algn="r">
              <a:lnSpc>
                <a:spcPct val="112000"/>
              </a:lnSpc>
              <a:spcBef>
                <a:spcPts val="0"/>
              </a:spcBef>
              <a:spcAft>
                <a:spcPts val="0"/>
              </a:spcAft>
              <a:defRPr sz="1100" b="0">
                <a:solidFill>
                  <a:srgbClr val="5B6B7B"/>
                </a:solidFill>
                <a:latin typeface="Noto Sans"/>
              </a:defRPr>
            </a:pPr>
            <a:r>
              <a:t>23,8</a:t>
            </a:r>
          </a:p>
        </p:txBody>
      </p:sp>
      <p:sp>
        <p:nvSpPr>
          <p:cNvPr id="42" name="Rectangle 41"/>
          <p:cNvSpPr/>
          <p:nvPr/>
        </p:nvSpPr>
        <p:spPr>
          <a:xfrm>
            <a:off x="914400" y="5559552"/>
            <a:ext cx="164592" cy="109728"/>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1188720" y="5486400"/>
            <a:ext cx="3291840" cy="274320"/>
          </a:xfrm>
          <a:prstGeom prst="rect">
            <a:avLst/>
          </a:prstGeom>
          <a:noFill/>
        </p:spPr>
        <p:txBody>
          <a:bodyPr wrap="square" lIns="0" rIns="0" tIns="0" bIns="0" anchor="t">
            <a:spAutoFit/>
          </a:bodyPr>
          <a:lstStyle/>
          <a:p>
            <a:pPr algn="l">
              <a:lnSpc>
                <a:spcPct val="112000"/>
              </a:lnSpc>
              <a:spcBef>
                <a:spcPts val="0"/>
              </a:spcBef>
              <a:spcAft>
                <a:spcPts val="0"/>
              </a:spcAft>
              <a:defRPr sz="1200" b="0">
                <a:solidFill>
                  <a:srgbClr val="5B6B7B"/>
                </a:solidFill>
                <a:latin typeface="Noto Sans"/>
              </a:defRPr>
            </a:pPr>
            <a:r>
              <a:t>Lành: hộp Q1–Q3</a:t>
            </a:r>
          </a:p>
        </p:txBody>
      </p:sp>
      <p:sp>
        <p:nvSpPr>
          <p:cNvPr id="44" name="Rectangle 43"/>
          <p:cNvSpPr/>
          <p:nvPr/>
        </p:nvSpPr>
        <p:spPr>
          <a:xfrm>
            <a:off x="4251960" y="5559552"/>
            <a:ext cx="164592" cy="109728"/>
          </a:xfrm>
          <a:prstGeom prst="rect">
            <a:avLst/>
          </a:prstGeom>
          <a:solidFill>
            <a:srgbClr val="C864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4526280" y="5486400"/>
            <a:ext cx="3291840" cy="274320"/>
          </a:xfrm>
          <a:prstGeom prst="rect">
            <a:avLst/>
          </a:prstGeom>
          <a:noFill/>
        </p:spPr>
        <p:txBody>
          <a:bodyPr wrap="square" lIns="0" rIns="0" tIns="0" bIns="0" anchor="t">
            <a:spAutoFit/>
          </a:bodyPr>
          <a:lstStyle/>
          <a:p>
            <a:pPr algn="l">
              <a:lnSpc>
                <a:spcPct val="112000"/>
              </a:lnSpc>
              <a:spcBef>
                <a:spcPts val="0"/>
              </a:spcBef>
              <a:spcAft>
                <a:spcPts val="0"/>
              </a:spcAft>
              <a:defRPr sz="1200" b="0">
                <a:solidFill>
                  <a:srgbClr val="5B6B7B"/>
                </a:solidFill>
                <a:latin typeface="Noto Sans"/>
              </a:defRPr>
            </a:pPr>
            <a:r>
              <a:t>Ác: hộp Q1–Q3</a:t>
            </a:r>
          </a:p>
        </p:txBody>
      </p:sp>
      <p:sp>
        <p:nvSpPr>
          <p:cNvPr id="46" name="Rectangle 45"/>
          <p:cNvSpPr/>
          <p:nvPr/>
        </p:nvSpPr>
        <p:spPr>
          <a:xfrm>
            <a:off x="7680960" y="5559552"/>
            <a:ext cx="164592" cy="109728"/>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955280" y="5486400"/>
            <a:ext cx="3291840" cy="274320"/>
          </a:xfrm>
          <a:prstGeom prst="rect">
            <a:avLst/>
          </a:prstGeom>
          <a:noFill/>
        </p:spPr>
        <p:txBody>
          <a:bodyPr wrap="square" lIns="0" rIns="0" tIns="0" bIns="0" anchor="t">
            <a:spAutoFit/>
          </a:bodyPr>
          <a:lstStyle/>
          <a:p>
            <a:pPr algn="l">
              <a:lnSpc>
                <a:spcPct val="112000"/>
              </a:lnSpc>
              <a:spcBef>
                <a:spcPts val="0"/>
              </a:spcBef>
              <a:spcAft>
                <a:spcPts val="0"/>
              </a:spcAft>
              <a:defRPr sz="1200" b="0">
                <a:solidFill>
                  <a:srgbClr val="5B6B7B"/>
                </a:solidFill>
                <a:latin typeface="Noto Sans"/>
              </a:defRPr>
            </a:pPr>
            <a:r>
              <a:t>◆ Mẫu 291</a:t>
            </a:r>
          </a:p>
        </p:txBody>
      </p:sp>
      <p:sp>
        <p:nvSpPr>
          <p:cNvPr id="48" name="Rounded Rectangle 47"/>
          <p:cNvSpPr/>
          <p:nvPr/>
        </p:nvSpPr>
        <p:spPr>
          <a:xfrm>
            <a:off x="566928" y="5925312"/>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749808" y="6021324"/>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Mỗi hàng có thang riêng; ba đặc trưng chỉ cung cấp một phần giải thích.</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TRUY VẾT CÂY</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C. Cùng mẫu 291, hai cây đi tới hai nhãn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outputs/extensions/analysis.json · representative_paths</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21</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21792" y="1938528"/>
            <a:ext cx="5285232" cy="3593592"/>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41248" y="2249424"/>
            <a:ext cx="484632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C86449"/>
                </a:solidFill>
                <a:latin typeface="Noto Sans"/>
              </a:defRPr>
            </a:pPr>
            <a:r>
              <a:t>CÂY 1 → ÁC</a:t>
            </a:r>
          </a:p>
        </p:txBody>
      </p:sp>
      <p:sp>
        <p:nvSpPr>
          <p:cNvPr id="14" name="TextBox 13"/>
          <p:cNvSpPr txBox="1"/>
          <p:nvPr/>
        </p:nvSpPr>
        <p:spPr>
          <a:xfrm>
            <a:off x="850392" y="2898648"/>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1. worst radius ≤ 16,79500</a:t>
            </a:r>
          </a:p>
        </p:txBody>
      </p:sp>
      <p:sp>
        <p:nvSpPr>
          <p:cNvPr id="15" name="TextBox 14"/>
          <p:cNvSpPr txBox="1"/>
          <p:nvPr/>
        </p:nvSpPr>
        <p:spPr>
          <a:xfrm>
            <a:off x="850392" y="3465576"/>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2. worst concave points &gt; 0,14315</a:t>
            </a:r>
          </a:p>
        </p:txBody>
      </p:sp>
      <p:sp>
        <p:nvSpPr>
          <p:cNvPr id="16" name="TextBox 15"/>
          <p:cNvSpPr txBox="1"/>
          <p:nvPr/>
        </p:nvSpPr>
        <p:spPr>
          <a:xfrm>
            <a:off x="850392" y="4032504"/>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3. worst symmetry &gt; 0,28855</a:t>
            </a:r>
          </a:p>
        </p:txBody>
      </p:sp>
      <p:sp>
        <p:nvSpPr>
          <p:cNvPr id="17" name="TextBox 16"/>
          <p:cNvSpPr txBox="1"/>
          <p:nvPr/>
        </p:nvSpPr>
        <p:spPr>
          <a:xfrm>
            <a:off x="850392" y="4873752"/>
            <a:ext cx="4818888" cy="502920"/>
          </a:xfrm>
          <a:prstGeom prst="rect">
            <a:avLst/>
          </a:prstGeom>
          <a:noFill/>
        </p:spPr>
        <p:txBody>
          <a:bodyPr wrap="square" lIns="0" rIns="0" tIns="0" bIns="0" anchor="t">
            <a:spAutoFit/>
          </a:bodyPr>
          <a:lstStyle/>
          <a:p>
            <a:pPr algn="l">
              <a:lnSpc>
                <a:spcPct val="112000"/>
              </a:lnSpc>
              <a:spcBef>
                <a:spcPts val="0"/>
              </a:spcBef>
              <a:spcAft>
                <a:spcPts val="0"/>
              </a:spcAft>
              <a:defRPr sz="1540" b="1">
                <a:solidFill>
                  <a:srgbClr val="C86449"/>
                </a:solidFill>
                <a:latin typeface="Noto Sans"/>
              </a:defRPr>
            </a:pPr>
            <a:r>
              <a:t>Lá: 18 lượt bootstrap, tất cả nhãn ác.</a:t>
            </a:r>
          </a:p>
        </p:txBody>
      </p:sp>
      <p:sp>
        <p:nvSpPr>
          <p:cNvPr id="18" name="Rounded Rectangle 17"/>
          <p:cNvSpPr/>
          <p:nvPr/>
        </p:nvSpPr>
        <p:spPr>
          <a:xfrm>
            <a:off x="6291072" y="1938528"/>
            <a:ext cx="5285232" cy="3593592"/>
          </a:xfrm>
          <a:prstGeom prst="roundRect">
            <a:avLst>
              <a:gd name="adj" fmla="val 8000"/>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10528" y="2249424"/>
            <a:ext cx="4846320" cy="256032"/>
          </a:xfrm>
          <a:prstGeom prst="rect">
            <a:avLst/>
          </a:prstGeom>
          <a:noFill/>
        </p:spPr>
        <p:txBody>
          <a:bodyPr wrap="square" lIns="0" rIns="0" tIns="0" bIns="0" anchor="t">
            <a:spAutoFit/>
          </a:bodyPr>
          <a:lstStyle/>
          <a:p>
            <a:pPr algn="l">
              <a:lnSpc>
                <a:spcPct val="112000"/>
              </a:lnSpc>
              <a:spcBef>
                <a:spcPts val="0"/>
              </a:spcBef>
              <a:spcAft>
                <a:spcPts val="0"/>
              </a:spcAft>
              <a:defRPr sz="1100" b="1">
                <a:solidFill>
                  <a:srgbClr val="087F82"/>
                </a:solidFill>
                <a:latin typeface="Noto Sans"/>
              </a:defRPr>
            </a:pPr>
            <a:r>
              <a:t>CÂY 2 → LÀNH</a:t>
            </a:r>
          </a:p>
        </p:txBody>
      </p:sp>
      <p:sp>
        <p:nvSpPr>
          <p:cNvPr id="20" name="TextBox 19"/>
          <p:cNvSpPr txBox="1"/>
          <p:nvPr/>
        </p:nvSpPr>
        <p:spPr>
          <a:xfrm>
            <a:off x="6519672" y="2898648"/>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1. mean concave points ≤ 0,04989</a:t>
            </a:r>
          </a:p>
        </p:txBody>
      </p:sp>
      <p:sp>
        <p:nvSpPr>
          <p:cNvPr id="21" name="TextBox 20"/>
          <p:cNvSpPr txBox="1"/>
          <p:nvPr/>
        </p:nvSpPr>
        <p:spPr>
          <a:xfrm>
            <a:off x="6519672" y="3465576"/>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2. worst symmetry &gt; 0,16385</a:t>
            </a:r>
          </a:p>
        </p:txBody>
      </p:sp>
      <p:sp>
        <p:nvSpPr>
          <p:cNvPr id="22" name="TextBox 21"/>
          <p:cNvSpPr txBox="1"/>
          <p:nvPr/>
        </p:nvSpPr>
        <p:spPr>
          <a:xfrm>
            <a:off x="6519672" y="4032504"/>
            <a:ext cx="4818888" cy="384048"/>
          </a:xfrm>
          <a:prstGeom prst="rect">
            <a:avLst/>
          </a:prstGeom>
          <a:noFill/>
        </p:spPr>
        <p:txBody>
          <a:bodyPr wrap="square" lIns="0" rIns="0" tIns="0" bIns="0" anchor="t">
            <a:spAutoFit/>
          </a:bodyPr>
          <a:lstStyle/>
          <a:p>
            <a:pPr algn="l">
              <a:lnSpc>
                <a:spcPct val="112000"/>
              </a:lnSpc>
              <a:spcBef>
                <a:spcPts val="0"/>
              </a:spcBef>
              <a:spcAft>
                <a:spcPts val="0"/>
              </a:spcAft>
              <a:defRPr sz="1720" b="0">
                <a:solidFill>
                  <a:srgbClr val="142D46"/>
                </a:solidFill>
                <a:latin typeface="Noto Sans"/>
              </a:defRPr>
            </a:pPr>
            <a:r>
              <a:t>3. worst perimeter ≤ 127,20000</a:t>
            </a:r>
          </a:p>
        </p:txBody>
      </p:sp>
      <p:sp>
        <p:nvSpPr>
          <p:cNvPr id="23" name="TextBox 22"/>
          <p:cNvSpPr txBox="1"/>
          <p:nvPr/>
        </p:nvSpPr>
        <p:spPr>
          <a:xfrm>
            <a:off x="6519672" y="4873752"/>
            <a:ext cx="4818888" cy="502920"/>
          </a:xfrm>
          <a:prstGeom prst="rect">
            <a:avLst/>
          </a:prstGeom>
          <a:noFill/>
        </p:spPr>
        <p:txBody>
          <a:bodyPr wrap="square" lIns="0" rIns="0" tIns="0" bIns="0" anchor="t">
            <a:spAutoFit/>
          </a:bodyPr>
          <a:lstStyle/>
          <a:p>
            <a:pPr algn="l">
              <a:lnSpc>
                <a:spcPct val="112000"/>
              </a:lnSpc>
              <a:spcBef>
                <a:spcPts val="0"/>
              </a:spcBef>
              <a:spcAft>
                <a:spcPts val="0"/>
              </a:spcAft>
              <a:defRPr sz="1540" b="1">
                <a:solidFill>
                  <a:srgbClr val="087F82"/>
                </a:solidFill>
                <a:latin typeface="Noto Sans"/>
              </a:defRPr>
            </a:pPr>
            <a:r>
              <a:t>Lá: 256/259 lượt nhãn lành (98,84%).</a:t>
            </a:r>
          </a:p>
        </p:txBody>
      </p:sp>
      <p:sp>
        <p:nvSpPr>
          <p:cNvPr id="24" name="Rounded Rectangle 23"/>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Các lượt bootstrap có thể lặp hàng; độ thuần tại lá không bảo đảm đúng với quan sát mới.</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KIỂM TRA PHÉP TÍNH</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D. Tính chỉ số với ác tính là lớp dương</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Bagging seed 42 · TP=49, FN=4, FP=3, TN=87</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22</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2648" y="1847088"/>
            <a:ext cx="2834640" cy="51206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68096" y="1993392"/>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650" b="1">
                <a:solidFill>
                  <a:srgbClr val="FFFFFF"/>
                </a:solidFill>
                <a:latin typeface="Noto Sans"/>
              </a:defRPr>
            </a:pPr>
            <a:r>
              <a:t>Chỉ số</a:t>
            </a:r>
          </a:p>
        </p:txBody>
      </p:sp>
      <p:sp>
        <p:nvSpPr>
          <p:cNvPr id="14" name="Rectangle 13"/>
          <p:cNvSpPr/>
          <p:nvPr/>
        </p:nvSpPr>
        <p:spPr>
          <a:xfrm>
            <a:off x="3447288" y="1847088"/>
            <a:ext cx="3977639" cy="51206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602736" y="1993392"/>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650" b="1">
                <a:solidFill>
                  <a:srgbClr val="FFFFFF"/>
                </a:solidFill>
                <a:latin typeface="Noto Sans"/>
              </a:defRPr>
            </a:pPr>
            <a:r>
              <a:t>Công thức</a:t>
            </a:r>
          </a:p>
        </p:txBody>
      </p:sp>
      <p:sp>
        <p:nvSpPr>
          <p:cNvPr id="16" name="Rectangle 15"/>
          <p:cNvSpPr/>
          <p:nvPr/>
        </p:nvSpPr>
        <p:spPr>
          <a:xfrm>
            <a:off x="7424927" y="1847088"/>
            <a:ext cx="4114800" cy="512064"/>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580375" y="1993392"/>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650" b="1">
                <a:solidFill>
                  <a:srgbClr val="FFFFFF"/>
                </a:solidFill>
                <a:latin typeface="Noto Sans"/>
              </a:defRPr>
            </a:pPr>
            <a:r>
              <a:t>Kết quả</a:t>
            </a:r>
          </a:p>
        </p:txBody>
      </p:sp>
      <p:sp>
        <p:nvSpPr>
          <p:cNvPr id="18" name="Rectangle 17"/>
          <p:cNvSpPr/>
          <p:nvPr/>
        </p:nvSpPr>
        <p:spPr>
          <a:xfrm>
            <a:off x="612648" y="2359152"/>
            <a:ext cx="283464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 y="2505456"/>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Accuracy</a:t>
            </a:r>
          </a:p>
        </p:txBody>
      </p:sp>
      <p:sp>
        <p:nvSpPr>
          <p:cNvPr id="20" name="Rectangle 19"/>
          <p:cNvSpPr/>
          <p:nvPr/>
        </p:nvSpPr>
        <p:spPr>
          <a:xfrm>
            <a:off x="3447288" y="2359152"/>
            <a:ext cx="3977639"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3602736" y="2505456"/>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(TP + TN) / N</a:t>
            </a:r>
          </a:p>
        </p:txBody>
      </p:sp>
      <p:sp>
        <p:nvSpPr>
          <p:cNvPr id="22" name="Rectangle 21"/>
          <p:cNvSpPr/>
          <p:nvPr/>
        </p:nvSpPr>
        <p:spPr>
          <a:xfrm>
            <a:off x="7424927" y="2359152"/>
            <a:ext cx="41148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5" y="2505456"/>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136/143 = 95,10%</a:t>
            </a:r>
          </a:p>
        </p:txBody>
      </p:sp>
      <p:cxnSp>
        <p:nvCxnSpPr>
          <p:cNvPr id="24" name="Connector 23"/>
          <p:cNvCxnSpPr/>
          <p:nvPr/>
        </p:nvCxnSpPr>
        <p:spPr>
          <a:xfrm>
            <a:off x="612648" y="2871216"/>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12648" y="2871216"/>
            <a:ext cx="283464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3017520"/>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Precision ác</a:t>
            </a:r>
          </a:p>
        </p:txBody>
      </p:sp>
      <p:sp>
        <p:nvSpPr>
          <p:cNvPr id="27" name="Rectangle 26"/>
          <p:cNvSpPr/>
          <p:nvPr/>
        </p:nvSpPr>
        <p:spPr>
          <a:xfrm>
            <a:off x="3447288" y="2871216"/>
            <a:ext cx="3977639"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602736" y="3017520"/>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TP / (TP + FP)</a:t>
            </a:r>
          </a:p>
        </p:txBody>
      </p:sp>
      <p:sp>
        <p:nvSpPr>
          <p:cNvPr id="29" name="Rectangle 28"/>
          <p:cNvSpPr/>
          <p:nvPr/>
        </p:nvSpPr>
        <p:spPr>
          <a:xfrm>
            <a:off x="7424927" y="2871216"/>
            <a:ext cx="411480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580375" y="3017520"/>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49/52 = 94,23%</a:t>
            </a:r>
          </a:p>
        </p:txBody>
      </p:sp>
      <p:cxnSp>
        <p:nvCxnSpPr>
          <p:cNvPr id="31" name="Connector 30"/>
          <p:cNvCxnSpPr/>
          <p:nvPr/>
        </p:nvCxnSpPr>
        <p:spPr>
          <a:xfrm>
            <a:off x="612648" y="338328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12648" y="3383280"/>
            <a:ext cx="283464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68096" y="3529584"/>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Recall ác</a:t>
            </a:r>
          </a:p>
        </p:txBody>
      </p:sp>
      <p:sp>
        <p:nvSpPr>
          <p:cNvPr id="34" name="Rectangle 33"/>
          <p:cNvSpPr/>
          <p:nvPr/>
        </p:nvSpPr>
        <p:spPr>
          <a:xfrm>
            <a:off x="3447288" y="3383280"/>
            <a:ext cx="3977639"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602736" y="3529584"/>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TP / (TP + FN)</a:t>
            </a:r>
          </a:p>
        </p:txBody>
      </p:sp>
      <p:sp>
        <p:nvSpPr>
          <p:cNvPr id="36" name="Rectangle 35"/>
          <p:cNvSpPr/>
          <p:nvPr/>
        </p:nvSpPr>
        <p:spPr>
          <a:xfrm>
            <a:off x="7424927" y="3383280"/>
            <a:ext cx="41148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580375" y="3529584"/>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49/53 = 92,45%</a:t>
            </a:r>
          </a:p>
        </p:txBody>
      </p:sp>
      <p:cxnSp>
        <p:nvCxnSpPr>
          <p:cNvPr id="38" name="Connector 37"/>
          <p:cNvCxnSpPr/>
          <p:nvPr/>
        </p:nvCxnSpPr>
        <p:spPr>
          <a:xfrm>
            <a:off x="612648" y="3895344"/>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9" name="Rectangle 38"/>
          <p:cNvSpPr/>
          <p:nvPr/>
        </p:nvSpPr>
        <p:spPr>
          <a:xfrm>
            <a:off x="612648" y="3895344"/>
            <a:ext cx="283464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68096" y="4041648"/>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F1 ác</a:t>
            </a:r>
          </a:p>
        </p:txBody>
      </p:sp>
      <p:sp>
        <p:nvSpPr>
          <p:cNvPr id="41" name="Rectangle 40"/>
          <p:cNvSpPr/>
          <p:nvPr/>
        </p:nvSpPr>
        <p:spPr>
          <a:xfrm>
            <a:off x="3447288" y="3895344"/>
            <a:ext cx="3977639"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3602736" y="4041648"/>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2TP / (2TP + FP + FN)</a:t>
            </a:r>
          </a:p>
        </p:txBody>
      </p:sp>
      <p:sp>
        <p:nvSpPr>
          <p:cNvPr id="43" name="Rectangle 42"/>
          <p:cNvSpPr/>
          <p:nvPr/>
        </p:nvSpPr>
        <p:spPr>
          <a:xfrm>
            <a:off x="7424927" y="3895344"/>
            <a:ext cx="411480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580375" y="4041648"/>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98/105 = 93,33%</a:t>
            </a:r>
          </a:p>
        </p:txBody>
      </p:sp>
      <p:cxnSp>
        <p:nvCxnSpPr>
          <p:cNvPr id="45" name="Connector 44"/>
          <p:cNvCxnSpPr/>
          <p:nvPr/>
        </p:nvCxnSpPr>
        <p:spPr>
          <a:xfrm>
            <a:off x="612648" y="4407408"/>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6" name="Rectangle 45"/>
          <p:cNvSpPr/>
          <p:nvPr/>
        </p:nvSpPr>
        <p:spPr>
          <a:xfrm>
            <a:off x="612648" y="4407408"/>
            <a:ext cx="283464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 y="4553712"/>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Specificity</a:t>
            </a:r>
          </a:p>
        </p:txBody>
      </p:sp>
      <p:sp>
        <p:nvSpPr>
          <p:cNvPr id="48" name="Rectangle 47"/>
          <p:cNvSpPr/>
          <p:nvPr/>
        </p:nvSpPr>
        <p:spPr>
          <a:xfrm>
            <a:off x="3447288" y="4407408"/>
            <a:ext cx="3977639"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3602736" y="4553712"/>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TN / (TN + FP)</a:t>
            </a:r>
          </a:p>
        </p:txBody>
      </p:sp>
      <p:sp>
        <p:nvSpPr>
          <p:cNvPr id="50" name="Rectangle 49"/>
          <p:cNvSpPr/>
          <p:nvPr/>
        </p:nvSpPr>
        <p:spPr>
          <a:xfrm>
            <a:off x="7424927" y="4407408"/>
            <a:ext cx="41148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7580375" y="4553712"/>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87/90 = 96,67%</a:t>
            </a:r>
          </a:p>
        </p:txBody>
      </p:sp>
      <p:cxnSp>
        <p:nvCxnSpPr>
          <p:cNvPr id="52" name="Connector 51"/>
          <p:cNvCxnSpPr/>
          <p:nvPr/>
        </p:nvCxnSpPr>
        <p:spPr>
          <a:xfrm>
            <a:off x="612648" y="491947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3" name="Rectangle 52"/>
          <p:cNvSpPr/>
          <p:nvPr/>
        </p:nvSpPr>
        <p:spPr>
          <a:xfrm>
            <a:off x="612648" y="4919472"/>
            <a:ext cx="283464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68096" y="5065776"/>
            <a:ext cx="2523744" cy="347472"/>
          </a:xfrm>
          <a:prstGeom prst="rect">
            <a:avLst/>
          </a:prstGeom>
          <a:noFill/>
        </p:spPr>
        <p:txBody>
          <a:bodyPr wrap="square" lIns="0" rIns="0" tIns="0" bIns="0" anchor="t">
            <a:spAutoFit/>
          </a:bodyPr>
          <a:lstStyle/>
          <a:p>
            <a:pPr algn="l">
              <a:lnSpc>
                <a:spcPct val="112000"/>
              </a:lnSpc>
              <a:spcBef>
                <a:spcPts val="0"/>
              </a:spcBef>
              <a:spcAft>
                <a:spcPts val="0"/>
              </a:spcAft>
              <a:defRPr sz="1750" b="0">
                <a:solidFill>
                  <a:srgbClr val="192F43"/>
                </a:solidFill>
                <a:latin typeface="Noto Sans"/>
              </a:defRPr>
            </a:pPr>
            <a:r>
              <a:t>Balanced accuracy</a:t>
            </a:r>
          </a:p>
        </p:txBody>
      </p:sp>
      <p:sp>
        <p:nvSpPr>
          <p:cNvPr id="55" name="Rectangle 54"/>
          <p:cNvSpPr/>
          <p:nvPr/>
        </p:nvSpPr>
        <p:spPr>
          <a:xfrm>
            <a:off x="3447288" y="4919472"/>
            <a:ext cx="3977639"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3602736" y="5065776"/>
            <a:ext cx="366674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Trung bình recall hai lớp</a:t>
            </a:r>
          </a:p>
        </p:txBody>
      </p:sp>
      <p:sp>
        <p:nvSpPr>
          <p:cNvPr id="57" name="Rectangle 56"/>
          <p:cNvSpPr/>
          <p:nvPr/>
        </p:nvSpPr>
        <p:spPr>
          <a:xfrm>
            <a:off x="7424927" y="4919472"/>
            <a:ext cx="4114800" cy="51206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7580375" y="5065776"/>
            <a:ext cx="3803904" cy="347472"/>
          </a:xfrm>
          <a:prstGeom prst="rect">
            <a:avLst/>
          </a:prstGeom>
          <a:noFill/>
        </p:spPr>
        <p:txBody>
          <a:bodyPr wrap="square" lIns="0" rIns="0" tIns="0" bIns="0" anchor="t">
            <a:spAutoFit/>
          </a:bodyPr>
          <a:lstStyle/>
          <a:p>
            <a:pPr algn="ctr">
              <a:lnSpc>
                <a:spcPct val="112000"/>
              </a:lnSpc>
              <a:spcBef>
                <a:spcPts val="0"/>
              </a:spcBef>
              <a:spcAft>
                <a:spcPts val="0"/>
              </a:spcAft>
              <a:defRPr sz="1750" b="0">
                <a:solidFill>
                  <a:srgbClr val="192F43"/>
                </a:solidFill>
                <a:latin typeface="Noto Sans"/>
              </a:defRPr>
            </a:pPr>
            <a:r>
              <a:t>94,56%</a:t>
            </a:r>
          </a:p>
        </p:txBody>
      </p:sp>
      <p:cxnSp>
        <p:nvCxnSpPr>
          <p:cNvPr id="59" name="Connector 58"/>
          <p:cNvCxnSpPr/>
          <p:nvPr/>
        </p:nvCxnSpPr>
        <p:spPr>
          <a:xfrm>
            <a:off x="612648" y="5431536"/>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60" name="Rounded Rectangle 59"/>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Accuracy test, balanced accuracy CV và OOB là các phép đánh giá khác nhau.</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KẾT QUẢ MỞ RỘNG</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E. Đủ mười mô hình và các đối chứng đơn</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family_comparison_summary.csv · 10 holdout · mean% ± SD (đpt)</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23</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12648" y="1828800"/>
            <a:ext cx="4983480" cy="34747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68096" y="1892807"/>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600" b="1">
                <a:solidFill>
                  <a:srgbClr val="FFFFFF"/>
                </a:solidFill>
                <a:latin typeface="Noto Sans"/>
              </a:defRPr>
            </a:pPr>
            <a:r>
              <a:t>Mô hình / cấu hình</a:t>
            </a:r>
          </a:p>
        </p:txBody>
      </p:sp>
      <p:sp>
        <p:nvSpPr>
          <p:cNvPr id="14" name="Rectangle 13"/>
          <p:cNvSpPr/>
          <p:nvPr/>
        </p:nvSpPr>
        <p:spPr>
          <a:xfrm>
            <a:off x="5596128" y="1828800"/>
            <a:ext cx="2971800" cy="34747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51576" y="1892807"/>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600" b="1">
                <a:solidFill>
                  <a:srgbClr val="FFFFFF"/>
                </a:solidFill>
                <a:latin typeface="Noto Sans"/>
              </a:defRPr>
            </a:pPr>
            <a:r>
              <a:t>Accuracy (%)</a:t>
            </a:r>
          </a:p>
        </p:txBody>
      </p:sp>
      <p:sp>
        <p:nvSpPr>
          <p:cNvPr id="16" name="Rectangle 15"/>
          <p:cNvSpPr/>
          <p:nvPr/>
        </p:nvSpPr>
        <p:spPr>
          <a:xfrm>
            <a:off x="8567928" y="1828800"/>
            <a:ext cx="2971800" cy="347472"/>
          </a:xfrm>
          <a:prstGeom prst="rect">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723376" y="1892807"/>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600" b="1">
                <a:solidFill>
                  <a:srgbClr val="FFFFFF"/>
                </a:solidFill>
                <a:latin typeface="Noto Sans"/>
              </a:defRPr>
            </a:pPr>
            <a:r>
              <a:t>Recall ác (%)</a:t>
            </a:r>
          </a:p>
        </p:txBody>
      </p:sp>
      <p:sp>
        <p:nvSpPr>
          <p:cNvPr id="18" name="Rectangle 17"/>
          <p:cNvSpPr/>
          <p:nvPr/>
        </p:nvSpPr>
        <p:spPr>
          <a:xfrm>
            <a:off x="612648" y="2176272"/>
            <a:ext cx="498348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 y="2240279"/>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Cây đơn (CV chọn độ sâu)</a:t>
            </a:r>
          </a:p>
        </p:txBody>
      </p:sp>
      <p:sp>
        <p:nvSpPr>
          <p:cNvPr id="20" name="Rectangle 19"/>
          <p:cNvSpPr/>
          <p:nvPr/>
        </p:nvSpPr>
        <p:spPr>
          <a:xfrm>
            <a:off x="5596128" y="2176272"/>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751576" y="2240279"/>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92,80 ± 1,84</a:t>
            </a:r>
          </a:p>
        </p:txBody>
      </p:sp>
      <p:sp>
        <p:nvSpPr>
          <p:cNvPr id="22" name="Rectangle 21"/>
          <p:cNvSpPr/>
          <p:nvPr/>
        </p:nvSpPr>
        <p:spPr>
          <a:xfrm>
            <a:off x="8567928" y="2176272"/>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723376" y="2240279"/>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90,38 ± 4,66</a:t>
            </a:r>
          </a:p>
        </p:txBody>
      </p:sp>
      <p:cxnSp>
        <p:nvCxnSpPr>
          <p:cNvPr id="24" name="Connector 23"/>
          <p:cNvCxnSpPr/>
          <p:nvPr/>
        </p:nvCxnSpPr>
        <p:spPr>
          <a:xfrm>
            <a:off x="612648" y="2523744"/>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25" name="Rectangle 24"/>
          <p:cNvSpPr/>
          <p:nvPr/>
        </p:nvSpPr>
        <p:spPr>
          <a:xfrm>
            <a:off x="612648" y="2523744"/>
            <a:ext cx="498348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 y="2587751"/>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Bagging tự triển khai</a:t>
            </a:r>
          </a:p>
        </p:txBody>
      </p:sp>
      <p:sp>
        <p:nvSpPr>
          <p:cNvPr id="27" name="Rectangle 26"/>
          <p:cNvSpPr/>
          <p:nvPr/>
        </p:nvSpPr>
        <p:spPr>
          <a:xfrm>
            <a:off x="5596128" y="2523744"/>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751576" y="2587751"/>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94,76 ± 1,59</a:t>
            </a:r>
          </a:p>
        </p:txBody>
      </p:sp>
      <p:sp>
        <p:nvSpPr>
          <p:cNvPr id="29" name="Rectangle 28"/>
          <p:cNvSpPr/>
          <p:nvPr/>
        </p:nvSpPr>
        <p:spPr>
          <a:xfrm>
            <a:off x="8567928" y="2523744"/>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723376" y="2587751"/>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92,45 ± 3,77</a:t>
            </a:r>
          </a:p>
        </p:txBody>
      </p:sp>
      <p:cxnSp>
        <p:nvCxnSpPr>
          <p:cNvPr id="31" name="Connector 30"/>
          <p:cNvCxnSpPr/>
          <p:nvPr/>
        </p:nvCxnSpPr>
        <p:spPr>
          <a:xfrm>
            <a:off x="612648" y="2871216"/>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2" name="Rectangle 31"/>
          <p:cNvSpPr/>
          <p:nvPr/>
        </p:nvSpPr>
        <p:spPr>
          <a:xfrm>
            <a:off x="612648" y="2871216"/>
            <a:ext cx="498348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68096" y="2935224"/>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Random Forest (sklearn)</a:t>
            </a:r>
          </a:p>
        </p:txBody>
      </p:sp>
      <p:sp>
        <p:nvSpPr>
          <p:cNvPr id="34" name="Rectangle 33"/>
          <p:cNvSpPr/>
          <p:nvPr/>
        </p:nvSpPr>
        <p:spPr>
          <a:xfrm>
            <a:off x="5596128" y="2871216"/>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751576" y="2935224"/>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95,03 ± 1,85</a:t>
            </a:r>
          </a:p>
        </p:txBody>
      </p:sp>
      <p:sp>
        <p:nvSpPr>
          <p:cNvPr id="36" name="Rectangle 35"/>
          <p:cNvSpPr/>
          <p:nvPr/>
        </p:nvSpPr>
        <p:spPr>
          <a:xfrm>
            <a:off x="8567928" y="2871216"/>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723376" y="2935224"/>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92,26 ± 3,26</a:t>
            </a:r>
          </a:p>
        </p:txBody>
      </p:sp>
      <p:cxnSp>
        <p:nvCxnSpPr>
          <p:cNvPr id="38" name="Connector 37"/>
          <p:cNvCxnSpPr/>
          <p:nvPr/>
        </p:nvCxnSpPr>
        <p:spPr>
          <a:xfrm>
            <a:off x="612648" y="3218688"/>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39" name="Rectangle 38"/>
          <p:cNvSpPr/>
          <p:nvPr/>
        </p:nvSpPr>
        <p:spPr>
          <a:xfrm>
            <a:off x="612648" y="3218688"/>
            <a:ext cx="498348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68096" y="3282696"/>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Cây đơn (độ sâu cố định 3)</a:t>
            </a:r>
          </a:p>
        </p:txBody>
      </p:sp>
      <p:sp>
        <p:nvSpPr>
          <p:cNvPr id="41" name="Rectangle 40"/>
          <p:cNvSpPr/>
          <p:nvPr/>
        </p:nvSpPr>
        <p:spPr>
          <a:xfrm>
            <a:off x="5596128" y="3218688"/>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751576" y="3282696"/>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92,94 ± 2,15</a:t>
            </a:r>
          </a:p>
        </p:txBody>
      </p:sp>
      <p:sp>
        <p:nvSpPr>
          <p:cNvPr id="43" name="Rectangle 42"/>
          <p:cNvSpPr/>
          <p:nvPr/>
        </p:nvSpPr>
        <p:spPr>
          <a:xfrm>
            <a:off x="8567928" y="3218688"/>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723376" y="3282696"/>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90,19 ± 4,86</a:t>
            </a:r>
          </a:p>
        </p:txBody>
      </p:sp>
      <p:cxnSp>
        <p:nvCxnSpPr>
          <p:cNvPr id="45" name="Connector 44"/>
          <p:cNvCxnSpPr/>
          <p:nvPr/>
        </p:nvCxnSpPr>
        <p:spPr>
          <a:xfrm>
            <a:off x="612648" y="356616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46" name="Rectangle 45"/>
          <p:cNvSpPr/>
          <p:nvPr/>
        </p:nvSpPr>
        <p:spPr>
          <a:xfrm>
            <a:off x="612648" y="3566160"/>
            <a:ext cx="498348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 y="3630168"/>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Logistic Regression</a:t>
            </a:r>
          </a:p>
        </p:txBody>
      </p:sp>
      <p:sp>
        <p:nvSpPr>
          <p:cNvPr id="48" name="Rectangle 47"/>
          <p:cNvSpPr/>
          <p:nvPr/>
        </p:nvSpPr>
        <p:spPr>
          <a:xfrm>
            <a:off x="5596128" y="3566160"/>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751576" y="3630168"/>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97,62 ± 0,82</a:t>
            </a:r>
          </a:p>
        </p:txBody>
      </p:sp>
      <p:sp>
        <p:nvSpPr>
          <p:cNvPr id="50" name="Rectangle 49"/>
          <p:cNvSpPr/>
          <p:nvPr/>
        </p:nvSpPr>
        <p:spPr>
          <a:xfrm>
            <a:off x="8567928" y="3566160"/>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723376" y="3630168"/>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96,60 ± 2,32</a:t>
            </a:r>
          </a:p>
        </p:txBody>
      </p:sp>
      <p:cxnSp>
        <p:nvCxnSpPr>
          <p:cNvPr id="52" name="Connector 51"/>
          <p:cNvCxnSpPr/>
          <p:nvPr/>
        </p:nvCxnSpPr>
        <p:spPr>
          <a:xfrm>
            <a:off x="612648" y="391363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3" name="Rectangle 52"/>
          <p:cNvSpPr/>
          <p:nvPr/>
        </p:nvSpPr>
        <p:spPr>
          <a:xfrm>
            <a:off x="612648" y="3913632"/>
            <a:ext cx="498348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768096" y="3977640"/>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Gaussian NB</a:t>
            </a:r>
          </a:p>
        </p:txBody>
      </p:sp>
      <p:sp>
        <p:nvSpPr>
          <p:cNvPr id="55" name="Rectangle 54"/>
          <p:cNvSpPr/>
          <p:nvPr/>
        </p:nvSpPr>
        <p:spPr>
          <a:xfrm>
            <a:off x="5596128" y="3913632"/>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5751576" y="3977640"/>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94,20 ± 1,40</a:t>
            </a:r>
          </a:p>
        </p:txBody>
      </p:sp>
      <p:sp>
        <p:nvSpPr>
          <p:cNvPr id="57" name="Rectangle 56"/>
          <p:cNvSpPr/>
          <p:nvPr/>
        </p:nvSpPr>
        <p:spPr>
          <a:xfrm>
            <a:off x="8567928" y="3913632"/>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8723376" y="3977640"/>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90,19 ± 4,15</a:t>
            </a:r>
          </a:p>
        </p:txBody>
      </p:sp>
      <p:cxnSp>
        <p:nvCxnSpPr>
          <p:cNvPr id="59" name="Connector 58"/>
          <p:cNvCxnSpPr/>
          <p:nvPr/>
        </p:nvCxnSpPr>
        <p:spPr>
          <a:xfrm>
            <a:off x="612648" y="4261104"/>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60" name="Rectangle 59"/>
          <p:cNvSpPr/>
          <p:nvPr/>
        </p:nvSpPr>
        <p:spPr>
          <a:xfrm>
            <a:off x="612648" y="4261104"/>
            <a:ext cx="498348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768096" y="4325112"/>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AdaBoost</a:t>
            </a:r>
          </a:p>
        </p:txBody>
      </p:sp>
      <p:sp>
        <p:nvSpPr>
          <p:cNvPr id="62" name="Rectangle 61"/>
          <p:cNvSpPr/>
          <p:nvPr/>
        </p:nvSpPr>
        <p:spPr>
          <a:xfrm>
            <a:off x="5596128" y="4261104"/>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5751576" y="4325112"/>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96,43 ± 1,07</a:t>
            </a:r>
          </a:p>
        </p:txBody>
      </p:sp>
      <p:sp>
        <p:nvSpPr>
          <p:cNvPr id="64" name="Rectangle 63"/>
          <p:cNvSpPr/>
          <p:nvPr/>
        </p:nvSpPr>
        <p:spPr>
          <a:xfrm>
            <a:off x="8567928" y="4261104"/>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723376" y="4325112"/>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94,15 ± 2,08</a:t>
            </a:r>
          </a:p>
        </p:txBody>
      </p:sp>
      <p:cxnSp>
        <p:nvCxnSpPr>
          <p:cNvPr id="66" name="Connector 65"/>
          <p:cNvCxnSpPr/>
          <p:nvPr/>
        </p:nvCxnSpPr>
        <p:spPr>
          <a:xfrm>
            <a:off x="612648" y="4608576"/>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67" name="Rectangle 66"/>
          <p:cNvSpPr/>
          <p:nvPr/>
        </p:nvSpPr>
        <p:spPr>
          <a:xfrm>
            <a:off x="612648" y="4608576"/>
            <a:ext cx="498348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768096" y="4672584"/>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Voting (hard)</a:t>
            </a:r>
          </a:p>
        </p:txBody>
      </p:sp>
      <p:sp>
        <p:nvSpPr>
          <p:cNvPr id="69" name="Rectangle 68"/>
          <p:cNvSpPr/>
          <p:nvPr/>
        </p:nvSpPr>
        <p:spPr>
          <a:xfrm>
            <a:off x="5596128" y="4608576"/>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5751576" y="4672584"/>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95,80 ± 1,23</a:t>
            </a:r>
          </a:p>
        </p:txBody>
      </p:sp>
      <p:sp>
        <p:nvSpPr>
          <p:cNvPr id="71" name="Rectangle 70"/>
          <p:cNvSpPr/>
          <p:nvPr/>
        </p:nvSpPr>
        <p:spPr>
          <a:xfrm>
            <a:off x="8567928" y="4608576"/>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8723376" y="4672584"/>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92,64 ± 3,72</a:t>
            </a:r>
          </a:p>
        </p:txBody>
      </p:sp>
      <p:cxnSp>
        <p:nvCxnSpPr>
          <p:cNvPr id="73" name="Connector 72"/>
          <p:cNvCxnSpPr/>
          <p:nvPr/>
        </p:nvCxnSpPr>
        <p:spPr>
          <a:xfrm>
            <a:off x="612648" y="4956048"/>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74" name="Rectangle 73"/>
          <p:cNvSpPr/>
          <p:nvPr/>
        </p:nvSpPr>
        <p:spPr>
          <a:xfrm>
            <a:off x="612648" y="4956048"/>
            <a:ext cx="498348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768096" y="5020056"/>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Voting (soft)</a:t>
            </a:r>
          </a:p>
        </p:txBody>
      </p:sp>
      <p:sp>
        <p:nvSpPr>
          <p:cNvPr id="76" name="Rectangle 75"/>
          <p:cNvSpPr/>
          <p:nvPr/>
        </p:nvSpPr>
        <p:spPr>
          <a:xfrm>
            <a:off x="5596128" y="4956048"/>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TextBox 76"/>
          <p:cNvSpPr txBox="1"/>
          <p:nvPr/>
        </p:nvSpPr>
        <p:spPr>
          <a:xfrm>
            <a:off x="5751576" y="5020056"/>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95,66 ± 1,27</a:t>
            </a:r>
          </a:p>
        </p:txBody>
      </p:sp>
      <p:sp>
        <p:nvSpPr>
          <p:cNvPr id="78" name="Rectangle 77"/>
          <p:cNvSpPr/>
          <p:nvPr/>
        </p:nvSpPr>
        <p:spPr>
          <a:xfrm>
            <a:off x="8567928" y="4956048"/>
            <a:ext cx="2971800"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TextBox 78"/>
          <p:cNvSpPr txBox="1"/>
          <p:nvPr/>
        </p:nvSpPr>
        <p:spPr>
          <a:xfrm>
            <a:off x="8723376" y="5020056"/>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92,64 ± 3,72</a:t>
            </a:r>
          </a:p>
        </p:txBody>
      </p:sp>
      <p:cxnSp>
        <p:nvCxnSpPr>
          <p:cNvPr id="80" name="Connector 79"/>
          <p:cNvCxnSpPr/>
          <p:nvPr/>
        </p:nvCxnSpPr>
        <p:spPr>
          <a:xfrm>
            <a:off x="612648" y="5303520"/>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81" name="Rectangle 80"/>
          <p:cNvSpPr/>
          <p:nvPr/>
        </p:nvSpPr>
        <p:spPr>
          <a:xfrm>
            <a:off x="612648" y="5303520"/>
            <a:ext cx="498348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768096" y="5367528"/>
            <a:ext cx="4672584" cy="265176"/>
          </a:xfrm>
          <a:prstGeom prst="rect">
            <a:avLst/>
          </a:prstGeom>
          <a:noFill/>
        </p:spPr>
        <p:txBody>
          <a:bodyPr wrap="square" lIns="0" rIns="0" tIns="0" bIns="0" anchor="t">
            <a:spAutoFit/>
          </a:bodyPr>
          <a:lstStyle/>
          <a:p>
            <a:pPr algn="l">
              <a:lnSpc>
                <a:spcPct val="112000"/>
              </a:lnSpc>
              <a:spcBef>
                <a:spcPts val="0"/>
              </a:spcBef>
              <a:spcAft>
                <a:spcPts val="0"/>
              </a:spcAft>
              <a:defRPr sz="1700" b="0">
                <a:solidFill>
                  <a:srgbClr val="192F43"/>
                </a:solidFill>
                <a:latin typeface="Noto Sans"/>
              </a:defRPr>
            </a:pPr>
            <a:r>
              <a:t>Stacking</a:t>
            </a:r>
          </a:p>
        </p:txBody>
      </p:sp>
      <p:sp>
        <p:nvSpPr>
          <p:cNvPr id="83" name="Rectangle 82"/>
          <p:cNvSpPr/>
          <p:nvPr/>
        </p:nvSpPr>
        <p:spPr>
          <a:xfrm>
            <a:off x="5596128" y="5303520"/>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TextBox 83"/>
          <p:cNvSpPr txBox="1"/>
          <p:nvPr/>
        </p:nvSpPr>
        <p:spPr>
          <a:xfrm>
            <a:off x="5751576" y="5367528"/>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96,64 ± 1,22</a:t>
            </a:r>
          </a:p>
        </p:txBody>
      </p:sp>
      <p:sp>
        <p:nvSpPr>
          <p:cNvPr id="85" name="Rectangle 84"/>
          <p:cNvSpPr/>
          <p:nvPr/>
        </p:nvSpPr>
        <p:spPr>
          <a:xfrm>
            <a:off x="8567928" y="5303520"/>
            <a:ext cx="2971800" cy="347472"/>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8723376" y="5367528"/>
            <a:ext cx="2660904" cy="265176"/>
          </a:xfrm>
          <a:prstGeom prst="rect">
            <a:avLst/>
          </a:prstGeom>
          <a:noFill/>
        </p:spPr>
        <p:txBody>
          <a:bodyPr wrap="square" lIns="0" rIns="0" tIns="0" bIns="0" anchor="t">
            <a:spAutoFit/>
          </a:bodyPr>
          <a:lstStyle/>
          <a:p>
            <a:pPr algn="ctr">
              <a:lnSpc>
                <a:spcPct val="112000"/>
              </a:lnSpc>
              <a:spcBef>
                <a:spcPts val="0"/>
              </a:spcBef>
              <a:spcAft>
                <a:spcPts val="0"/>
              </a:spcAft>
              <a:defRPr sz="1700" b="0">
                <a:solidFill>
                  <a:srgbClr val="192F43"/>
                </a:solidFill>
                <a:latin typeface="Noto Sans"/>
              </a:defRPr>
            </a:pPr>
            <a:r>
              <a:t>95,09 ± 2,70</a:t>
            </a:r>
          </a:p>
        </p:txBody>
      </p:sp>
      <p:cxnSp>
        <p:nvCxnSpPr>
          <p:cNvPr id="87" name="Connector 86"/>
          <p:cNvCxnSpPr/>
          <p:nvPr/>
        </p:nvCxnSpPr>
        <p:spPr>
          <a:xfrm>
            <a:off x="612648" y="5650992"/>
            <a:ext cx="10927080" cy="0"/>
          </a:xfrm>
          <a:prstGeom prst="line">
            <a:avLst/>
          </a:prstGeom>
          <a:ln w="6985">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88" name="Rounded Rectangle 87"/>
          <p:cNvSpPr/>
          <p:nvPr/>
        </p:nvSpPr>
        <p:spPr>
          <a:xfrm>
            <a:off x="566928" y="5769864"/>
            <a:ext cx="11045952" cy="438912"/>
          </a:xfrm>
          <a:prstGeom prst="roundRect">
            <a:avLst>
              <a:gd name="adj" fmla="val 8000"/>
            </a:avLst>
          </a:prstGeom>
          <a:solidFill>
            <a:srgbClr val="E9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749808" y="5865876"/>
            <a:ext cx="10652760" cy="265176"/>
          </a:xfrm>
          <a:prstGeom prst="rect">
            <a:avLst/>
          </a:prstGeom>
          <a:noFill/>
        </p:spPr>
        <p:txBody>
          <a:bodyPr wrap="square" lIns="0" rIns="0" tIns="0" bIns="0" anchor="t">
            <a:spAutoFit/>
          </a:bodyPr>
          <a:lstStyle/>
          <a:p>
            <a:pPr algn="l">
              <a:lnSpc>
                <a:spcPct val="112000"/>
              </a:lnSpc>
              <a:spcBef>
                <a:spcPts val="0"/>
              </a:spcBef>
              <a:spcAft>
                <a:spcPts val="0"/>
              </a:spcAft>
              <a:defRPr sz="1550" b="1">
                <a:solidFill>
                  <a:srgbClr val="087F82"/>
                </a:solidFill>
                <a:latin typeface="Noto Sans"/>
              </a:defRPr>
            </a:pPr>
            <a:r>
              <a:t>Không mặc định tổ hợp tốt hơn mô hình đơn; chưa có kiểm định hay dữ liệu xác nhận ngoài độc lập.</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65176"/>
            <a:ext cx="9875520" cy="228600"/>
          </a:xfrm>
          <a:prstGeom prst="rect">
            <a:avLst/>
          </a:prstGeom>
          <a:noFill/>
        </p:spPr>
        <p:txBody>
          <a:bodyPr wrap="square" lIns="0" rIns="0" tIns="0" bIns="0" anchor="t">
            <a:spAutoFit/>
          </a:bodyPr>
          <a:lstStyle/>
          <a:p>
            <a:pPr algn="l">
              <a:lnSpc>
                <a:spcPct val="112000"/>
              </a:lnSpc>
              <a:spcBef>
                <a:spcPts val="0"/>
              </a:spcBef>
              <a:spcAft>
                <a:spcPts val="0"/>
              </a:spcAft>
              <a:defRPr sz="1050" b="1">
                <a:solidFill>
                  <a:srgbClr val="087F82"/>
                </a:solidFill>
                <a:latin typeface="Noto Sans"/>
              </a:defRPr>
            </a:pPr>
            <a:r>
              <a:t>PHỤ LỤC / NGUỒN</a:t>
            </a:r>
          </a:p>
        </p:txBody>
      </p:sp>
      <p:sp>
        <p:nvSpPr>
          <p:cNvPr id="3" name="TextBox 2"/>
          <p:cNvSpPr txBox="1"/>
          <p:nvPr/>
        </p:nvSpPr>
        <p:spPr>
          <a:xfrm>
            <a:off x="566928" y="795528"/>
            <a:ext cx="11045952" cy="868680"/>
          </a:xfrm>
          <a:prstGeom prst="rect">
            <a:avLst/>
          </a:prstGeom>
          <a:noFill/>
        </p:spPr>
        <p:txBody>
          <a:bodyPr wrap="square" lIns="0" rIns="0" tIns="0" bIns="0" anchor="t">
            <a:spAutoFit/>
          </a:bodyPr>
          <a:lstStyle/>
          <a:p>
            <a:pPr algn="l">
              <a:lnSpc>
                <a:spcPct val="112000"/>
              </a:lnSpc>
              <a:spcBef>
                <a:spcPts val="0"/>
              </a:spcBef>
              <a:spcAft>
                <a:spcPts val="0"/>
              </a:spcAft>
              <a:defRPr sz="3000" b="1">
                <a:solidFill>
                  <a:srgbClr val="142D46"/>
                </a:solidFill>
                <a:latin typeface="Noto Sans"/>
              </a:defRPr>
            </a:pPr>
            <a:r>
              <a:t>F. Tài liệu tham khảo và cách tái lập</a:t>
            </a:r>
          </a:p>
        </p:txBody>
      </p:sp>
      <p:cxnSp>
        <p:nvCxnSpPr>
          <p:cNvPr id="4" name="Connector 3"/>
          <p:cNvCxnSpPr/>
          <p:nvPr/>
        </p:nvCxnSpPr>
        <p:spPr>
          <a:xfrm>
            <a:off x="566928" y="6419088"/>
            <a:ext cx="11045952" cy="0"/>
          </a:xfrm>
          <a:prstGeom prst="line">
            <a:avLst/>
          </a:prstGeom>
          <a:ln w="8890">
            <a:solidFill>
              <a:srgbClr val="DCE4EB"/>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66928" y="6528816"/>
            <a:ext cx="3429000" cy="155448"/>
          </a:xfrm>
          <a:prstGeom prst="rect">
            <a:avLst/>
          </a:prstGeom>
          <a:noFill/>
        </p:spPr>
        <p:txBody>
          <a:bodyPr wrap="square" lIns="0" rIns="0" tIns="0" bIns="0" anchor="t">
            <a:spAutoFit/>
          </a:bodyPr>
          <a:lstStyle/>
          <a:p>
            <a:pPr algn="l">
              <a:lnSpc>
                <a:spcPct val="112000"/>
              </a:lnSpc>
              <a:spcBef>
                <a:spcPts val="0"/>
              </a:spcBef>
              <a:spcAft>
                <a:spcPts val="0"/>
              </a:spcAft>
              <a:defRPr sz="819" b="0">
                <a:solidFill>
                  <a:srgbClr val="5B6B7B"/>
                </a:solidFill>
                <a:latin typeface="Noto Sans"/>
              </a:defRPr>
            </a:pPr>
            <a:r>
              <a:t>ĐỀ 5 / ENSEMBLE LEARNING</a:t>
            </a:r>
          </a:p>
        </p:txBody>
      </p:sp>
      <p:sp>
        <p:nvSpPr>
          <p:cNvPr id="6" name="TextBox 5"/>
          <p:cNvSpPr txBox="1"/>
          <p:nvPr/>
        </p:nvSpPr>
        <p:spPr>
          <a:xfrm>
            <a:off x="3840480" y="6528816"/>
            <a:ext cx="7059168" cy="155448"/>
          </a:xfrm>
          <a:prstGeom prst="rect">
            <a:avLst/>
          </a:prstGeom>
          <a:noFill/>
        </p:spPr>
        <p:txBody>
          <a:bodyPr wrap="square" lIns="0" rIns="0" tIns="0" bIns="0" anchor="t">
            <a:spAutoFit/>
          </a:bodyPr>
          <a:lstStyle/>
          <a:p>
            <a:pPr algn="r">
              <a:lnSpc>
                <a:spcPct val="112000"/>
              </a:lnSpc>
              <a:spcBef>
                <a:spcPts val="0"/>
              </a:spcBef>
              <a:spcAft>
                <a:spcPts val="0"/>
              </a:spcAft>
              <a:defRPr sz="819" b="0">
                <a:solidFill>
                  <a:srgbClr val="5B6B7B"/>
                </a:solidFill>
                <a:latin typeface="Noto Sans"/>
              </a:defRPr>
            </a:pPr>
            <a:r>
              <a:t>Danh mục đầy đủ và DOI nằm trong báo cáo Word/PDF</a:t>
            </a:r>
          </a:p>
        </p:txBody>
      </p:sp>
      <p:sp>
        <p:nvSpPr>
          <p:cNvPr id="7" name="TextBox 6"/>
          <p:cNvSpPr txBox="1"/>
          <p:nvPr/>
        </p:nvSpPr>
        <p:spPr>
          <a:xfrm>
            <a:off x="11100816" y="6492240"/>
            <a:ext cx="512064" cy="228600"/>
          </a:xfrm>
          <a:prstGeom prst="rect">
            <a:avLst/>
          </a:prstGeom>
          <a:noFill/>
        </p:spPr>
        <p:txBody>
          <a:bodyPr wrap="square" lIns="0" rIns="0" tIns="0" bIns="0" anchor="t">
            <a:spAutoFit/>
          </a:bodyPr>
          <a:lstStyle/>
          <a:p>
            <a:pPr algn="r">
              <a:lnSpc>
                <a:spcPct val="112000"/>
              </a:lnSpc>
              <a:spcBef>
                <a:spcPts val="0"/>
              </a:spcBef>
              <a:spcAft>
                <a:spcPts val="0"/>
              </a:spcAft>
              <a:defRPr sz="1100" b="1">
                <a:solidFill>
                  <a:srgbClr val="087F82"/>
                </a:solidFill>
                <a:latin typeface="Noto Sans"/>
              </a:defRPr>
            </a:pPr>
            <a:r>
              <a:t>24</a:t>
            </a:r>
          </a:p>
        </p:txBody>
      </p:sp>
      <p:sp>
        <p:nvSpPr>
          <p:cNvPr id="8" name="Rectangle 7"/>
          <p:cNvSpPr/>
          <p:nvPr/>
        </p:nvSpPr>
        <p:spPr>
          <a:xfrm>
            <a:off x="10671048"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0917936"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1164824"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1411712" y="329184"/>
            <a:ext cx="164592" cy="32004"/>
          </a:xfrm>
          <a:prstGeom prst="rect">
            <a:avLst/>
          </a:prstGeom>
          <a:solidFill>
            <a:srgbClr val="087F8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7512" y="1856231"/>
            <a:ext cx="10881360" cy="2377440"/>
          </a:xfrm>
          <a:prstGeom prst="rect">
            <a:avLst/>
          </a:prstGeom>
          <a:noFill/>
        </p:spPr>
        <p:txBody>
          <a:bodyPr wrap="square" lIns="0" rIns="0" tIns="0" bIns="0" anchor="t">
            <a:spAutoFit/>
          </a:bodyPr>
          <a:lstStyle/>
          <a:p>
            <a:pPr algn="l">
              <a:lnSpc>
                <a:spcPct val="152000"/>
              </a:lnSpc>
              <a:spcBef>
                <a:spcPts val="0"/>
              </a:spcBef>
              <a:spcAft>
                <a:spcPts val="0"/>
              </a:spcAft>
              <a:defRPr sz="1580" b="0">
                <a:solidFill>
                  <a:srgbClr val="192F43"/>
                </a:solidFill>
                <a:latin typeface="Noto Sans"/>
              </a:defRPr>
            </a:pPr>
            <a:r>
              <a:t>[1] Breiman (1996). Bagging Predictors. Machine Learning 24, 123–140.</a:t>
            </a:r>
          </a:p>
          <a:p>
            <a:pPr algn="l">
              <a:lnSpc>
                <a:spcPct val="152000"/>
              </a:lnSpc>
              <a:spcBef>
                <a:spcPts val="0"/>
              </a:spcBef>
              <a:spcAft>
                <a:spcPts val="0"/>
              </a:spcAft>
              <a:defRPr sz="1580" b="0">
                <a:solidFill>
                  <a:srgbClr val="192F43"/>
                </a:solidFill>
                <a:latin typeface="Noto Sans"/>
              </a:defRPr>
            </a:pPr>
            <a:r>
              <a:t>[2] Breiman (2001). Random Forests. Machine Learning 45, 5–32.</a:t>
            </a:r>
          </a:p>
          <a:p>
            <a:pPr algn="l">
              <a:lnSpc>
                <a:spcPct val="152000"/>
              </a:lnSpc>
              <a:spcBef>
                <a:spcPts val="0"/>
              </a:spcBef>
              <a:spcAft>
                <a:spcPts val="0"/>
              </a:spcAft>
              <a:defRPr sz="1580" b="0">
                <a:solidFill>
                  <a:srgbClr val="192F43"/>
                </a:solidFill>
                <a:latin typeface="Noto Sans"/>
              </a:defRPr>
            </a:pPr>
            <a:r>
              <a:t>[3] scikit-learn User Guide. Ensemble methods.</a:t>
            </a:r>
          </a:p>
          <a:p>
            <a:pPr algn="l">
              <a:lnSpc>
                <a:spcPct val="152000"/>
              </a:lnSpc>
              <a:spcBef>
                <a:spcPts val="0"/>
              </a:spcBef>
              <a:spcAft>
                <a:spcPts val="0"/>
              </a:spcAft>
              <a:defRPr sz="1580" b="0">
                <a:solidFill>
                  <a:srgbClr val="192F43"/>
                </a:solidFill>
                <a:latin typeface="Noto Sans"/>
              </a:defRPr>
            </a:pPr>
            <a:r>
              <a:t>[4] scikit-learn API. load_breast_cancer.</a:t>
            </a:r>
          </a:p>
          <a:p>
            <a:pPr algn="l">
              <a:lnSpc>
                <a:spcPct val="152000"/>
              </a:lnSpc>
              <a:spcBef>
                <a:spcPts val="0"/>
              </a:spcBef>
              <a:spcAft>
                <a:spcPts val="0"/>
              </a:spcAft>
              <a:defRPr sz="1580" b="0">
                <a:solidFill>
                  <a:srgbClr val="192F43"/>
                </a:solidFill>
                <a:latin typeface="Noto Sans"/>
              </a:defRPr>
            </a:pPr>
            <a:r>
              <a:t>[5] scikit-learn User Guide. Decision Trees.</a:t>
            </a:r>
          </a:p>
          <a:p>
            <a:pPr algn="l">
              <a:lnSpc>
                <a:spcPct val="152000"/>
              </a:lnSpc>
              <a:spcBef>
                <a:spcPts val="0"/>
              </a:spcBef>
              <a:spcAft>
                <a:spcPts val="0"/>
              </a:spcAft>
              <a:defRPr sz="1580" b="0">
                <a:solidFill>
                  <a:srgbClr val="192F43"/>
                </a:solidFill>
                <a:latin typeface="Noto Sans"/>
              </a:defRPr>
            </a:pPr>
            <a:r>
              <a:t>[6] Freund &amp; Schapire (1997). An Application to Boosting. JCSS 55(1).</a:t>
            </a:r>
          </a:p>
          <a:p>
            <a:pPr algn="l">
              <a:lnSpc>
                <a:spcPct val="152000"/>
              </a:lnSpc>
              <a:spcBef>
                <a:spcPts val="0"/>
              </a:spcBef>
              <a:spcAft>
                <a:spcPts val="0"/>
              </a:spcAft>
              <a:defRPr sz="1580" b="0">
                <a:solidFill>
                  <a:srgbClr val="192F43"/>
                </a:solidFill>
                <a:latin typeface="Noto Sans"/>
              </a:defRPr>
            </a:pPr>
            <a:r>
              <a:t>[7] Wolpert (1992). Stacked Generalization. Neural Networks 5(2).</a:t>
            </a:r>
          </a:p>
        </p:txBody>
      </p:sp>
      <p:sp>
        <p:nvSpPr>
          <p:cNvPr id="13" name="Rounded Rectangle 12"/>
          <p:cNvSpPr/>
          <p:nvPr/>
        </p:nvSpPr>
        <p:spPr>
          <a:xfrm>
            <a:off x="612648" y="4507992"/>
            <a:ext cx="10927080" cy="1508760"/>
          </a:xfrm>
          <a:prstGeom prst="roundRect">
            <a:avLst>
              <a:gd name="adj" fmla="val 8000"/>
            </a:avLst>
          </a:prstGeom>
          <a:solidFill>
            <a:srgbClr val="142D4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0392" y="4663440"/>
            <a:ext cx="10424160" cy="1234440"/>
          </a:xfrm>
          <a:prstGeom prst="rect">
            <a:avLst/>
          </a:prstGeom>
          <a:noFill/>
        </p:spPr>
        <p:txBody>
          <a:bodyPr wrap="square" lIns="0" rIns="0" tIns="0" bIns="0" anchor="t">
            <a:spAutoFit/>
          </a:bodyPr>
          <a:lstStyle/>
          <a:p>
            <a:pPr algn="l">
              <a:lnSpc>
                <a:spcPct val="124000"/>
              </a:lnSpc>
              <a:spcBef>
                <a:spcPts val="0"/>
              </a:spcBef>
              <a:spcAft>
                <a:spcPts val="0"/>
              </a:spcAft>
              <a:defRPr sz="1650" b="0">
                <a:solidFill>
                  <a:srgbClr val="FFFFFF"/>
                </a:solidFill>
                <a:latin typeface="DejaVu Sans Mono"/>
              </a:defRPr>
            </a:pPr>
            <a:r>
              <a:t>python de_5_ensemble_learning.py</a:t>
            </a:r>
          </a:p>
          <a:p>
            <a:pPr algn="l">
              <a:lnSpc>
                <a:spcPct val="124000"/>
              </a:lnSpc>
              <a:spcBef>
                <a:spcPts val="0"/>
              </a:spcBef>
              <a:spcAft>
                <a:spcPts val="0"/>
              </a:spcAft>
              <a:defRPr sz="1650" b="0">
                <a:solidFill>
                  <a:srgbClr val="FFFFFF"/>
                </a:solidFill>
                <a:latin typeface="DejaVu Sans Mono"/>
              </a:defRPr>
            </a:pPr>
            <a:r>
              <a:t>python experiments/report_extensions.py</a:t>
            </a:r>
          </a:p>
          <a:p>
            <a:pPr algn="l">
              <a:lnSpc>
                <a:spcPct val="124000"/>
              </a:lnSpc>
              <a:spcBef>
                <a:spcPts val="0"/>
              </a:spcBef>
              <a:spcAft>
                <a:spcPts val="0"/>
              </a:spcAft>
              <a:defRPr sz="1650" b="0">
                <a:solidFill>
                  <a:srgbClr val="FFFFFF"/>
                </a:solidFill>
                <a:latin typeface="DejaVu Sans Mono"/>
              </a:defRPr>
            </a:pPr>
            <a:r>
              <a:t>python experiments/controlled_comparison.py</a:t>
            </a:r>
          </a:p>
          <a:p>
            <a:pPr algn="l">
              <a:lnSpc>
                <a:spcPct val="124000"/>
              </a:lnSpc>
              <a:spcBef>
                <a:spcPts val="0"/>
              </a:spcBef>
              <a:spcAft>
                <a:spcPts val="0"/>
              </a:spcAft>
              <a:defRPr sz="1650" b="0">
                <a:solidFill>
                  <a:srgbClr val="FFFFFF"/>
                </a:solidFill>
                <a:latin typeface="DejaVu Sans Mono"/>
              </a:defRPr>
            </a:pPr>
            <a:r>
              <a:t>python experiments/ensemble_families.py</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5 — Ensemble Learning | Bagging, AdaBoost, Voting và Stacking</dc:title>
  <dc:subject>Tiểu luận giữa kỳ — Nhập môn học máy</dc:subject>
  <dc:creator>Nguyễn Nghĩa Hiếu; Trần Quốc Bảo</dc:creator>
  <cp:keywords>Bagging, AdaBoost, Voting, Stacking, bootstrap, OOB</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