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đầu: Một cây quyết định có thể thay đổi đáng kể khi dữ liệu huấn luyện thay đổi. Ensemble Learning kết hợp nhiều mô hình để giảm tác động của những sai lệch riêng. Bài này giới thiệu các họ phương pháp, sau đó đi sâu vào bootstrap và hard voting qua Bagging tự triển khai. Mã cây cơ sở dùng scikit-learn; phần lấy mẫu và tổng hợp phiếu do nhóm tự viết. Trước khi nộp, điền tên thành viên và lớp trên trang bìa. Gợi ý thời lượng phần chính khoảng 15–20 phút; hai trang cuối là phụ lục.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phiếu trên trang chỉ minh họa ý tưởng, không phải dự đoán thật của chương trình. Nếu các cây cùng mắc một lỗi thì thêm cây không giải quyết được vấn đề. Hai yếu tố cần cân bằng là chất lượng mô hình cơ sở và tính đa dạng của chúng. Chúng ta sẽ lần lượt trả lời: ensemble kết hợp như thế nào; bootstrap tạo đa dạng ra sao; mã thực hiện phần nào; và kết quả trên dữ liệu độc lập có cải thiện hay không.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các hướng tiếp cận phổ biến, không phải bốn nhóm tách rời tuyệt đối: Bagging cũng cần một quy tắc tổng hợp như voting. Bagging tạo đa dạng bằng lấy mẫu; Boosting xây dãy mô hình để xử lý sai sót; Voting có thể kết hợp các mô hình khác loại; Stacking học bộ kết hợp từ dự đoán ngoài mẫu. Trọng tâm triển khai của bài là Bagging, nhưng cần hiểu vị trí của nó trong toàn bộ Ensemble Learning. Random Forest là một mở rộng của ý tưởng Bagging cây với ngẫu nhiên hóa đặc trưng.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Công thức này giải thích trực giác giảm phương sai khi lấy trung bình các dự đoán số. Giả thiết các mô hình có phương sai như nhau σ bình phương và tương quan cặp chung rho. Với 51 mô hình, rho bằng 0,2 cho phương sai trung bình khoảng 0,216 lần phương sai riêng, còn rho bằng 0,8 chỉ giảm xuống khoảng 0,804. Đây không phải công thức trực tiếp của tỷ lệ lỗi phân lớp. Với hard voting, hiệu quả còn phụ thuộc mô hình cơ sở và cấu trúc lỗi. Không thể nói ensemble luôn tốt hơn.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ví dụ tính tay giả định. Hard voting chỉ dùng nhãn cuối cùng, nên hai trong ba mô hình chọn ác tính thì cả tổ hợp chọn ác tính. Soft voting lấy trung bình xác suất: 0,51 cộng 0,51 cộng 0,01 bằng 1,03; chia ba xấp xỉ 0,343. Xác suất lành tính trung bình khi đó xấp xỉ 0,657, nên chọn lành tính. Với trọng số, thay trung bình đều bằng tổng có trọng số chuẩn hóa. Soft voting cần xác suất đáng tin cậy; không tự động tốt hơn hard voting. Trong mã, ManualBagging dùng hard voting; sklearn Random Forest dùng trung bình xác suất.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Bagging là viết tắt của bootstrap aggregating. Mỗi cây nhận 426 lượt lấy mẫu từ 426 mẫu train; một quan sát có thể lặp lại nhiều lần, một số quan sát không xuất hiện. Không chia train thành 51 tập rời nhau. Các cây có thể học song song về mặt thuật toán; bản mã minh họa đang huấn luyện tuần tự để đơn giản và tiết kiệm tài nguyên. Test hoàn toàn không tham gia bootstrap. Sau huấn luyện, gửi cùng một quan sát mới qua tất cả các cây rồi đếm phiếu. Bằng cách thay đổi mẫu, các cây có thể học những ranh giới quyết định khác nhau.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số 0 xuất hiện hai lần trong mẫu của cây 1, trong khi chỉ số 3 không có mặt. Các quan sát không được chọn gọi là out-of-bag đối với cây đó. Với một quan sát cố định, xác suất không chọn ở một lượt là 1 trừ 1/N; qua N lượt độc lập là lũy thừa N. Khi N lớn, xác suất tiến đến e mũ âm một, khoảng 36,8%. Với N bằng 5 trong ví dụ nhỏ, xác suất chính xác là 0,8 mũ 5 bằng 32,768%, không phải đúng 36,8%. Bản nâng cấp tính hard-vote OOB chỉ từ cây chưa thấy mẫu, đồng thời vẫn dùng test riêng để đánh giá. Điểm OOB không độc lập với bước chọn độ sâu trên train.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dữ liệu một chiều giả lập để có thể tính tay, không phải các quan sát của Breast Cancer. Cây 1 dùng bootstrap [0,0,2,4,1], tức là các cặp (1,lành), (1,lành), (3,ác), (5,ác), (2,lành). Gini trước chia bằng 0,48. Với ngưỡng 2,5, nhánh trái có ba mẫu đều lành, nhánh phải có hai mẫu đều ác. Gini mỗi nhánh bằng 0; trung bình có trọng số 3/5 nhân 0 cộng 2/5 nhân 0 cũng bằng 0. Mức giảm là 0,48. Thực tế cây thử các ngưỡng trên nhiều đặc trưng và lặp lại các phép chia đến điều kiện dừng. Trong thí nghiệm độ sâu tối đa là 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là hàm chỉ thị: đúng thì nhận 1, sai thì nhận 0. Cộng theo tất cả cây cho từng lớp c. Với ba dự đoán giả định [0,1,0], lớp 0 có hai phiếu còn lớp 1 có một phiếu, nên argmax chọn 0, tức ác tính. Đây là ví dụ riêng để tính phép tổng hợp, không khẳng định là đầu ra của ba cây trong ví dụ chia nút trước đó. Trong triển khai dùng 51 cây cho hai lớp nên không hòa phiếu. Nếu áp dụng đa lớp thì số cây lẻ vẫn có thể hòa; hàm argmax khi hòa chọn chỉ số lớp đầu tiên.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AdaBoost là ví dụ để giải thích Boosting chứ chưa được triển khai trong mã thực nghiệm này. Nhãn và dự đoán trong công thức cập nhật cổ điển được mã hóa âm một và dương một. Sai số epsilon là tổng trọng số của các mẫu sai, không nhất thiết là tỷ lệ đếm mẫu. Nếu epsilon bằng 0,2, trọng số mô hình alpha bằng một nửa log tự nhiên của bốn, khoảng 0,693. Nhóm sai nhân hai, nhóm đúng nhân một phần hai; chuẩn hóa xong tổng trọng số nhóm sai tăng từ 0,2 lên 0,5. Gradient Boosting lại xây mô hình theo hướng giảm loss, thường khớp gradient âm; không mô tả mọi Boosting bằng duy nhất cập nhật AdaBoost này.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OOF nghĩa là out-of-fold. Chia train thành K fold. Với mỗi mô hình cơ sở, huấn luyện trên K trừ một fold và dự đoán fold còn lại; ghép các dự đoán để mỗi mẫu train có một dự đoán từ mô hình chưa thấy nó. Các cột OOF này, cùng nhãn train, huấn luyện meta-model. Khi dự đoán dữ liệu mới, mô hình cơ sở được huấn luyện lại trên toàn train, tạo đầu vào cho meta-model đã học. Nếu dùng dự đoán in-sample quá tốt để học meta-model thì tầng hai có thể học một tín hiệu không phản ánh khả năng tổng quát. Stacking ở đây là nội dung lý thuyết mở rộng, chưa chạy thực nghiệm.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Breast Cancer Wisconsin Diagnostic có 569 quan sát và 30 đặc trưng số trích từ ảnh nhân tế bào. Hai nhãn của thư viện là 0 cho malignant, tức ác tính, và 1 cho benign, tức lành tính. Tổng thể có 212 mẫu ác tính và 357 mẫu lành tính. Bài không huấn luyện trực tiếp từ ảnh; đầu vào là bộ đặc trưng đã được chuẩn bị. Các cây không yêu cầu chuẩn hóa thang đo như một số phương pháp khoảng cách. Đây là minh họa học thuật, không phải một hệ thống chẩn đoán đã được xác thực.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Chia dữ liệu bằng train_test_split với stratify bằng nhãn và random_state 42. Test có 53 ca ác tính và 90 ca lành tính. Trong train, thử max_depth từ 2 đến 6 bằng StratifiedKFold năm fold, chọn theo balanced accuracy trung bình. Độ sâu 3 đạt khoảng 93,73%, cao nhất trong các ứng viên. Biểu đồ cột chỉ thể hiện phần vượt 90% để nhìn khác biệt; đây không phải trục bắt đầu từ 0. Độ sâu được chọn trên cây đơn và dùng chung cho Bagging và Random Forest. Thiết kế giúp minh họa đơn giản nhưng không phải tìm cấu hình tối ưu riêng cho từng mô hình. Test chỉ được xem sau khi chốt cấu hình.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mã trích lược từ ensemble_model.py để vừa slide; dấu ba chấm thay phần cấp seed riêng cho mỗi cây. de_5_ensemble_learning.py điều phối thí nghiệm và xuất báo cáo. rng.integers tạo N chỉ số trong khoảng từ 0 đến N trừ một, cho phép trùng chỉ số. encoded là nhãn đã ánh xạ sang chỉ số lớp bởi np.unique. Mỗi cây dùng các hàng X và nhãn theo cùng indices. Phần voting khởi tạo ma trận số quan sát nhân số lớp, rồi np.add.at tăng một ở ô tương ứng với từng dự đoán của từng cây. Cuối cùng argmax lấy lớp có nhiều phiếu, rồi ánh xạ về nhãn gốc. Mã kiểm tra dữ liệu, hỗ trợ nhãn không liên tiếp và tương thích clone/CV của sklearn. Không nhận phần cài cây quyết định là tự viết.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 hai phương pháp sử dụng bootstrap nhưng Random Forest ngẫu nhiên hóa cả việc chọn đặc trưng ở từng phép chia. Với mặc định max_features bằng sqrt và 30 đặc trưng, giá trị mục tiêu là 5. Thư viện có thể xem thêm đặc trưng để tìm phép chia hợp lệ, nên không hiểu là giới hạn cứng tuyệt đối trong mọi trường hợp. Khác biệt quan trọng nữa là quy tắc kết hợp: ManualBagging đếm nhãn cứng, RandomForestClassifier lấy trung bình xác suất của các cây rồi chọn lớp lớn nhất. Vì vậy không mô tả thí nghiệm như thể chỉ thay đổi một yếu tố đặc trưng. Đây là hai baseline để đối chiếu, không phải nghiên cứu tách riêng tác động từng thành phần.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chỉ thuộc seed tham chiếu 42: cây đơn đạt accuracy 94,41%, Bagging và Random Forest cùng đạt 95,10%. Precision, recall và F1 lấy ác tính làm lớp dương, mặc dù mã nhãn là 0. Accuracy của Bagging tương đương đúng 136 trên 143 mẫu, cao hơn cây đơn đúng một mẫu. Mức chênh là khoảng 0,70 điểm phần trăm, không phải 0,70% cải thiện tương đối. Hai mô hình có cùng chỉ số tổng hợp không đủ để suy ra giống nhau trên mọi quan sát. Bản nâng cấp còn chạy 10 seed và sẽ báo cáo ở trang tiếp theo; không trộn điểm seed 42 với điểm trung bình nhiều split.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Đánh giá bổ sung gồm các seed cố định từ 42 đến 51, không chọn seed có điểm đẹp nhất. Trong mỗi lần chạy, ba mô hình dùng cùng một train/test phân tầng; độ sâu được chọn lại bằng CV trên train của chính seed đó, sau đó dùng chung. Mỗi test có 143 mẫu nhưng các test giữa các seed có thể giao nhau. Trung bình accuracy của cây đơn, Bagging và Random Forest lần lượt là khoảng 92,80%, 94,76% và 95,03%. SD mẫu dùng ddof bằng 1; độ biến thiên accuracy tương ứng khoảng 1,84, 1,59 và 1,85 điểm phần trăm. Đây là thống kê mô tả chứ không phải khoảng tin cậy độc lập. RF có accuracy trung bình cao hơn nhẹ, Bagging có recall ác tính trung bình cao hơn nhẹ; chưa thể coi là bằng chứng một phương pháp luôn thắng.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Tại seed 42, Bagging có accuracy hard-vote OOB bằng 401 chia 426, khoảng 94,13%, và coverage 100%. Mỗi mẫu nhận phiếu từ 8 đến 34 cây không thấy nó trong bootstrap, không phải cùng nhận đủ 51 phiếu. Mã tính mask không có mặt bằng bincount, rồi chỉ dự đoán các hàng đó để tích lũy phiếu OOB. Với số cây ít hơn có thể có mẫu không nhận phiếu: oob_decision_function_ đánh dấu NaN và điểm chỉ tính trên các mẫu được bao phủ. Quan trọng: độ sâu đã được chọn trên train bằng CV, nên điểm OOB tính sau đó không hoàn toàn độc lập với lựa chọn siêu tham số. OOB là chẩn đoán bổ sung, không thay thế kết quả test riêng và không phải xác suất chẩn đoán.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ma trận này hàng là nhãn thật, cột là nhãn dự đoán; thứ tự cả hai trục là ác tính rồi lành tính. Vì ác tính là lớp dương, ô trên trái là TP, ô trên phải là FN. Cây đơn có TP 48 và FN 5; Bagging có TP 49 và FN 4. Cả hai có FP 3 và TN 87. Recall Bagging bằng 49 chia 53, khoảng 92,45%. Precision bằng 49 chia 52, khoảng 94,23%. Giảm được một ca bỏ sót trên tập test này là một quan sát thực nghiệm, chưa chứng minh lợi ích đáng tin cậy khi triển khai thực tế. Ma trận của Random Forest trùng các số đếm tổng hợp của Bagging trong lần chạy.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trace thật của seed 42, không phải ví dụ giả định. Chương trình chọn mẫu test đầu tiên có phiếu chia hai phía, không chọn theo việc dự đoán đúng. Mẫu ở vị trí test 2 ứng với hàng 291 trong dữ liệu gốc; các chỉ số đều đếm từ 0, không phải mã bệnh nhân. Có 27 phiếu ác tính và 24 phiếu lành tính, nên hard voting chọn ác tính. Nhãn thật là lành tính, do đó đây là một dương tính giả. Có tổng 45 trong 143 mẫu test có bất đồng giữa cây. Tỷ lệ 27 trên 51 là tỷ lệ hard-vote, không phải xác suất bệnh đã hiệu chỉnh. Ví dụ cũ của quan sát test đầu tiên vẫn lưu trong worked_example: 0 phiếu ác và 51 phiếu lành, dự đoán đúng. Hai ví dụ cho thấy đồng thuận hoặc bất đồng đều phải kiểm tra bằng nhãn thật.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 nâng cấp đã chạy 10 seed và báo cáo SD mẫu, nhưng các test có thể giao nhau nên chúng không phải mười tập kiểm định độc lập. Thiết kế chọn độ sâu bằng cây đơn có thể không phải tốt nhất cho Bagging hay Random Forest. OOB là đánh giá phụ vì depth đã chọn trên train trước đó. Nếu tuning riêng hoặc khảo sát số cây, phải dùng train/CV và giữ test ngoài lựa chọn cấu hình. Boosting và Stacking vẫn mới được giải thích lý thuyết, chưa phải mô hình đã đo trong bảng kết quả. Chưa có kiểm định ngoài trên quần thể độc lập; ứng dụng y tế cần dữ liệu và quy trình xác thực phù hợp hơn nhiều.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terminal tại thư mục kho, dùng Python đã cài requirements.txt. Trên Windows có thể dùng py thay python. Thêm --repeats 1 --output-dir outputs/quick để demo nhanh vào thư mục riêng; khi đó summary chỉ có một lần chạy và SD là null, không phải 0. Lệnh không có tham số chạy 10 seed từ 42 đến 51. results.json có seed tham chiếu, OOB, ví dụ bất đồng và tổng hợp nhiều lần chạy; report.md giải thích kết quả. metrics.csv và predictions.csv thuộc seed tham chiếu, repeated_metrics.csv chứa từng seed, summary_metrics.csv chứa mean và SD. Mỗi lần chạy ghi đè các tệp cùng tên trong output-dir; outputs/quick giữ riêng kết quả demo và bảo toàn kết quả 10 seed trong outputs. Các slide này được tạo từ kết quả đầy đủ 10 seed, không được suy ra bảng đó từ demo một seed.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Kết lại ba ý. Một: hiệu quả ensemble đến từ cả chất lượng mô hình cơ sở lẫn sự đa dạng. Hai: Bagging gồm lấy mẫu có hoàn lại, học độc lập và tổng hợp; mã còn có OOB đúng theo các cây chưa thấy mẫu. Ba: seed tham chiếu đạt 95,10% accuracy và vẫn bỏ sót bốn ca ác tính; qua 10 holdout, accuracy trung bình của Bagging khoảng 94,76% với SD mẫu 1,59 điểm phần trăm. Các holdout có giao nhau nên không suy ra độ tin cậy độc lập hoặc hiệu quả lâm sàng. Nếu nhóm ba người, có thể chia trang 1–9, 10–15 và 16–24; đây chỉ là gợi ý, không phải phân công đã xác nhận. Hai trang cuối là phụ lục hỏi đáp và phép tính chỉ số.</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nguồn 1 và 2 là các bài báo gốc về Bagging và Random Forest. Nguồn 6 cho AdaBoost và nguồn 7 cho Stacking. Tài liệu scikit-learn giải thích các lớp thư viện và đặc tính dataset. Số liệu thực nghiệm trong bài được lấy từ outputs/results.json của kho, không lấy từ các bài báo hoặc benchmark bên ngoài. Mã và requirements.txt đi kèm để tái lập; sử dụng cùng seed và phiên bản giúp giảm khác biệt do môi trường. Các URL có thể bấm trong PowerPoint. PDF đề bài yêu cầu đủ nguyên lý, quy trình, ứng dụng và mã nguồn; phần trình bày đã lần lượt bao phủ các nội dung này.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phụ lục cho hỏi đáp, không bắt buộc trình bày hết. Nếu được hỏi số cây có tối ưu không, trả lời trung thực là chưa; 51 là cấu hình minh họa cố định, không chọn dựa trên test. Nếu được hỏi bootstrap có mất dữ liệu không, mỗi cây có thể không thấy một phần dữ liệu nhưng các cây sử dụng các mẫu khác nhau; không đảm bảo mọi mẫu đều được thấy ở mọi cây. Nếu được hỏi vì sao Random Forest bằng Bagging, các số liệu tổng hợp trùng nhau trong lần chạy không chứng minh hai mô hình tương đương. Nếu được hỏi có thể chẩn đoán không, trả lời chưa có kiểm định lâm sàng và thí nghiệm vẫn bỏ sót ca ác tính.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Dùng trang này khi cần giải thích cụ thể các con số. Quy ước dương là ác tính dù mã nhãn bằng 0. TP là ca ác được dự đoán ác; FN là ca ác bị dự đoán lành; FP là ca lành bị dự đoán ác; TN là ca lành được dự đoán lành. Tổng mẫu bằng 49 cộng 4 cộng 3 cộng 87 bằng 143. F1 là trung bình điều hòa của precision và recall, tương đương công thức hai TP chia hai TP cộng FP cộng FN. Balanced accuracy trung bình recall của hai lớp được dùng để chọn độ sâu trong CV, khác accuracy thường ở bảng test. Nếu mẫu test thiếu một lớp thì cần xem lại cách diễn giải; ở đây cả hai lớp đều có mặt.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07/BF00058655" TargetMode="External"/><Relationship Id="rId3" Type="http://schemas.openxmlformats.org/officeDocument/2006/relationships/hyperlink" Target="https://doi.org/10.1023/A:1010933404324" TargetMode="External"/><Relationship Id="rId4" Type="http://schemas.openxmlformats.org/officeDocument/2006/relationships/hyperlink" Target="https://scikit-learn.org/stable/modules/ensemble.html" TargetMode="External"/><Relationship Id="rId5" Type="http://schemas.openxmlformats.org/officeDocument/2006/relationships/hyperlink" Target="https://scikit-learn.org/stable/modules/generated/sklearn.datasets.load_breast_cancer.html" TargetMode="External"/><Relationship Id="rId6" Type="http://schemas.openxmlformats.org/officeDocument/2006/relationships/hyperlink" Target="https://scikit-learn.org/stable/modules/tree.html" TargetMode="External"/><Relationship Id="rId7" Type="http://schemas.openxmlformats.org/officeDocument/2006/relationships/hyperlink" Target="https://doi.org/10.1006/jcss.1997.1504" TargetMode="External"/><Relationship Id="rId8" Type="http://schemas.openxmlformats.org/officeDocument/2006/relationships/hyperlink" Target="https://doi.org/10.1016/S0893-6080(05)80023-1" TargetMode="Externa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37"/>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79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79E2CC"/>
                </a:solidFill>
                <a:latin typeface="Noto Sans"/>
              </a:defRPr>
            </a:pPr>
            <a:r>
              <a:t>TIỂU LUẬN GIỮA KỲ • NHẬP MÔN HỌC MÁY</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FFFFFF"/>
                </a:solidFill>
                <a:latin typeface="Noto Sans"/>
              </a:defRPr>
            </a:pPr>
          </a:p>
        </p:txBody>
      </p:sp>
      <p:cxnSp>
        <p:nvCxnSpPr>
          <p:cNvPr id="5" name="Connector 4"/>
          <p:cNvCxnSpPr/>
          <p:nvPr/>
        </p:nvCxnSpPr>
        <p:spPr>
          <a:xfrm>
            <a:off x="502920" y="6446520"/>
            <a:ext cx="11155680" cy="0"/>
          </a:xfrm>
          <a:prstGeom prst="line">
            <a:avLst/>
          </a:prstGeom>
          <a:ln w="8890">
            <a:solidFill>
              <a:srgbClr val="37516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AFC4CF"/>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AFC4CF"/>
                </a:solidFill>
                <a:latin typeface="Noto Sans"/>
              </a:defRPr>
            </a:pP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79E2CC"/>
                </a:solidFill>
                <a:latin typeface="Noto Sans"/>
              </a:defRPr>
            </a:pPr>
            <a:r>
              <a:t>01</a:t>
            </a:r>
          </a:p>
        </p:txBody>
      </p:sp>
      <p:sp>
        <p:nvSpPr>
          <p:cNvPr id="9" name="TextBox 8"/>
          <p:cNvSpPr txBox="1"/>
          <p:nvPr/>
        </p:nvSpPr>
        <p:spPr>
          <a:xfrm>
            <a:off x="594360" y="1325880"/>
            <a:ext cx="7315200" cy="1691640"/>
          </a:xfrm>
          <a:prstGeom prst="rect">
            <a:avLst/>
          </a:prstGeom>
          <a:noFill/>
        </p:spPr>
        <p:txBody>
          <a:bodyPr wrap="square" lIns="9144" rIns="9144" tIns="9144" bIns="9144" anchor="t">
            <a:spAutoFit/>
          </a:bodyPr>
          <a:lstStyle/>
          <a:p>
            <a:pPr algn="l">
              <a:spcAft>
                <a:spcPts val="500"/>
              </a:spcAft>
              <a:defRPr sz="5500" b="1">
                <a:solidFill>
                  <a:srgbClr val="FFFFFF"/>
                </a:solidFill>
                <a:latin typeface="Noto Sans"/>
              </a:defRPr>
            </a:pPr>
            <a:r>
              <a:t>ENSEMBLE</a:t>
            </a:r>
          </a:p>
          <a:p>
            <a:pPr algn="l">
              <a:spcAft>
                <a:spcPts val="500"/>
              </a:spcAft>
              <a:defRPr sz="5500" b="1">
                <a:solidFill>
                  <a:srgbClr val="FFFFFF"/>
                </a:solidFill>
                <a:latin typeface="Noto Sans"/>
              </a:defRPr>
            </a:pPr>
            <a:r>
              <a:t>LEARNING</a:t>
            </a:r>
          </a:p>
        </p:txBody>
      </p:sp>
      <p:sp>
        <p:nvSpPr>
          <p:cNvPr id="10" name="TextBox 9"/>
          <p:cNvSpPr txBox="1"/>
          <p:nvPr/>
        </p:nvSpPr>
        <p:spPr>
          <a:xfrm>
            <a:off x="621792" y="3337560"/>
            <a:ext cx="7040880" cy="914400"/>
          </a:xfrm>
          <a:prstGeom prst="rect">
            <a:avLst/>
          </a:prstGeom>
          <a:noFill/>
        </p:spPr>
        <p:txBody>
          <a:bodyPr wrap="square" lIns="9144" rIns="9144" tIns="9144" bIns="9144" anchor="t">
            <a:spAutoFit/>
          </a:bodyPr>
          <a:lstStyle/>
          <a:p>
            <a:pPr algn="l">
              <a:spcAft>
                <a:spcPts val="500"/>
              </a:spcAft>
              <a:defRPr sz="2700" b="0">
                <a:solidFill>
                  <a:srgbClr val="79E2CC"/>
                </a:solidFill>
                <a:latin typeface="Noto Sans"/>
              </a:defRPr>
            </a:pPr>
            <a:r>
              <a:t>Từ cây quyết định</a:t>
            </a:r>
          </a:p>
          <a:p>
            <a:pPr algn="l">
              <a:spcAft>
                <a:spcPts val="500"/>
              </a:spcAft>
              <a:defRPr sz="2700" b="0">
                <a:solidFill>
                  <a:srgbClr val="79E2CC"/>
                </a:solidFill>
                <a:latin typeface="Noto Sans"/>
              </a:defRPr>
            </a:pPr>
            <a:r>
              <a:t>đến mô hình tổ hợp</a:t>
            </a:r>
          </a:p>
        </p:txBody>
      </p:sp>
      <p:sp>
        <p:nvSpPr>
          <p:cNvPr id="11" name="TextBox 10"/>
          <p:cNvSpPr txBox="1"/>
          <p:nvPr/>
        </p:nvSpPr>
        <p:spPr>
          <a:xfrm>
            <a:off x="621792" y="4617720"/>
            <a:ext cx="7040880" cy="457200"/>
          </a:xfrm>
          <a:prstGeom prst="rect">
            <a:avLst/>
          </a:prstGeom>
          <a:noFill/>
        </p:spPr>
        <p:txBody>
          <a:bodyPr wrap="square" lIns="9144" rIns="9144" tIns="9144" bIns="9144" anchor="t">
            <a:spAutoFit/>
          </a:bodyPr>
          <a:lstStyle/>
          <a:p>
            <a:pPr algn="l">
              <a:spcAft>
                <a:spcPts val="500"/>
              </a:spcAft>
              <a:defRPr sz="1900" b="0">
                <a:solidFill>
                  <a:srgbClr val="FFFFFF"/>
                </a:solidFill>
                <a:latin typeface="Noto Sans"/>
              </a:defRPr>
            </a:pPr>
            <a:r>
              <a:t>Đề 5  •  Bagging và bỏ phiếu đa số</a:t>
            </a:r>
          </a:p>
        </p:txBody>
      </p:sp>
      <p:sp>
        <p:nvSpPr>
          <p:cNvPr id="12" name="TextBox 11"/>
          <p:cNvSpPr txBox="1"/>
          <p:nvPr/>
        </p:nvSpPr>
        <p:spPr>
          <a:xfrm>
            <a:off x="621792" y="5623560"/>
            <a:ext cx="7772400" cy="502920"/>
          </a:xfrm>
          <a:prstGeom prst="rect">
            <a:avLst/>
          </a:prstGeom>
          <a:noFill/>
        </p:spPr>
        <p:txBody>
          <a:bodyPr wrap="square" lIns="9144" rIns="9144" tIns="9144" bIns="9144" anchor="t">
            <a:spAutoFit/>
          </a:bodyPr>
          <a:lstStyle/>
          <a:p>
            <a:pPr algn="l">
              <a:spcAft>
                <a:spcPts val="500"/>
              </a:spcAft>
              <a:defRPr sz="1400" b="0">
                <a:solidFill>
                  <a:srgbClr val="C9D8DF"/>
                </a:solidFill>
                <a:latin typeface="Noto Sans"/>
              </a:defRPr>
            </a:pPr>
            <a:r>
              <a:t>Nhóm: [Điền tên thành viên]   |   Lớp: [Điền lớp]</a:t>
            </a:r>
          </a:p>
        </p:txBody>
      </p:sp>
      <p:sp>
        <p:nvSpPr>
          <p:cNvPr id="13" name="Oval 12"/>
          <p:cNvSpPr/>
          <p:nvPr/>
        </p:nvSpPr>
        <p:spPr>
          <a:xfrm>
            <a:off x="8595360" y="1417320"/>
            <a:ext cx="914400" cy="914400"/>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0" y="1609344"/>
            <a:ext cx="914400" cy="530352"/>
          </a:xfrm>
          <a:prstGeom prst="rect">
            <a:avLst/>
          </a:prstGeom>
          <a:noFill/>
        </p:spPr>
        <p:txBody>
          <a:bodyPr wrap="square" lIns="9144" rIns="9144" tIns="9144" bIns="9144" anchor="t">
            <a:spAutoFit/>
          </a:bodyPr>
          <a:lstStyle/>
          <a:p>
            <a:pPr algn="ctr">
              <a:spcAft>
                <a:spcPts val="500"/>
              </a:spcAft>
              <a:defRPr sz="2800" b="1">
                <a:solidFill>
                  <a:srgbClr val="FFFFFF"/>
                </a:solidFill>
                <a:latin typeface="Noto Sans"/>
              </a:defRPr>
            </a:pPr>
            <a:r>
              <a:t>h₁</a:t>
            </a:r>
          </a:p>
        </p:txBody>
      </p:sp>
      <p:sp>
        <p:nvSpPr>
          <p:cNvPr id="15" name="Oval 14"/>
          <p:cNvSpPr/>
          <p:nvPr/>
        </p:nvSpPr>
        <p:spPr>
          <a:xfrm>
            <a:off x="9921240" y="2514600"/>
            <a:ext cx="914400" cy="914400"/>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21240" y="2706624"/>
            <a:ext cx="914400" cy="530352"/>
          </a:xfrm>
          <a:prstGeom prst="rect">
            <a:avLst/>
          </a:prstGeom>
          <a:noFill/>
        </p:spPr>
        <p:txBody>
          <a:bodyPr wrap="square" lIns="9144" rIns="9144" tIns="9144" bIns="9144" anchor="t">
            <a:spAutoFit/>
          </a:bodyPr>
          <a:lstStyle/>
          <a:p>
            <a:pPr algn="ctr">
              <a:spcAft>
                <a:spcPts val="500"/>
              </a:spcAft>
              <a:defRPr sz="2800" b="1">
                <a:solidFill>
                  <a:srgbClr val="FFFFFF"/>
                </a:solidFill>
                <a:latin typeface="Noto Sans"/>
              </a:defRPr>
            </a:pPr>
            <a:r>
              <a:t>h₂</a:t>
            </a:r>
          </a:p>
        </p:txBody>
      </p:sp>
      <p:sp>
        <p:nvSpPr>
          <p:cNvPr id="17" name="Oval 16"/>
          <p:cNvSpPr/>
          <p:nvPr/>
        </p:nvSpPr>
        <p:spPr>
          <a:xfrm>
            <a:off x="8595360" y="3611880"/>
            <a:ext cx="914400" cy="914400"/>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3803904"/>
            <a:ext cx="914400" cy="530352"/>
          </a:xfrm>
          <a:prstGeom prst="rect">
            <a:avLst/>
          </a:prstGeom>
          <a:noFill/>
        </p:spPr>
        <p:txBody>
          <a:bodyPr wrap="square" lIns="9144" rIns="9144" tIns="9144" bIns="9144" anchor="t">
            <a:spAutoFit/>
          </a:bodyPr>
          <a:lstStyle/>
          <a:p>
            <a:pPr algn="ctr">
              <a:spcAft>
                <a:spcPts val="500"/>
              </a:spcAft>
              <a:defRPr sz="2800" b="1">
                <a:solidFill>
                  <a:srgbClr val="FFFFFF"/>
                </a:solidFill>
                <a:latin typeface="Noto Sans"/>
              </a:defRPr>
            </a:pPr>
            <a:r>
              <a:t>h₃</a:t>
            </a:r>
          </a:p>
        </p:txBody>
      </p:sp>
      <p:cxnSp>
        <p:nvCxnSpPr>
          <p:cNvPr id="19" name="Connector 18"/>
          <p:cNvCxnSpPr/>
          <p:nvPr/>
        </p:nvCxnSpPr>
        <p:spPr>
          <a:xfrm>
            <a:off x="9509760" y="1874519"/>
            <a:ext cx="960120" cy="3246121"/>
          </a:xfrm>
          <a:prstGeom prst="line">
            <a:avLst/>
          </a:prstGeom>
          <a:ln w="25400">
            <a:solidFill>
              <a:srgbClr val="79E2C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378440" y="3429000"/>
            <a:ext cx="91440" cy="1691640"/>
          </a:xfrm>
          <a:prstGeom prst="line">
            <a:avLst/>
          </a:prstGeom>
          <a:ln w="25400">
            <a:solidFill>
              <a:srgbClr val="79E2C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509760" y="4069080"/>
            <a:ext cx="960120" cy="1051560"/>
          </a:xfrm>
          <a:prstGeom prst="line">
            <a:avLst/>
          </a:prstGeom>
          <a:ln w="25400">
            <a:solidFill>
              <a:srgbClr val="79E2CC"/>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9902952" y="4846320"/>
            <a:ext cx="1143000" cy="1143000"/>
          </a:xfrm>
          <a:prstGeom prst="ellipse">
            <a:avLst/>
          </a:prstGeom>
          <a:solidFill>
            <a:srgbClr val="E67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02952" y="5086350"/>
            <a:ext cx="1143000" cy="662940"/>
          </a:xfrm>
          <a:prstGeom prst="rect">
            <a:avLst/>
          </a:prstGeom>
          <a:noFill/>
        </p:spPr>
        <p:txBody>
          <a:bodyPr wrap="square" lIns="9144" rIns="9144" tIns="9144" bIns="9144" anchor="t">
            <a:spAutoFit/>
          </a:bodyPr>
          <a:lstStyle/>
          <a:p>
            <a:pPr algn="ctr">
              <a:spcAft>
                <a:spcPts val="500"/>
              </a:spcAft>
              <a:defRPr sz="3400" b="1">
                <a:solidFill>
                  <a:srgbClr val="FFFFFF"/>
                </a:solidFill>
                <a:latin typeface="Noto Sans"/>
              </a:defRPr>
            </a:pPr>
            <a:r>
              <a: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01 • Ý TƯỞNG</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Nhiều mô hình chỉ hữu ích khi có sự đa dạng</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[1], [2], [3]</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02</a:t>
            </a:r>
          </a:p>
        </p:txBody>
      </p:sp>
      <p:sp>
        <p:nvSpPr>
          <p:cNvPr id="9" name="TextBox 8"/>
          <p:cNvSpPr txBox="1"/>
          <p:nvPr/>
        </p:nvSpPr>
        <p:spPr>
          <a:xfrm>
            <a:off x="594360" y="1783080"/>
            <a:ext cx="5303520" cy="1280160"/>
          </a:xfrm>
          <a:prstGeom prst="rect">
            <a:avLst/>
          </a:prstGeom>
          <a:noFill/>
        </p:spPr>
        <p:txBody>
          <a:bodyPr wrap="square" lIns="9144" rIns="9144" tIns="9144" bIns="9144" anchor="t">
            <a:spAutoFit/>
          </a:bodyPr>
          <a:lstStyle/>
          <a:p>
            <a:pPr algn="l">
              <a:spcAft>
                <a:spcPts val="500"/>
              </a:spcAft>
              <a:defRPr sz="2800" b="1">
                <a:solidFill>
                  <a:srgbClr val="173246"/>
                </a:solidFill>
                <a:latin typeface="Noto Sans"/>
              </a:defRPr>
            </a:pPr>
            <a:r>
              <a:t>Một mô hình có thể sai.</a:t>
            </a:r>
          </a:p>
          <a:p>
            <a:pPr algn="l">
              <a:spcAft>
                <a:spcPts val="500"/>
              </a:spcAft>
              <a:defRPr sz="2800" b="1">
                <a:solidFill>
                  <a:srgbClr val="173246"/>
                </a:solidFill>
                <a:latin typeface="Noto Sans"/>
              </a:defRPr>
            </a:pPr>
            <a:r>
              <a:t>Một tập mô hình có thể bù lỗi cho nhau.</a:t>
            </a:r>
          </a:p>
        </p:txBody>
      </p:sp>
      <p:sp>
        <p:nvSpPr>
          <p:cNvPr id="10" name="TextBox 9"/>
          <p:cNvSpPr txBox="1"/>
          <p:nvPr/>
        </p:nvSpPr>
        <p:spPr>
          <a:xfrm>
            <a:off x="594360" y="3429000"/>
            <a:ext cx="4846320" cy="1143000"/>
          </a:xfrm>
          <a:prstGeom prst="rect">
            <a:avLst/>
          </a:prstGeom>
          <a:noFill/>
        </p:spPr>
        <p:txBody>
          <a:bodyPr wrap="square" lIns="9144" rIns="9144" tIns="9144" bIns="9144" anchor="t">
            <a:spAutoFit/>
          </a:bodyPr>
          <a:lstStyle/>
          <a:p>
            <a:pPr algn="l">
              <a:spcAft>
                <a:spcPts val="500"/>
              </a:spcAft>
              <a:defRPr sz="2000" b="0">
                <a:solidFill>
                  <a:srgbClr val="566A76"/>
                </a:solidFill>
                <a:latin typeface="Noto Sans"/>
              </a:defRPr>
            </a:pPr>
            <a:r>
              <a:t>Điều kiện: mô hình cơ sở đủ tốt</a:t>
            </a:r>
          </a:p>
          <a:p>
            <a:pPr algn="l">
              <a:spcAft>
                <a:spcPts val="500"/>
              </a:spcAft>
              <a:defRPr sz="2000" b="0">
                <a:solidFill>
                  <a:srgbClr val="566A76"/>
                </a:solidFill>
                <a:latin typeface="Noto Sans"/>
              </a:defRPr>
            </a:pPr>
            <a:r>
              <a:t>và lỗi không hoàn toàn giống nhau.</a:t>
            </a:r>
          </a:p>
        </p:txBody>
      </p:sp>
      <p:sp>
        <p:nvSpPr>
          <p:cNvPr id="11" name="Rounded Rectangle 10"/>
          <p:cNvSpPr/>
          <p:nvPr/>
        </p:nvSpPr>
        <p:spPr>
          <a:xfrm>
            <a:off x="6400800" y="1828800"/>
            <a:ext cx="1920240" cy="7315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2011680"/>
            <a:ext cx="1645920" cy="365760"/>
          </a:xfrm>
          <a:prstGeom prst="rect">
            <a:avLst/>
          </a:prstGeom>
          <a:noFill/>
        </p:spPr>
        <p:txBody>
          <a:bodyPr wrap="square" lIns="9144" rIns="9144" tIns="9144" bIns="9144" anchor="t">
            <a:spAutoFit/>
          </a:bodyPr>
          <a:lstStyle/>
          <a:p>
            <a:pPr algn="l">
              <a:spcAft>
                <a:spcPts val="500"/>
              </a:spcAft>
              <a:defRPr sz="1900" b="1">
                <a:solidFill>
                  <a:srgbClr val="173246"/>
                </a:solidFill>
                <a:latin typeface="Noto Sans"/>
              </a:defRPr>
            </a:pPr>
            <a:r>
              <a:t>Cây 1</a:t>
            </a:r>
          </a:p>
        </p:txBody>
      </p:sp>
      <p:sp>
        <p:nvSpPr>
          <p:cNvPr id="13" name="Right Arrow 12"/>
          <p:cNvSpPr/>
          <p:nvPr/>
        </p:nvSpPr>
        <p:spPr>
          <a:xfrm>
            <a:off x="8458200" y="2075688"/>
            <a:ext cx="384048" cy="228600"/>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06840" y="1965960"/>
            <a:ext cx="2286000" cy="457200"/>
          </a:xfrm>
          <a:prstGeom prst="rect">
            <a:avLst/>
          </a:prstGeom>
          <a:noFill/>
        </p:spPr>
        <p:txBody>
          <a:bodyPr wrap="square" lIns="9144" rIns="9144" tIns="9144" bIns="9144" anchor="t">
            <a:spAutoFit/>
          </a:bodyPr>
          <a:lstStyle/>
          <a:p>
            <a:pPr algn="l">
              <a:spcAft>
                <a:spcPts val="500"/>
              </a:spcAft>
              <a:defRPr sz="2100" b="1">
                <a:solidFill>
                  <a:srgbClr val="087E83"/>
                </a:solidFill>
                <a:latin typeface="Noto Sans"/>
              </a:defRPr>
            </a:pPr>
            <a:r>
              <a:t>Ác tính</a:t>
            </a:r>
          </a:p>
        </p:txBody>
      </p:sp>
      <p:sp>
        <p:nvSpPr>
          <p:cNvPr id="15" name="Rounded Rectangle 14"/>
          <p:cNvSpPr/>
          <p:nvPr/>
        </p:nvSpPr>
        <p:spPr>
          <a:xfrm>
            <a:off x="6400800" y="2926080"/>
            <a:ext cx="1920240" cy="7315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3108960"/>
            <a:ext cx="1645920" cy="365760"/>
          </a:xfrm>
          <a:prstGeom prst="rect">
            <a:avLst/>
          </a:prstGeom>
          <a:noFill/>
        </p:spPr>
        <p:txBody>
          <a:bodyPr wrap="square" lIns="9144" rIns="9144" tIns="9144" bIns="9144" anchor="t">
            <a:spAutoFit/>
          </a:bodyPr>
          <a:lstStyle/>
          <a:p>
            <a:pPr algn="l">
              <a:spcAft>
                <a:spcPts val="500"/>
              </a:spcAft>
              <a:defRPr sz="1900" b="1">
                <a:solidFill>
                  <a:srgbClr val="173246"/>
                </a:solidFill>
                <a:latin typeface="Noto Sans"/>
              </a:defRPr>
            </a:pPr>
            <a:r>
              <a:t>Cây 2</a:t>
            </a:r>
          </a:p>
        </p:txBody>
      </p:sp>
      <p:sp>
        <p:nvSpPr>
          <p:cNvPr id="17" name="Right Arrow 16"/>
          <p:cNvSpPr/>
          <p:nvPr/>
        </p:nvSpPr>
        <p:spPr>
          <a:xfrm>
            <a:off x="8458200" y="3172968"/>
            <a:ext cx="384048" cy="228600"/>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06840" y="3063240"/>
            <a:ext cx="2286000" cy="457200"/>
          </a:xfrm>
          <a:prstGeom prst="rect">
            <a:avLst/>
          </a:prstGeom>
          <a:noFill/>
        </p:spPr>
        <p:txBody>
          <a:bodyPr wrap="square" lIns="9144" rIns="9144" tIns="9144" bIns="9144" anchor="t">
            <a:spAutoFit/>
          </a:bodyPr>
          <a:lstStyle/>
          <a:p>
            <a:pPr algn="l">
              <a:spcAft>
                <a:spcPts val="500"/>
              </a:spcAft>
              <a:defRPr sz="2100" b="1">
                <a:solidFill>
                  <a:srgbClr val="566A76"/>
                </a:solidFill>
                <a:latin typeface="Noto Sans"/>
              </a:defRPr>
            </a:pPr>
            <a:r>
              <a:t>Lành tính</a:t>
            </a:r>
          </a:p>
        </p:txBody>
      </p:sp>
      <p:sp>
        <p:nvSpPr>
          <p:cNvPr id="19" name="Rounded Rectangle 18"/>
          <p:cNvSpPr/>
          <p:nvPr/>
        </p:nvSpPr>
        <p:spPr>
          <a:xfrm>
            <a:off x="6400800" y="4023360"/>
            <a:ext cx="1920240" cy="7315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4206240"/>
            <a:ext cx="1645920" cy="365760"/>
          </a:xfrm>
          <a:prstGeom prst="rect">
            <a:avLst/>
          </a:prstGeom>
          <a:noFill/>
        </p:spPr>
        <p:txBody>
          <a:bodyPr wrap="square" lIns="9144" rIns="9144" tIns="9144" bIns="9144" anchor="t">
            <a:spAutoFit/>
          </a:bodyPr>
          <a:lstStyle/>
          <a:p>
            <a:pPr algn="l">
              <a:spcAft>
                <a:spcPts val="500"/>
              </a:spcAft>
              <a:defRPr sz="1900" b="1">
                <a:solidFill>
                  <a:srgbClr val="173246"/>
                </a:solidFill>
                <a:latin typeface="Noto Sans"/>
              </a:defRPr>
            </a:pPr>
            <a:r>
              <a:t>Cây 3</a:t>
            </a:r>
          </a:p>
        </p:txBody>
      </p:sp>
      <p:sp>
        <p:nvSpPr>
          <p:cNvPr id="21" name="Right Arrow 20"/>
          <p:cNvSpPr/>
          <p:nvPr/>
        </p:nvSpPr>
        <p:spPr>
          <a:xfrm>
            <a:off x="8458200" y="4270248"/>
            <a:ext cx="384048" cy="228600"/>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06840" y="4160520"/>
            <a:ext cx="2286000" cy="457200"/>
          </a:xfrm>
          <a:prstGeom prst="rect">
            <a:avLst/>
          </a:prstGeom>
          <a:noFill/>
        </p:spPr>
        <p:txBody>
          <a:bodyPr wrap="square" lIns="9144" rIns="9144" tIns="9144" bIns="9144" anchor="t">
            <a:spAutoFit/>
          </a:bodyPr>
          <a:lstStyle/>
          <a:p>
            <a:pPr algn="l">
              <a:spcAft>
                <a:spcPts val="500"/>
              </a:spcAft>
              <a:defRPr sz="2100" b="1">
                <a:solidFill>
                  <a:srgbClr val="087E83"/>
                </a:solidFill>
                <a:latin typeface="Noto Sans"/>
              </a:defRPr>
            </a:pPr>
            <a:r>
              <a:t>Ác tính</a:t>
            </a:r>
          </a:p>
        </p:txBody>
      </p:sp>
      <p:sp>
        <p:nvSpPr>
          <p:cNvPr id="23" name="Rounded Rectangle 22"/>
          <p:cNvSpPr/>
          <p:nvPr/>
        </p:nvSpPr>
        <p:spPr>
          <a:xfrm>
            <a:off x="594360" y="5349240"/>
            <a:ext cx="10927080" cy="658368"/>
          </a:xfrm>
          <a:prstGeom prst="roundRect">
            <a:avLst>
              <a:gd name="adj" fmla="val 12000"/>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504688"/>
            <a:ext cx="10515600" cy="365760"/>
          </a:xfrm>
          <a:prstGeom prst="rect">
            <a:avLst/>
          </a:prstGeom>
          <a:noFill/>
        </p:spPr>
        <p:txBody>
          <a:bodyPr wrap="square" lIns="9144" rIns="9144" tIns="9144" bIns="9144" anchor="t">
            <a:spAutoFit/>
          </a:bodyPr>
          <a:lstStyle/>
          <a:p>
            <a:pPr algn="l">
              <a:spcAft>
                <a:spcPts val="500"/>
              </a:spcAft>
              <a:defRPr sz="1900" b="0">
                <a:solidFill>
                  <a:srgbClr val="FFFFFF"/>
                </a:solidFill>
                <a:latin typeface="Noto Sans"/>
              </a:defRPr>
            </a:pPr>
            <a:r>
              <a:t>Lộ trình: Nguyên lý  →  Ví dụ từng bước  →  Mã nguồn  →  Thực nghiệm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01 • BẢN ĐỒ PHƯƠNG PHÁP</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Bốn cách kết hợp thường gặp</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[3]</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03</a:t>
            </a:r>
          </a:p>
        </p:txBody>
      </p:sp>
      <p:sp>
        <p:nvSpPr>
          <p:cNvPr id="9" name="Rounded Rectangle 8"/>
          <p:cNvSpPr/>
          <p:nvPr/>
        </p:nvSpPr>
        <p:spPr>
          <a:xfrm>
            <a:off x="548640" y="1783080"/>
            <a:ext cx="2633472" cy="4206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201168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03704"/>
            <a:ext cx="2176272"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BAGGING</a:t>
            </a:r>
          </a:p>
        </p:txBody>
      </p:sp>
      <p:sp>
        <p:nvSpPr>
          <p:cNvPr id="12" name="TextBox 11"/>
          <p:cNvSpPr txBox="1"/>
          <p:nvPr/>
        </p:nvSpPr>
        <p:spPr>
          <a:xfrm>
            <a:off x="777240" y="2953512"/>
            <a:ext cx="2176272" cy="2926079"/>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p>
        </p:txBody>
      </p:sp>
      <p:sp>
        <p:nvSpPr>
          <p:cNvPr id="13" name="Rounded Rectangle 12"/>
          <p:cNvSpPr/>
          <p:nvPr/>
        </p:nvSpPr>
        <p:spPr>
          <a:xfrm>
            <a:off x="768096" y="2880360"/>
            <a:ext cx="2148840" cy="292608"/>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7" y="2912364"/>
            <a:ext cx="2002536" cy="228600"/>
          </a:xfrm>
          <a:prstGeom prst="rect">
            <a:avLst/>
          </a:prstGeom>
          <a:noFill/>
        </p:spPr>
        <p:txBody>
          <a:bodyPr wrap="square" lIns="9144" rIns="9144" tIns="9144" bIns="9144" anchor="t">
            <a:spAutoFit/>
          </a:bodyPr>
          <a:lstStyle/>
          <a:p>
            <a:pPr algn="l">
              <a:spcAft>
                <a:spcPts val="500"/>
              </a:spcAft>
              <a:defRPr sz="1000" b="1">
                <a:solidFill>
                  <a:srgbClr val="FFFFFF"/>
                </a:solidFill>
                <a:latin typeface="Noto Sans"/>
              </a:defRPr>
            </a:pPr>
            <a:r>
              <a:t>Song song</a:t>
            </a:r>
          </a:p>
        </p:txBody>
      </p:sp>
      <p:sp>
        <p:nvSpPr>
          <p:cNvPr id="15" name="TextBox 14"/>
          <p:cNvSpPr txBox="1"/>
          <p:nvPr/>
        </p:nvSpPr>
        <p:spPr>
          <a:xfrm>
            <a:off x="777240" y="3520440"/>
            <a:ext cx="2176272" cy="146304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Nhiều mẫu bootstrap</a:t>
            </a:r>
          </a:p>
          <a:p>
            <a:pPr algn="l">
              <a:spcAft>
                <a:spcPts val="500"/>
              </a:spcAft>
              <a:defRPr sz="1800" b="0">
                <a:solidFill>
                  <a:srgbClr val="566A76"/>
                </a:solidFill>
                <a:latin typeface="Noto Sans"/>
              </a:defRPr>
            </a:pPr>
            <a:r>
              <a:t>→ nhiều mô hình</a:t>
            </a:r>
          </a:p>
          <a:p>
            <a:pPr algn="l">
              <a:spcAft>
                <a:spcPts val="500"/>
              </a:spcAft>
              <a:defRPr sz="1800" b="0">
                <a:solidFill>
                  <a:srgbClr val="566A76"/>
                </a:solidFill>
                <a:latin typeface="Noto Sans"/>
              </a:defRPr>
            </a:pPr>
            <a:r>
              <a:t>→ tổng hợp dự đoán</a:t>
            </a:r>
          </a:p>
        </p:txBody>
      </p:sp>
      <p:sp>
        <p:nvSpPr>
          <p:cNvPr id="16" name="TextBox 15"/>
          <p:cNvSpPr txBox="1"/>
          <p:nvPr/>
        </p:nvSpPr>
        <p:spPr>
          <a:xfrm>
            <a:off x="777240" y="5257800"/>
            <a:ext cx="2194560" cy="502920"/>
          </a:xfrm>
          <a:prstGeom prst="rect">
            <a:avLst/>
          </a:prstGeom>
          <a:noFill/>
        </p:spPr>
        <p:txBody>
          <a:bodyPr wrap="square" lIns="9144" rIns="9144" tIns="9144" bIns="9144" anchor="t">
            <a:spAutoFit/>
          </a:bodyPr>
          <a:lstStyle/>
          <a:p>
            <a:pPr algn="l">
              <a:spcAft>
                <a:spcPts val="500"/>
              </a:spcAft>
              <a:defRPr sz="1300" b="1">
                <a:solidFill>
                  <a:srgbClr val="087E83"/>
                </a:solidFill>
                <a:latin typeface="Noto Sans"/>
              </a:defRPr>
            </a:pPr>
            <a:r>
              <a:t>Ví dụ: Bagged Trees</a:t>
            </a:r>
          </a:p>
        </p:txBody>
      </p:sp>
      <p:sp>
        <p:nvSpPr>
          <p:cNvPr id="17" name="Rounded Rectangle 16"/>
          <p:cNvSpPr/>
          <p:nvPr/>
        </p:nvSpPr>
        <p:spPr>
          <a:xfrm>
            <a:off x="3364992" y="1783080"/>
            <a:ext cx="2633472" cy="4206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66160" y="2011680"/>
            <a:ext cx="384048" cy="50292"/>
          </a:xfrm>
          <a:prstGeom prst="rect">
            <a:avLst/>
          </a:prstGeom>
          <a:solidFill>
            <a:srgbClr val="E67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93592" y="2203704"/>
            <a:ext cx="2176272"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BOOSTING</a:t>
            </a:r>
          </a:p>
        </p:txBody>
      </p:sp>
      <p:sp>
        <p:nvSpPr>
          <p:cNvPr id="20" name="TextBox 19"/>
          <p:cNvSpPr txBox="1"/>
          <p:nvPr/>
        </p:nvSpPr>
        <p:spPr>
          <a:xfrm>
            <a:off x="3593592" y="2953512"/>
            <a:ext cx="2176272" cy="2926079"/>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p>
        </p:txBody>
      </p:sp>
      <p:sp>
        <p:nvSpPr>
          <p:cNvPr id="21" name="Rounded Rectangle 20"/>
          <p:cNvSpPr/>
          <p:nvPr/>
        </p:nvSpPr>
        <p:spPr>
          <a:xfrm>
            <a:off x="3584448" y="2880360"/>
            <a:ext cx="2148840" cy="292608"/>
          </a:xfrm>
          <a:prstGeom prst="roundRect">
            <a:avLst>
              <a:gd name="adj" fmla="val 12000"/>
            </a:avLst>
          </a:prstGeom>
          <a:solidFill>
            <a:srgbClr val="E67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0" y="2912364"/>
            <a:ext cx="2002536" cy="228600"/>
          </a:xfrm>
          <a:prstGeom prst="rect">
            <a:avLst/>
          </a:prstGeom>
          <a:noFill/>
        </p:spPr>
        <p:txBody>
          <a:bodyPr wrap="square" lIns="9144" rIns="9144" tIns="9144" bIns="9144" anchor="t">
            <a:spAutoFit/>
          </a:bodyPr>
          <a:lstStyle/>
          <a:p>
            <a:pPr algn="l">
              <a:spcAft>
                <a:spcPts val="500"/>
              </a:spcAft>
              <a:defRPr sz="1000" b="1">
                <a:solidFill>
                  <a:srgbClr val="FFFFFF"/>
                </a:solidFill>
                <a:latin typeface="Noto Sans"/>
              </a:defRPr>
            </a:pPr>
            <a:r>
              <a:t>Tuần tự</a:t>
            </a:r>
          </a:p>
        </p:txBody>
      </p:sp>
      <p:sp>
        <p:nvSpPr>
          <p:cNvPr id="23" name="TextBox 22"/>
          <p:cNvSpPr txBox="1"/>
          <p:nvPr/>
        </p:nvSpPr>
        <p:spPr>
          <a:xfrm>
            <a:off x="3593592" y="3520440"/>
            <a:ext cx="2176272" cy="146304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Mô hình sau tập trung</a:t>
            </a:r>
          </a:p>
          <a:p>
            <a:pPr algn="l">
              <a:spcAft>
                <a:spcPts val="500"/>
              </a:spcAft>
              <a:defRPr sz="1800" b="0">
                <a:solidFill>
                  <a:srgbClr val="566A76"/>
                </a:solidFill>
                <a:latin typeface="Noto Sans"/>
              </a:defRPr>
            </a:pPr>
            <a:r>
              <a:t>vào sai sót / phần dư</a:t>
            </a:r>
          </a:p>
          <a:p>
            <a:pPr algn="l">
              <a:spcAft>
                <a:spcPts val="500"/>
              </a:spcAft>
              <a:defRPr sz="1800" b="0">
                <a:solidFill>
                  <a:srgbClr val="566A76"/>
                </a:solidFill>
                <a:latin typeface="Noto Sans"/>
              </a:defRPr>
            </a:pPr>
            <a:r>
              <a:t>của mô hình trước</a:t>
            </a:r>
          </a:p>
        </p:txBody>
      </p:sp>
      <p:sp>
        <p:nvSpPr>
          <p:cNvPr id="24" name="TextBox 23"/>
          <p:cNvSpPr txBox="1"/>
          <p:nvPr/>
        </p:nvSpPr>
        <p:spPr>
          <a:xfrm>
            <a:off x="3593592" y="5257800"/>
            <a:ext cx="2194560" cy="502920"/>
          </a:xfrm>
          <a:prstGeom prst="rect">
            <a:avLst/>
          </a:prstGeom>
          <a:noFill/>
        </p:spPr>
        <p:txBody>
          <a:bodyPr wrap="square" lIns="9144" rIns="9144" tIns="9144" bIns="9144" anchor="t">
            <a:spAutoFit/>
          </a:bodyPr>
          <a:lstStyle/>
          <a:p>
            <a:pPr algn="l">
              <a:spcAft>
                <a:spcPts val="500"/>
              </a:spcAft>
              <a:defRPr sz="1300" b="1">
                <a:solidFill>
                  <a:srgbClr val="087E83"/>
                </a:solidFill>
                <a:latin typeface="Noto Sans"/>
              </a:defRPr>
            </a:pPr>
            <a:r>
              <a:t>Ví dụ: AdaBoost, GBM</a:t>
            </a:r>
          </a:p>
        </p:txBody>
      </p:sp>
      <p:sp>
        <p:nvSpPr>
          <p:cNvPr id="25" name="Rounded Rectangle 24"/>
          <p:cNvSpPr/>
          <p:nvPr/>
        </p:nvSpPr>
        <p:spPr>
          <a:xfrm>
            <a:off x="6181344" y="1783080"/>
            <a:ext cx="2633472" cy="4206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82512" y="201168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9944" y="2203704"/>
            <a:ext cx="2176272"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VOTING</a:t>
            </a:r>
          </a:p>
        </p:txBody>
      </p:sp>
      <p:sp>
        <p:nvSpPr>
          <p:cNvPr id="28" name="TextBox 27"/>
          <p:cNvSpPr txBox="1"/>
          <p:nvPr/>
        </p:nvSpPr>
        <p:spPr>
          <a:xfrm>
            <a:off x="6409944" y="2953512"/>
            <a:ext cx="2176272" cy="2926079"/>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p>
        </p:txBody>
      </p:sp>
      <p:sp>
        <p:nvSpPr>
          <p:cNvPr id="29" name="Rounded Rectangle 28"/>
          <p:cNvSpPr/>
          <p:nvPr/>
        </p:nvSpPr>
        <p:spPr>
          <a:xfrm>
            <a:off x="6400800" y="2880360"/>
            <a:ext cx="2148840" cy="292608"/>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2912364"/>
            <a:ext cx="2002536" cy="228600"/>
          </a:xfrm>
          <a:prstGeom prst="rect">
            <a:avLst/>
          </a:prstGeom>
          <a:noFill/>
        </p:spPr>
        <p:txBody>
          <a:bodyPr wrap="square" lIns="9144" rIns="9144" tIns="9144" bIns="9144" anchor="t">
            <a:spAutoFit/>
          </a:bodyPr>
          <a:lstStyle/>
          <a:p>
            <a:pPr algn="l">
              <a:spcAft>
                <a:spcPts val="500"/>
              </a:spcAft>
              <a:defRPr sz="1000" b="1">
                <a:solidFill>
                  <a:srgbClr val="FFFFFF"/>
                </a:solidFill>
                <a:latin typeface="Noto Sans"/>
              </a:defRPr>
            </a:pPr>
            <a:r>
              <a:t>Quy tắc kết hợp</a:t>
            </a:r>
          </a:p>
        </p:txBody>
      </p:sp>
      <p:sp>
        <p:nvSpPr>
          <p:cNvPr id="31" name="TextBox 30"/>
          <p:cNvSpPr txBox="1"/>
          <p:nvPr/>
        </p:nvSpPr>
        <p:spPr>
          <a:xfrm>
            <a:off x="6409944" y="3520440"/>
            <a:ext cx="2176272" cy="146304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Kết hợp nhãn dự đoán</a:t>
            </a:r>
          </a:p>
          <a:p>
            <a:pPr algn="l">
              <a:spcAft>
                <a:spcPts val="500"/>
              </a:spcAft>
              <a:defRPr sz="1800" b="0">
                <a:solidFill>
                  <a:srgbClr val="566A76"/>
                </a:solidFill>
                <a:latin typeface="Noto Sans"/>
              </a:defRPr>
            </a:pPr>
            <a:r>
              <a:t>hoặc xác suất lớp</a:t>
            </a:r>
          </a:p>
          <a:p>
            <a:pPr algn="l">
              <a:spcAft>
                <a:spcPts val="500"/>
              </a:spcAft>
              <a:defRPr sz="1800" b="0">
                <a:solidFill>
                  <a:srgbClr val="566A76"/>
                </a:solidFill>
                <a:latin typeface="Noto Sans"/>
              </a:defRPr>
            </a:pPr>
            <a:r>
              <a:t>của nhiều mô hình</a:t>
            </a:r>
          </a:p>
        </p:txBody>
      </p:sp>
      <p:sp>
        <p:nvSpPr>
          <p:cNvPr id="32" name="TextBox 31"/>
          <p:cNvSpPr txBox="1"/>
          <p:nvPr/>
        </p:nvSpPr>
        <p:spPr>
          <a:xfrm>
            <a:off x="6409944" y="5257800"/>
            <a:ext cx="2194560" cy="502920"/>
          </a:xfrm>
          <a:prstGeom prst="rect">
            <a:avLst/>
          </a:prstGeom>
          <a:noFill/>
        </p:spPr>
        <p:txBody>
          <a:bodyPr wrap="square" lIns="9144" rIns="9144" tIns="9144" bIns="9144" anchor="t">
            <a:spAutoFit/>
          </a:bodyPr>
          <a:lstStyle/>
          <a:p>
            <a:pPr algn="l">
              <a:spcAft>
                <a:spcPts val="500"/>
              </a:spcAft>
              <a:defRPr sz="1300" b="1">
                <a:solidFill>
                  <a:srgbClr val="087E83"/>
                </a:solidFill>
                <a:latin typeface="Noto Sans"/>
              </a:defRPr>
            </a:pPr>
            <a:r>
              <a:t>Hard / Soft Voting</a:t>
            </a:r>
          </a:p>
        </p:txBody>
      </p:sp>
      <p:sp>
        <p:nvSpPr>
          <p:cNvPr id="33" name="Rounded Rectangle 32"/>
          <p:cNvSpPr/>
          <p:nvPr/>
        </p:nvSpPr>
        <p:spPr>
          <a:xfrm>
            <a:off x="8997696" y="1783080"/>
            <a:ext cx="2633472" cy="4206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98864" y="201168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26296" y="2203704"/>
            <a:ext cx="2176272"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STACKING</a:t>
            </a:r>
          </a:p>
        </p:txBody>
      </p:sp>
      <p:sp>
        <p:nvSpPr>
          <p:cNvPr id="36" name="TextBox 35"/>
          <p:cNvSpPr txBox="1"/>
          <p:nvPr/>
        </p:nvSpPr>
        <p:spPr>
          <a:xfrm>
            <a:off x="9226296" y="2953512"/>
            <a:ext cx="2176272" cy="2926079"/>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p>
        </p:txBody>
      </p:sp>
      <p:sp>
        <p:nvSpPr>
          <p:cNvPr id="37" name="Rounded Rectangle 36"/>
          <p:cNvSpPr/>
          <p:nvPr/>
        </p:nvSpPr>
        <p:spPr>
          <a:xfrm>
            <a:off x="9217152" y="2880360"/>
            <a:ext cx="2148840" cy="292608"/>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90304" y="2912364"/>
            <a:ext cx="2002536" cy="228600"/>
          </a:xfrm>
          <a:prstGeom prst="rect">
            <a:avLst/>
          </a:prstGeom>
          <a:noFill/>
        </p:spPr>
        <p:txBody>
          <a:bodyPr wrap="square" lIns="9144" rIns="9144" tIns="9144" bIns="9144" anchor="t">
            <a:spAutoFit/>
          </a:bodyPr>
          <a:lstStyle/>
          <a:p>
            <a:pPr algn="l">
              <a:spcAft>
                <a:spcPts val="500"/>
              </a:spcAft>
              <a:defRPr sz="1000" b="1">
                <a:solidFill>
                  <a:srgbClr val="FFFFFF"/>
                </a:solidFill>
                <a:latin typeface="Noto Sans"/>
              </a:defRPr>
            </a:pPr>
            <a:r>
              <a:t>Học cách kết hợp</a:t>
            </a:r>
          </a:p>
        </p:txBody>
      </p:sp>
      <p:sp>
        <p:nvSpPr>
          <p:cNvPr id="39" name="TextBox 38"/>
          <p:cNvSpPr txBox="1"/>
          <p:nvPr/>
        </p:nvSpPr>
        <p:spPr>
          <a:xfrm>
            <a:off x="9226296" y="3520440"/>
            <a:ext cx="2176272" cy="146304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Dự đoán ngoài fold</a:t>
            </a:r>
          </a:p>
          <a:p>
            <a:pPr algn="l">
              <a:spcAft>
                <a:spcPts val="500"/>
              </a:spcAft>
              <a:defRPr sz="1800" b="0">
                <a:solidFill>
                  <a:srgbClr val="566A76"/>
                </a:solidFill>
                <a:latin typeface="Noto Sans"/>
              </a:defRPr>
            </a:pPr>
            <a:r>
              <a:t>→ tạo đặc trưng mới</a:t>
            </a:r>
          </a:p>
          <a:p>
            <a:pPr algn="l">
              <a:spcAft>
                <a:spcPts val="500"/>
              </a:spcAft>
              <a:defRPr sz="1800" b="0">
                <a:solidFill>
                  <a:srgbClr val="566A76"/>
                </a:solidFill>
                <a:latin typeface="Noto Sans"/>
              </a:defRPr>
            </a:pPr>
            <a:r>
              <a:t>→ mô hình tầng hai</a:t>
            </a:r>
          </a:p>
        </p:txBody>
      </p:sp>
      <p:sp>
        <p:nvSpPr>
          <p:cNvPr id="40" name="TextBox 39"/>
          <p:cNvSpPr txBox="1"/>
          <p:nvPr/>
        </p:nvSpPr>
        <p:spPr>
          <a:xfrm>
            <a:off x="9226296" y="5257800"/>
            <a:ext cx="2194560" cy="502920"/>
          </a:xfrm>
          <a:prstGeom prst="rect">
            <a:avLst/>
          </a:prstGeom>
          <a:noFill/>
        </p:spPr>
        <p:txBody>
          <a:bodyPr wrap="square" lIns="9144" rIns="9144" tIns="9144" bIns="9144" anchor="t">
            <a:spAutoFit/>
          </a:bodyPr>
          <a:lstStyle/>
          <a:p>
            <a:pPr algn="l">
              <a:spcAft>
                <a:spcPts val="500"/>
              </a:spcAft>
              <a:defRPr sz="1300" b="1">
                <a:solidFill>
                  <a:srgbClr val="087E83"/>
                </a:solidFill>
                <a:latin typeface="Noto Sans"/>
              </a:defRPr>
            </a:pPr>
            <a:r>
              <a:t>Meta-model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537"/>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79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79E2CC"/>
                </a:solidFill>
                <a:latin typeface="Noto Sans"/>
              </a:defRPr>
            </a:pPr>
            <a:r>
              <a:t>01 • CƠ SỞ LÝ THUYẾT</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FFFFFF"/>
                </a:solidFill>
                <a:latin typeface="Noto Sans"/>
              </a:defRPr>
            </a:pPr>
            <a:r>
              <a:t>Đa dạng giúp giảm phương sai</a:t>
            </a:r>
          </a:p>
        </p:txBody>
      </p:sp>
      <p:cxnSp>
        <p:nvCxnSpPr>
          <p:cNvPr id="5" name="Connector 4"/>
          <p:cNvCxnSpPr/>
          <p:nvPr/>
        </p:nvCxnSpPr>
        <p:spPr>
          <a:xfrm>
            <a:off x="502920" y="6446520"/>
            <a:ext cx="11155680" cy="0"/>
          </a:xfrm>
          <a:prstGeom prst="line">
            <a:avLst/>
          </a:prstGeom>
          <a:ln w="8890">
            <a:solidFill>
              <a:srgbClr val="37516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AFC4CF"/>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AFC4CF"/>
                </a:solidFill>
                <a:latin typeface="Noto Sans"/>
              </a:defRPr>
            </a:pPr>
            <a:r>
              <a:t>[1], [2]</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79E2CC"/>
                </a:solidFill>
                <a:latin typeface="Noto Sans"/>
              </a:defRPr>
            </a:pPr>
            <a:r>
              <a:t>04</a:t>
            </a:r>
          </a:p>
        </p:txBody>
      </p:sp>
      <p:sp>
        <p:nvSpPr>
          <p:cNvPr id="9" name="TextBox 8"/>
          <p:cNvSpPr txBox="1"/>
          <p:nvPr/>
        </p:nvSpPr>
        <p:spPr>
          <a:xfrm>
            <a:off x="594360" y="1737360"/>
            <a:ext cx="10789920" cy="594360"/>
          </a:xfrm>
          <a:prstGeom prst="rect">
            <a:avLst/>
          </a:prstGeom>
          <a:noFill/>
        </p:spPr>
        <p:txBody>
          <a:bodyPr wrap="square" lIns="9144" rIns="9144" tIns="9144" bIns="9144" anchor="t">
            <a:spAutoFit/>
          </a:bodyPr>
          <a:lstStyle/>
          <a:p>
            <a:pPr algn="l">
              <a:spcAft>
                <a:spcPts val="500"/>
              </a:spcAft>
              <a:defRPr sz="2900" b="1">
                <a:solidFill>
                  <a:srgbClr val="79E2CC"/>
                </a:solidFill>
                <a:latin typeface="Noto Sans"/>
              </a:defRPr>
            </a:pPr>
            <a:r>
              <a:t>Var(trung bình) = σ² [ ρ + (1 − ρ) / B ]</a:t>
            </a:r>
          </a:p>
        </p:txBody>
      </p:sp>
      <p:sp>
        <p:nvSpPr>
          <p:cNvPr id="10" name="TextBox 9"/>
          <p:cNvSpPr txBox="1"/>
          <p:nvPr/>
        </p:nvSpPr>
        <p:spPr>
          <a:xfrm>
            <a:off x="612648" y="2514600"/>
            <a:ext cx="4983480" cy="1234440"/>
          </a:xfrm>
          <a:prstGeom prst="rect">
            <a:avLst/>
          </a:prstGeom>
          <a:noFill/>
        </p:spPr>
        <p:txBody>
          <a:bodyPr wrap="square" lIns="9144" rIns="9144" tIns="9144" bIns="9144" anchor="t">
            <a:spAutoFit/>
          </a:bodyPr>
          <a:lstStyle/>
          <a:p>
            <a:pPr algn="l">
              <a:spcAft>
                <a:spcPts val="500"/>
              </a:spcAft>
              <a:defRPr sz="2000" b="0">
                <a:solidFill>
                  <a:srgbClr val="FFFFFF"/>
                </a:solidFill>
                <a:latin typeface="Noto Sans"/>
              </a:defRPr>
            </a:pPr>
            <a:r>
              <a:t>B: số mô hình</a:t>
            </a:r>
          </a:p>
          <a:p>
            <a:pPr algn="l">
              <a:spcAft>
                <a:spcPts val="500"/>
              </a:spcAft>
              <a:defRPr sz="2000" b="0">
                <a:solidFill>
                  <a:srgbClr val="FFFFFF"/>
                </a:solidFill>
                <a:latin typeface="Noto Sans"/>
              </a:defRPr>
            </a:pPr>
            <a:r>
              <a:t>σ²: phương sai của mỗi mô hình</a:t>
            </a:r>
          </a:p>
          <a:p>
            <a:pPr algn="l">
              <a:spcAft>
                <a:spcPts val="500"/>
              </a:spcAft>
              <a:defRPr sz="2000" b="0">
                <a:solidFill>
                  <a:srgbClr val="FFFFFF"/>
                </a:solidFill>
                <a:latin typeface="Noto Sans"/>
              </a:defRPr>
            </a:pPr>
            <a:r>
              <a:t>ρ: tương quan giữa hai mô hình</a:t>
            </a:r>
          </a:p>
        </p:txBody>
      </p:sp>
      <p:sp>
        <p:nvSpPr>
          <p:cNvPr id="11" name="TextBox 10"/>
          <p:cNvSpPr txBox="1"/>
          <p:nvPr/>
        </p:nvSpPr>
        <p:spPr>
          <a:xfrm>
            <a:off x="612648" y="4114800"/>
            <a:ext cx="4754880" cy="1463040"/>
          </a:xfrm>
          <a:prstGeom prst="rect">
            <a:avLst/>
          </a:prstGeom>
          <a:noFill/>
        </p:spPr>
        <p:txBody>
          <a:bodyPr wrap="square" lIns="9144" rIns="9144" tIns="9144" bIns="9144" anchor="t">
            <a:spAutoFit/>
          </a:bodyPr>
          <a:lstStyle/>
          <a:p>
            <a:pPr algn="l">
              <a:spcAft>
                <a:spcPts val="500"/>
              </a:spcAft>
              <a:defRPr sz="2100" b="0">
                <a:solidFill>
                  <a:srgbClr val="C9D8DF"/>
                </a:solidFill>
                <a:latin typeface="Noto Sans"/>
              </a:defRPr>
            </a:pPr>
            <a:r>
              <a:t>Thêm mô hình giảm phần (1 − ρ)/B.</a:t>
            </a:r>
          </a:p>
          <a:p>
            <a:pPr algn="l">
              <a:spcAft>
                <a:spcPts val="500"/>
              </a:spcAft>
              <a:defRPr sz="2100" b="0">
                <a:solidFill>
                  <a:srgbClr val="C9D8DF"/>
                </a:solidFill>
                <a:latin typeface="Noto Sans"/>
              </a:defRPr>
            </a:pPr>
            <a:r>
              <a:t>Phần ρ vẫn tạo ra giới hạn:</a:t>
            </a:r>
          </a:p>
          <a:p>
            <a:pPr algn="l">
              <a:spcAft>
                <a:spcPts val="500"/>
              </a:spcAft>
              <a:defRPr sz="2100" b="0">
                <a:solidFill>
                  <a:srgbClr val="C9D8DF"/>
                </a:solidFill>
                <a:latin typeface="Noto Sans"/>
              </a:defRPr>
            </a:pPr>
            <a:r>
              <a:t>các mô hình quá giống nhau ít có lợi.</a:t>
            </a:r>
          </a:p>
        </p:txBody>
      </p:sp>
      <p:sp>
        <p:nvSpPr>
          <p:cNvPr id="12" name="TextBox 11"/>
          <p:cNvSpPr txBox="1"/>
          <p:nvPr/>
        </p:nvSpPr>
        <p:spPr>
          <a:xfrm>
            <a:off x="6080760" y="2834640"/>
            <a:ext cx="4937760" cy="365760"/>
          </a:xfrm>
          <a:prstGeom prst="rect">
            <a:avLst/>
          </a:prstGeom>
          <a:noFill/>
        </p:spPr>
        <p:txBody>
          <a:bodyPr wrap="square" lIns="9144" rIns="9144" tIns="9144" bIns="9144" anchor="t">
            <a:spAutoFit/>
          </a:bodyPr>
          <a:lstStyle/>
          <a:p>
            <a:pPr algn="l">
              <a:spcAft>
                <a:spcPts val="500"/>
              </a:spcAft>
              <a:defRPr sz="2000" b="1">
                <a:solidFill>
                  <a:srgbClr val="FFFFFF"/>
                </a:solidFill>
                <a:latin typeface="Noto Sans"/>
              </a:defRPr>
            </a:pPr>
            <a:r>
              <a:t>B = 51, ρ = 0,2  →  0,216 σ²</a:t>
            </a:r>
          </a:p>
        </p:txBody>
      </p:sp>
      <p:sp>
        <p:nvSpPr>
          <p:cNvPr id="13" name="Rounded Rectangle 12"/>
          <p:cNvSpPr/>
          <p:nvPr/>
        </p:nvSpPr>
        <p:spPr>
          <a:xfrm>
            <a:off x="6080760" y="3383280"/>
            <a:ext cx="4846320" cy="256032"/>
          </a:xfrm>
          <a:prstGeom prst="roundRect">
            <a:avLst>
              <a:gd name="adj" fmla="val 12000"/>
            </a:avLst>
          </a:prstGeom>
          <a:solidFill>
            <a:srgbClr val="28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080760" y="3383280"/>
            <a:ext cx="1045284" cy="256032"/>
          </a:xfrm>
          <a:prstGeom prst="roundRect">
            <a:avLst>
              <a:gd name="adj" fmla="val 12000"/>
            </a:avLst>
          </a:prstGeom>
          <a:solidFill>
            <a:srgbClr val="79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80760" y="4160520"/>
            <a:ext cx="4937760" cy="365760"/>
          </a:xfrm>
          <a:prstGeom prst="rect">
            <a:avLst/>
          </a:prstGeom>
          <a:noFill/>
        </p:spPr>
        <p:txBody>
          <a:bodyPr wrap="square" lIns="9144" rIns="9144" tIns="9144" bIns="9144" anchor="t">
            <a:spAutoFit/>
          </a:bodyPr>
          <a:lstStyle/>
          <a:p>
            <a:pPr algn="l">
              <a:spcAft>
                <a:spcPts val="500"/>
              </a:spcAft>
              <a:defRPr sz="2000" b="1">
                <a:solidFill>
                  <a:srgbClr val="FFFFFF"/>
                </a:solidFill>
                <a:latin typeface="Noto Sans"/>
              </a:defRPr>
            </a:pPr>
            <a:r>
              <a:t>B = 51, ρ = 0,8  →  0,804 σ²</a:t>
            </a:r>
          </a:p>
        </p:txBody>
      </p:sp>
      <p:sp>
        <p:nvSpPr>
          <p:cNvPr id="16" name="Rounded Rectangle 15"/>
          <p:cNvSpPr/>
          <p:nvPr/>
        </p:nvSpPr>
        <p:spPr>
          <a:xfrm>
            <a:off x="6080760" y="4709159"/>
            <a:ext cx="4846320" cy="256032"/>
          </a:xfrm>
          <a:prstGeom prst="roundRect">
            <a:avLst>
              <a:gd name="adj" fmla="val 12000"/>
            </a:avLst>
          </a:prstGeom>
          <a:solidFill>
            <a:srgbClr val="2848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080760" y="4709159"/>
            <a:ext cx="3896061" cy="256032"/>
          </a:xfrm>
          <a:prstGeom prst="roundRect">
            <a:avLst>
              <a:gd name="adj" fmla="val 12000"/>
            </a:avLst>
          </a:prstGeom>
          <a:solidFill>
            <a:srgbClr val="E67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0" y="5532120"/>
            <a:ext cx="5166360" cy="594360"/>
          </a:xfrm>
          <a:prstGeom prst="rect">
            <a:avLst/>
          </a:prstGeom>
          <a:noFill/>
        </p:spPr>
        <p:txBody>
          <a:bodyPr wrap="square" lIns="9144" rIns="9144" tIns="9144" bIns="9144" anchor="t">
            <a:spAutoFit/>
          </a:bodyPr>
          <a:lstStyle/>
          <a:p>
            <a:pPr algn="l">
              <a:spcAft>
                <a:spcPts val="500"/>
              </a:spcAft>
              <a:defRPr sz="1300" b="0">
                <a:solidFill>
                  <a:srgbClr val="C9D8DF"/>
                </a:solidFill>
                <a:latin typeface="Noto Sans"/>
              </a:defRPr>
            </a:pPr>
            <a:r>
              <a:t>Giả thiết: cùng phương sai và tương quan cặp chung; áp dụng cho trung bình dự đoán số.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01 • QUY TẮC KẾT HỢP</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Hard Voting và Soft Voting có thể cho kết quả khác</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[3]</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05</a:t>
            </a:r>
          </a:p>
        </p:txBody>
      </p:sp>
      <p:sp>
        <p:nvSpPr>
          <p:cNvPr id="9" name="Rectangle 8"/>
          <p:cNvSpPr/>
          <p:nvPr/>
        </p:nvSpPr>
        <p:spPr>
          <a:xfrm>
            <a:off x="594360" y="1737360"/>
            <a:ext cx="2857500" cy="644652"/>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47088"/>
            <a:ext cx="2606040" cy="521207"/>
          </a:xfrm>
          <a:prstGeom prst="rect">
            <a:avLst/>
          </a:prstGeom>
          <a:noFill/>
        </p:spPr>
        <p:txBody>
          <a:bodyPr wrap="square" lIns="9144" rIns="9144" tIns="9144" bIns="9144" anchor="t">
            <a:spAutoFit/>
          </a:bodyPr>
          <a:lstStyle/>
          <a:p>
            <a:pPr algn="l">
              <a:spcAft>
                <a:spcPts val="500"/>
              </a:spcAft>
              <a:defRPr sz="1800" b="1">
                <a:solidFill>
                  <a:srgbClr val="FFFFFF"/>
                </a:solidFill>
                <a:latin typeface="Noto Sans"/>
              </a:defRPr>
            </a:pPr>
            <a:r>
              <a:t>Quan sát x</a:t>
            </a:r>
          </a:p>
        </p:txBody>
      </p:sp>
      <p:sp>
        <p:nvSpPr>
          <p:cNvPr id="11" name="Rectangle 10"/>
          <p:cNvSpPr/>
          <p:nvPr/>
        </p:nvSpPr>
        <p:spPr>
          <a:xfrm>
            <a:off x="3474720" y="1737360"/>
            <a:ext cx="2308860" cy="644652"/>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79" y="1847088"/>
            <a:ext cx="2057400" cy="521207"/>
          </a:xfrm>
          <a:prstGeom prst="rect">
            <a:avLst/>
          </a:prstGeom>
          <a:noFill/>
        </p:spPr>
        <p:txBody>
          <a:bodyPr wrap="square" lIns="9144" rIns="9144" tIns="9144" bIns="9144" anchor="t">
            <a:spAutoFit/>
          </a:bodyPr>
          <a:lstStyle/>
          <a:p>
            <a:pPr algn="ctr">
              <a:spcAft>
                <a:spcPts val="500"/>
              </a:spcAft>
              <a:defRPr sz="1800" b="1">
                <a:solidFill>
                  <a:srgbClr val="FFFFFF"/>
                </a:solidFill>
                <a:latin typeface="Noto Sans"/>
              </a:defRPr>
            </a:pPr>
            <a:r>
              <a:t>Mô hình 1</a:t>
            </a:r>
          </a:p>
        </p:txBody>
      </p:sp>
      <p:sp>
        <p:nvSpPr>
          <p:cNvPr id="13" name="Rectangle 12"/>
          <p:cNvSpPr/>
          <p:nvPr/>
        </p:nvSpPr>
        <p:spPr>
          <a:xfrm>
            <a:off x="5806440" y="1737360"/>
            <a:ext cx="2308860" cy="644652"/>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0" y="1847088"/>
            <a:ext cx="2057400" cy="521207"/>
          </a:xfrm>
          <a:prstGeom prst="rect">
            <a:avLst/>
          </a:prstGeom>
          <a:noFill/>
        </p:spPr>
        <p:txBody>
          <a:bodyPr wrap="square" lIns="9144" rIns="9144" tIns="9144" bIns="9144" anchor="t">
            <a:spAutoFit/>
          </a:bodyPr>
          <a:lstStyle/>
          <a:p>
            <a:pPr algn="ctr">
              <a:spcAft>
                <a:spcPts val="500"/>
              </a:spcAft>
              <a:defRPr sz="1800" b="1">
                <a:solidFill>
                  <a:srgbClr val="FFFFFF"/>
                </a:solidFill>
                <a:latin typeface="Noto Sans"/>
              </a:defRPr>
            </a:pPr>
            <a:r>
              <a:t>Mô hình 2</a:t>
            </a:r>
          </a:p>
        </p:txBody>
      </p:sp>
      <p:sp>
        <p:nvSpPr>
          <p:cNvPr id="15" name="Rectangle 14"/>
          <p:cNvSpPr/>
          <p:nvPr/>
        </p:nvSpPr>
        <p:spPr>
          <a:xfrm>
            <a:off x="8138159" y="1737360"/>
            <a:ext cx="3406140" cy="644652"/>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19" y="1847088"/>
            <a:ext cx="3154680" cy="521207"/>
          </a:xfrm>
          <a:prstGeom prst="rect">
            <a:avLst/>
          </a:prstGeom>
          <a:noFill/>
        </p:spPr>
        <p:txBody>
          <a:bodyPr wrap="square" lIns="9144" rIns="9144" tIns="9144" bIns="9144" anchor="t">
            <a:spAutoFit/>
          </a:bodyPr>
          <a:lstStyle/>
          <a:p>
            <a:pPr algn="ctr">
              <a:spcAft>
                <a:spcPts val="500"/>
              </a:spcAft>
              <a:defRPr sz="1800" b="1">
                <a:solidFill>
                  <a:srgbClr val="FFFFFF"/>
                </a:solidFill>
                <a:latin typeface="Noto Sans"/>
              </a:defRPr>
            </a:pPr>
            <a:r>
              <a:t>Mô hình 3</a:t>
            </a:r>
          </a:p>
        </p:txBody>
      </p:sp>
      <p:sp>
        <p:nvSpPr>
          <p:cNvPr id="17" name="Rectangle 16"/>
          <p:cNvSpPr/>
          <p:nvPr/>
        </p:nvSpPr>
        <p:spPr>
          <a:xfrm>
            <a:off x="594360" y="2404872"/>
            <a:ext cx="2857500"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514600"/>
            <a:ext cx="2606040" cy="521207"/>
          </a:xfrm>
          <a:prstGeom prst="rect">
            <a:avLst/>
          </a:prstGeom>
          <a:noFill/>
        </p:spPr>
        <p:txBody>
          <a:bodyPr wrap="square" lIns="9144" rIns="9144" tIns="9144" bIns="9144" anchor="t">
            <a:spAutoFit/>
          </a:bodyPr>
          <a:lstStyle/>
          <a:p>
            <a:pPr algn="l">
              <a:spcAft>
                <a:spcPts val="500"/>
              </a:spcAft>
              <a:defRPr sz="1800" b="0">
                <a:solidFill>
                  <a:srgbClr val="173246"/>
                </a:solidFill>
                <a:latin typeface="Noto Sans"/>
              </a:defRPr>
            </a:pPr>
            <a:r>
              <a:t>P(ác tính | x)</a:t>
            </a:r>
          </a:p>
        </p:txBody>
      </p:sp>
      <p:sp>
        <p:nvSpPr>
          <p:cNvPr id="19" name="Rectangle 18"/>
          <p:cNvSpPr/>
          <p:nvPr/>
        </p:nvSpPr>
        <p:spPr>
          <a:xfrm>
            <a:off x="3474720" y="2404872"/>
            <a:ext cx="2308860"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11879" y="2514600"/>
            <a:ext cx="2057400" cy="521207"/>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0,51</a:t>
            </a:r>
          </a:p>
        </p:txBody>
      </p:sp>
      <p:sp>
        <p:nvSpPr>
          <p:cNvPr id="21" name="Rectangle 20"/>
          <p:cNvSpPr/>
          <p:nvPr/>
        </p:nvSpPr>
        <p:spPr>
          <a:xfrm>
            <a:off x="5806440" y="2404872"/>
            <a:ext cx="2308860"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0" y="2514600"/>
            <a:ext cx="2057400" cy="521207"/>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0,51</a:t>
            </a:r>
          </a:p>
        </p:txBody>
      </p:sp>
      <p:sp>
        <p:nvSpPr>
          <p:cNvPr id="23" name="Rectangle 22"/>
          <p:cNvSpPr/>
          <p:nvPr/>
        </p:nvSpPr>
        <p:spPr>
          <a:xfrm>
            <a:off x="8138159" y="2404872"/>
            <a:ext cx="3406140"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75319" y="2514600"/>
            <a:ext cx="3154680" cy="521207"/>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0,01</a:t>
            </a:r>
          </a:p>
        </p:txBody>
      </p:sp>
      <p:sp>
        <p:nvSpPr>
          <p:cNvPr id="25" name="Rectangle 24"/>
          <p:cNvSpPr/>
          <p:nvPr/>
        </p:nvSpPr>
        <p:spPr>
          <a:xfrm>
            <a:off x="594360" y="3072384"/>
            <a:ext cx="2857500"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182112"/>
            <a:ext cx="2606040" cy="521207"/>
          </a:xfrm>
          <a:prstGeom prst="rect">
            <a:avLst/>
          </a:prstGeom>
          <a:noFill/>
        </p:spPr>
        <p:txBody>
          <a:bodyPr wrap="square" lIns="9144" rIns="9144" tIns="9144" bIns="9144" anchor="t">
            <a:spAutoFit/>
          </a:bodyPr>
          <a:lstStyle/>
          <a:p>
            <a:pPr algn="l">
              <a:spcAft>
                <a:spcPts val="500"/>
              </a:spcAft>
              <a:defRPr sz="1800" b="0">
                <a:solidFill>
                  <a:srgbClr val="173246"/>
                </a:solidFill>
                <a:latin typeface="Noto Sans"/>
              </a:defRPr>
            </a:pPr>
            <a:r>
              <a:t>Nhãn dự đoán</a:t>
            </a:r>
          </a:p>
        </p:txBody>
      </p:sp>
      <p:sp>
        <p:nvSpPr>
          <p:cNvPr id="27" name="Rectangle 26"/>
          <p:cNvSpPr/>
          <p:nvPr/>
        </p:nvSpPr>
        <p:spPr>
          <a:xfrm>
            <a:off x="3474720" y="3072384"/>
            <a:ext cx="2308860"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11879" y="3182112"/>
            <a:ext cx="2057400" cy="521207"/>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Ác tính</a:t>
            </a:r>
          </a:p>
        </p:txBody>
      </p:sp>
      <p:sp>
        <p:nvSpPr>
          <p:cNvPr id="29" name="Rectangle 28"/>
          <p:cNvSpPr/>
          <p:nvPr/>
        </p:nvSpPr>
        <p:spPr>
          <a:xfrm>
            <a:off x="5806440" y="3072384"/>
            <a:ext cx="2308860"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0" y="3182112"/>
            <a:ext cx="2057400" cy="521207"/>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Ác tính</a:t>
            </a:r>
          </a:p>
        </p:txBody>
      </p:sp>
      <p:sp>
        <p:nvSpPr>
          <p:cNvPr id="31" name="Rectangle 30"/>
          <p:cNvSpPr/>
          <p:nvPr/>
        </p:nvSpPr>
        <p:spPr>
          <a:xfrm>
            <a:off x="8138159" y="3072384"/>
            <a:ext cx="3406140"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75319" y="3182112"/>
            <a:ext cx="3154680" cy="521207"/>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Lành tính</a:t>
            </a:r>
          </a:p>
        </p:txBody>
      </p:sp>
      <p:sp>
        <p:nvSpPr>
          <p:cNvPr id="33" name="Rounded Rectangle 32"/>
          <p:cNvSpPr/>
          <p:nvPr/>
        </p:nvSpPr>
        <p:spPr>
          <a:xfrm>
            <a:off x="594360" y="4023360"/>
            <a:ext cx="5303520" cy="1920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5528" y="425196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4443984"/>
            <a:ext cx="4846320"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HARD → ÁC TÍNH</a:t>
            </a:r>
          </a:p>
        </p:txBody>
      </p:sp>
      <p:sp>
        <p:nvSpPr>
          <p:cNvPr id="36" name="TextBox 35"/>
          <p:cNvSpPr txBox="1"/>
          <p:nvPr/>
        </p:nvSpPr>
        <p:spPr>
          <a:xfrm>
            <a:off x="822960" y="5193792"/>
            <a:ext cx="4846320" cy="64008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Đếm nhãn: 2 phiếu ác tính / 3 phiếu.</a:t>
            </a:r>
          </a:p>
        </p:txBody>
      </p:sp>
      <p:sp>
        <p:nvSpPr>
          <p:cNvPr id="37" name="Rounded Rectangle 36"/>
          <p:cNvSpPr/>
          <p:nvPr/>
        </p:nvSpPr>
        <p:spPr>
          <a:xfrm>
            <a:off x="6080760" y="4023360"/>
            <a:ext cx="5486400" cy="1920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281928" y="4251960"/>
            <a:ext cx="384048" cy="50292"/>
          </a:xfrm>
          <a:prstGeom prst="rect">
            <a:avLst/>
          </a:prstGeom>
          <a:solidFill>
            <a:srgbClr val="E67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09360" y="4443984"/>
            <a:ext cx="5029200"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SOFT → LÀNH TÍNH</a:t>
            </a:r>
          </a:p>
        </p:txBody>
      </p:sp>
      <p:sp>
        <p:nvSpPr>
          <p:cNvPr id="40" name="TextBox 39"/>
          <p:cNvSpPr txBox="1"/>
          <p:nvPr/>
        </p:nvSpPr>
        <p:spPr>
          <a:xfrm>
            <a:off x="6309360" y="5193792"/>
            <a:ext cx="5029200" cy="64008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Trung bình P(ác tính) = 1,03 / 3 ≈ 0,343.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02 • QUY TRÌNH</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Bagging: lấy mẫu lại, học độc lập, rồi tổng hợp</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[1], [3]</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06</a:t>
            </a:r>
          </a:p>
        </p:txBody>
      </p:sp>
      <p:sp>
        <p:nvSpPr>
          <p:cNvPr id="9" name="Rounded Rectangle 8"/>
          <p:cNvSpPr/>
          <p:nvPr/>
        </p:nvSpPr>
        <p:spPr>
          <a:xfrm>
            <a:off x="594360" y="1965960"/>
            <a:ext cx="2514600" cy="3063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2212848"/>
            <a:ext cx="585216" cy="585216"/>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335743"/>
            <a:ext cx="585216" cy="339425"/>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01</a:t>
            </a:r>
          </a:p>
        </p:txBody>
      </p:sp>
      <p:sp>
        <p:nvSpPr>
          <p:cNvPr id="12" name="TextBox 11"/>
          <p:cNvSpPr txBox="1"/>
          <p:nvPr/>
        </p:nvSpPr>
        <p:spPr>
          <a:xfrm>
            <a:off x="822960" y="3090672"/>
            <a:ext cx="2057400" cy="50292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Tập train</a:t>
            </a:r>
          </a:p>
        </p:txBody>
      </p:sp>
      <p:sp>
        <p:nvSpPr>
          <p:cNvPr id="13" name="TextBox 12"/>
          <p:cNvSpPr txBox="1"/>
          <p:nvPr/>
        </p:nvSpPr>
        <p:spPr>
          <a:xfrm>
            <a:off x="822960" y="3813048"/>
            <a:ext cx="2057400" cy="91440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N quan sát</a:t>
            </a:r>
          </a:p>
          <a:p>
            <a:pPr algn="l">
              <a:spcAft>
                <a:spcPts val="500"/>
              </a:spcAft>
              <a:defRPr sz="1800" b="0">
                <a:solidFill>
                  <a:srgbClr val="566A76"/>
                </a:solidFill>
                <a:latin typeface="Noto Sans"/>
              </a:defRPr>
            </a:pPr>
            <a:r>
              <a:t>Giữ riêng test</a:t>
            </a:r>
          </a:p>
        </p:txBody>
      </p:sp>
      <p:sp>
        <p:nvSpPr>
          <p:cNvPr id="14" name="Right Arrow 13"/>
          <p:cNvSpPr/>
          <p:nvPr/>
        </p:nvSpPr>
        <p:spPr>
          <a:xfrm>
            <a:off x="3145536" y="3200400"/>
            <a:ext cx="228600" cy="201168"/>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19856" y="1965960"/>
            <a:ext cx="2514600" cy="3063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48456" y="2212848"/>
            <a:ext cx="585216" cy="585216"/>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48456" y="2335743"/>
            <a:ext cx="585216" cy="339425"/>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02</a:t>
            </a:r>
          </a:p>
        </p:txBody>
      </p:sp>
      <p:sp>
        <p:nvSpPr>
          <p:cNvPr id="18" name="TextBox 17"/>
          <p:cNvSpPr txBox="1"/>
          <p:nvPr/>
        </p:nvSpPr>
        <p:spPr>
          <a:xfrm>
            <a:off x="3648456" y="3090672"/>
            <a:ext cx="2057400" cy="50292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Bootstrap</a:t>
            </a:r>
          </a:p>
        </p:txBody>
      </p:sp>
      <p:sp>
        <p:nvSpPr>
          <p:cNvPr id="19" name="TextBox 18"/>
          <p:cNvSpPr txBox="1"/>
          <p:nvPr/>
        </p:nvSpPr>
        <p:spPr>
          <a:xfrm>
            <a:off x="3648456" y="3813048"/>
            <a:ext cx="2057400" cy="91440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B mẫu; mỗi mẫu</a:t>
            </a:r>
          </a:p>
          <a:p>
            <a:pPr algn="l">
              <a:spcAft>
                <a:spcPts val="500"/>
              </a:spcAft>
              <a:defRPr sz="1800" b="0">
                <a:solidFill>
                  <a:srgbClr val="566A76"/>
                </a:solidFill>
                <a:latin typeface="Noto Sans"/>
              </a:defRPr>
            </a:pPr>
            <a:r>
              <a:t>N lượt có hoàn lại</a:t>
            </a:r>
          </a:p>
        </p:txBody>
      </p:sp>
      <p:sp>
        <p:nvSpPr>
          <p:cNvPr id="20" name="Right Arrow 19"/>
          <p:cNvSpPr/>
          <p:nvPr/>
        </p:nvSpPr>
        <p:spPr>
          <a:xfrm>
            <a:off x="5971031" y="3200400"/>
            <a:ext cx="228600" cy="201168"/>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45352" y="1965960"/>
            <a:ext cx="2514600" cy="3063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73952" y="2212848"/>
            <a:ext cx="585216" cy="585216"/>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2335743"/>
            <a:ext cx="585216" cy="339425"/>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03</a:t>
            </a:r>
          </a:p>
        </p:txBody>
      </p:sp>
      <p:sp>
        <p:nvSpPr>
          <p:cNvPr id="24" name="TextBox 23"/>
          <p:cNvSpPr txBox="1"/>
          <p:nvPr/>
        </p:nvSpPr>
        <p:spPr>
          <a:xfrm>
            <a:off x="6473952" y="3090672"/>
            <a:ext cx="2057400" cy="50292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Huấn luyện</a:t>
            </a:r>
          </a:p>
        </p:txBody>
      </p:sp>
      <p:sp>
        <p:nvSpPr>
          <p:cNvPr id="25" name="TextBox 24"/>
          <p:cNvSpPr txBox="1"/>
          <p:nvPr/>
        </p:nvSpPr>
        <p:spPr>
          <a:xfrm>
            <a:off x="6473952" y="3813048"/>
            <a:ext cx="2057400" cy="91440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Một cây / mẫu</a:t>
            </a:r>
          </a:p>
          <a:p>
            <a:pPr algn="l">
              <a:spcAft>
                <a:spcPts val="500"/>
              </a:spcAft>
              <a:defRPr sz="1800" b="0">
                <a:solidFill>
                  <a:srgbClr val="566A76"/>
                </a:solidFill>
                <a:latin typeface="Noto Sans"/>
              </a:defRPr>
            </a:pPr>
            <a:r>
              <a:t>Độc lập với nhau</a:t>
            </a:r>
          </a:p>
        </p:txBody>
      </p:sp>
      <p:sp>
        <p:nvSpPr>
          <p:cNvPr id="26" name="Right Arrow 25"/>
          <p:cNvSpPr/>
          <p:nvPr/>
        </p:nvSpPr>
        <p:spPr>
          <a:xfrm>
            <a:off x="8796528" y="3200400"/>
            <a:ext cx="228600" cy="201168"/>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70848" y="1965960"/>
            <a:ext cx="2514600" cy="3063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99448" y="2212848"/>
            <a:ext cx="585216" cy="585216"/>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99448" y="2335743"/>
            <a:ext cx="585216" cy="339425"/>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04</a:t>
            </a:r>
          </a:p>
        </p:txBody>
      </p:sp>
      <p:sp>
        <p:nvSpPr>
          <p:cNvPr id="30" name="TextBox 29"/>
          <p:cNvSpPr txBox="1"/>
          <p:nvPr/>
        </p:nvSpPr>
        <p:spPr>
          <a:xfrm>
            <a:off x="9299448" y="3090672"/>
            <a:ext cx="2057400" cy="50292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Tổng hợp</a:t>
            </a:r>
          </a:p>
        </p:txBody>
      </p:sp>
      <p:sp>
        <p:nvSpPr>
          <p:cNvPr id="31" name="TextBox 30"/>
          <p:cNvSpPr txBox="1"/>
          <p:nvPr/>
        </p:nvSpPr>
        <p:spPr>
          <a:xfrm>
            <a:off x="9299448" y="3813048"/>
            <a:ext cx="2057400" cy="91440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Phiếu từng cây</a:t>
            </a:r>
          </a:p>
          <a:p>
            <a:pPr algn="l">
              <a:spcAft>
                <a:spcPts val="500"/>
              </a:spcAft>
              <a:defRPr sz="1800" b="0">
                <a:solidFill>
                  <a:srgbClr val="566A76"/>
                </a:solidFill>
                <a:latin typeface="Noto Sans"/>
              </a:defRPr>
            </a:pPr>
            <a:r>
              <a:t>→ lớp đa số</a:t>
            </a:r>
          </a:p>
        </p:txBody>
      </p:sp>
      <p:sp>
        <p:nvSpPr>
          <p:cNvPr id="32" name="TextBox 31"/>
          <p:cNvSpPr txBox="1"/>
          <p:nvPr/>
        </p:nvSpPr>
        <p:spPr>
          <a:xfrm>
            <a:off x="640080" y="5532120"/>
            <a:ext cx="10789920" cy="457200"/>
          </a:xfrm>
          <a:prstGeom prst="rect">
            <a:avLst/>
          </a:prstGeom>
          <a:noFill/>
        </p:spPr>
        <p:txBody>
          <a:bodyPr wrap="square" lIns="9144" rIns="9144" tIns="9144" bIns="9144" anchor="t">
            <a:spAutoFit/>
          </a:bodyPr>
          <a:lstStyle/>
          <a:p>
            <a:pPr algn="l">
              <a:spcAft>
                <a:spcPts val="500"/>
              </a:spcAft>
              <a:defRPr sz="2200" b="1">
                <a:solidFill>
                  <a:srgbClr val="087E83"/>
                </a:solidFill>
                <a:latin typeface="Noto Sans"/>
              </a:defRPr>
            </a:pPr>
            <a:r>
              <a:t>Seed 42: N = 426 mẫu train  •  B = 51 cây  •  max_depth = 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02 • TÍNH TỪNG BƯỚC</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Ví dụ bootstrap: 5 quan sát, 5 lượt lấy mẫu</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Ví dụ minh họa; lý thuyết bootstrap: [1]</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07</a:t>
            </a:r>
          </a:p>
        </p:txBody>
      </p:sp>
      <p:sp>
        <p:nvSpPr>
          <p:cNvPr id="9" name="TextBox 8"/>
          <p:cNvSpPr txBox="1"/>
          <p:nvPr/>
        </p:nvSpPr>
        <p:spPr>
          <a:xfrm>
            <a:off x="594360" y="1691640"/>
            <a:ext cx="10789920" cy="365760"/>
          </a:xfrm>
          <a:prstGeom prst="rect">
            <a:avLst/>
          </a:prstGeom>
          <a:noFill/>
        </p:spPr>
        <p:txBody>
          <a:bodyPr wrap="square" lIns="9144" rIns="9144" tIns="9144" bIns="9144" anchor="t">
            <a:spAutoFit/>
          </a:bodyPr>
          <a:lstStyle/>
          <a:p>
            <a:pPr algn="l">
              <a:spcAft>
                <a:spcPts val="500"/>
              </a:spcAft>
              <a:defRPr sz="1900" b="0">
                <a:solidFill>
                  <a:srgbClr val="566A76"/>
                </a:solidFill>
                <a:latin typeface="Noto Sans"/>
              </a:defRPr>
            </a:pPr>
            <a:r>
              <a:t>Tập gốc có chỉ số [0, 1, 2, 3, 4]. Mỗi dòng là một mẫu huấn luyện mới.</a:t>
            </a:r>
          </a:p>
        </p:txBody>
      </p:sp>
      <p:sp>
        <p:nvSpPr>
          <p:cNvPr id="10" name="Rectangle 9"/>
          <p:cNvSpPr/>
          <p:nvPr/>
        </p:nvSpPr>
        <p:spPr>
          <a:xfrm>
            <a:off x="594360" y="2423160"/>
            <a:ext cx="1440180" cy="70866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32888"/>
            <a:ext cx="1188720" cy="585216"/>
          </a:xfrm>
          <a:prstGeom prst="rect">
            <a:avLst/>
          </a:prstGeom>
          <a:noFill/>
        </p:spPr>
        <p:txBody>
          <a:bodyPr wrap="square" lIns="9144" rIns="9144" tIns="9144" bIns="9144" anchor="t">
            <a:spAutoFit/>
          </a:bodyPr>
          <a:lstStyle/>
          <a:p>
            <a:pPr algn="l">
              <a:spcAft>
                <a:spcPts val="500"/>
              </a:spcAft>
              <a:defRPr sz="1900" b="1">
                <a:solidFill>
                  <a:srgbClr val="FFFFFF"/>
                </a:solidFill>
                <a:latin typeface="Noto Sans"/>
              </a:defRPr>
            </a:pPr>
            <a:r>
              <a:t>Cây</a:t>
            </a:r>
          </a:p>
        </p:txBody>
      </p:sp>
      <p:sp>
        <p:nvSpPr>
          <p:cNvPr id="12" name="Rectangle 11"/>
          <p:cNvSpPr/>
          <p:nvPr/>
        </p:nvSpPr>
        <p:spPr>
          <a:xfrm>
            <a:off x="2057400" y="2423160"/>
            <a:ext cx="5006340" cy="70866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0" y="2532888"/>
            <a:ext cx="4754880" cy="585216"/>
          </a:xfrm>
          <a:prstGeom prst="rect">
            <a:avLst/>
          </a:prstGeom>
          <a:noFill/>
        </p:spPr>
        <p:txBody>
          <a:bodyPr wrap="square" lIns="9144" rIns="9144" tIns="9144" bIns="9144" anchor="t">
            <a:spAutoFit/>
          </a:bodyPr>
          <a:lstStyle/>
          <a:p>
            <a:pPr algn="ctr">
              <a:spcAft>
                <a:spcPts val="500"/>
              </a:spcAft>
              <a:defRPr sz="1900" b="1">
                <a:solidFill>
                  <a:srgbClr val="FFFFFF"/>
                </a:solidFill>
                <a:latin typeface="Noto Sans"/>
              </a:defRPr>
            </a:pPr>
            <a:r>
              <a:t>Chỉ số bootstrap</a:t>
            </a:r>
          </a:p>
        </p:txBody>
      </p:sp>
      <p:sp>
        <p:nvSpPr>
          <p:cNvPr id="14" name="Rectangle 13"/>
          <p:cNvSpPr/>
          <p:nvPr/>
        </p:nvSpPr>
        <p:spPr>
          <a:xfrm>
            <a:off x="7086600" y="2423160"/>
            <a:ext cx="2034540" cy="70866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2532888"/>
            <a:ext cx="1783080" cy="585216"/>
          </a:xfrm>
          <a:prstGeom prst="rect">
            <a:avLst/>
          </a:prstGeom>
          <a:noFill/>
        </p:spPr>
        <p:txBody>
          <a:bodyPr wrap="square" lIns="9144" rIns="9144" tIns="9144" bIns="9144" anchor="t">
            <a:spAutoFit/>
          </a:bodyPr>
          <a:lstStyle/>
          <a:p>
            <a:pPr algn="ctr">
              <a:spcAft>
                <a:spcPts val="500"/>
              </a:spcAft>
              <a:defRPr sz="1900" b="1">
                <a:solidFill>
                  <a:srgbClr val="FFFFFF"/>
                </a:solidFill>
                <a:latin typeface="Noto Sans"/>
              </a:defRPr>
            </a:pPr>
            <a:r>
              <a:t>Không có mặt</a:t>
            </a:r>
          </a:p>
        </p:txBody>
      </p:sp>
      <p:sp>
        <p:nvSpPr>
          <p:cNvPr id="16" name="Rectangle 15"/>
          <p:cNvSpPr/>
          <p:nvPr/>
        </p:nvSpPr>
        <p:spPr>
          <a:xfrm>
            <a:off x="594360" y="3154680"/>
            <a:ext cx="1440180" cy="7086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264408"/>
            <a:ext cx="1188720" cy="585216"/>
          </a:xfrm>
          <a:prstGeom prst="rect">
            <a:avLst/>
          </a:prstGeom>
          <a:noFill/>
        </p:spPr>
        <p:txBody>
          <a:bodyPr wrap="square" lIns="9144" rIns="9144" tIns="9144" bIns="9144" anchor="t">
            <a:spAutoFit/>
          </a:bodyPr>
          <a:lstStyle/>
          <a:p>
            <a:pPr algn="l">
              <a:spcAft>
                <a:spcPts val="500"/>
              </a:spcAft>
              <a:defRPr sz="1900" b="0">
                <a:solidFill>
                  <a:srgbClr val="173246"/>
                </a:solidFill>
                <a:latin typeface="Noto Sans"/>
              </a:defRPr>
            </a:pPr>
            <a:r>
              <a:t>h₁</a:t>
            </a:r>
          </a:p>
        </p:txBody>
      </p:sp>
      <p:sp>
        <p:nvSpPr>
          <p:cNvPr id="18" name="Rectangle 17"/>
          <p:cNvSpPr/>
          <p:nvPr/>
        </p:nvSpPr>
        <p:spPr>
          <a:xfrm>
            <a:off x="2057400" y="3154680"/>
            <a:ext cx="5006340" cy="7086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194560" y="3264408"/>
            <a:ext cx="4754880" cy="585216"/>
          </a:xfrm>
          <a:prstGeom prst="rect">
            <a:avLst/>
          </a:prstGeom>
          <a:noFill/>
        </p:spPr>
        <p:txBody>
          <a:bodyPr wrap="square" lIns="9144" rIns="9144" tIns="9144" bIns="9144" anchor="t">
            <a:spAutoFit/>
          </a:bodyPr>
          <a:lstStyle/>
          <a:p>
            <a:pPr algn="ctr">
              <a:spcAft>
                <a:spcPts val="500"/>
              </a:spcAft>
              <a:defRPr sz="1900" b="0">
                <a:solidFill>
                  <a:srgbClr val="173246"/>
                </a:solidFill>
                <a:latin typeface="Noto Sans"/>
              </a:defRPr>
            </a:pPr>
            <a:r>
              <a:t>[0, 0, 2, 4, 1]</a:t>
            </a:r>
          </a:p>
        </p:txBody>
      </p:sp>
      <p:sp>
        <p:nvSpPr>
          <p:cNvPr id="20" name="Rectangle 19"/>
          <p:cNvSpPr/>
          <p:nvPr/>
        </p:nvSpPr>
        <p:spPr>
          <a:xfrm>
            <a:off x="7086600" y="3154680"/>
            <a:ext cx="2034540" cy="7086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264408"/>
            <a:ext cx="1783080" cy="585216"/>
          </a:xfrm>
          <a:prstGeom prst="rect">
            <a:avLst/>
          </a:prstGeom>
          <a:noFill/>
        </p:spPr>
        <p:txBody>
          <a:bodyPr wrap="square" lIns="9144" rIns="9144" tIns="9144" bIns="9144" anchor="t">
            <a:spAutoFit/>
          </a:bodyPr>
          <a:lstStyle/>
          <a:p>
            <a:pPr algn="ctr">
              <a:spcAft>
                <a:spcPts val="500"/>
              </a:spcAft>
              <a:defRPr sz="1900" b="0">
                <a:solidFill>
                  <a:srgbClr val="173246"/>
                </a:solidFill>
                <a:latin typeface="Noto Sans"/>
              </a:defRPr>
            </a:pPr>
            <a:r>
              <a:t>3</a:t>
            </a:r>
          </a:p>
        </p:txBody>
      </p:sp>
      <p:sp>
        <p:nvSpPr>
          <p:cNvPr id="22" name="Rectangle 21"/>
          <p:cNvSpPr/>
          <p:nvPr/>
        </p:nvSpPr>
        <p:spPr>
          <a:xfrm>
            <a:off x="594360" y="3886200"/>
            <a:ext cx="1440180" cy="7086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995928"/>
            <a:ext cx="1188720" cy="585216"/>
          </a:xfrm>
          <a:prstGeom prst="rect">
            <a:avLst/>
          </a:prstGeom>
          <a:noFill/>
        </p:spPr>
        <p:txBody>
          <a:bodyPr wrap="square" lIns="9144" rIns="9144" tIns="9144" bIns="9144" anchor="t">
            <a:spAutoFit/>
          </a:bodyPr>
          <a:lstStyle/>
          <a:p>
            <a:pPr algn="l">
              <a:spcAft>
                <a:spcPts val="500"/>
              </a:spcAft>
              <a:defRPr sz="1900" b="0">
                <a:solidFill>
                  <a:srgbClr val="173246"/>
                </a:solidFill>
                <a:latin typeface="Noto Sans"/>
              </a:defRPr>
            </a:pPr>
            <a:r>
              <a:t>h₂</a:t>
            </a:r>
          </a:p>
        </p:txBody>
      </p:sp>
      <p:sp>
        <p:nvSpPr>
          <p:cNvPr id="24" name="Rectangle 23"/>
          <p:cNvSpPr/>
          <p:nvPr/>
        </p:nvSpPr>
        <p:spPr>
          <a:xfrm>
            <a:off x="2057400" y="3886200"/>
            <a:ext cx="5006340" cy="7086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94560" y="3995928"/>
            <a:ext cx="4754880" cy="585216"/>
          </a:xfrm>
          <a:prstGeom prst="rect">
            <a:avLst/>
          </a:prstGeom>
          <a:noFill/>
        </p:spPr>
        <p:txBody>
          <a:bodyPr wrap="square" lIns="9144" rIns="9144" tIns="9144" bIns="9144" anchor="t">
            <a:spAutoFit/>
          </a:bodyPr>
          <a:lstStyle/>
          <a:p>
            <a:pPr algn="ctr">
              <a:spcAft>
                <a:spcPts val="500"/>
              </a:spcAft>
              <a:defRPr sz="1900" b="0">
                <a:solidFill>
                  <a:srgbClr val="173246"/>
                </a:solidFill>
                <a:latin typeface="Noto Sans"/>
              </a:defRPr>
            </a:pPr>
            <a:r>
              <a:t>[1, 3, 3, 2, 0]</a:t>
            </a:r>
          </a:p>
        </p:txBody>
      </p:sp>
      <p:sp>
        <p:nvSpPr>
          <p:cNvPr id="26" name="Rectangle 25"/>
          <p:cNvSpPr/>
          <p:nvPr/>
        </p:nvSpPr>
        <p:spPr>
          <a:xfrm>
            <a:off x="7086600" y="3886200"/>
            <a:ext cx="2034540" cy="7086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3995928"/>
            <a:ext cx="1783080" cy="585216"/>
          </a:xfrm>
          <a:prstGeom prst="rect">
            <a:avLst/>
          </a:prstGeom>
          <a:noFill/>
        </p:spPr>
        <p:txBody>
          <a:bodyPr wrap="square" lIns="9144" rIns="9144" tIns="9144" bIns="9144" anchor="t">
            <a:spAutoFit/>
          </a:bodyPr>
          <a:lstStyle/>
          <a:p>
            <a:pPr algn="ctr">
              <a:spcAft>
                <a:spcPts val="500"/>
              </a:spcAft>
              <a:defRPr sz="1900" b="0">
                <a:solidFill>
                  <a:srgbClr val="173246"/>
                </a:solidFill>
                <a:latin typeface="Noto Sans"/>
              </a:defRPr>
            </a:pPr>
            <a:r>
              <a:t>4</a:t>
            </a:r>
          </a:p>
        </p:txBody>
      </p:sp>
      <p:sp>
        <p:nvSpPr>
          <p:cNvPr id="28" name="Rectangle 27"/>
          <p:cNvSpPr/>
          <p:nvPr/>
        </p:nvSpPr>
        <p:spPr>
          <a:xfrm>
            <a:off x="594360" y="4617720"/>
            <a:ext cx="1440180" cy="7086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727448"/>
            <a:ext cx="1188720" cy="585216"/>
          </a:xfrm>
          <a:prstGeom prst="rect">
            <a:avLst/>
          </a:prstGeom>
          <a:noFill/>
        </p:spPr>
        <p:txBody>
          <a:bodyPr wrap="square" lIns="9144" rIns="9144" tIns="9144" bIns="9144" anchor="t">
            <a:spAutoFit/>
          </a:bodyPr>
          <a:lstStyle/>
          <a:p>
            <a:pPr algn="l">
              <a:spcAft>
                <a:spcPts val="500"/>
              </a:spcAft>
              <a:defRPr sz="1900" b="0">
                <a:solidFill>
                  <a:srgbClr val="173246"/>
                </a:solidFill>
                <a:latin typeface="Noto Sans"/>
              </a:defRPr>
            </a:pPr>
            <a:r>
              <a:t>h₃</a:t>
            </a:r>
          </a:p>
        </p:txBody>
      </p:sp>
      <p:sp>
        <p:nvSpPr>
          <p:cNvPr id="30" name="Rectangle 29"/>
          <p:cNvSpPr/>
          <p:nvPr/>
        </p:nvSpPr>
        <p:spPr>
          <a:xfrm>
            <a:off x="2057400" y="4617720"/>
            <a:ext cx="5006340" cy="7086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94560" y="4727448"/>
            <a:ext cx="4754880" cy="585216"/>
          </a:xfrm>
          <a:prstGeom prst="rect">
            <a:avLst/>
          </a:prstGeom>
          <a:noFill/>
        </p:spPr>
        <p:txBody>
          <a:bodyPr wrap="square" lIns="9144" rIns="9144" tIns="9144" bIns="9144" anchor="t">
            <a:spAutoFit/>
          </a:bodyPr>
          <a:lstStyle/>
          <a:p>
            <a:pPr algn="ctr">
              <a:spcAft>
                <a:spcPts val="500"/>
              </a:spcAft>
              <a:defRPr sz="1900" b="0">
                <a:solidFill>
                  <a:srgbClr val="173246"/>
                </a:solidFill>
                <a:latin typeface="Noto Sans"/>
              </a:defRPr>
            </a:pPr>
            <a:r>
              <a:t>[4, 2, 4, 1, 3]</a:t>
            </a:r>
          </a:p>
        </p:txBody>
      </p:sp>
      <p:sp>
        <p:nvSpPr>
          <p:cNvPr id="32" name="Rectangle 31"/>
          <p:cNvSpPr/>
          <p:nvPr/>
        </p:nvSpPr>
        <p:spPr>
          <a:xfrm>
            <a:off x="7086600" y="4617720"/>
            <a:ext cx="2034540" cy="7086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0" y="4727448"/>
            <a:ext cx="1783080" cy="585216"/>
          </a:xfrm>
          <a:prstGeom prst="rect">
            <a:avLst/>
          </a:prstGeom>
          <a:noFill/>
        </p:spPr>
        <p:txBody>
          <a:bodyPr wrap="square" lIns="9144" rIns="9144" tIns="9144" bIns="9144" anchor="t">
            <a:spAutoFit/>
          </a:bodyPr>
          <a:lstStyle/>
          <a:p>
            <a:pPr algn="ctr">
              <a:spcAft>
                <a:spcPts val="500"/>
              </a:spcAft>
              <a:defRPr sz="1900" b="0">
                <a:solidFill>
                  <a:srgbClr val="173246"/>
                </a:solidFill>
                <a:latin typeface="Noto Sans"/>
              </a:defRPr>
            </a:pPr>
            <a:r>
              <a:t>0</a:t>
            </a:r>
          </a:p>
        </p:txBody>
      </p:sp>
      <p:sp>
        <p:nvSpPr>
          <p:cNvPr id="34" name="Rounded Rectangle 33"/>
          <p:cNvSpPr/>
          <p:nvPr/>
        </p:nvSpPr>
        <p:spPr>
          <a:xfrm>
            <a:off x="9418320" y="2423160"/>
            <a:ext cx="2148840" cy="2907792"/>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28632" y="2697480"/>
            <a:ext cx="1737360" cy="457200"/>
          </a:xfrm>
          <a:prstGeom prst="rect">
            <a:avLst/>
          </a:prstGeom>
          <a:noFill/>
        </p:spPr>
        <p:txBody>
          <a:bodyPr wrap="square" lIns="9144" rIns="9144" tIns="9144" bIns="9144" anchor="t">
            <a:spAutoFit/>
          </a:bodyPr>
          <a:lstStyle/>
          <a:p>
            <a:pPr algn="l">
              <a:spcAft>
                <a:spcPts val="500"/>
              </a:spcAft>
              <a:defRPr sz="2300" b="1">
                <a:solidFill>
                  <a:srgbClr val="FFFFFF"/>
                </a:solidFill>
                <a:latin typeface="Noto Sans"/>
              </a:defRPr>
            </a:pPr>
            <a:r>
              <a:t>CÓ LẶP</a:t>
            </a:r>
          </a:p>
        </p:txBody>
      </p:sp>
      <p:sp>
        <p:nvSpPr>
          <p:cNvPr id="36" name="TextBox 35"/>
          <p:cNvSpPr txBox="1"/>
          <p:nvPr/>
        </p:nvSpPr>
        <p:spPr>
          <a:xfrm>
            <a:off x="9628632" y="3520440"/>
            <a:ext cx="1737360" cy="1371600"/>
          </a:xfrm>
          <a:prstGeom prst="rect">
            <a:avLst/>
          </a:prstGeom>
          <a:noFill/>
        </p:spPr>
        <p:txBody>
          <a:bodyPr wrap="square" lIns="9144" rIns="9144" tIns="9144" bIns="9144" anchor="t">
            <a:spAutoFit/>
          </a:bodyPr>
          <a:lstStyle/>
          <a:p>
            <a:pPr algn="l">
              <a:spcAft>
                <a:spcPts val="500"/>
              </a:spcAft>
              <a:defRPr sz="1700" b="0">
                <a:solidFill>
                  <a:srgbClr val="FFFFFF"/>
                </a:solidFill>
                <a:latin typeface="Noto Sans"/>
              </a:defRPr>
            </a:pPr>
            <a:r>
              <a:t>Cùng N lượt,</a:t>
            </a:r>
          </a:p>
          <a:p>
            <a:pPr algn="l">
              <a:spcAft>
                <a:spcPts val="500"/>
              </a:spcAft>
              <a:defRPr sz="1700" b="0">
                <a:solidFill>
                  <a:srgbClr val="FFFFFF"/>
                </a:solidFill>
                <a:latin typeface="Noto Sans"/>
              </a:defRPr>
            </a:pPr>
            <a:r>
              <a:t>nhưng không đủ</a:t>
            </a:r>
          </a:p>
          <a:p>
            <a:pPr algn="l">
              <a:spcAft>
                <a:spcPts val="500"/>
              </a:spcAft>
              <a:defRPr sz="1700" b="0">
                <a:solidFill>
                  <a:srgbClr val="FFFFFF"/>
                </a:solidFill>
                <a:latin typeface="Noto Sans"/>
              </a:defRPr>
            </a:pPr>
            <a:r>
              <a:t>N mẫu khác nhau.</a:t>
            </a:r>
          </a:p>
        </p:txBody>
      </p:sp>
      <p:sp>
        <p:nvSpPr>
          <p:cNvPr id="37" name="TextBox 36"/>
          <p:cNvSpPr txBox="1"/>
          <p:nvPr/>
        </p:nvSpPr>
        <p:spPr>
          <a:xfrm>
            <a:off x="640080" y="5623560"/>
            <a:ext cx="10972800" cy="457200"/>
          </a:xfrm>
          <a:prstGeom prst="rect">
            <a:avLst/>
          </a:prstGeom>
          <a:noFill/>
        </p:spPr>
        <p:txBody>
          <a:bodyPr wrap="square" lIns="9144" rIns="9144" tIns="9144" bIns="9144" anchor="t">
            <a:spAutoFit/>
          </a:bodyPr>
          <a:lstStyle/>
          <a:p>
            <a:pPr algn="l">
              <a:spcAft>
                <a:spcPts val="500"/>
              </a:spcAft>
              <a:defRPr sz="1900" b="1">
                <a:solidFill>
                  <a:srgbClr val="087E83"/>
                </a:solidFill>
                <a:latin typeface="Noto Sans"/>
              </a:defRPr>
            </a:pPr>
            <a:r>
              <a:t>P(một mẫu không được chọn) = (1 − 1/N)ᴺ  →  e⁻¹ ≈ 36,8% khi N lớn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02 • VÍ DỤ TÍNH GINI</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Một cây học phép chia như thế nào?</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Ví dụ tính tay; cây quyết định: [5]</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08</a:t>
            </a:r>
          </a:p>
        </p:txBody>
      </p:sp>
      <p:sp>
        <p:nvSpPr>
          <p:cNvPr id="9" name="Rectangle 8"/>
          <p:cNvSpPr/>
          <p:nvPr/>
        </p:nvSpPr>
        <p:spPr>
          <a:xfrm>
            <a:off x="594360" y="1783080"/>
            <a:ext cx="2263140" cy="598932"/>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92807"/>
            <a:ext cx="2011680" cy="475488"/>
          </a:xfrm>
          <a:prstGeom prst="rect">
            <a:avLst/>
          </a:prstGeom>
          <a:noFill/>
        </p:spPr>
        <p:txBody>
          <a:bodyPr wrap="square" lIns="9144" rIns="9144" tIns="9144" bIns="9144" anchor="t">
            <a:spAutoFit/>
          </a:bodyPr>
          <a:lstStyle/>
          <a:p>
            <a:pPr algn="l">
              <a:spcAft>
                <a:spcPts val="500"/>
              </a:spcAft>
              <a:defRPr sz="1700" b="1">
                <a:solidFill>
                  <a:srgbClr val="FFFFFF"/>
                </a:solidFill>
                <a:latin typeface="Noto Sans"/>
              </a:defRPr>
            </a:pPr>
            <a:r>
              <a:t>Dữ liệu minh họa</a:t>
            </a:r>
          </a:p>
        </p:txBody>
      </p:sp>
      <p:sp>
        <p:nvSpPr>
          <p:cNvPr id="11" name="Rectangle 10"/>
          <p:cNvSpPr/>
          <p:nvPr/>
        </p:nvSpPr>
        <p:spPr>
          <a:xfrm>
            <a:off x="2880360" y="1783080"/>
            <a:ext cx="1623060" cy="598932"/>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1892807"/>
            <a:ext cx="1371600" cy="475488"/>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0</a:t>
            </a:r>
          </a:p>
        </p:txBody>
      </p:sp>
      <p:sp>
        <p:nvSpPr>
          <p:cNvPr id="13" name="Rectangle 12"/>
          <p:cNvSpPr/>
          <p:nvPr/>
        </p:nvSpPr>
        <p:spPr>
          <a:xfrm>
            <a:off x="4526280" y="1783080"/>
            <a:ext cx="1623060" cy="598932"/>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892807"/>
            <a:ext cx="1371600" cy="475488"/>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1</a:t>
            </a:r>
          </a:p>
        </p:txBody>
      </p:sp>
      <p:sp>
        <p:nvSpPr>
          <p:cNvPr id="15" name="Rectangle 14"/>
          <p:cNvSpPr/>
          <p:nvPr/>
        </p:nvSpPr>
        <p:spPr>
          <a:xfrm>
            <a:off x="6172200" y="1783080"/>
            <a:ext cx="1623060" cy="598932"/>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892807"/>
            <a:ext cx="1371600" cy="475488"/>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2</a:t>
            </a:r>
          </a:p>
        </p:txBody>
      </p:sp>
      <p:sp>
        <p:nvSpPr>
          <p:cNvPr id="17" name="Rectangle 16"/>
          <p:cNvSpPr/>
          <p:nvPr/>
        </p:nvSpPr>
        <p:spPr>
          <a:xfrm>
            <a:off x="7818120" y="1783080"/>
            <a:ext cx="1623060" cy="598932"/>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0" y="1892807"/>
            <a:ext cx="1371600" cy="475488"/>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3</a:t>
            </a:r>
          </a:p>
        </p:txBody>
      </p:sp>
      <p:sp>
        <p:nvSpPr>
          <p:cNvPr id="19" name="Rectangle 18"/>
          <p:cNvSpPr/>
          <p:nvPr/>
        </p:nvSpPr>
        <p:spPr>
          <a:xfrm>
            <a:off x="9464040" y="1783080"/>
            <a:ext cx="1988820" cy="598932"/>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892807"/>
            <a:ext cx="1737360" cy="475488"/>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4</a:t>
            </a:r>
          </a:p>
        </p:txBody>
      </p:sp>
      <p:sp>
        <p:nvSpPr>
          <p:cNvPr id="21" name="Rectangle 20"/>
          <p:cNvSpPr/>
          <p:nvPr/>
        </p:nvSpPr>
        <p:spPr>
          <a:xfrm>
            <a:off x="594360" y="2404872"/>
            <a:ext cx="226314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2514600"/>
            <a:ext cx="2011680" cy="475488"/>
          </a:xfrm>
          <a:prstGeom prst="rect">
            <a:avLst/>
          </a:prstGeom>
          <a:noFill/>
        </p:spPr>
        <p:txBody>
          <a:bodyPr wrap="square" lIns="9144" rIns="9144" tIns="9144" bIns="9144" anchor="t">
            <a:spAutoFit/>
          </a:bodyPr>
          <a:lstStyle/>
          <a:p>
            <a:pPr algn="l">
              <a:spcAft>
                <a:spcPts val="500"/>
              </a:spcAft>
              <a:defRPr sz="1700" b="0">
                <a:solidFill>
                  <a:srgbClr val="173246"/>
                </a:solidFill>
                <a:latin typeface="Noto Sans"/>
              </a:defRPr>
            </a:pPr>
            <a:r>
              <a:t>Đặc trưng x</a:t>
            </a:r>
          </a:p>
        </p:txBody>
      </p:sp>
      <p:sp>
        <p:nvSpPr>
          <p:cNvPr id="23" name="Rectangle 22"/>
          <p:cNvSpPr/>
          <p:nvPr/>
        </p:nvSpPr>
        <p:spPr>
          <a:xfrm>
            <a:off x="2880360" y="2404872"/>
            <a:ext cx="1623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17520" y="2514600"/>
            <a:ext cx="1371600" cy="475488"/>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1</a:t>
            </a:r>
          </a:p>
        </p:txBody>
      </p:sp>
      <p:sp>
        <p:nvSpPr>
          <p:cNvPr id="25" name="Rectangle 24"/>
          <p:cNvSpPr/>
          <p:nvPr/>
        </p:nvSpPr>
        <p:spPr>
          <a:xfrm>
            <a:off x="4526280" y="2404872"/>
            <a:ext cx="1623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2514600"/>
            <a:ext cx="1371600" cy="475488"/>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2</a:t>
            </a:r>
          </a:p>
        </p:txBody>
      </p:sp>
      <p:sp>
        <p:nvSpPr>
          <p:cNvPr id="27" name="Rectangle 26"/>
          <p:cNvSpPr/>
          <p:nvPr/>
        </p:nvSpPr>
        <p:spPr>
          <a:xfrm>
            <a:off x="6172200" y="2404872"/>
            <a:ext cx="1623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2514600"/>
            <a:ext cx="1371600" cy="475488"/>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3</a:t>
            </a:r>
          </a:p>
        </p:txBody>
      </p:sp>
      <p:sp>
        <p:nvSpPr>
          <p:cNvPr id="29" name="Rectangle 28"/>
          <p:cNvSpPr/>
          <p:nvPr/>
        </p:nvSpPr>
        <p:spPr>
          <a:xfrm>
            <a:off x="7818120" y="2404872"/>
            <a:ext cx="1623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0" y="2514600"/>
            <a:ext cx="1371600" cy="475488"/>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4</a:t>
            </a:r>
          </a:p>
        </p:txBody>
      </p:sp>
      <p:sp>
        <p:nvSpPr>
          <p:cNvPr id="31" name="Rectangle 30"/>
          <p:cNvSpPr/>
          <p:nvPr/>
        </p:nvSpPr>
        <p:spPr>
          <a:xfrm>
            <a:off x="9464040" y="2404872"/>
            <a:ext cx="198882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0" y="2514600"/>
            <a:ext cx="1737360" cy="475488"/>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5</a:t>
            </a:r>
          </a:p>
        </p:txBody>
      </p:sp>
      <p:sp>
        <p:nvSpPr>
          <p:cNvPr id="33" name="Rectangle 32"/>
          <p:cNvSpPr/>
          <p:nvPr/>
        </p:nvSpPr>
        <p:spPr>
          <a:xfrm>
            <a:off x="594360" y="3026664"/>
            <a:ext cx="226314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3136392"/>
            <a:ext cx="2011680" cy="475488"/>
          </a:xfrm>
          <a:prstGeom prst="rect">
            <a:avLst/>
          </a:prstGeom>
          <a:noFill/>
        </p:spPr>
        <p:txBody>
          <a:bodyPr wrap="square" lIns="9144" rIns="9144" tIns="9144" bIns="9144" anchor="t">
            <a:spAutoFit/>
          </a:bodyPr>
          <a:lstStyle/>
          <a:p>
            <a:pPr algn="l">
              <a:spcAft>
                <a:spcPts val="500"/>
              </a:spcAft>
              <a:defRPr sz="1700" b="0">
                <a:solidFill>
                  <a:srgbClr val="173246"/>
                </a:solidFill>
                <a:latin typeface="Noto Sans"/>
              </a:defRPr>
            </a:pPr>
            <a:r>
              <a:t>Nhãn</a:t>
            </a:r>
          </a:p>
        </p:txBody>
      </p:sp>
      <p:sp>
        <p:nvSpPr>
          <p:cNvPr id="35" name="Rectangle 34"/>
          <p:cNvSpPr/>
          <p:nvPr/>
        </p:nvSpPr>
        <p:spPr>
          <a:xfrm>
            <a:off x="2880360" y="3026664"/>
            <a:ext cx="1623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17520" y="3136392"/>
            <a:ext cx="1371600" cy="475488"/>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Lành</a:t>
            </a:r>
          </a:p>
        </p:txBody>
      </p:sp>
      <p:sp>
        <p:nvSpPr>
          <p:cNvPr id="37" name="Rectangle 36"/>
          <p:cNvSpPr/>
          <p:nvPr/>
        </p:nvSpPr>
        <p:spPr>
          <a:xfrm>
            <a:off x="4526280" y="3026664"/>
            <a:ext cx="1623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63440" y="3136392"/>
            <a:ext cx="1371600" cy="475488"/>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Lành</a:t>
            </a:r>
          </a:p>
        </p:txBody>
      </p:sp>
      <p:sp>
        <p:nvSpPr>
          <p:cNvPr id="39" name="Rectangle 38"/>
          <p:cNvSpPr/>
          <p:nvPr/>
        </p:nvSpPr>
        <p:spPr>
          <a:xfrm>
            <a:off x="6172200" y="3026664"/>
            <a:ext cx="1623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09360" y="3136392"/>
            <a:ext cx="1371600" cy="475488"/>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Ác</a:t>
            </a:r>
          </a:p>
        </p:txBody>
      </p:sp>
      <p:sp>
        <p:nvSpPr>
          <p:cNvPr id="41" name="Rectangle 40"/>
          <p:cNvSpPr/>
          <p:nvPr/>
        </p:nvSpPr>
        <p:spPr>
          <a:xfrm>
            <a:off x="7818120" y="3026664"/>
            <a:ext cx="162306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55280" y="3136392"/>
            <a:ext cx="1371600" cy="475488"/>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Ác</a:t>
            </a:r>
          </a:p>
        </p:txBody>
      </p:sp>
      <p:sp>
        <p:nvSpPr>
          <p:cNvPr id="43" name="Rectangle 42"/>
          <p:cNvSpPr/>
          <p:nvPr/>
        </p:nvSpPr>
        <p:spPr>
          <a:xfrm>
            <a:off x="9464040" y="3026664"/>
            <a:ext cx="1988820" cy="5989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0" y="3136392"/>
            <a:ext cx="1737360" cy="475488"/>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Ác</a:t>
            </a:r>
          </a:p>
        </p:txBody>
      </p:sp>
      <p:sp>
        <p:nvSpPr>
          <p:cNvPr id="45" name="TextBox 44"/>
          <p:cNvSpPr txBox="1"/>
          <p:nvPr/>
        </p:nvSpPr>
        <p:spPr>
          <a:xfrm>
            <a:off x="640080" y="3822191"/>
            <a:ext cx="4937760" cy="685800"/>
          </a:xfrm>
          <a:prstGeom prst="rect">
            <a:avLst/>
          </a:prstGeom>
          <a:noFill/>
        </p:spPr>
        <p:txBody>
          <a:bodyPr wrap="square" lIns="9144" rIns="9144" tIns="9144" bIns="9144" anchor="t">
            <a:spAutoFit/>
          </a:bodyPr>
          <a:lstStyle/>
          <a:p>
            <a:pPr algn="l">
              <a:spcAft>
                <a:spcPts val="500"/>
              </a:spcAft>
              <a:defRPr sz="2100" b="1">
                <a:solidFill>
                  <a:srgbClr val="173246"/>
                </a:solidFill>
                <a:latin typeface="Noto Sans"/>
              </a:defRPr>
            </a:pPr>
            <a:r>
              <a:t>Bootstrap h₁: [0, 0, 2, 4, 1]</a:t>
            </a:r>
          </a:p>
          <a:p>
            <a:pPr algn="l">
              <a:spcAft>
                <a:spcPts val="500"/>
              </a:spcAft>
              <a:defRPr sz="2100" b="1">
                <a:solidFill>
                  <a:srgbClr val="173246"/>
                </a:solidFill>
                <a:latin typeface="Noto Sans"/>
              </a:defRPr>
            </a:pPr>
            <a:r>
              <a:t>→ 3 lành tính, 2 ác tính</a:t>
            </a:r>
          </a:p>
        </p:txBody>
      </p:sp>
      <p:sp>
        <p:nvSpPr>
          <p:cNvPr id="46" name="TextBox 45"/>
          <p:cNvSpPr txBox="1"/>
          <p:nvPr/>
        </p:nvSpPr>
        <p:spPr>
          <a:xfrm>
            <a:off x="640080" y="4800600"/>
            <a:ext cx="4937760" cy="914400"/>
          </a:xfrm>
          <a:prstGeom prst="rect">
            <a:avLst/>
          </a:prstGeom>
          <a:noFill/>
        </p:spPr>
        <p:txBody>
          <a:bodyPr wrap="square" lIns="9144" rIns="9144" tIns="9144" bIns="9144" anchor="t">
            <a:spAutoFit/>
          </a:bodyPr>
          <a:lstStyle/>
          <a:p>
            <a:pPr algn="l">
              <a:spcAft>
                <a:spcPts val="500"/>
              </a:spcAft>
              <a:defRPr sz="2100" b="1">
                <a:solidFill>
                  <a:srgbClr val="087E83"/>
                </a:solidFill>
                <a:latin typeface="Noto Sans"/>
              </a:defRPr>
            </a:pPr>
            <a:r>
              <a:t>Gini trước chia</a:t>
            </a:r>
          </a:p>
          <a:p>
            <a:pPr algn="l">
              <a:spcAft>
                <a:spcPts val="500"/>
              </a:spcAft>
              <a:defRPr sz="2100" b="1">
                <a:solidFill>
                  <a:srgbClr val="087E83"/>
                </a:solidFill>
                <a:latin typeface="Noto Sans"/>
              </a:defRPr>
            </a:pPr>
            <a:r>
              <a:t>= 1 − (3/5)² − (2/5)² = 0,48</a:t>
            </a:r>
          </a:p>
        </p:txBody>
      </p:sp>
      <p:sp>
        <p:nvSpPr>
          <p:cNvPr id="47" name="Rounded Rectangle 46"/>
          <p:cNvSpPr/>
          <p:nvPr/>
        </p:nvSpPr>
        <p:spPr>
          <a:xfrm>
            <a:off x="6080760" y="3794760"/>
            <a:ext cx="5440680" cy="21945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09360" y="3977639"/>
            <a:ext cx="4937760" cy="548640"/>
          </a:xfrm>
          <a:prstGeom prst="rect">
            <a:avLst/>
          </a:prstGeom>
          <a:noFill/>
        </p:spPr>
        <p:txBody>
          <a:bodyPr wrap="square" lIns="9144" rIns="9144" tIns="9144" bIns="9144" anchor="t">
            <a:spAutoFit/>
          </a:bodyPr>
          <a:lstStyle/>
          <a:p>
            <a:pPr algn="l">
              <a:spcAft>
                <a:spcPts val="500"/>
              </a:spcAft>
              <a:defRPr sz="2400" b="1">
                <a:solidFill>
                  <a:srgbClr val="173246"/>
                </a:solidFill>
                <a:latin typeface="Noto Sans"/>
              </a:defRPr>
            </a:pPr>
            <a:r>
              <a:t>Chọn ngưỡng x ≤ 2,5</a:t>
            </a:r>
          </a:p>
        </p:txBody>
      </p:sp>
      <p:sp>
        <p:nvSpPr>
          <p:cNvPr id="49" name="TextBox 48"/>
          <p:cNvSpPr txBox="1"/>
          <p:nvPr/>
        </p:nvSpPr>
        <p:spPr>
          <a:xfrm>
            <a:off x="6309360" y="4617720"/>
            <a:ext cx="4892040" cy="960120"/>
          </a:xfrm>
          <a:prstGeom prst="rect">
            <a:avLst/>
          </a:prstGeom>
          <a:noFill/>
        </p:spPr>
        <p:txBody>
          <a:bodyPr wrap="square" lIns="9144" rIns="9144" tIns="9144" bIns="9144" anchor="t">
            <a:spAutoFit/>
          </a:bodyPr>
          <a:lstStyle/>
          <a:p>
            <a:pPr algn="l">
              <a:spcAft>
                <a:spcPts val="500"/>
              </a:spcAft>
              <a:defRPr sz="1900" b="0">
                <a:solidFill>
                  <a:srgbClr val="566A76"/>
                </a:solidFill>
                <a:latin typeface="Noto Sans"/>
              </a:defRPr>
            </a:pPr>
            <a:r>
              <a:t>Trái: 3 lành  →  Gini = 0</a:t>
            </a:r>
          </a:p>
          <a:p>
            <a:pPr algn="l">
              <a:spcAft>
                <a:spcPts val="500"/>
              </a:spcAft>
              <a:defRPr sz="1900" b="0">
                <a:solidFill>
                  <a:srgbClr val="566A76"/>
                </a:solidFill>
                <a:latin typeface="Noto Sans"/>
              </a:defRPr>
            </a:pPr>
            <a:r>
              <a:t>Phải: 2 ác  →  Gini = 0</a:t>
            </a:r>
          </a:p>
          <a:p>
            <a:pPr algn="l">
              <a:spcAft>
                <a:spcPts val="500"/>
              </a:spcAft>
              <a:defRPr sz="1900" b="0">
                <a:solidFill>
                  <a:srgbClr val="566A76"/>
                </a:solidFill>
                <a:latin typeface="Noto Sans"/>
              </a:defRPr>
            </a:pPr>
            <a:r>
              <a:t>Gini sau chia = 0  |  Giảm = 0,48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2537"/>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79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79E2CC"/>
                </a:solidFill>
                <a:latin typeface="Noto Sans"/>
              </a:defRPr>
            </a:pPr>
            <a:r>
              <a:t>02 • TÍNH PHÉP TỔNG HỢP</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FFFFFF"/>
                </a:solidFill>
                <a:latin typeface="Noto Sans"/>
              </a:defRPr>
            </a:pPr>
            <a:r>
              <a:t>Từ phiếu riêng lẻ đến quyết định của tổ hợp</a:t>
            </a:r>
          </a:p>
        </p:txBody>
      </p:sp>
      <p:cxnSp>
        <p:nvCxnSpPr>
          <p:cNvPr id="5" name="Connector 4"/>
          <p:cNvCxnSpPr/>
          <p:nvPr/>
        </p:nvCxnSpPr>
        <p:spPr>
          <a:xfrm>
            <a:off x="502920" y="6446520"/>
            <a:ext cx="11155680" cy="0"/>
          </a:xfrm>
          <a:prstGeom prst="line">
            <a:avLst/>
          </a:prstGeom>
          <a:ln w="8890">
            <a:solidFill>
              <a:srgbClr val="37516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AFC4CF"/>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AFC4CF"/>
                </a:solidFill>
                <a:latin typeface="Noto Sans"/>
              </a:defRPr>
            </a:pPr>
            <a:r>
              <a:t>Ví dụ phiếu giả định; không phải đầu ra thí nghiệm</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79E2CC"/>
                </a:solidFill>
                <a:latin typeface="Noto Sans"/>
              </a:defRPr>
            </a:pPr>
            <a:r>
              <a:t>09</a:t>
            </a:r>
          </a:p>
        </p:txBody>
      </p:sp>
      <p:sp>
        <p:nvSpPr>
          <p:cNvPr id="9" name="TextBox 8"/>
          <p:cNvSpPr txBox="1"/>
          <p:nvPr/>
        </p:nvSpPr>
        <p:spPr>
          <a:xfrm>
            <a:off x="640080" y="1691640"/>
            <a:ext cx="10972800" cy="640080"/>
          </a:xfrm>
          <a:prstGeom prst="rect">
            <a:avLst/>
          </a:prstGeom>
          <a:noFill/>
        </p:spPr>
        <p:txBody>
          <a:bodyPr wrap="square" lIns="9144" rIns="9144" tIns="9144" bIns="9144" anchor="t">
            <a:spAutoFit/>
          </a:bodyPr>
          <a:lstStyle/>
          <a:p>
            <a:pPr algn="l">
              <a:spcAft>
                <a:spcPts val="500"/>
              </a:spcAft>
              <a:defRPr sz="3200" b="1">
                <a:solidFill>
                  <a:srgbClr val="79E2CC"/>
                </a:solidFill>
                <a:latin typeface="Noto Sans"/>
              </a:defRPr>
            </a:pPr>
            <a:r>
              <a:t>H(x) = argmax꜀  Σᵦ  I[hᵦ(x) = c]</a:t>
            </a:r>
          </a:p>
        </p:txBody>
      </p:sp>
      <p:sp>
        <p:nvSpPr>
          <p:cNvPr id="10" name="TextBox 9"/>
          <p:cNvSpPr txBox="1"/>
          <p:nvPr/>
        </p:nvSpPr>
        <p:spPr>
          <a:xfrm>
            <a:off x="914400" y="2743200"/>
            <a:ext cx="2011680" cy="457200"/>
          </a:xfrm>
          <a:prstGeom prst="rect">
            <a:avLst/>
          </a:prstGeom>
          <a:noFill/>
        </p:spPr>
        <p:txBody>
          <a:bodyPr wrap="square" lIns="9144" rIns="9144" tIns="9144" bIns="9144" anchor="t">
            <a:spAutoFit/>
          </a:bodyPr>
          <a:lstStyle/>
          <a:p>
            <a:pPr algn="ctr">
              <a:spcAft>
                <a:spcPts val="500"/>
              </a:spcAft>
              <a:defRPr sz="2200" b="1">
                <a:solidFill>
                  <a:srgbClr val="FFFFFF"/>
                </a:solidFill>
                <a:latin typeface="Noto Sans"/>
              </a:defRPr>
            </a:pPr>
            <a:r>
              <a:t>h₁(x)</a:t>
            </a:r>
          </a:p>
        </p:txBody>
      </p:sp>
      <p:sp>
        <p:nvSpPr>
          <p:cNvPr id="11" name="Oval 10"/>
          <p:cNvSpPr/>
          <p:nvPr/>
        </p:nvSpPr>
        <p:spPr>
          <a:xfrm>
            <a:off x="1234440" y="3474720"/>
            <a:ext cx="1325880" cy="1325880"/>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3753154"/>
            <a:ext cx="1325880" cy="769010"/>
          </a:xfrm>
          <a:prstGeom prst="rect">
            <a:avLst/>
          </a:prstGeom>
          <a:noFill/>
        </p:spPr>
        <p:txBody>
          <a:bodyPr wrap="square" lIns="9144" rIns="9144" tIns="9144" bIns="9144" anchor="t">
            <a:spAutoFit/>
          </a:bodyPr>
          <a:lstStyle/>
          <a:p>
            <a:pPr algn="ctr">
              <a:spcAft>
                <a:spcPts val="500"/>
              </a:spcAft>
              <a:defRPr sz="2300" b="1">
                <a:solidFill>
                  <a:srgbClr val="FFFFFF"/>
                </a:solidFill>
                <a:latin typeface="Noto Sans"/>
              </a:defRPr>
            </a:pPr>
            <a:r>
              <a:t>ÁC</a:t>
            </a:r>
          </a:p>
        </p:txBody>
      </p:sp>
      <p:sp>
        <p:nvSpPr>
          <p:cNvPr id="13" name="TextBox 12"/>
          <p:cNvSpPr txBox="1"/>
          <p:nvPr/>
        </p:nvSpPr>
        <p:spPr>
          <a:xfrm>
            <a:off x="3657600" y="2743200"/>
            <a:ext cx="2011680" cy="457200"/>
          </a:xfrm>
          <a:prstGeom prst="rect">
            <a:avLst/>
          </a:prstGeom>
          <a:noFill/>
        </p:spPr>
        <p:txBody>
          <a:bodyPr wrap="square" lIns="9144" rIns="9144" tIns="9144" bIns="9144" anchor="t">
            <a:spAutoFit/>
          </a:bodyPr>
          <a:lstStyle/>
          <a:p>
            <a:pPr algn="ctr">
              <a:spcAft>
                <a:spcPts val="500"/>
              </a:spcAft>
              <a:defRPr sz="2200" b="1">
                <a:solidFill>
                  <a:srgbClr val="FFFFFF"/>
                </a:solidFill>
                <a:latin typeface="Noto Sans"/>
              </a:defRPr>
            </a:pPr>
            <a:r>
              <a:t>h₂(x)</a:t>
            </a:r>
          </a:p>
        </p:txBody>
      </p:sp>
      <p:sp>
        <p:nvSpPr>
          <p:cNvPr id="14" name="Oval 13"/>
          <p:cNvSpPr/>
          <p:nvPr/>
        </p:nvSpPr>
        <p:spPr>
          <a:xfrm>
            <a:off x="3977639" y="3474720"/>
            <a:ext cx="1325880" cy="1325880"/>
          </a:xfrm>
          <a:prstGeom prst="ellipse">
            <a:avLst/>
          </a:prstGeom>
          <a:solidFill>
            <a:srgbClr val="4962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77639" y="3753154"/>
            <a:ext cx="1325880" cy="769010"/>
          </a:xfrm>
          <a:prstGeom prst="rect">
            <a:avLst/>
          </a:prstGeom>
          <a:noFill/>
        </p:spPr>
        <p:txBody>
          <a:bodyPr wrap="square" lIns="9144" rIns="9144" tIns="9144" bIns="9144" anchor="t">
            <a:spAutoFit/>
          </a:bodyPr>
          <a:lstStyle/>
          <a:p>
            <a:pPr algn="ctr">
              <a:spcAft>
                <a:spcPts val="500"/>
              </a:spcAft>
              <a:defRPr sz="2300" b="1">
                <a:solidFill>
                  <a:srgbClr val="FFFFFF"/>
                </a:solidFill>
                <a:latin typeface="Noto Sans"/>
              </a:defRPr>
            </a:pPr>
            <a:r>
              <a:t>LÀNH</a:t>
            </a:r>
          </a:p>
        </p:txBody>
      </p:sp>
      <p:sp>
        <p:nvSpPr>
          <p:cNvPr id="16" name="TextBox 15"/>
          <p:cNvSpPr txBox="1"/>
          <p:nvPr/>
        </p:nvSpPr>
        <p:spPr>
          <a:xfrm>
            <a:off x="6400800" y="2743200"/>
            <a:ext cx="2011680" cy="457200"/>
          </a:xfrm>
          <a:prstGeom prst="rect">
            <a:avLst/>
          </a:prstGeom>
          <a:noFill/>
        </p:spPr>
        <p:txBody>
          <a:bodyPr wrap="square" lIns="9144" rIns="9144" tIns="9144" bIns="9144" anchor="t">
            <a:spAutoFit/>
          </a:bodyPr>
          <a:lstStyle/>
          <a:p>
            <a:pPr algn="ctr">
              <a:spcAft>
                <a:spcPts val="500"/>
              </a:spcAft>
              <a:defRPr sz="2200" b="1">
                <a:solidFill>
                  <a:srgbClr val="FFFFFF"/>
                </a:solidFill>
                <a:latin typeface="Noto Sans"/>
              </a:defRPr>
            </a:pPr>
            <a:r>
              <a:t>h₃(x)</a:t>
            </a:r>
          </a:p>
        </p:txBody>
      </p:sp>
      <p:sp>
        <p:nvSpPr>
          <p:cNvPr id="17" name="Oval 16"/>
          <p:cNvSpPr/>
          <p:nvPr/>
        </p:nvSpPr>
        <p:spPr>
          <a:xfrm>
            <a:off x="6720840" y="3474720"/>
            <a:ext cx="1325880" cy="1325880"/>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3753154"/>
            <a:ext cx="1325880" cy="769010"/>
          </a:xfrm>
          <a:prstGeom prst="rect">
            <a:avLst/>
          </a:prstGeom>
          <a:noFill/>
        </p:spPr>
        <p:txBody>
          <a:bodyPr wrap="square" lIns="9144" rIns="9144" tIns="9144" bIns="9144" anchor="t">
            <a:spAutoFit/>
          </a:bodyPr>
          <a:lstStyle/>
          <a:p>
            <a:pPr algn="ctr">
              <a:spcAft>
                <a:spcPts val="500"/>
              </a:spcAft>
              <a:defRPr sz="2300" b="1">
                <a:solidFill>
                  <a:srgbClr val="FFFFFF"/>
                </a:solidFill>
                <a:latin typeface="Noto Sans"/>
              </a:defRPr>
            </a:pPr>
            <a:r>
              <a:t>ÁC</a:t>
            </a:r>
          </a:p>
        </p:txBody>
      </p:sp>
      <p:sp>
        <p:nvSpPr>
          <p:cNvPr id="19" name="Right Arrow 18"/>
          <p:cNvSpPr/>
          <p:nvPr/>
        </p:nvSpPr>
        <p:spPr>
          <a:xfrm>
            <a:off x="8641080" y="3977639"/>
            <a:ext cx="548640" cy="320040"/>
          </a:xfrm>
          <a:prstGeom prst="rightArrow">
            <a:avLst/>
          </a:prstGeom>
          <a:solidFill>
            <a:srgbClr val="79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55480" y="3474720"/>
            <a:ext cx="1920240" cy="731520"/>
          </a:xfrm>
          <a:prstGeom prst="rect">
            <a:avLst/>
          </a:prstGeom>
          <a:noFill/>
        </p:spPr>
        <p:txBody>
          <a:bodyPr wrap="square" lIns="9144" rIns="9144" tIns="9144" bIns="9144" anchor="t">
            <a:spAutoFit/>
          </a:bodyPr>
          <a:lstStyle/>
          <a:p>
            <a:pPr algn="l">
              <a:spcAft>
                <a:spcPts val="500"/>
              </a:spcAft>
              <a:defRPr sz="3700" b="1">
                <a:solidFill>
                  <a:srgbClr val="79E2CC"/>
                </a:solidFill>
                <a:latin typeface="Noto Sans"/>
              </a:defRPr>
            </a:pPr>
            <a:r>
              <a:t>2 : 1</a:t>
            </a:r>
          </a:p>
        </p:txBody>
      </p:sp>
      <p:sp>
        <p:nvSpPr>
          <p:cNvPr id="21" name="TextBox 20"/>
          <p:cNvSpPr txBox="1"/>
          <p:nvPr/>
        </p:nvSpPr>
        <p:spPr>
          <a:xfrm>
            <a:off x="9555480" y="4343400"/>
            <a:ext cx="1920240" cy="457200"/>
          </a:xfrm>
          <a:prstGeom prst="rect">
            <a:avLst/>
          </a:prstGeom>
          <a:noFill/>
        </p:spPr>
        <p:txBody>
          <a:bodyPr wrap="square" lIns="9144" rIns="9144" tIns="9144" bIns="9144" anchor="t">
            <a:spAutoFit/>
          </a:bodyPr>
          <a:lstStyle/>
          <a:p>
            <a:pPr algn="l">
              <a:spcAft>
                <a:spcPts val="500"/>
              </a:spcAft>
              <a:defRPr sz="2300" b="1">
                <a:solidFill>
                  <a:srgbClr val="FFFFFF"/>
                </a:solidFill>
                <a:latin typeface="Noto Sans"/>
              </a:defRPr>
            </a:pPr>
            <a:r>
              <a:t>→ Ác tính</a:t>
            </a:r>
          </a:p>
        </p:txBody>
      </p:sp>
      <p:sp>
        <p:nvSpPr>
          <p:cNvPr id="22" name="TextBox 21"/>
          <p:cNvSpPr txBox="1"/>
          <p:nvPr/>
        </p:nvSpPr>
        <p:spPr>
          <a:xfrm>
            <a:off x="685800" y="5623560"/>
            <a:ext cx="10881360" cy="411480"/>
          </a:xfrm>
          <a:prstGeom prst="rect">
            <a:avLst/>
          </a:prstGeom>
          <a:noFill/>
        </p:spPr>
        <p:txBody>
          <a:bodyPr wrap="square" lIns="9144" rIns="9144" tIns="9144" bIns="9144" anchor="t">
            <a:spAutoFit/>
          </a:bodyPr>
          <a:lstStyle/>
          <a:p>
            <a:pPr algn="l">
              <a:spcAft>
                <a:spcPts val="500"/>
              </a:spcAft>
              <a:defRPr sz="1800" b="0">
                <a:solidFill>
                  <a:srgbClr val="C9D8DF"/>
                </a:solidFill>
                <a:latin typeface="Noto Sans"/>
              </a:defRPr>
            </a:pPr>
            <a:r>
              <a:t>Mã hóa: ác tính = 0, lành tính = 1.  51 cây tránh hòa phiếu ở bài toán hai lớp.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03 • MỞ RỘNG CÁCH KẾT HỢP</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Boosting: mô hình sau tập trung vào sai sót trước</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[3], [6]</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10</a:t>
            </a:r>
          </a:p>
        </p:txBody>
      </p:sp>
      <p:sp>
        <p:nvSpPr>
          <p:cNvPr id="9" name="Rounded Rectangle 8"/>
          <p:cNvSpPr/>
          <p:nvPr/>
        </p:nvSpPr>
        <p:spPr>
          <a:xfrm>
            <a:off x="594360" y="1783080"/>
            <a:ext cx="2514600" cy="914400"/>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47672"/>
            <a:ext cx="2240280" cy="685800"/>
          </a:xfrm>
          <a:prstGeom prst="rect">
            <a:avLst/>
          </a:prstGeom>
          <a:noFill/>
        </p:spPr>
        <p:txBody>
          <a:bodyPr wrap="square" lIns="9144" rIns="9144" tIns="9144" bIns="9144" anchor="t">
            <a:spAutoFit/>
          </a:bodyPr>
          <a:lstStyle/>
          <a:p>
            <a:pPr algn="ctr">
              <a:spcAft>
                <a:spcPts val="500"/>
              </a:spcAft>
              <a:defRPr sz="1900" b="1">
                <a:solidFill>
                  <a:srgbClr val="FFFFFF"/>
                </a:solidFill>
                <a:latin typeface="Noto Sans"/>
              </a:defRPr>
            </a:pPr>
            <a:r>
              <a:t>Mô hình 1</a:t>
            </a:r>
          </a:p>
        </p:txBody>
      </p:sp>
      <p:sp>
        <p:nvSpPr>
          <p:cNvPr id="11" name="Right Arrow 10"/>
          <p:cNvSpPr/>
          <p:nvPr/>
        </p:nvSpPr>
        <p:spPr>
          <a:xfrm>
            <a:off x="3154679" y="2148840"/>
            <a:ext cx="219456" cy="182880"/>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9856" y="1783080"/>
            <a:ext cx="2514600" cy="914400"/>
          </a:xfrm>
          <a:prstGeom prst="roundRect">
            <a:avLst>
              <a:gd name="adj" fmla="val 12000"/>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57015" y="1947672"/>
            <a:ext cx="2240280" cy="685800"/>
          </a:xfrm>
          <a:prstGeom prst="rect">
            <a:avLst/>
          </a:prstGeom>
          <a:noFill/>
        </p:spPr>
        <p:txBody>
          <a:bodyPr wrap="square" lIns="9144" rIns="9144" tIns="9144" bIns="9144" anchor="t">
            <a:spAutoFit/>
          </a:bodyPr>
          <a:lstStyle/>
          <a:p>
            <a:pPr algn="ctr">
              <a:spcAft>
                <a:spcPts val="500"/>
              </a:spcAft>
              <a:defRPr sz="1900" b="1">
                <a:solidFill>
                  <a:srgbClr val="FFFFFF"/>
                </a:solidFill>
                <a:latin typeface="Noto Sans"/>
              </a:defRPr>
            </a:pPr>
            <a:r>
              <a:t>Tăng trọng số</a:t>
            </a:r>
          </a:p>
          <a:p>
            <a:pPr algn="ctr">
              <a:spcAft>
                <a:spcPts val="500"/>
              </a:spcAft>
              <a:defRPr sz="1900" b="1">
                <a:solidFill>
                  <a:srgbClr val="FFFFFF"/>
                </a:solidFill>
                <a:latin typeface="Noto Sans"/>
              </a:defRPr>
            </a:pPr>
            <a:r>
              <a:t>mẫu dự đoán sai</a:t>
            </a:r>
          </a:p>
        </p:txBody>
      </p:sp>
      <p:sp>
        <p:nvSpPr>
          <p:cNvPr id="14" name="Right Arrow 13"/>
          <p:cNvSpPr/>
          <p:nvPr/>
        </p:nvSpPr>
        <p:spPr>
          <a:xfrm>
            <a:off x="5980175" y="2148840"/>
            <a:ext cx="219456" cy="182880"/>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45352" y="1783080"/>
            <a:ext cx="2514600" cy="914400"/>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947672"/>
            <a:ext cx="2240280" cy="685800"/>
          </a:xfrm>
          <a:prstGeom prst="rect">
            <a:avLst/>
          </a:prstGeom>
          <a:noFill/>
        </p:spPr>
        <p:txBody>
          <a:bodyPr wrap="square" lIns="9144" rIns="9144" tIns="9144" bIns="9144" anchor="t">
            <a:spAutoFit/>
          </a:bodyPr>
          <a:lstStyle/>
          <a:p>
            <a:pPr algn="ctr">
              <a:spcAft>
                <a:spcPts val="500"/>
              </a:spcAft>
              <a:defRPr sz="1900" b="1">
                <a:solidFill>
                  <a:srgbClr val="FFFFFF"/>
                </a:solidFill>
                <a:latin typeface="Noto Sans"/>
              </a:defRPr>
            </a:pPr>
            <a:r>
              <a:t>Mô hình 2</a:t>
            </a:r>
          </a:p>
        </p:txBody>
      </p:sp>
      <p:sp>
        <p:nvSpPr>
          <p:cNvPr id="17" name="Right Arrow 16"/>
          <p:cNvSpPr/>
          <p:nvPr/>
        </p:nvSpPr>
        <p:spPr>
          <a:xfrm>
            <a:off x="8805672" y="2148840"/>
            <a:ext cx="219456" cy="182880"/>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70848" y="1783080"/>
            <a:ext cx="2514600" cy="914400"/>
          </a:xfrm>
          <a:prstGeom prst="roundRect">
            <a:avLst>
              <a:gd name="adj" fmla="val 12000"/>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08008" y="1947672"/>
            <a:ext cx="2240280" cy="685800"/>
          </a:xfrm>
          <a:prstGeom prst="rect">
            <a:avLst/>
          </a:prstGeom>
          <a:noFill/>
        </p:spPr>
        <p:txBody>
          <a:bodyPr wrap="square" lIns="9144" rIns="9144" tIns="9144" bIns="9144" anchor="t">
            <a:spAutoFit/>
          </a:bodyPr>
          <a:lstStyle/>
          <a:p>
            <a:pPr algn="ctr">
              <a:spcAft>
                <a:spcPts val="500"/>
              </a:spcAft>
              <a:defRPr sz="1900" b="1">
                <a:solidFill>
                  <a:srgbClr val="FFFFFF"/>
                </a:solidFill>
                <a:latin typeface="Noto Sans"/>
              </a:defRPr>
            </a:pPr>
            <a:r>
              <a:t>Tổ hợp</a:t>
            </a:r>
          </a:p>
          <a:p>
            <a:pPr algn="ctr">
              <a:spcAft>
                <a:spcPts val="500"/>
              </a:spcAft>
              <a:defRPr sz="1900" b="1">
                <a:solidFill>
                  <a:srgbClr val="FFFFFF"/>
                </a:solidFill>
                <a:latin typeface="Noto Sans"/>
              </a:defRPr>
            </a:pPr>
            <a:r>
              <a:t>có trọng số</a:t>
            </a:r>
          </a:p>
        </p:txBody>
      </p:sp>
      <p:sp>
        <p:nvSpPr>
          <p:cNvPr id="20" name="TextBox 19"/>
          <p:cNvSpPr txBox="1"/>
          <p:nvPr/>
        </p:nvSpPr>
        <p:spPr>
          <a:xfrm>
            <a:off x="640080" y="3246120"/>
            <a:ext cx="5074920" cy="731520"/>
          </a:xfrm>
          <a:prstGeom prst="rect">
            <a:avLst/>
          </a:prstGeom>
          <a:noFill/>
        </p:spPr>
        <p:txBody>
          <a:bodyPr wrap="square" lIns="9144" rIns="9144" tIns="9144" bIns="9144" anchor="t">
            <a:spAutoFit/>
          </a:bodyPr>
          <a:lstStyle/>
          <a:p>
            <a:pPr algn="l">
              <a:spcAft>
                <a:spcPts val="500"/>
              </a:spcAft>
              <a:defRPr sz="2100" b="1">
                <a:solidFill>
                  <a:srgbClr val="173246"/>
                </a:solidFill>
                <a:latin typeface="Noto Sans"/>
              </a:defRPr>
            </a:pPr>
            <a:r>
              <a:t>Ví dụ AdaBoost nhị phân</a:t>
            </a:r>
          </a:p>
          <a:p>
            <a:pPr algn="l">
              <a:spcAft>
                <a:spcPts val="500"/>
              </a:spcAft>
              <a:defRPr sz="2100" b="1">
                <a:solidFill>
                  <a:srgbClr val="173246"/>
                </a:solidFill>
                <a:latin typeface="Noto Sans"/>
              </a:defRPr>
            </a:pPr>
            <a:r>
              <a:t>ε = 0,20  →  α = ½ ln(0,8/0,2) ≈ 0,693</a:t>
            </a:r>
          </a:p>
        </p:txBody>
      </p:sp>
      <p:sp>
        <p:nvSpPr>
          <p:cNvPr id="21" name="TextBox 20"/>
          <p:cNvSpPr txBox="1"/>
          <p:nvPr/>
        </p:nvSpPr>
        <p:spPr>
          <a:xfrm>
            <a:off x="640080" y="4343400"/>
            <a:ext cx="5074920" cy="1325880"/>
          </a:xfrm>
          <a:prstGeom prst="rect">
            <a:avLst/>
          </a:prstGeom>
          <a:noFill/>
        </p:spPr>
        <p:txBody>
          <a:bodyPr wrap="square" lIns="9144" rIns="9144" tIns="9144" bIns="9144" anchor="t">
            <a:spAutoFit/>
          </a:bodyPr>
          <a:lstStyle/>
          <a:p>
            <a:pPr algn="l">
              <a:spcAft>
                <a:spcPts val="500"/>
              </a:spcAft>
              <a:defRPr sz="2000" b="0">
                <a:solidFill>
                  <a:srgbClr val="566A76"/>
                </a:solidFill>
                <a:latin typeface="Noto Sans"/>
              </a:defRPr>
            </a:pPr>
            <a:r>
              <a:t>Mẫu sai: nhân exp(+α) ≈ 2</a:t>
            </a:r>
          </a:p>
          <a:p>
            <a:pPr algn="l">
              <a:spcAft>
                <a:spcPts val="500"/>
              </a:spcAft>
              <a:defRPr sz="2000" b="0">
                <a:solidFill>
                  <a:srgbClr val="566A76"/>
                </a:solidFill>
                <a:latin typeface="Noto Sans"/>
              </a:defRPr>
            </a:pPr>
            <a:r>
              <a:t>Mẫu đúng: nhân exp(−α) ≈ 0,5</a:t>
            </a:r>
          </a:p>
          <a:p>
            <a:pPr algn="l">
              <a:spcAft>
                <a:spcPts val="500"/>
              </a:spcAft>
              <a:defRPr sz="2000" b="0">
                <a:solidFill>
                  <a:srgbClr val="566A76"/>
                </a:solidFill>
                <a:latin typeface="Noto Sans"/>
              </a:defRPr>
            </a:pPr>
            <a:r>
              <a:t>Sau đó chuẩn hóa tổng trọng số về 1.</a:t>
            </a:r>
          </a:p>
        </p:txBody>
      </p:sp>
      <p:sp>
        <p:nvSpPr>
          <p:cNvPr id="22" name="Rounded Rectangle 21"/>
          <p:cNvSpPr/>
          <p:nvPr/>
        </p:nvSpPr>
        <p:spPr>
          <a:xfrm>
            <a:off x="6217920" y="3246120"/>
            <a:ext cx="5303520" cy="2697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19088" y="3474720"/>
            <a:ext cx="384048" cy="50292"/>
          </a:xfrm>
          <a:prstGeom prst="rect">
            <a:avLst/>
          </a:prstGeom>
          <a:solidFill>
            <a:srgbClr val="E67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3666744"/>
            <a:ext cx="4846320"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20% → 50%</a:t>
            </a:r>
          </a:p>
        </p:txBody>
      </p:sp>
      <p:sp>
        <p:nvSpPr>
          <p:cNvPr id="25" name="TextBox 24"/>
          <p:cNvSpPr txBox="1"/>
          <p:nvPr/>
        </p:nvSpPr>
        <p:spPr>
          <a:xfrm>
            <a:off x="6446520" y="4416552"/>
            <a:ext cx="4846320" cy="141732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Khối lượng trọng số nhóm sai:</a:t>
            </a:r>
          </a:p>
          <a:p>
            <a:pPr algn="l">
              <a:spcAft>
                <a:spcPts val="500"/>
              </a:spcAft>
              <a:defRPr sz="1800" b="0">
                <a:solidFill>
                  <a:srgbClr val="566A76"/>
                </a:solidFill>
                <a:latin typeface="Noto Sans"/>
              </a:defRPr>
            </a:pPr>
            <a:r>
              <a:t>0,2 × 2 / (0,2 × 2 + 0,8 × 0,5) = 0,5.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03 • MỞ RỘNG CÁCH KẾT HỢP</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Stacking học một mô hình để kết hợp các mô hình</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[3], [7]</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11</a:t>
            </a:r>
          </a:p>
        </p:txBody>
      </p:sp>
      <p:sp>
        <p:nvSpPr>
          <p:cNvPr id="9" name="Rounded Rectangle 8"/>
          <p:cNvSpPr/>
          <p:nvPr/>
        </p:nvSpPr>
        <p:spPr>
          <a:xfrm>
            <a:off x="594360" y="1874519"/>
            <a:ext cx="3200400" cy="3566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5528" y="210312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95144"/>
            <a:ext cx="2743200"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TẦNG CƠ SỞ</a:t>
            </a:r>
          </a:p>
        </p:txBody>
      </p:sp>
      <p:sp>
        <p:nvSpPr>
          <p:cNvPr id="12" name="TextBox 11"/>
          <p:cNvSpPr txBox="1"/>
          <p:nvPr/>
        </p:nvSpPr>
        <p:spPr>
          <a:xfrm>
            <a:off x="822960" y="3044952"/>
            <a:ext cx="2743200" cy="228600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Cây / SVM / Logistic…</a:t>
            </a:r>
          </a:p>
          <a:p>
            <a:pPr algn="l">
              <a:spcAft>
                <a:spcPts val="500"/>
              </a:spcAft>
              <a:defRPr sz="1800" b="0">
                <a:solidFill>
                  <a:srgbClr val="566A76"/>
                </a:solidFill>
                <a:latin typeface="Noto Sans"/>
              </a:defRPr>
            </a:pPr>
            <a:r>
              <a:t>Huấn luyện theo K fold.</a:t>
            </a:r>
          </a:p>
          <a:p>
            <a:pPr algn="l">
              <a:spcAft>
                <a:spcPts val="500"/>
              </a:spcAft>
              <a:defRPr sz="1800" b="0">
                <a:solidFill>
                  <a:srgbClr val="566A76"/>
                </a:solidFill>
                <a:latin typeface="Noto Sans"/>
              </a:defRPr>
            </a:pPr>
            <a:r>
              <a:t>Mỗi mẫu chỉ lấy dự đoán</a:t>
            </a:r>
          </a:p>
          <a:p>
            <a:pPr algn="l">
              <a:spcAft>
                <a:spcPts val="500"/>
              </a:spcAft>
              <a:defRPr sz="1800" b="0">
                <a:solidFill>
                  <a:srgbClr val="566A76"/>
                </a:solidFill>
                <a:latin typeface="Noto Sans"/>
              </a:defRPr>
            </a:pPr>
            <a:r>
              <a:t>từ mô hình chưa thấy nó.</a:t>
            </a:r>
          </a:p>
        </p:txBody>
      </p:sp>
      <p:sp>
        <p:nvSpPr>
          <p:cNvPr id="13" name="Right Arrow 12"/>
          <p:cNvSpPr/>
          <p:nvPr/>
        </p:nvSpPr>
        <p:spPr>
          <a:xfrm>
            <a:off x="3913632" y="3474720"/>
            <a:ext cx="457200" cy="292608"/>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26280" y="1874519"/>
            <a:ext cx="3200400" cy="3566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727448" y="210312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2295144"/>
            <a:ext cx="2743200"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ĐẶC TRƯNG OOF</a:t>
            </a:r>
          </a:p>
        </p:txBody>
      </p:sp>
      <p:sp>
        <p:nvSpPr>
          <p:cNvPr id="17" name="TextBox 16"/>
          <p:cNvSpPr txBox="1"/>
          <p:nvPr/>
        </p:nvSpPr>
        <p:spPr>
          <a:xfrm>
            <a:off x="4754880" y="3044952"/>
            <a:ext cx="2743200" cy="228600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Một cột / mô hình cơ sở.</a:t>
            </a:r>
          </a:p>
          <a:p>
            <a:pPr algn="l">
              <a:spcAft>
                <a:spcPts val="500"/>
              </a:spcAft>
              <a:defRPr sz="1800" b="0">
                <a:solidFill>
                  <a:srgbClr val="566A76"/>
                </a:solidFill>
                <a:latin typeface="Noto Sans"/>
              </a:defRPr>
            </a:pPr>
            <a:r>
              <a:t>Các dự đoán ngoài fold</a:t>
            </a:r>
          </a:p>
          <a:p>
            <a:pPr algn="l">
              <a:spcAft>
                <a:spcPts val="500"/>
              </a:spcAft>
              <a:defRPr sz="1800" b="0">
                <a:solidFill>
                  <a:srgbClr val="566A76"/>
                </a:solidFill>
                <a:latin typeface="Noto Sans"/>
              </a:defRPr>
            </a:pPr>
            <a:r>
              <a:t>tạo đầu vào cho</a:t>
            </a:r>
          </a:p>
          <a:p>
            <a:pPr algn="l">
              <a:spcAft>
                <a:spcPts val="500"/>
              </a:spcAft>
              <a:defRPr sz="1800" b="0">
                <a:solidFill>
                  <a:srgbClr val="566A76"/>
                </a:solidFill>
                <a:latin typeface="Noto Sans"/>
              </a:defRPr>
            </a:pPr>
            <a:r>
              <a:t>mô hình tầng hai.</a:t>
            </a:r>
          </a:p>
        </p:txBody>
      </p:sp>
      <p:sp>
        <p:nvSpPr>
          <p:cNvPr id="18" name="Right Arrow 17"/>
          <p:cNvSpPr/>
          <p:nvPr/>
        </p:nvSpPr>
        <p:spPr>
          <a:xfrm>
            <a:off x="7845552" y="3474720"/>
            <a:ext cx="457200" cy="292608"/>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458200" y="1874519"/>
            <a:ext cx="3108960" cy="35661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659368" y="2103120"/>
            <a:ext cx="384048" cy="50292"/>
          </a:xfrm>
          <a:prstGeom prst="rect">
            <a:avLst/>
          </a:prstGeom>
          <a:solidFill>
            <a:srgbClr val="E67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0" y="2295144"/>
            <a:ext cx="2651760"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META-MODEL</a:t>
            </a:r>
          </a:p>
        </p:txBody>
      </p:sp>
      <p:sp>
        <p:nvSpPr>
          <p:cNvPr id="22" name="TextBox 21"/>
          <p:cNvSpPr txBox="1"/>
          <p:nvPr/>
        </p:nvSpPr>
        <p:spPr>
          <a:xfrm>
            <a:off x="8686800" y="3044952"/>
            <a:ext cx="2651760" cy="228600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Học cách phối hợp</a:t>
            </a:r>
          </a:p>
          <a:p>
            <a:pPr algn="l">
              <a:spcAft>
                <a:spcPts val="500"/>
              </a:spcAft>
              <a:defRPr sz="1800" b="0">
                <a:solidFill>
                  <a:srgbClr val="566A76"/>
                </a:solidFill>
                <a:latin typeface="Noto Sans"/>
              </a:defRPr>
            </a:pPr>
            <a:r>
              <a:t>các mô hình cơ sở.</a:t>
            </a:r>
          </a:p>
          <a:p>
            <a:pPr algn="l">
              <a:spcAft>
                <a:spcPts val="500"/>
              </a:spcAft>
              <a:defRPr sz="1800" b="0">
                <a:solidFill>
                  <a:srgbClr val="566A76"/>
                </a:solidFill>
                <a:latin typeface="Noto Sans"/>
              </a:defRPr>
            </a:pPr>
            <a:r>
              <a:t>Test chỉ dùng để</a:t>
            </a:r>
          </a:p>
          <a:p>
            <a:pPr algn="l">
              <a:spcAft>
                <a:spcPts val="500"/>
              </a:spcAft>
              <a:defRPr sz="1800" b="0">
                <a:solidFill>
                  <a:srgbClr val="566A76"/>
                </a:solidFill>
                <a:latin typeface="Noto Sans"/>
              </a:defRPr>
            </a:pPr>
            <a:r>
              <a:t>đánh giá cuối cùng.</a:t>
            </a:r>
          </a:p>
        </p:txBody>
      </p:sp>
      <p:sp>
        <p:nvSpPr>
          <p:cNvPr id="23" name="TextBox 22"/>
          <p:cNvSpPr txBox="1"/>
          <p:nvPr/>
        </p:nvSpPr>
        <p:spPr>
          <a:xfrm>
            <a:off x="640080" y="5715000"/>
            <a:ext cx="10881360" cy="411480"/>
          </a:xfrm>
          <a:prstGeom prst="rect">
            <a:avLst/>
          </a:prstGeom>
          <a:noFill/>
        </p:spPr>
        <p:txBody>
          <a:bodyPr wrap="square" lIns="9144" rIns="9144" tIns="9144" bIns="9144" anchor="t">
            <a:spAutoFit/>
          </a:bodyPr>
          <a:lstStyle/>
          <a:p>
            <a:pPr algn="l">
              <a:spcAft>
                <a:spcPts val="500"/>
              </a:spcAft>
              <a:defRPr sz="1900" b="1">
                <a:solidFill>
                  <a:srgbClr val="087E83"/>
                </a:solidFill>
                <a:latin typeface="Noto Sans"/>
              </a:defRPr>
            </a:pPr>
            <a:r>
              <a:t>Tránh rò rỉ: không huấn luyện tầng hai bằng dự đoán in-sample của tầng cơ sở.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04 • ỨNG DỤNG MINH HỌA</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Bài toán: phân loại mẫu khối u vú</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[4] • Breast Cancer Wisconsin Diagnostic</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12</a:t>
            </a:r>
          </a:p>
        </p:txBody>
      </p:sp>
      <p:sp>
        <p:nvSpPr>
          <p:cNvPr id="9" name="TextBox 8"/>
          <p:cNvSpPr txBox="1"/>
          <p:nvPr/>
        </p:nvSpPr>
        <p:spPr>
          <a:xfrm>
            <a:off x="594360" y="1783080"/>
            <a:ext cx="2560320" cy="1005840"/>
          </a:xfrm>
          <a:prstGeom prst="rect">
            <a:avLst/>
          </a:prstGeom>
          <a:noFill/>
        </p:spPr>
        <p:txBody>
          <a:bodyPr wrap="square" lIns="9144" rIns="9144" tIns="9144" bIns="9144" anchor="t">
            <a:spAutoFit/>
          </a:bodyPr>
          <a:lstStyle/>
          <a:p>
            <a:pPr algn="l">
              <a:spcAft>
                <a:spcPts val="500"/>
              </a:spcAft>
              <a:defRPr sz="4800" b="1">
                <a:solidFill>
                  <a:srgbClr val="087E83"/>
                </a:solidFill>
                <a:latin typeface="Noto Sans"/>
              </a:defRPr>
            </a:pPr>
            <a:r>
              <a:t>569</a:t>
            </a:r>
          </a:p>
        </p:txBody>
      </p:sp>
      <p:sp>
        <p:nvSpPr>
          <p:cNvPr id="10" name="TextBox 9"/>
          <p:cNvSpPr txBox="1"/>
          <p:nvPr/>
        </p:nvSpPr>
        <p:spPr>
          <a:xfrm>
            <a:off x="594360" y="2788920"/>
            <a:ext cx="2560320" cy="64008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quan sát</a:t>
            </a:r>
          </a:p>
        </p:txBody>
      </p:sp>
      <p:sp>
        <p:nvSpPr>
          <p:cNvPr id="11" name="TextBox 10"/>
          <p:cNvSpPr txBox="1"/>
          <p:nvPr/>
        </p:nvSpPr>
        <p:spPr>
          <a:xfrm>
            <a:off x="3383280" y="1783080"/>
            <a:ext cx="2560320" cy="1005840"/>
          </a:xfrm>
          <a:prstGeom prst="rect">
            <a:avLst/>
          </a:prstGeom>
          <a:noFill/>
        </p:spPr>
        <p:txBody>
          <a:bodyPr wrap="square" lIns="9144" rIns="9144" tIns="9144" bIns="9144" anchor="t">
            <a:spAutoFit/>
          </a:bodyPr>
          <a:lstStyle/>
          <a:p>
            <a:pPr algn="l">
              <a:spcAft>
                <a:spcPts val="500"/>
              </a:spcAft>
              <a:defRPr sz="4800" b="1">
                <a:solidFill>
                  <a:srgbClr val="087E83"/>
                </a:solidFill>
                <a:latin typeface="Noto Sans"/>
              </a:defRPr>
            </a:pPr>
            <a:r>
              <a:t>30</a:t>
            </a:r>
          </a:p>
        </p:txBody>
      </p:sp>
      <p:sp>
        <p:nvSpPr>
          <p:cNvPr id="12" name="TextBox 11"/>
          <p:cNvSpPr txBox="1"/>
          <p:nvPr/>
        </p:nvSpPr>
        <p:spPr>
          <a:xfrm>
            <a:off x="3383280" y="2788920"/>
            <a:ext cx="2560320" cy="64008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đặc trưng số</a:t>
            </a:r>
          </a:p>
        </p:txBody>
      </p:sp>
      <p:sp>
        <p:nvSpPr>
          <p:cNvPr id="13" name="TextBox 12"/>
          <p:cNvSpPr txBox="1"/>
          <p:nvPr/>
        </p:nvSpPr>
        <p:spPr>
          <a:xfrm>
            <a:off x="6172200" y="1783080"/>
            <a:ext cx="2560320" cy="1005840"/>
          </a:xfrm>
          <a:prstGeom prst="rect">
            <a:avLst/>
          </a:prstGeom>
          <a:noFill/>
        </p:spPr>
        <p:txBody>
          <a:bodyPr wrap="square" lIns="9144" rIns="9144" tIns="9144" bIns="9144" anchor="t">
            <a:spAutoFit/>
          </a:bodyPr>
          <a:lstStyle/>
          <a:p>
            <a:pPr algn="l">
              <a:spcAft>
                <a:spcPts val="500"/>
              </a:spcAft>
              <a:defRPr sz="4800" b="1">
                <a:solidFill>
                  <a:srgbClr val="087E83"/>
                </a:solidFill>
                <a:latin typeface="Noto Sans"/>
              </a:defRPr>
            </a:pPr>
            <a:r>
              <a:t>212</a:t>
            </a:r>
          </a:p>
        </p:txBody>
      </p:sp>
      <p:sp>
        <p:nvSpPr>
          <p:cNvPr id="14" name="TextBox 13"/>
          <p:cNvSpPr txBox="1"/>
          <p:nvPr/>
        </p:nvSpPr>
        <p:spPr>
          <a:xfrm>
            <a:off x="6172200" y="2788920"/>
            <a:ext cx="2560320" cy="64008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ác tính (nhãn 0)</a:t>
            </a:r>
          </a:p>
        </p:txBody>
      </p:sp>
      <p:sp>
        <p:nvSpPr>
          <p:cNvPr id="15" name="TextBox 14"/>
          <p:cNvSpPr txBox="1"/>
          <p:nvPr/>
        </p:nvSpPr>
        <p:spPr>
          <a:xfrm>
            <a:off x="8961120" y="1783080"/>
            <a:ext cx="2560320" cy="1005840"/>
          </a:xfrm>
          <a:prstGeom prst="rect">
            <a:avLst/>
          </a:prstGeom>
          <a:noFill/>
        </p:spPr>
        <p:txBody>
          <a:bodyPr wrap="square" lIns="9144" rIns="9144" tIns="9144" bIns="9144" anchor="t">
            <a:spAutoFit/>
          </a:bodyPr>
          <a:lstStyle/>
          <a:p>
            <a:pPr algn="l">
              <a:spcAft>
                <a:spcPts val="500"/>
              </a:spcAft>
              <a:defRPr sz="4800" b="1">
                <a:solidFill>
                  <a:srgbClr val="087E83"/>
                </a:solidFill>
                <a:latin typeface="Noto Sans"/>
              </a:defRPr>
            </a:pPr>
            <a:r>
              <a:t>357</a:t>
            </a:r>
          </a:p>
        </p:txBody>
      </p:sp>
      <p:sp>
        <p:nvSpPr>
          <p:cNvPr id="16" name="TextBox 15"/>
          <p:cNvSpPr txBox="1"/>
          <p:nvPr/>
        </p:nvSpPr>
        <p:spPr>
          <a:xfrm>
            <a:off x="8961120" y="2788920"/>
            <a:ext cx="2560320" cy="64008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lành tính (nhãn 1)</a:t>
            </a:r>
          </a:p>
        </p:txBody>
      </p:sp>
      <p:sp>
        <p:nvSpPr>
          <p:cNvPr id="17" name="Rounded Rectangle 16"/>
          <p:cNvSpPr/>
          <p:nvPr/>
        </p:nvSpPr>
        <p:spPr>
          <a:xfrm>
            <a:off x="594360" y="3794760"/>
            <a:ext cx="5303520" cy="173736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023360"/>
            <a:ext cx="4846320" cy="411480"/>
          </a:xfrm>
          <a:prstGeom prst="rect">
            <a:avLst/>
          </a:prstGeom>
          <a:noFill/>
        </p:spPr>
        <p:txBody>
          <a:bodyPr wrap="square" lIns="9144" rIns="9144" tIns="9144" bIns="9144" anchor="t">
            <a:spAutoFit/>
          </a:bodyPr>
          <a:lstStyle/>
          <a:p>
            <a:pPr algn="l">
              <a:spcAft>
                <a:spcPts val="500"/>
              </a:spcAft>
              <a:defRPr sz="1500" b="1">
                <a:solidFill>
                  <a:srgbClr val="087E83"/>
                </a:solidFill>
                <a:latin typeface="Noto Sans"/>
              </a:defRPr>
            </a:pPr>
            <a:r>
              <a:t>ĐẦU VÀO</a:t>
            </a:r>
          </a:p>
        </p:txBody>
      </p:sp>
      <p:sp>
        <p:nvSpPr>
          <p:cNvPr id="19" name="TextBox 18"/>
          <p:cNvSpPr txBox="1"/>
          <p:nvPr/>
        </p:nvSpPr>
        <p:spPr>
          <a:xfrm>
            <a:off x="822960" y="4572000"/>
            <a:ext cx="4709160" cy="685800"/>
          </a:xfrm>
          <a:prstGeom prst="rect">
            <a:avLst/>
          </a:prstGeom>
          <a:noFill/>
        </p:spPr>
        <p:txBody>
          <a:bodyPr wrap="square" lIns="9144" rIns="9144" tIns="9144" bIns="9144" anchor="t">
            <a:spAutoFit/>
          </a:bodyPr>
          <a:lstStyle/>
          <a:p>
            <a:pPr algn="l">
              <a:spcAft>
                <a:spcPts val="500"/>
              </a:spcAft>
              <a:defRPr sz="2000" b="0">
                <a:solidFill>
                  <a:srgbClr val="173246"/>
                </a:solidFill>
                <a:latin typeface="Noto Sans"/>
              </a:defRPr>
            </a:pPr>
            <a:r>
              <a:t>Đặc trưng nhân tế bào: radius,</a:t>
            </a:r>
          </a:p>
          <a:p>
            <a:pPr algn="l">
              <a:spcAft>
                <a:spcPts val="500"/>
              </a:spcAft>
              <a:defRPr sz="2000" b="0">
                <a:solidFill>
                  <a:srgbClr val="173246"/>
                </a:solidFill>
                <a:latin typeface="Noto Sans"/>
              </a:defRPr>
            </a:pPr>
            <a:r>
              <a:t>texture, perimeter, area…</a:t>
            </a:r>
          </a:p>
        </p:txBody>
      </p:sp>
      <p:sp>
        <p:nvSpPr>
          <p:cNvPr id="20" name="Right Arrow 19"/>
          <p:cNvSpPr/>
          <p:nvPr/>
        </p:nvSpPr>
        <p:spPr>
          <a:xfrm>
            <a:off x="5989320" y="4480560"/>
            <a:ext cx="411480" cy="274320"/>
          </a:xfrm>
          <a:prstGeom prst="rightArrow">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537960" y="3794760"/>
            <a:ext cx="4983480" cy="1737360"/>
          </a:xfrm>
          <a:prstGeom prst="roundRect">
            <a:avLst>
              <a:gd name="adj" fmla="val 12000"/>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60" y="4023360"/>
            <a:ext cx="4480560" cy="411480"/>
          </a:xfrm>
          <a:prstGeom prst="rect">
            <a:avLst/>
          </a:prstGeom>
          <a:noFill/>
        </p:spPr>
        <p:txBody>
          <a:bodyPr wrap="square" lIns="9144" rIns="9144" tIns="9144" bIns="9144" anchor="t">
            <a:spAutoFit/>
          </a:bodyPr>
          <a:lstStyle/>
          <a:p>
            <a:pPr algn="l">
              <a:spcAft>
                <a:spcPts val="500"/>
              </a:spcAft>
              <a:defRPr sz="1500" b="1">
                <a:solidFill>
                  <a:srgbClr val="79E2CC"/>
                </a:solidFill>
                <a:latin typeface="Noto Sans"/>
              </a:defRPr>
            </a:pPr>
            <a:r>
              <a:t>ĐẦU RA</a:t>
            </a:r>
          </a:p>
        </p:txBody>
      </p:sp>
      <p:sp>
        <p:nvSpPr>
          <p:cNvPr id="23" name="TextBox 22"/>
          <p:cNvSpPr txBox="1"/>
          <p:nvPr/>
        </p:nvSpPr>
        <p:spPr>
          <a:xfrm>
            <a:off x="6766560" y="4572000"/>
            <a:ext cx="4480560" cy="685800"/>
          </a:xfrm>
          <a:prstGeom prst="rect">
            <a:avLst/>
          </a:prstGeom>
          <a:noFill/>
        </p:spPr>
        <p:txBody>
          <a:bodyPr wrap="square" lIns="9144" rIns="9144" tIns="9144" bIns="9144" anchor="t">
            <a:spAutoFit/>
          </a:bodyPr>
          <a:lstStyle/>
          <a:p>
            <a:pPr algn="l">
              <a:spcAft>
                <a:spcPts val="500"/>
              </a:spcAft>
              <a:defRPr sz="2000" b="0">
                <a:solidFill>
                  <a:srgbClr val="FFFFFF"/>
                </a:solidFill>
                <a:latin typeface="Noto Sans"/>
              </a:defRPr>
            </a:pPr>
            <a:r>
              <a:t>Dự đoán ác tính hoặc lành tính</a:t>
            </a:r>
          </a:p>
          <a:p>
            <a:pPr algn="l">
              <a:spcAft>
                <a:spcPts val="500"/>
              </a:spcAft>
              <a:defRPr sz="2000" b="0">
                <a:solidFill>
                  <a:srgbClr val="FFFFFF"/>
                </a:solidFill>
                <a:latin typeface="Noto Sans"/>
              </a:defRPr>
            </a:pPr>
            <a:r>
              <a:t>cho một quan sát mới.</a:t>
            </a:r>
          </a:p>
        </p:txBody>
      </p:sp>
      <p:sp>
        <p:nvSpPr>
          <p:cNvPr id="24" name="TextBox 23"/>
          <p:cNvSpPr txBox="1"/>
          <p:nvPr/>
        </p:nvSpPr>
        <p:spPr>
          <a:xfrm>
            <a:off x="640080" y="5897880"/>
            <a:ext cx="10881360" cy="320040"/>
          </a:xfrm>
          <a:prstGeom prst="rect">
            <a:avLst/>
          </a:prstGeom>
          <a:noFill/>
        </p:spPr>
        <p:txBody>
          <a:bodyPr wrap="square" lIns="9144" rIns="9144" tIns="9144" bIns="9144" anchor="t">
            <a:spAutoFit/>
          </a:bodyPr>
          <a:lstStyle/>
          <a:p>
            <a:pPr algn="l">
              <a:spcAft>
                <a:spcPts val="500"/>
              </a:spcAft>
              <a:defRPr sz="1400" b="0">
                <a:solidFill>
                  <a:srgbClr val="566A76"/>
                </a:solidFill>
                <a:latin typeface="Noto Sans"/>
              </a:defRPr>
            </a:pPr>
            <a:r>
              <a:t>Mục đích học thuật; chưa xác thực lâm sàng. Dữ liệu có sẵn trong scikit-learn.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04 • QUY TRÌNH ĐÁNH GIÁ</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Thiết kế thí nghiệm giữ test ngoài quá trình chọn độ sâu</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Nguồn: outputs/results.json • seed = 42</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13</a:t>
            </a:r>
          </a:p>
        </p:txBody>
      </p:sp>
      <p:sp>
        <p:nvSpPr>
          <p:cNvPr id="9" name="Rounded Rectangle 8"/>
          <p:cNvSpPr/>
          <p:nvPr/>
        </p:nvSpPr>
        <p:spPr>
          <a:xfrm>
            <a:off x="594360" y="1783080"/>
            <a:ext cx="8001000" cy="685800"/>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732520" y="1783080"/>
            <a:ext cx="2788920" cy="685800"/>
          </a:xfrm>
          <a:prstGeom prst="roundRect">
            <a:avLst>
              <a:gd name="adj" fmla="val 12000"/>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47672"/>
            <a:ext cx="7498079" cy="365760"/>
          </a:xfrm>
          <a:prstGeom prst="rect">
            <a:avLst/>
          </a:prstGeom>
          <a:noFill/>
        </p:spPr>
        <p:txBody>
          <a:bodyPr wrap="square" lIns="9144" rIns="9144" tIns="9144" bIns="9144" anchor="t">
            <a:spAutoFit/>
          </a:bodyPr>
          <a:lstStyle/>
          <a:p>
            <a:pPr algn="l">
              <a:spcAft>
                <a:spcPts val="500"/>
              </a:spcAft>
              <a:defRPr sz="1900" b="1">
                <a:solidFill>
                  <a:srgbClr val="FFFFFF"/>
                </a:solidFill>
                <a:latin typeface="Noto Sans"/>
              </a:defRPr>
            </a:pPr>
            <a:r>
              <a:t>TRAIN 75% • 426 mẫu (159 ác / 267 lành)</a:t>
            </a:r>
          </a:p>
        </p:txBody>
      </p:sp>
      <p:sp>
        <p:nvSpPr>
          <p:cNvPr id="12" name="TextBox 11"/>
          <p:cNvSpPr txBox="1"/>
          <p:nvPr/>
        </p:nvSpPr>
        <p:spPr>
          <a:xfrm>
            <a:off x="8915400" y="1947672"/>
            <a:ext cx="2377440" cy="365760"/>
          </a:xfrm>
          <a:prstGeom prst="rect">
            <a:avLst/>
          </a:prstGeom>
          <a:noFill/>
        </p:spPr>
        <p:txBody>
          <a:bodyPr wrap="square" lIns="9144" rIns="9144" tIns="9144" bIns="9144" anchor="t">
            <a:spAutoFit/>
          </a:bodyPr>
          <a:lstStyle/>
          <a:p>
            <a:pPr algn="l">
              <a:spcAft>
                <a:spcPts val="500"/>
              </a:spcAft>
              <a:defRPr sz="1700" b="1">
                <a:solidFill>
                  <a:srgbClr val="FFFFFF"/>
                </a:solidFill>
                <a:latin typeface="Noto Sans"/>
              </a:defRPr>
            </a:pPr>
            <a:r>
              <a:t>TEST • 143 mẫu</a:t>
            </a:r>
          </a:p>
        </p:txBody>
      </p:sp>
      <p:sp>
        <p:nvSpPr>
          <p:cNvPr id="13" name="TextBox 12"/>
          <p:cNvSpPr txBox="1"/>
          <p:nvPr/>
        </p:nvSpPr>
        <p:spPr>
          <a:xfrm>
            <a:off x="640080" y="2880360"/>
            <a:ext cx="5760720" cy="4572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CV phân tầng 5 fold trên train</a:t>
            </a:r>
          </a:p>
        </p:txBody>
      </p:sp>
      <p:sp>
        <p:nvSpPr>
          <p:cNvPr id="14" name="Rounded Rectangle 13"/>
          <p:cNvSpPr/>
          <p:nvPr/>
        </p:nvSpPr>
        <p:spPr>
          <a:xfrm>
            <a:off x="777240" y="4570370"/>
            <a:ext cx="640080" cy="641709"/>
          </a:xfrm>
          <a:prstGeom prst="roundRect">
            <a:avLst>
              <a:gd name="adj" fmla="val 12000"/>
            </a:avLst>
          </a:prstGeom>
          <a:solidFill>
            <a:srgbClr val="B7C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5303520"/>
            <a:ext cx="914400" cy="365760"/>
          </a:xfrm>
          <a:prstGeom prst="rect">
            <a:avLst/>
          </a:prstGeom>
          <a:noFill/>
        </p:spPr>
        <p:txBody>
          <a:bodyPr wrap="square" lIns="9144" rIns="9144" tIns="9144" bIns="9144" anchor="t">
            <a:spAutoFit/>
          </a:bodyPr>
          <a:lstStyle/>
          <a:p>
            <a:pPr algn="ctr">
              <a:spcAft>
                <a:spcPts val="500"/>
              </a:spcAft>
              <a:defRPr sz="1800" b="1">
                <a:solidFill>
                  <a:srgbClr val="173246"/>
                </a:solidFill>
                <a:latin typeface="Noto Sans"/>
              </a:defRPr>
            </a:pPr>
            <a:r>
              <a:t>2</a:t>
            </a:r>
          </a:p>
        </p:txBody>
      </p:sp>
      <p:sp>
        <p:nvSpPr>
          <p:cNvPr id="16" name="TextBox 15"/>
          <p:cNvSpPr txBox="1"/>
          <p:nvPr/>
        </p:nvSpPr>
        <p:spPr>
          <a:xfrm>
            <a:off x="594359" y="4204610"/>
            <a:ext cx="1051560" cy="365760"/>
          </a:xfrm>
          <a:prstGeom prst="rect">
            <a:avLst/>
          </a:prstGeom>
          <a:noFill/>
        </p:spPr>
        <p:txBody>
          <a:bodyPr wrap="square" lIns="9144" rIns="9144" tIns="9144" bIns="9144" anchor="t">
            <a:spAutoFit/>
          </a:bodyPr>
          <a:lstStyle/>
          <a:p>
            <a:pPr algn="ctr">
              <a:spcAft>
                <a:spcPts val="500"/>
              </a:spcAft>
              <a:defRPr sz="1300" b="1">
                <a:solidFill>
                  <a:srgbClr val="566A76"/>
                </a:solidFill>
                <a:latin typeface="Noto Sans"/>
              </a:defRPr>
            </a:pPr>
            <a:r>
              <a:t>91,75%</a:t>
            </a:r>
          </a:p>
        </p:txBody>
      </p:sp>
      <p:sp>
        <p:nvSpPr>
          <p:cNvPr id="17" name="Rounded Rectangle 16"/>
          <p:cNvSpPr/>
          <p:nvPr/>
        </p:nvSpPr>
        <p:spPr>
          <a:xfrm>
            <a:off x="1856231" y="3846802"/>
            <a:ext cx="640080" cy="1365277"/>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19072" y="5303520"/>
            <a:ext cx="914400" cy="365760"/>
          </a:xfrm>
          <a:prstGeom prst="rect">
            <a:avLst/>
          </a:prstGeom>
          <a:noFill/>
        </p:spPr>
        <p:txBody>
          <a:bodyPr wrap="square" lIns="9144" rIns="9144" tIns="9144" bIns="9144" anchor="t">
            <a:spAutoFit/>
          </a:bodyPr>
          <a:lstStyle/>
          <a:p>
            <a:pPr algn="ctr">
              <a:spcAft>
                <a:spcPts val="500"/>
              </a:spcAft>
              <a:defRPr sz="1800" b="1">
                <a:solidFill>
                  <a:srgbClr val="173246"/>
                </a:solidFill>
                <a:latin typeface="Noto Sans"/>
              </a:defRPr>
            </a:pPr>
            <a:r>
              <a:t>3</a:t>
            </a:r>
          </a:p>
        </p:txBody>
      </p:sp>
      <p:sp>
        <p:nvSpPr>
          <p:cNvPr id="19" name="TextBox 18"/>
          <p:cNvSpPr txBox="1"/>
          <p:nvPr/>
        </p:nvSpPr>
        <p:spPr>
          <a:xfrm>
            <a:off x="1673351" y="3481042"/>
            <a:ext cx="1051560" cy="365760"/>
          </a:xfrm>
          <a:prstGeom prst="rect">
            <a:avLst/>
          </a:prstGeom>
          <a:noFill/>
        </p:spPr>
        <p:txBody>
          <a:bodyPr wrap="square" lIns="9144" rIns="9144" tIns="9144" bIns="9144" anchor="t">
            <a:spAutoFit/>
          </a:bodyPr>
          <a:lstStyle/>
          <a:p>
            <a:pPr algn="ctr">
              <a:spcAft>
                <a:spcPts val="500"/>
              </a:spcAft>
              <a:defRPr sz="1300" b="1">
                <a:solidFill>
                  <a:srgbClr val="087E83"/>
                </a:solidFill>
                <a:latin typeface="Noto Sans"/>
              </a:defRPr>
            </a:pPr>
            <a:r>
              <a:t>93,73%</a:t>
            </a:r>
          </a:p>
        </p:txBody>
      </p:sp>
      <p:sp>
        <p:nvSpPr>
          <p:cNvPr id="20" name="Rounded Rectangle 19"/>
          <p:cNvSpPr/>
          <p:nvPr/>
        </p:nvSpPr>
        <p:spPr>
          <a:xfrm>
            <a:off x="2935224" y="4325169"/>
            <a:ext cx="640080" cy="886910"/>
          </a:xfrm>
          <a:prstGeom prst="roundRect">
            <a:avLst>
              <a:gd name="adj" fmla="val 12000"/>
            </a:avLst>
          </a:prstGeom>
          <a:solidFill>
            <a:srgbClr val="B7C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98064" y="5303520"/>
            <a:ext cx="914400" cy="365760"/>
          </a:xfrm>
          <a:prstGeom prst="rect">
            <a:avLst/>
          </a:prstGeom>
          <a:noFill/>
        </p:spPr>
        <p:txBody>
          <a:bodyPr wrap="square" lIns="9144" rIns="9144" tIns="9144" bIns="9144" anchor="t">
            <a:spAutoFit/>
          </a:bodyPr>
          <a:lstStyle/>
          <a:p>
            <a:pPr algn="ctr">
              <a:spcAft>
                <a:spcPts val="500"/>
              </a:spcAft>
              <a:defRPr sz="1800" b="1">
                <a:solidFill>
                  <a:srgbClr val="173246"/>
                </a:solidFill>
                <a:latin typeface="Noto Sans"/>
              </a:defRPr>
            </a:pPr>
            <a:r>
              <a:t>4</a:t>
            </a:r>
          </a:p>
        </p:txBody>
      </p:sp>
      <p:sp>
        <p:nvSpPr>
          <p:cNvPr id="22" name="TextBox 21"/>
          <p:cNvSpPr txBox="1"/>
          <p:nvPr/>
        </p:nvSpPr>
        <p:spPr>
          <a:xfrm>
            <a:off x="2752344" y="3959409"/>
            <a:ext cx="1051560" cy="365760"/>
          </a:xfrm>
          <a:prstGeom prst="rect">
            <a:avLst/>
          </a:prstGeom>
          <a:noFill/>
        </p:spPr>
        <p:txBody>
          <a:bodyPr wrap="square" lIns="9144" rIns="9144" tIns="9144" bIns="9144" anchor="t">
            <a:spAutoFit/>
          </a:bodyPr>
          <a:lstStyle/>
          <a:p>
            <a:pPr algn="ctr">
              <a:spcAft>
                <a:spcPts val="500"/>
              </a:spcAft>
              <a:defRPr sz="1300" b="1">
                <a:solidFill>
                  <a:srgbClr val="566A76"/>
                </a:solidFill>
                <a:latin typeface="Noto Sans"/>
              </a:defRPr>
            </a:pPr>
            <a:r>
              <a:t>92,42%</a:t>
            </a:r>
          </a:p>
        </p:txBody>
      </p:sp>
      <p:sp>
        <p:nvSpPr>
          <p:cNvPr id="23" name="Rounded Rectangle 22"/>
          <p:cNvSpPr/>
          <p:nvPr/>
        </p:nvSpPr>
        <p:spPr>
          <a:xfrm>
            <a:off x="4014215" y="4279880"/>
            <a:ext cx="640080" cy="932199"/>
          </a:xfrm>
          <a:prstGeom prst="roundRect">
            <a:avLst>
              <a:gd name="adj" fmla="val 12000"/>
            </a:avLst>
          </a:prstGeom>
          <a:solidFill>
            <a:srgbClr val="B7C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77055" y="5303520"/>
            <a:ext cx="914400" cy="365760"/>
          </a:xfrm>
          <a:prstGeom prst="rect">
            <a:avLst/>
          </a:prstGeom>
          <a:noFill/>
        </p:spPr>
        <p:txBody>
          <a:bodyPr wrap="square" lIns="9144" rIns="9144" tIns="9144" bIns="9144" anchor="t">
            <a:spAutoFit/>
          </a:bodyPr>
          <a:lstStyle/>
          <a:p>
            <a:pPr algn="ctr">
              <a:spcAft>
                <a:spcPts val="500"/>
              </a:spcAft>
              <a:defRPr sz="1800" b="1">
                <a:solidFill>
                  <a:srgbClr val="173246"/>
                </a:solidFill>
                <a:latin typeface="Noto Sans"/>
              </a:defRPr>
            </a:pPr>
            <a:r>
              <a:t>5</a:t>
            </a:r>
          </a:p>
        </p:txBody>
      </p:sp>
      <p:sp>
        <p:nvSpPr>
          <p:cNvPr id="25" name="TextBox 24"/>
          <p:cNvSpPr txBox="1"/>
          <p:nvPr/>
        </p:nvSpPr>
        <p:spPr>
          <a:xfrm>
            <a:off x="3831335" y="3914120"/>
            <a:ext cx="1051560" cy="365760"/>
          </a:xfrm>
          <a:prstGeom prst="rect">
            <a:avLst/>
          </a:prstGeom>
          <a:noFill/>
        </p:spPr>
        <p:txBody>
          <a:bodyPr wrap="square" lIns="9144" rIns="9144" tIns="9144" bIns="9144" anchor="t">
            <a:spAutoFit/>
          </a:bodyPr>
          <a:lstStyle/>
          <a:p>
            <a:pPr algn="ctr">
              <a:spcAft>
                <a:spcPts val="500"/>
              </a:spcAft>
              <a:defRPr sz="1300" b="1">
                <a:solidFill>
                  <a:srgbClr val="566A76"/>
                </a:solidFill>
                <a:latin typeface="Noto Sans"/>
              </a:defRPr>
            </a:pPr>
            <a:r>
              <a:t>92,55%</a:t>
            </a:r>
          </a:p>
        </p:txBody>
      </p:sp>
      <p:sp>
        <p:nvSpPr>
          <p:cNvPr id="26" name="Rounded Rectangle 25"/>
          <p:cNvSpPr/>
          <p:nvPr/>
        </p:nvSpPr>
        <p:spPr>
          <a:xfrm>
            <a:off x="5093207" y="4460636"/>
            <a:ext cx="640080" cy="751443"/>
          </a:xfrm>
          <a:prstGeom prst="roundRect">
            <a:avLst>
              <a:gd name="adj" fmla="val 12000"/>
            </a:avLst>
          </a:prstGeom>
          <a:solidFill>
            <a:srgbClr val="B7CF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56047" y="5303520"/>
            <a:ext cx="914400" cy="365760"/>
          </a:xfrm>
          <a:prstGeom prst="rect">
            <a:avLst/>
          </a:prstGeom>
          <a:noFill/>
        </p:spPr>
        <p:txBody>
          <a:bodyPr wrap="square" lIns="9144" rIns="9144" tIns="9144" bIns="9144" anchor="t">
            <a:spAutoFit/>
          </a:bodyPr>
          <a:lstStyle/>
          <a:p>
            <a:pPr algn="ctr">
              <a:spcAft>
                <a:spcPts val="500"/>
              </a:spcAft>
              <a:defRPr sz="1800" b="1">
                <a:solidFill>
                  <a:srgbClr val="173246"/>
                </a:solidFill>
                <a:latin typeface="Noto Sans"/>
              </a:defRPr>
            </a:pPr>
            <a:r>
              <a:t>6</a:t>
            </a:r>
          </a:p>
        </p:txBody>
      </p:sp>
      <p:sp>
        <p:nvSpPr>
          <p:cNvPr id="28" name="TextBox 27"/>
          <p:cNvSpPr txBox="1"/>
          <p:nvPr/>
        </p:nvSpPr>
        <p:spPr>
          <a:xfrm>
            <a:off x="4910327" y="4094876"/>
            <a:ext cx="1051560" cy="365760"/>
          </a:xfrm>
          <a:prstGeom prst="rect">
            <a:avLst/>
          </a:prstGeom>
          <a:noFill/>
        </p:spPr>
        <p:txBody>
          <a:bodyPr wrap="square" lIns="9144" rIns="9144" tIns="9144" bIns="9144" anchor="t">
            <a:spAutoFit/>
          </a:bodyPr>
          <a:lstStyle/>
          <a:p>
            <a:pPr algn="ctr">
              <a:spcAft>
                <a:spcPts val="500"/>
              </a:spcAft>
              <a:defRPr sz="1300" b="1">
                <a:solidFill>
                  <a:srgbClr val="566A76"/>
                </a:solidFill>
                <a:latin typeface="Noto Sans"/>
              </a:defRPr>
            </a:pPr>
            <a:r>
              <a:t>92,05%</a:t>
            </a:r>
          </a:p>
        </p:txBody>
      </p:sp>
      <p:sp>
        <p:nvSpPr>
          <p:cNvPr id="29" name="TextBox 28"/>
          <p:cNvSpPr txBox="1"/>
          <p:nvPr/>
        </p:nvSpPr>
        <p:spPr>
          <a:xfrm>
            <a:off x="685800" y="5806440"/>
            <a:ext cx="5623560" cy="365760"/>
          </a:xfrm>
          <a:prstGeom prst="rect">
            <a:avLst/>
          </a:prstGeom>
          <a:noFill/>
        </p:spPr>
        <p:txBody>
          <a:bodyPr wrap="square" lIns="9144" rIns="9144" tIns="9144" bIns="9144" anchor="t">
            <a:spAutoFit/>
          </a:bodyPr>
          <a:lstStyle/>
          <a:p>
            <a:pPr algn="l">
              <a:spcAft>
                <a:spcPts val="500"/>
              </a:spcAft>
              <a:defRPr sz="1200" b="0">
                <a:solidFill>
                  <a:srgbClr val="566A76"/>
                </a:solidFill>
                <a:latin typeface="Noto Sans"/>
              </a:defRPr>
            </a:pPr>
            <a:r>
              <a:t>Trục độ sâu 2–6; cột hiển thị phần vượt 90% CV.</a:t>
            </a:r>
          </a:p>
        </p:txBody>
      </p:sp>
      <p:sp>
        <p:nvSpPr>
          <p:cNvPr id="30" name="Rounded Rectangle 29"/>
          <p:cNvSpPr/>
          <p:nvPr/>
        </p:nvSpPr>
        <p:spPr>
          <a:xfrm>
            <a:off x="6720840" y="2834640"/>
            <a:ext cx="4800600" cy="32461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22007" y="306324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49440" y="3255264"/>
            <a:ext cx="4343400"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CHỌN max_depth = 3</a:t>
            </a:r>
          </a:p>
        </p:txBody>
      </p:sp>
      <p:sp>
        <p:nvSpPr>
          <p:cNvPr id="33" name="TextBox 32"/>
          <p:cNvSpPr txBox="1"/>
          <p:nvPr/>
        </p:nvSpPr>
        <p:spPr>
          <a:xfrm>
            <a:off x="6949440" y="4005072"/>
            <a:ext cx="4343400" cy="196596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Balanced accuracy CV = 93,73%.</a:t>
            </a:r>
          </a:p>
          <a:p>
            <a:pPr algn="l">
              <a:spcAft>
                <a:spcPts val="500"/>
              </a:spcAft>
              <a:defRPr sz="1800" b="0">
                <a:solidFill>
                  <a:srgbClr val="566A76"/>
                </a:solidFill>
                <a:latin typeface="Noto Sans"/>
              </a:defRPr>
            </a:pPr>
            <a:r>
              <a:t>Chọn bằng cây đơn, dùng chung</a:t>
            </a:r>
          </a:p>
          <a:p>
            <a:pPr algn="l">
              <a:spcAft>
                <a:spcPts val="500"/>
              </a:spcAft>
              <a:defRPr sz="1800" b="0">
                <a:solidFill>
                  <a:srgbClr val="566A76"/>
                </a:solidFill>
                <a:latin typeface="Noto Sans"/>
              </a:defRPr>
            </a:pPr>
            <a:r>
              <a:t>cho cả ba mô hình.</a:t>
            </a:r>
          </a:p>
          <a:p>
            <a:pPr algn="l">
              <a:spcAft>
                <a:spcPts val="500"/>
              </a:spcAft>
              <a:defRPr sz="1800" b="0">
                <a:solidFill>
                  <a:srgbClr val="566A76"/>
                </a:solidFill>
                <a:latin typeface="Noto Sans"/>
              </a:defRPr>
            </a:pPr>
            <a:r>
              <a:t>Không tối ưu riêng từng ensemble.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05 • TRIỂN KHAI PYTHON</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Tự viết hai phần cốt lõi: bootstrap và voting</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Trích lược ensemble_model.py • NumPy + scikit-learn</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14</a:t>
            </a:r>
          </a:p>
        </p:txBody>
      </p:sp>
      <p:sp>
        <p:nvSpPr>
          <p:cNvPr id="9" name="Rounded Rectangle 8"/>
          <p:cNvSpPr/>
          <p:nvPr/>
        </p:nvSpPr>
        <p:spPr>
          <a:xfrm>
            <a:off x="594360" y="1783080"/>
            <a:ext cx="5669280" cy="3886200"/>
          </a:xfrm>
          <a:prstGeom prst="roundRect">
            <a:avLst>
              <a:gd name="adj" fmla="val 12000"/>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46520" y="1783080"/>
            <a:ext cx="5074920" cy="3886200"/>
          </a:xfrm>
          <a:prstGeom prst="roundRect">
            <a:avLst>
              <a:gd name="adj" fmla="val 12000"/>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65960"/>
            <a:ext cx="5212080" cy="365760"/>
          </a:xfrm>
          <a:prstGeom prst="rect">
            <a:avLst/>
          </a:prstGeom>
          <a:noFill/>
        </p:spPr>
        <p:txBody>
          <a:bodyPr wrap="square" lIns="9144" rIns="9144" tIns="9144" bIns="9144" anchor="t">
            <a:spAutoFit/>
          </a:bodyPr>
          <a:lstStyle/>
          <a:p>
            <a:pPr algn="l">
              <a:spcAft>
                <a:spcPts val="500"/>
              </a:spcAft>
              <a:defRPr sz="1500" b="1">
                <a:solidFill>
                  <a:srgbClr val="79E2CC"/>
                </a:solidFill>
                <a:latin typeface="Noto Sans"/>
              </a:defRPr>
            </a:pPr>
            <a:r>
              <a:t>01  LẤY MẪU &amp; HUẤN LUYỆN</a:t>
            </a:r>
          </a:p>
        </p:txBody>
      </p:sp>
      <p:sp>
        <p:nvSpPr>
          <p:cNvPr id="12" name="TextBox 11"/>
          <p:cNvSpPr txBox="1"/>
          <p:nvPr/>
        </p:nvSpPr>
        <p:spPr>
          <a:xfrm>
            <a:off x="822960" y="2651760"/>
            <a:ext cx="5257800" cy="2651760"/>
          </a:xfrm>
          <a:prstGeom prst="rect">
            <a:avLst/>
          </a:prstGeom>
          <a:noFill/>
        </p:spPr>
        <p:txBody>
          <a:bodyPr wrap="square" lIns="9144" rIns="9144" tIns="9144" bIns="9144" anchor="t">
            <a:spAutoFit/>
          </a:bodyPr>
          <a:lstStyle/>
          <a:p>
            <a:pPr algn="l">
              <a:spcAft>
                <a:spcPts val="500"/>
              </a:spcAft>
              <a:defRPr sz="1400" b="0">
                <a:solidFill>
                  <a:srgbClr val="FFFFFF"/>
                </a:solidFill>
                <a:latin typeface="DejaVu Sans Mono"/>
              </a:defRPr>
            </a:pPr>
            <a:r>
              <a:t>indices = rng.integers(</a:t>
            </a:r>
          </a:p>
          <a:p>
            <a:pPr algn="l">
              <a:spcAft>
                <a:spcPts val="500"/>
              </a:spcAft>
              <a:defRPr sz="1400" b="0">
                <a:solidFill>
                  <a:srgbClr val="FFFFFF"/>
                </a:solidFill>
                <a:latin typeface="DejaVu Sans Mono"/>
              </a:defRPr>
            </a:pPr>
            <a:r>
              <a:t>    0, n_samples, size=n_samples</a:t>
            </a:r>
          </a:p>
          <a:p>
            <a:pPr algn="l">
              <a:spcAft>
                <a:spcPts val="500"/>
              </a:spcAft>
              <a:defRPr sz="1400" b="0">
                <a:solidFill>
                  <a:srgbClr val="FFFFFF"/>
                </a:solidFill>
                <a:latin typeface="DejaVu Sans Mono"/>
              </a:defRPr>
            </a:pPr>
            <a:r>
              <a:t>)</a:t>
            </a:r>
          </a:p>
          <a:p>
            <a:pPr algn="l">
              <a:spcAft>
                <a:spcPts val="500"/>
              </a:spcAft>
              <a:defRPr sz="1400" b="0">
                <a:solidFill>
                  <a:srgbClr val="FFFFFF"/>
                </a:solidFill>
                <a:latin typeface="DejaVu Sans Mono"/>
              </a:defRPr>
            </a:pPr>
            <a:r>
              <a:t>tree = DecisionTreeClassifier(</a:t>
            </a:r>
          </a:p>
          <a:p>
            <a:pPr algn="l">
              <a:spcAft>
                <a:spcPts val="500"/>
              </a:spcAft>
              <a:defRPr sz="1400" b="0">
                <a:solidFill>
                  <a:srgbClr val="FFFFFF"/>
                </a:solidFill>
                <a:latin typeface="DejaVu Sans Mono"/>
              </a:defRPr>
            </a:pPr>
            <a:r>
              <a:t>    max_depth=self.max_depth,</a:t>
            </a:r>
          </a:p>
          <a:p>
            <a:pPr algn="l">
              <a:spcAft>
                <a:spcPts val="500"/>
              </a:spcAft>
              <a:defRPr sz="1400" b="0">
                <a:solidFill>
                  <a:srgbClr val="FFFFFF"/>
                </a:solidFill>
                <a:latin typeface="DejaVu Sans Mono"/>
              </a:defRPr>
            </a:pPr>
            <a:r>
              <a:t>    random_state=...</a:t>
            </a:r>
          </a:p>
          <a:p>
            <a:pPr algn="l">
              <a:spcAft>
                <a:spcPts val="500"/>
              </a:spcAft>
              <a:defRPr sz="1400" b="0">
                <a:solidFill>
                  <a:srgbClr val="FFFFFF"/>
                </a:solidFill>
                <a:latin typeface="DejaVu Sans Mono"/>
              </a:defRPr>
            </a:pPr>
            <a:r>
              <a:t>)</a:t>
            </a:r>
          </a:p>
          <a:p>
            <a:pPr algn="l">
              <a:spcAft>
                <a:spcPts val="500"/>
              </a:spcAft>
              <a:defRPr sz="1400" b="0">
                <a:solidFill>
                  <a:srgbClr val="FFFFFF"/>
                </a:solidFill>
                <a:latin typeface="DejaVu Sans Mono"/>
              </a:defRPr>
            </a:pPr>
            <a:r>
              <a:t>tree.fit(X[indices], encoded[indices])</a:t>
            </a:r>
          </a:p>
          <a:p>
            <a:pPr algn="l">
              <a:spcAft>
                <a:spcPts val="500"/>
              </a:spcAft>
              <a:defRPr sz="1400" b="0">
                <a:solidFill>
                  <a:srgbClr val="FFFFFF"/>
                </a:solidFill>
                <a:latin typeface="DejaVu Sans Mono"/>
              </a:defRPr>
            </a:pPr>
            <a:r>
              <a:t>self.estimators_.append(tree)</a:t>
            </a:r>
          </a:p>
        </p:txBody>
      </p:sp>
      <p:sp>
        <p:nvSpPr>
          <p:cNvPr id="13" name="TextBox 12"/>
          <p:cNvSpPr txBox="1"/>
          <p:nvPr/>
        </p:nvSpPr>
        <p:spPr>
          <a:xfrm>
            <a:off x="6675120" y="1965960"/>
            <a:ext cx="4572000" cy="365760"/>
          </a:xfrm>
          <a:prstGeom prst="rect">
            <a:avLst/>
          </a:prstGeom>
          <a:noFill/>
        </p:spPr>
        <p:txBody>
          <a:bodyPr wrap="square" lIns="9144" rIns="9144" tIns="9144" bIns="9144" anchor="t">
            <a:spAutoFit/>
          </a:bodyPr>
          <a:lstStyle/>
          <a:p>
            <a:pPr algn="l">
              <a:spcAft>
                <a:spcPts val="500"/>
              </a:spcAft>
              <a:defRPr sz="1500" b="1">
                <a:solidFill>
                  <a:srgbClr val="79E2CC"/>
                </a:solidFill>
                <a:latin typeface="Noto Sans"/>
              </a:defRPr>
            </a:pPr>
            <a:r>
              <a:t>02  ĐẾM PHIẾU &amp; CHỌN LỚP</a:t>
            </a:r>
          </a:p>
        </p:txBody>
      </p:sp>
      <p:sp>
        <p:nvSpPr>
          <p:cNvPr id="14" name="TextBox 13"/>
          <p:cNvSpPr txBox="1"/>
          <p:nvPr/>
        </p:nvSpPr>
        <p:spPr>
          <a:xfrm>
            <a:off x="6675120" y="2651760"/>
            <a:ext cx="4572000" cy="2651760"/>
          </a:xfrm>
          <a:prstGeom prst="rect">
            <a:avLst/>
          </a:prstGeom>
          <a:noFill/>
        </p:spPr>
        <p:txBody>
          <a:bodyPr wrap="square" lIns="9144" rIns="9144" tIns="9144" bIns="9144" anchor="t">
            <a:spAutoFit/>
          </a:bodyPr>
          <a:lstStyle/>
          <a:p>
            <a:pPr algn="l">
              <a:spcAft>
                <a:spcPts val="500"/>
              </a:spcAft>
              <a:defRPr sz="1320" b="0">
                <a:solidFill>
                  <a:srgbClr val="FFFFFF"/>
                </a:solidFill>
                <a:latin typeface="DejaVu Sans Mono"/>
              </a:defRPr>
            </a:pPr>
            <a:r>
              <a:t>counts = np.zeros((</a:t>
            </a:r>
          </a:p>
          <a:p>
            <a:pPr algn="l">
              <a:spcAft>
                <a:spcPts val="500"/>
              </a:spcAft>
              <a:defRPr sz="1320" b="0">
                <a:solidFill>
                  <a:srgbClr val="FFFFFF"/>
                </a:solidFill>
                <a:latin typeface="DejaVu Sans Mono"/>
              </a:defRPr>
            </a:pPr>
            <a:r>
              <a:t>    len(X), len(self.classes_)</a:t>
            </a:r>
          </a:p>
          <a:p>
            <a:pPr algn="l">
              <a:spcAft>
                <a:spcPts val="500"/>
              </a:spcAft>
              <a:defRPr sz="1320" b="0">
                <a:solidFill>
                  <a:srgbClr val="FFFFFF"/>
                </a:solidFill>
                <a:latin typeface="DejaVu Sans Mono"/>
              </a:defRPr>
            </a:pPr>
            <a:r>
              <a:t>), dtype=np.int64)</a:t>
            </a:r>
          </a:p>
          <a:p>
            <a:pPr algn="l">
              <a:spcAft>
                <a:spcPts val="500"/>
              </a:spcAft>
              <a:defRPr sz="1320" b="0">
                <a:solidFill>
                  <a:srgbClr val="FFFFFF"/>
                </a:solidFill>
                <a:latin typeface="DejaVu Sans Mono"/>
              </a:defRPr>
            </a:pPr>
            <a:r>
              <a:t>rows = np.arange(len(X))</a:t>
            </a:r>
          </a:p>
          <a:p>
            <a:pPr algn="l">
              <a:spcAft>
                <a:spcPts val="500"/>
              </a:spcAft>
              <a:defRPr sz="1320" b="0">
                <a:solidFill>
                  <a:srgbClr val="FFFFFF"/>
                </a:solidFill>
                <a:latin typeface="DejaVu Sans Mono"/>
              </a:defRPr>
            </a:pPr>
            <a:r>
              <a:t>for tree in self.estimators_:</a:t>
            </a:r>
          </a:p>
          <a:p>
            <a:pPr algn="l">
              <a:spcAft>
                <a:spcPts val="500"/>
              </a:spcAft>
              <a:defRPr sz="1320" b="0">
                <a:solidFill>
                  <a:srgbClr val="FFFFFF"/>
                </a:solidFill>
                <a:latin typeface="DejaVu Sans Mono"/>
              </a:defRPr>
            </a:pPr>
            <a:r>
              <a:t>    predicted = tree.predict(X).astype(int)</a:t>
            </a:r>
          </a:p>
          <a:p>
            <a:pPr algn="l">
              <a:spcAft>
                <a:spcPts val="500"/>
              </a:spcAft>
              <a:defRPr sz="1320" b="0">
                <a:solidFill>
                  <a:srgbClr val="FFFFFF"/>
                </a:solidFill>
                <a:latin typeface="DejaVu Sans Mono"/>
              </a:defRPr>
            </a:pPr>
            <a:r>
              <a:t>    np.add.at(counts, (rows, predicted), 1)</a:t>
            </a:r>
          </a:p>
          <a:p>
            <a:pPr algn="l">
              <a:spcAft>
                <a:spcPts val="500"/>
              </a:spcAft>
              <a:defRPr sz="1320" b="0">
                <a:solidFill>
                  <a:srgbClr val="FFFFFF"/>
                </a:solidFill>
                <a:latin typeface="DejaVu Sans Mono"/>
              </a:defRPr>
            </a:pPr>
          </a:p>
          <a:p>
            <a:pPr algn="l">
              <a:spcAft>
                <a:spcPts val="500"/>
              </a:spcAft>
              <a:defRPr sz="1320" b="0">
                <a:solidFill>
                  <a:srgbClr val="FFFFFF"/>
                </a:solidFill>
                <a:latin typeface="DejaVu Sans Mono"/>
              </a:defRPr>
            </a:pPr>
            <a:r>
              <a:t>self.classes_[counts.argmax(axis=1)]</a:t>
            </a:r>
          </a:p>
        </p:txBody>
      </p:sp>
      <p:sp>
        <p:nvSpPr>
          <p:cNvPr id="15" name="TextBox 14"/>
          <p:cNvSpPr txBox="1"/>
          <p:nvPr/>
        </p:nvSpPr>
        <p:spPr>
          <a:xfrm>
            <a:off x="640080" y="5852160"/>
            <a:ext cx="10881360" cy="365760"/>
          </a:xfrm>
          <a:prstGeom prst="rect">
            <a:avLst/>
          </a:prstGeom>
          <a:noFill/>
        </p:spPr>
        <p:txBody>
          <a:bodyPr wrap="square" lIns="9144" rIns="9144" tIns="9144" bIns="9144" anchor="t">
            <a:spAutoFit/>
          </a:bodyPr>
          <a:lstStyle/>
          <a:p>
            <a:pPr algn="l">
              <a:spcAft>
                <a:spcPts val="500"/>
              </a:spcAft>
              <a:defRPr sz="1800" b="1">
                <a:solidFill>
                  <a:srgbClr val="087E83"/>
                </a:solidFill>
                <a:latin typeface="Noto Sans"/>
              </a:defRPr>
            </a:pPr>
            <a:r>
              <a:t>Cây cơ sở dùng thư viện; quy trình Bagging và hard voting do mã minh họa triển khai.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05 • MÔ HÌNH ĐỐI CHIẾU</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Bagging tự viết và Random Forest khác nhau ở đâu?</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[2], [3] • RandomForestClassifier mặc định max_features='sqrt'</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15</a:t>
            </a:r>
          </a:p>
        </p:txBody>
      </p:sp>
      <p:sp>
        <p:nvSpPr>
          <p:cNvPr id="9" name="Rectangle 8"/>
          <p:cNvSpPr/>
          <p:nvPr/>
        </p:nvSpPr>
        <p:spPr>
          <a:xfrm>
            <a:off x="594360" y="1828800"/>
            <a:ext cx="2811780"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38528"/>
            <a:ext cx="2560320" cy="630936"/>
          </a:xfrm>
          <a:prstGeom prst="rect">
            <a:avLst/>
          </a:prstGeom>
          <a:noFill/>
        </p:spPr>
        <p:txBody>
          <a:bodyPr wrap="square" lIns="9144" rIns="9144" tIns="9144" bIns="9144" anchor="t">
            <a:spAutoFit/>
          </a:bodyPr>
          <a:lstStyle/>
          <a:p>
            <a:pPr algn="l">
              <a:spcAft>
                <a:spcPts val="500"/>
              </a:spcAft>
              <a:defRPr sz="1600" b="1">
                <a:solidFill>
                  <a:srgbClr val="FFFFFF"/>
                </a:solidFill>
                <a:latin typeface="Noto Sans"/>
              </a:defRPr>
            </a:pPr>
            <a:r>
              <a:t>Thành phần</a:t>
            </a:r>
          </a:p>
        </p:txBody>
      </p:sp>
      <p:sp>
        <p:nvSpPr>
          <p:cNvPr id="11" name="Rectangle 10"/>
          <p:cNvSpPr/>
          <p:nvPr/>
        </p:nvSpPr>
        <p:spPr>
          <a:xfrm>
            <a:off x="3429000" y="1828800"/>
            <a:ext cx="4091939"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6160" y="1938528"/>
            <a:ext cx="3840480" cy="630936"/>
          </a:xfrm>
          <a:prstGeom prst="rect">
            <a:avLst/>
          </a:prstGeom>
          <a:noFill/>
        </p:spPr>
        <p:txBody>
          <a:bodyPr wrap="square" lIns="9144" rIns="9144" tIns="9144" bIns="9144" anchor="t">
            <a:spAutoFit/>
          </a:bodyPr>
          <a:lstStyle/>
          <a:p>
            <a:pPr algn="ctr">
              <a:spcAft>
                <a:spcPts val="500"/>
              </a:spcAft>
              <a:defRPr sz="1600" b="1">
                <a:solidFill>
                  <a:srgbClr val="FFFFFF"/>
                </a:solidFill>
                <a:latin typeface="Noto Sans"/>
              </a:defRPr>
            </a:pPr>
            <a:r>
              <a:t>Manual Bagging</a:t>
            </a:r>
          </a:p>
        </p:txBody>
      </p:sp>
      <p:sp>
        <p:nvSpPr>
          <p:cNvPr id="13" name="Rectangle 12"/>
          <p:cNvSpPr/>
          <p:nvPr/>
        </p:nvSpPr>
        <p:spPr>
          <a:xfrm>
            <a:off x="7543800" y="1828800"/>
            <a:ext cx="4000500"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80960" y="1938528"/>
            <a:ext cx="3749040" cy="630936"/>
          </a:xfrm>
          <a:prstGeom prst="rect">
            <a:avLst/>
          </a:prstGeom>
          <a:noFill/>
        </p:spPr>
        <p:txBody>
          <a:bodyPr wrap="square" lIns="9144" rIns="9144" tIns="9144" bIns="9144" anchor="t">
            <a:spAutoFit/>
          </a:bodyPr>
          <a:lstStyle/>
          <a:p>
            <a:pPr algn="ctr">
              <a:spcAft>
                <a:spcPts val="500"/>
              </a:spcAft>
              <a:defRPr sz="1600" b="1">
                <a:solidFill>
                  <a:srgbClr val="FFFFFF"/>
                </a:solidFill>
                <a:latin typeface="Noto Sans"/>
              </a:defRPr>
            </a:pPr>
            <a:r>
              <a:t>Random Forest (sklearn)</a:t>
            </a:r>
          </a:p>
        </p:txBody>
      </p:sp>
      <p:sp>
        <p:nvSpPr>
          <p:cNvPr id="15" name="Rectangle 14"/>
          <p:cNvSpPr/>
          <p:nvPr/>
        </p:nvSpPr>
        <p:spPr>
          <a:xfrm>
            <a:off x="594360" y="2606040"/>
            <a:ext cx="281178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15768"/>
            <a:ext cx="2560320" cy="630936"/>
          </a:xfrm>
          <a:prstGeom prst="rect">
            <a:avLst/>
          </a:prstGeom>
          <a:noFill/>
        </p:spPr>
        <p:txBody>
          <a:bodyPr wrap="square" lIns="9144" rIns="9144" tIns="9144" bIns="9144" anchor="t">
            <a:spAutoFit/>
          </a:bodyPr>
          <a:lstStyle/>
          <a:p>
            <a:pPr algn="l">
              <a:spcAft>
                <a:spcPts val="500"/>
              </a:spcAft>
              <a:defRPr sz="1600" b="0">
                <a:solidFill>
                  <a:srgbClr val="173246"/>
                </a:solidFill>
                <a:latin typeface="Noto Sans"/>
              </a:defRPr>
            </a:pPr>
            <a:r>
              <a:t>Lấy mẫu train</a:t>
            </a:r>
          </a:p>
        </p:txBody>
      </p:sp>
      <p:sp>
        <p:nvSpPr>
          <p:cNvPr id="17" name="Rectangle 16"/>
          <p:cNvSpPr/>
          <p:nvPr/>
        </p:nvSpPr>
        <p:spPr>
          <a:xfrm>
            <a:off x="3429000" y="2606040"/>
            <a:ext cx="4091939"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66160" y="2715768"/>
            <a:ext cx="3840480" cy="630936"/>
          </a:xfrm>
          <a:prstGeom prst="rect">
            <a:avLst/>
          </a:prstGeom>
          <a:noFill/>
        </p:spPr>
        <p:txBody>
          <a:bodyPr wrap="square" lIns="9144" rIns="9144" tIns="9144" bIns="9144" anchor="t">
            <a:spAutoFit/>
          </a:bodyPr>
          <a:lstStyle/>
          <a:p>
            <a:pPr algn="ctr">
              <a:spcAft>
                <a:spcPts val="500"/>
              </a:spcAft>
              <a:defRPr sz="1600" b="0">
                <a:solidFill>
                  <a:srgbClr val="173246"/>
                </a:solidFill>
                <a:latin typeface="Noto Sans"/>
              </a:defRPr>
            </a:pPr>
            <a:r>
              <a:t>Bootstrap</a:t>
            </a:r>
          </a:p>
        </p:txBody>
      </p:sp>
      <p:sp>
        <p:nvSpPr>
          <p:cNvPr id="19" name="Rectangle 18"/>
          <p:cNvSpPr/>
          <p:nvPr/>
        </p:nvSpPr>
        <p:spPr>
          <a:xfrm>
            <a:off x="7543800" y="2606040"/>
            <a:ext cx="400050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80960" y="2715768"/>
            <a:ext cx="3749040" cy="630936"/>
          </a:xfrm>
          <a:prstGeom prst="rect">
            <a:avLst/>
          </a:prstGeom>
          <a:noFill/>
        </p:spPr>
        <p:txBody>
          <a:bodyPr wrap="square" lIns="9144" rIns="9144" tIns="9144" bIns="9144" anchor="t">
            <a:spAutoFit/>
          </a:bodyPr>
          <a:lstStyle/>
          <a:p>
            <a:pPr algn="ctr">
              <a:spcAft>
                <a:spcPts val="500"/>
              </a:spcAft>
              <a:defRPr sz="1600" b="0">
                <a:solidFill>
                  <a:srgbClr val="173246"/>
                </a:solidFill>
                <a:latin typeface="Noto Sans"/>
              </a:defRPr>
            </a:pPr>
            <a:r>
              <a:t>Bootstrap</a:t>
            </a:r>
          </a:p>
        </p:txBody>
      </p:sp>
      <p:sp>
        <p:nvSpPr>
          <p:cNvPr id="21" name="Rectangle 20"/>
          <p:cNvSpPr/>
          <p:nvPr/>
        </p:nvSpPr>
        <p:spPr>
          <a:xfrm>
            <a:off x="594360" y="3383280"/>
            <a:ext cx="281178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493008"/>
            <a:ext cx="2560320" cy="630936"/>
          </a:xfrm>
          <a:prstGeom prst="rect">
            <a:avLst/>
          </a:prstGeom>
          <a:noFill/>
        </p:spPr>
        <p:txBody>
          <a:bodyPr wrap="square" lIns="9144" rIns="9144" tIns="9144" bIns="9144" anchor="t">
            <a:spAutoFit/>
          </a:bodyPr>
          <a:lstStyle/>
          <a:p>
            <a:pPr algn="l">
              <a:spcAft>
                <a:spcPts val="500"/>
              </a:spcAft>
              <a:defRPr sz="1600" b="0">
                <a:solidFill>
                  <a:srgbClr val="173246"/>
                </a:solidFill>
                <a:latin typeface="Noto Sans"/>
              </a:defRPr>
            </a:pPr>
            <a:r>
              <a:t>Đặc trưng khi chia</a:t>
            </a:r>
          </a:p>
        </p:txBody>
      </p:sp>
      <p:sp>
        <p:nvSpPr>
          <p:cNvPr id="23" name="Rectangle 22"/>
          <p:cNvSpPr/>
          <p:nvPr/>
        </p:nvSpPr>
        <p:spPr>
          <a:xfrm>
            <a:off x="3429000" y="3383280"/>
            <a:ext cx="4091939"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66160" y="3493008"/>
            <a:ext cx="3840480" cy="630936"/>
          </a:xfrm>
          <a:prstGeom prst="rect">
            <a:avLst/>
          </a:prstGeom>
          <a:noFill/>
        </p:spPr>
        <p:txBody>
          <a:bodyPr wrap="square" lIns="9144" rIns="9144" tIns="9144" bIns="9144" anchor="t">
            <a:spAutoFit/>
          </a:bodyPr>
          <a:lstStyle/>
          <a:p>
            <a:pPr algn="ctr">
              <a:spcAft>
                <a:spcPts val="500"/>
              </a:spcAft>
              <a:defRPr sz="1600" b="0">
                <a:solidFill>
                  <a:srgbClr val="173246"/>
                </a:solidFill>
                <a:latin typeface="Noto Sans"/>
              </a:defRPr>
            </a:pPr>
            <a:r>
              <a:t>Xét toàn bộ 30 đặc trưng</a:t>
            </a:r>
          </a:p>
        </p:txBody>
      </p:sp>
      <p:sp>
        <p:nvSpPr>
          <p:cNvPr id="25" name="Rectangle 24"/>
          <p:cNvSpPr/>
          <p:nvPr/>
        </p:nvSpPr>
        <p:spPr>
          <a:xfrm>
            <a:off x="7543800" y="3383280"/>
            <a:ext cx="400050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80960" y="3493008"/>
            <a:ext cx="3749040" cy="630936"/>
          </a:xfrm>
          <a:prstGeom prst="rect">
            <a:avLst/>
          </a:prstGeom>
          <a:noFill/>
        </p:spPr>
        <p:txBody>
          <a:bodyPr wrap="square" lIns="9144" rIns="9144" tIns="9144" bIns="9144" anchor="t">
            <a:spAutoFit/>
          </a:bodyPr>
          <a:lstStyle/>
          <a:p>
            <a:pPr algn="ctr">
              <a:spcAft>
                <a:spcPts val="500"/>
              </a:spcAft>
              <a:defRPr sz="1600" b="0">
                <a:solidFill>
                  <a:srgbClr val="173246"/>
                </a:solidFill>
                <a:latin typeface="Noto Sans"/>
              </a:defRPr>
            </a:pPr>
            <a:r>
              <a:t>Tập con ngẫu nhiên (√30 → 5)</a:t>
            </a:r>
          </a:p>
        </p:txBody>
      </p:sp>
      <p:sp>
        <p:nvSpPr>
          <p:cNvPr id="27" name="Rectangle 26"/>
          <p:cNvSpPr/>
          <p:nvPr/>
        </p:nvSpPr>
        <p:spPr>
          <a:xfrm>
            <a:off x="594360" y="4160520"/>
            <a:ext cx="281178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270248"/>
            <a:ext cx="2560320" cy="630936"/>
          </a:xfrm>
          <a:prstGeom prst="rect">
            <a:avLst/>
          </a:prstGeom>
          <a:noFill/>
        </p:spPr>
        <p:txBody>
          <a:bodyPr wrap="square" lIns="9144" rIns="9144" tIns="9144" bIns="9144" anchor="t">
            <a:spAutoFit/>
          </a:bodyPr>
          <a:lstStyle/>
          <a:p>
            <a:pPr algn="l">
              <a:spcAft>
                <a:spcPts val="500"/>
              </a:spcAft>
              <a:defRPr sz="1600" b="0">
                <a:solidFill>
                  <a:srgbClr val="173246"/>
                </a:solidFill>
                <a:latin typeface="Noto Sans"/>
              </a:defRPr>
            </a:pPr>
            <a:r>
              <a:t>Kết hợp cây</a:t>
            </a:r>
          </a:p>
        </p:txBody>
      </p:sp>
      <p:sp>
        <p:nvSpPr>
          <p:cNvPr id="29" name="Rectangle 28"/>
          <p:cNvSpPr/>
          <p:nvPr/>
        </p:nvSpPr>
        <p:spPr>
          <a:xfrm>
            <a:off x="3429000" y="4160520"/>
            <a:ext cx="4091939"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66160" y="4270248"/>
            <a:ext cx="3840480" cy="630936"/>
          </a:xfrm>
          <a:prstGeom prst="rect">
            <a:avLst/>
          </a:prstGeom>
          <a:noFill/>
        </p:spPr>
        <p:txBody>
          <a:bodyPr wrap="square" lIns="9144" rIns="9144" tIns="9144" bIns="9144" anchor="t">
            <a:spAutoFit/>
          </a:bodyPr>
          <a:lstStyle/>
          <a:p>
            <a:pPr algn="ctr">
              <a:spcAft>
                <a:spcPts val="500"/>
              </a:spcAft>
              <a:defRPr sz="1600" b="0">
                <a:solidFill>
                  <a:srgbClr val="173246"/>
                </a:solidFill>
                <a:latin typeface="Noto Sans"/>
              </a:defRPr>
            </a:pPr>
            <a:r>
              <a:t>Đa số nhãn dự đoán</a:t>
            </a:r>
          </a:p>
        </p:txBody>
      </p:sp>
      <p:sp>
        <p:nvSpPr>
          <p:cNvPr id="31" name="Rectangle 30"/>
          <p:cNvSpPr/>
          <p:nvPr/>
        </p:nvSpPr>
        <p:spPr>
          <a:xfrm>
            <a:off x="7543800" y="4160520"/>
            <a:ext cx="400050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0" y="4270248"/>
            <a:ext cx="3749040" cy="630936"/>
          </a:xfrm>
          <a:prstGeom prst="rect">
            <a:avLst/>
          </a:prstGeom>
          <a:noFill/>
        </p:spPr>
        <p:txBody>
          <a:bodyPr wrap="square" lIns="9144" rIns="9144" tIns="9144" bIns="9144" anchor="t">
            <a:spAutoFit/>
          </a:bodyPr>
          <a:lstStyle/>
          <a:p>
            <a:pPr algn="ctr">
              <a:spcAft>
                <a:spcPts val="500"/>
              </a:spcAft>
              <a:defRPr sz="1600" b="0">
                <a:solidFill>
                  <a:srgbClr val="173246"/>
                </a:solidFill>
                <a:latin typeface="Noto Sans"/>
              </a:defRPr>
            </a:pPr>
            <a:r>
              <a:t>Trung bình xác suất lớp</a:t>
            </a:r>
          </a:p>
        </p:txBody>
      </p:sp>
      <p:sp>
        <p:nvSpPr>
          <p:cNvPr id="33" name="Rectangle 32"/>
          <p:cNvSpPr/>
          <p:nvPr/>
        </p:nvSpPr>
        <p:spPr>
          <a:xfrm>
            <a:off x="594360" y="4937760"/>
            <a:ext cx="281178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047488"/>
            <a:ext cx="2560320" cy="630936"/>
          </a:xfrm>
          <a:prstGeom prst="rect">
            <a:avLst/>
          </a:prstGeom>
          <a:noFill/>
        </p:spPr>
        <p:txBody>
          <a:bodyPr wrap="square" lIns="9144" rIns="9144" tIns="9144" bIns="9144" anchor="t">
            <a:spAutoFit/>
          </a:bodyPr>
          <a:lstStyle/>
          <a:p>
            <a:pPr algn="l">
              <a:spcAft>
                <a:spcPts val="500"/>
              </a:spcAft>
              <a:defRPr sz="1600" b="0">
                <a:solidFill>
                  <a:srgbClr val="173246"/>
                </a:solidFill>
                <a:latin typeface="Noto Sans"/>
              </a:defRPr>
            </a:pPr>
            <a:r>
              <a:t>Cấu hình seed 42</a:t>
            </a:r>
          </a:p>
        </p:txBody>
      </p:sp>
      <p:sp>
        <p:nvSpPr>
          <p:cNvPr id="35" name="Rectangle 34"/>
          <p:cNvSpPr/>
          <p:nvPr/>
        </p:nvSpPr>
        <p:spPr>
          <a:xfrm>
            <a:off x="3429000" y="4937760"/>
            <a:ext cx="4091939"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66160" y="5047488"/>
            <a:ext cx="3840480" cy="630936"/>
          </a:xfrm>
          <a:prstGeom prst="rect">
            <a:avLst/>
          </a:prstGeom>
          <a:noFill/>
        </p:spPr>
        <p:txBody>
          <a:bodyPr wrap="square" lIns="9144" rIns="9144" tIns="9144" bIns="9144" anchor="t">
            <a:spAutoFit/>
          </a:bodyPr>
          <a:lstStyle/>
          <a:p>
            <a:pPr algn="ctr">
              <a:spcAft>
                <a:spcPts val="500"/>
              </a:spcAft>
              <a:defRPr sz="1600" b="0">
                <a:solidFill>
                  <a:srgbClr val="173246"/>
                </a:solidFill>
                <a:latin typeface="Noto Sans"/>
              </a:defRPr>
            </a:pPr>
            <a:r>
              <a:t>51 cây, max_depth = 3</a:t>
            </a:r>
          </a:p>
        </p:txBody>
      </p:sp>
      <p:sp>
        <p:nvSpPr>
          <p:cNvPr id="37" name="Rectangle 36"/>
          <p:cNvSpPr/>
          <p:nvPr/>
        </p:nvSpPr>
        <p:spPr>
          <a:xfrm>
            <a:off x="7543800" y="4937760"/>
            <a:ext cx="400050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0" y="5047488"/>
            <a:ext cx="3749040" cy="630936"/>
          </a:xfrm>
          <a:prstGeom prst="rect">
            <a:avLst/>
          </a:prstGeom>
          <a:noFill/>
        </p:spPr>
        <p:txBody>
          <a:bodyPr wrap="square" lIns="9144" rIns="9144" tIns="9144" bIns="9144" anchor="t">
            <a:spAutoFit/>
          </a:bodyPr>
          <a:lstStyle/>
          <a:p>
            <a:pPr algn="ctr">
              <a:spcAft>
                <a:spcPts val="500"/>
              </a:spcAft>
              <a:defRPr sz="1600" b="0">
                <a:solidFill>
                  <a:srgbClr val="173246"/>
                </a:solidFill>
                <a:latin typeface="Noto Sans"/>
              </a:defRPr>
            </a:pPr>
            <a:r>
              <a:t>51 cây, max_depth = 3</a:t>
            </a:r>
          </a:p>
        </p:txBody>
      </p:sp>
      <p:sp>
        <p:nvSpPr>
          <p:cNvPr id="39" name="TextBox 38"/>
          <p:cNvSpPr txBox="1"/>
          <p:nvPr/>
        </p:nvSpPr>
        <p:spPr>
          <a:xfrm>
            <a:off x="685800" y="5943600"/>
            <a:ext cx="10789920" cy="320040"/>
          </a:xfrm>
          <a:prstGeom prst="rect">
            <a:avLst/>
          </a:prstGeom>
          <a:noFill/>
        </p:spPr>
        <p:txBody>
          <a:bodyPr wrap="square" lIns="9144" rIns="9144" tIns="9144" bIns="9144" anchor="t">
            <a:spAutoFit/>
          </a:bodyPr>
          <a:lstStyle/>
          <a:p>
            <a:pPr algn="l">
              <a:spcAft>
                <a:spcPts val="500"/>
              </a:spcAft>
              <a:defRPr sz="1500" b="1">
                <a:solidFill>
                  <a:srgbClr val="087E83"/>
                </a:solidFill>
                <a:latin typeface="Noto Sans"/>
              </a:defRPr>
            </a:pPr>
            <a:r>
              <a:t>Ngẫu nhiên hóa đặc trưng giúp giảm tương quan; không bảo đảm mọi cây sẽ có lỗi khác nhau.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06 • KẾT QUẢ THỰC NGHIỆM</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Bagging cải thiện nhẹ trên lần chia test này</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Seed 42 • test n = 143 • Nguồn: results.json • số liệu đã làm tròn</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16</a:t>
            </a:r>
          </a:p>
        </p:txBody>
      </p:sp>
      <p:sp>
        <p:nvSpPr>
          <p:cNvPr id="9" name="Rectangle 8"/>
          <p:cNvSpPr/>
          <p:nvPr/>
        </p:nvSpPr>
        <p:spPr>
          <a:xfrm>
            <a:off x="594360" y="1828800"/>
            <a:ext cx="3634740"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938528"/>
            <a:ext cx="3383280" cy="630936"/>
          </a:xfrm>
          <a:prstGeom prst="rect">
            <a:avLst/>
          </a:prstGeom>
          <a:noFill/>
        </p:spPr>
        <p:txBody>
          <a:bodyPr wrap="square" lIns="9144" rIns="9144" tIns="9144" bIns="9144" anchor="t">
            <a:spAutoFit/>
          </a:bodyPr>
          <a:lstStyle/>
          <a:p>
            <a:pPr algn="l">
              <a:spcAft>
                <a:spcPts val="500"/>
              </a:spcAft>
              <a:defRPr sz="1800" b="1">
                <a:solidFill>
                  <a:srgbClr val="FFFFFF"/>
                </a:solidFill>
                <a:latin typeface="Noto Sans"/>
              </a:defRPr>
            </a:pPr>
            <a:r>
              <a:t>Mô hình</a:t>
            </a:r>
          </a:p>
        </p:txBody>
      </p:sp>
      <p:sp>
        <p:nvSpPr>
          <p:cNvPr id="11" name="Rectangle 10"/>
          <p:cNvSpPr/>
          <p:nvPr/>
        </p:nvSpPr>
        <p:spPr>
          <a:xfrm>
            <a:off x="4251960" y="1828800"/>
            <a:ext cx="1805940"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938528"/>
            <a:ext cx="1554480" cy="630936"/>
          </a:xfrm>
          <a:prstGeom prst="rect">
            <a:avLst/>
          </a:prstGeom>
          <a:noFill/>
        </p:spPr>
        <p:txBody>
          <a:bodyPr wrap="square" lIns="9144" rIns="9144" tIns="9144" bIns="9144" anchor="t">
            <a:spAutoFit/>
          </a:bodyPr>
          <a:lstStyle/>
          <a:p>
            <a:pPr algn="ctr">
              <a:spcAft>
                <a:spcPts val="500"/>
              </a:spcAft>
              <a:defRPr sz="1800" b="1">
                <a:solidFill>
                  <a:srgbClr val="FFFFFF"/>
                </a:solidFill>
                <a:latin typeface="Noto Sans"/>
              </a:defRPr>
            </a:pPr>
            <a:r>
              <a:t>Accuracy</a:t>
            </a:r>
          </a:p>
        </p:txBody>
      </p:sp>
      <p:sp>
        <p:nvSpPr>
          <p:cNvPr id="13" name="Rectangle 12"/>
          <p:cNvSpPr/>
          <p:nvPr/>
        </p:nvSpPr>
        <p:spPr>
          <a:xfrm>
            <a:off x="6080760" y="1828800"/>
            <a:ext cx="1805940"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938528"/>
            <a:ext cx="1554480" cy="630936"/>
          </a:xfrm>
          <a:prstGeom prst="rect">
            <a:avLst/>
          </a:prstGeom>
          <a:noFill/>
        </p:spPr>
        <p:txBody>
          <a:bodyPr wrap="square" lIns="9144" rIns="9144" tIns="9144" bIns="9144" anchor="t">
            <a:spAutoFit/>
          </a:bodyPr>
          <a:lstStyle/>
          <a:p>
            <a:pPr algn="ctr">
              <a:spcAft>
                <a:spcPts val="500"/>
              </a:spcAft>
              <a:defRPr sz="1800" b="1">
                <a:solidFill>
                  <a:srgbClr val="FFFFFF"/>
                </a:solidFill>
                <a:latin typeface="Noto Sans"/>
              </a:defRPr>
            </a:pPr>
            <a:r>
              <a:t>Precision*</a:t>
            </a:r>
          </a:p>
        </p:txBody>
      </p:sp>
      <p:sp>
        <p:nvSpPr>
          <p:cNvPr id="15" name="Rectangle 14"/>
          <p:cNvSpPr/>
          <p:nvPr/>
        </p:nvSpPr>
        <p:spPr>
          <a:xfrm>
            <a:off x="7909560" y="1828800"/>
            <a:ext cx="1805940"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0" y="1938528"/>
            <a:ext cx="1554480" cy="630936"/>
          </a:xfrm>
          <a:prstGeom prst="rect">
            <a:avLst/>
          </a:prstGeom>
          <a:noFill/>
        </p:spPr>
        <p:txBody>
          <a:bodyPr wrap="square" lIns="9144" rIns="9144" tIns="9144" bIns="9144" anchor="t">
            <a:spAutoFit/>
          </a:bodyPr>
          <a:lstStyle/>
          <a:p>
            <a:pPr algn="ctr">
              <a:spcAft>
                <a:spcPts val="500"/>
              </a:spcAft>
              <a:defRPr sz="1800" b="1">
                <a:solidFill>
                  <a:srgbClr val="FFFFFF"/>
                </a:solidFill>
                <a:latin typeface="Noto Sans"/>
              </a:defRPr>
            </a:pPr>
            <a:r>
              <a:t>Recall*</a:t>
            </a:r>
          </a:p>
        </p:txBody>
      </p:sp>
      <p:sp>
        <p:nvSpPr>
          <p:cNvPr id="17" name="Rectangle 16"/>
          <p:cNvSpPr/>
          <p:nvPr/>
        </p:nvSpPr>
        <p:spPr>
          <a:xfrm>
            <a:off x="9738360" y="1828800"/>
            <a:ext cx="1805940"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0" y="1938528"/>
            <a:ext cx="1554480" cy="630936"/>
          </a:xfrm>
          <a:prstGeom prst="rect">
            <a:avLst/>
          </a:prstGeom>
          <a:noFill/>
        </p:spPr>
        <p:txBody>
          <a:bodyPr wrap="square" lIns="9144" rIns="9144" tIns="9144" bIns="9144" anchor="t">
            <a:spAutoFit/>
          </a:bodyPr>
          <a:lstStyle/>
          <a:p>
            <a:pPr algn="ctr">
              <a:spcAft>
                <a:spcPts val="500"/>
              </a:spcAft>
              <a:defRPr sz="1800" b="1">
                <a:solidFill>
                  <a:srgbClr val="FFFFFF"/>
                </a:solidFill>
                <a:latin typeface="Noto Sans"/>
              </a:defRPr>
            </a:pPr>
            <a:r>
              <a:t>F1*</a:t>
            </a:r>
          </a:p>
        </p:txBody>
      </p:sp>
      <p:sp>
        <p:nvSpPr>
          <p:cNvPr id="19" name="Rectangle 18"/>
          <p:cNvSpPr/>
          <p:nvPr/>
        </p:nvSpPr>
        <p:spPr>
          <a:xfrm>
            <a:off x="594360" y="2606040"/>
            <a:ext cx="36347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715768"/>
            <a:ext cx="3383280" cy="630936"/>
          </a:xfrm>
          <a:prstGeom prst="rect">
            <a:avLst/>
          </a:prstGeom>
          <a:noFill/>
        </p:spPr>
        <p:txBody>
          <a:bodyPr wrap="square" lIns="9144" rIns="9144" tIns="9144" bIns="9144" anchor="t">
            <a:spAutoFit/>
          </a:bodyPr>
          <a:lstStyle/>
          <a:p>
            <a:pPr algn="l">
              <a:spcAft>
                <a:spcPts val="500"/>
              </a:spcAft>
              <a:defRPr sz="1800" b="0">
                <a:solidFill>
                  <a:srgbClr val="173246"/>
                </a:solidFill>
                <a:latin typeface="Noto Sans"/>
              </a:defRPr>
            </a:pPr>
            <a:r>
              <a:t>Cây quyết định đơn</a:t>
            </a:r>
          </a:p>
        </p:txBody>
      </p:sp>
      <p:sp>
        <p:nvSpPr>
          <p:cNvPr id="21" name="Rectangle 20"/>
          <p:cNvSpPr/>
          <p:nvPr/>
        </p:nvSpPr>
        <p:spPr>
          <a:xfrm>
            <a:off x="4251960" y="2606040"/>
            <a:ext cx="18059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2715768"/>
            <a:ext cx="1554480" cy="630936"/>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94,41%</a:t>
            </a:r>
          </a:p>
        </p:txBody>
      </p:sp>
      <p:sp>
        <p:nvSpPr>
          <p:cNvPr id="23" name="Rectangle 22"/>
          <p:cNvSpPr/>
          <p:nvPr/>
        </p:nvSpPr>
        <p:spPr>
          <a:xfrm>
            <a:off x="6080760" y="2606040"/>
            <a:ext cx="18059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2715768"/>
            <a:ext cx="1554480" cy="630936"/>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94,12%</a:t>
            </a:r>
          </a:p>
        </p:txBody>
      </p:sp>
      <p:sp>
        <p:nvSpPr>
          <p:cNvPr id="25" name="Rectangle 24"/>
          <p:cNvSpPr/>
          <p:nvPr/>
        </p:nvSpPr>
        <p:spPr>
          <a:xfrm>
            <a:off x="7909560" y="2606040"/>
            <a:ext cx="18059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0" y="2715768"/>
            <a:ext cx="1554480" cy="630936"/>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90,57%</a:t>
            </a:r>
          </a:p>
        </p:txBody>
      </p:sp>
      <p:sp>
        <p:nvSpPr>
          <p:cNvPr id="27" name="Rectangle 26"/>
          <p:cNvSpPr/>
          <p:nvPr/>
        </p:nvSpPr>
        <p:spPr>
          <a:xfrm>
            <a:off x="9738360" y="2606040"/>
            <a:ext cx="18059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75520" y="2715768"/>
            <a:ext cx="1554480" cy="630936"/>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92,31%</a:t>
            </a:r>
          </a:p>
        </p:txBody>
      </p:sp>
      <p:sp>
        <p:nvSpPr>
          <p:cNvPr id="29" name="Rectangle 28"/>
          <p:cNvSpPr/>
          <p:nvPr/>
        </p:nvSpPr>
        <p:spPr>
          <a:xfrm>
            <a:off x="594360" y="3383280"/>
            <a:ext cx="3634740" cy="754380"/>
          </a:xfrm>
          <a:prstGeom prst="rect">
            <a:avLst/>
          </a:prstGeom>
          <a:solidFill>
            <a:srgbClr val="DD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493008"/>
            <a:ext cx="3383280" cy="630936"/>
          </a:xfrm>
          <a:prstGeom prst="rect">
            <a:avLst/>
          </a:prstGeom>
          <a:noFill/>
        </p:spPr>
        <p:txBody>
          <a:bodyPr wrap="square" lIns="9144" rIns="9144" tIns="9144" bIns="9144" anchor="t">
            <a:spAutoFit/>
          </a:bodyPr>
          <a:lstStyle/>
          <a:p>
            <a:pPr algn="l">
              <a:spcAft>
                <a:spcPts val="500"/>
              </a:spcAft>
              <a:defRPr sz="1800" b="1">
                <a:solidFill>
                  <a:srgbClr val="173246"/>
                </a:solidFill>
                <a:latin typeface="Noto Sans"/>
              </a:defRPr>
            </a:pPr>
            <a:r>
              <a:t>Bagging tự viết</a:t>
            </a:r>
          </a:p>
        </p:txBody>
      </p:sp>
      <p:sp>
        <p:nvSpPr>
          <p:cNvPr id="31" name="Rectangle 30"/>
          <p:cNvSpPr/>
          <p:nvPr/>
        </p:nvSpPr>
        <p:spPr>
          <a:xfrm>
            <a:off x="4251960" y="3383280"/>
            <a:ext cx="1805940" cy="754380"/>
          </a:xfrm>
          <a:prstGeom prst="rect">
            <a:avLst/>
          </a:prstGeom>
          <a:solidFill>
            <a:srgbClr val="DD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89120" y="3493008"/>
            <a:ext cx="1554480" cy="630936"/>
          </a:xfrm>
          <a:prstGeom prst="rect">
            <a:avLst/>
          </a:prstGeom>
          <a:noFill/>
        </p:spPr>
        <p:txBody>
          <a:bodyPr wrap="square" lIns="9144" rIns="9144" tIns="9144" bIns="9144" anchor="t">
            <a:spAutoFit/>
          </a:bodyPr>
          <a:lstStyle/>
          <a:p>
            <a:pPr algn="ctr">
              <a:spcAft>
                <a:spcPts val="500"/>
              </a:spcAft>
              <a:defRPr sz="1800" b="1">
                <a:solidFill>
                  <a:srgbClr val="173246"/>
                </a:solidFill>
                <a:latin typeface="Noto Sans"/>
              </a:defRPr>
            </a:pPr>
            <a:r>
              <a:t>95,10%</a:t>
            </a:r>
          </a:p>
        </p:txBody>
      </p:sp>
      <p:sp>
        <p:nvSpPr>
          <p:cNvPr id="33" name="Rectangle 32"/>
          <p:cNvSpPr/>
          <p:nvPr/>
        </p:nvSpPr>
        <p:spPr>
          <a:xfrm>
            <a:off x="6080760" y="3383280"/>
            <a:ext cx="1805940" cy="754380"/>
          </a:xfrm>
          <a:prstGeom prst="rect">
            <a:avLst/>
          </a:prstGeom>
          <a:solidFill>
            <a:srgbClr val="DD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7920" y="3493008"/>
            <a:ext cx="1554480" cy="630936"/>
          </a:xfrm>
          <a:prstGeom prst="rect">
            <a:avLst/>
          </a:prstGeom>
          <a:noFill/>
        </p:spPr>
        <p:txBody>
          <a:bodyPr wrap="square" lIns="9144" rIns="9144" tIns="9144" bIns="9144" anchor="t">
            <a:spAutoFit/>
          </a:bodyPr>
          <a:lstStyle/>
          <a:p>
            <a:pPr algn="ctr">
              <a:spcAft>
                <a:spcPts val="500"/>
              </a:spcAft>
              <a:defRPr sz="1800" b="1">
                <a:solidFill>
                  <a:srgbClr val="173246"/>
                </a:solidFill>
                <a:latin typeface="Noto Sans"/>
              </a:defRPr>
            </a:pPr>
            <a:r>
              <a:t>94,23%</a:t>
            </a:r>
          </a:p>
        </p:txBody>
      </p:sp>
      <p:sp>
        <p:nvSpPr>
          <p:cNvPr id="35" name="Rectangle 34"/>
          <p:cNvSpPr/>
          <p:nvPr/>
        </p:nvSpPr>
        <p:spPr>
          <a:xfrm>
            <a:off x="7909560" y="3383280"/>
            <a:ext cx="1805940" cy="754380"/>
          </a:xfrm>
          <a:prstGeom prst="rect">
            <a:avLst/>
          </a:prstGeom>
          <a:solidFill>
            <a:srgbClr val="DD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0" y="3493008"/>
            <a:ext cx="1554480" cy="630936"/>
          </a:xfrm>
          <a:prstGeom prst="rect">
            <a:avLst/>
          </a:prstGeom>
          <a:noFill/>
        </p:spPr>
        <p:txBody>
          <a:bodyPr wrap="square" lIns="9144" rIns="9144" tIns="9144" bIns="9144" anchor="t">
            <a:spAutoFit/>
          </a:bodyPr>
          <a:lstStyle/>
          <a:p>
            <a:pPr algn="ctr">
              <a:spcAft>
                <a:spcPts val="500"/>
              </a:spcAft>
              <a:defRPr sz="1800" b="1">
                <a:solidFill>
                  <a:srgbClr val="173246"/>
                </a:solidFill>
                <a:latin typeface="Noto Sans"/>
              </a:defRPr>
            </a:pPr>
            <a:r>
              <a:t>92,45%</a:t>
            </a:r>
          </a:p>
        </p:txBody>
      </p:sp>
      <p:sp>
        <p:nvSpPr>
          <p:cNvPr id="37" name="Rectangle 36"/>
          <p:cNvSpPr/>
          <p:nvPr/>
        </p:nvSpPr>
        <p:spPr>
          <a:xfrm>
            <a:off x="9738360" y="3383280"/>
            <a:ext cx="1805940" cy="754380"/>
          </a:xfrm>
          <a:prstGeom prst="rect">
            <a:avLst/>
          </a:prstGeom>
          <a:solidFill>
            <a:srgbClr val="DD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875520" y="3493008"/>
            <a:ext cx="1554480" cy="630936"/>
          </a:xfrm>
          <a:prstGeom prst="rect">
            <a:avLst/>
          </a:prstGeom>
          <a:noFill/>
        </p:spPr>
        <p:txBody>
          <a:bodyPr wrap="square" lIns="9144" rIns="9144" tIns="9144" bIns="9144" anchor="t">
            <a:spAutoFit/>
          </a:bodyPr>
          <a:lstStyle/>
          <a:p>
            <a:pPr algn="ctr">
              <a:spcAft>
                <a:spcPts val="500"/>
              </a:spcAft>
              <a:defRPr sz="1800" b="1">
                <a:solidFill>
                  <a:srgbClr val="173246"/>
                </a:solidFill>
                <a:latin typeface="Noto Sans"/>
              </a:defRPr>
            </a:pPr>
            <a:r>
              <a:t>93,33%</a:t>
            </a:r>
          </a:p>
        </p:txBody>
      </p:sp>
      <p:sp>
        <p:nvSpPr>
          <p:cNvPr id="39" name="Rectangle 38"/>
          <p:cNvSpPr/>
          <p:nvPr/>
        </p:nvSpPr>
        <p:spPr>
          <a:xfrm>
            <a:off x="594360" y="4160520"/>
            <a:ext cx="36347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270248"/>
            <a:ext cx="3383280" cy="630936"/>
          </a:xfrm>
          <a:prstGeom prst="rect">
            <a:avLst/>
          </a:prstGeom>
          <a:noFill/>
        </p:spPr>
        <p:txBody>
          <a:bodyPr wrap="square" lIns="9144" rIns="9144" tIns="9144" bIns="9144" anchor="t">
            <a:spAutoFit/>
          </a:bodyPr>
          <a:lstStyle/>
          <a:p>
            <a:pPr algn="l">
              <a:spcAft>
                <a:spcPts val="500"/>
              </a:spcAft>
              <a:defRPr sz="1800" b="0">
                <a:solidFill>
                  <a:srgbClr val="173246"/>
                </a:solidFill>
                <a:latin typeface="Noto Sans"/>
              </a:defRPr>
            </a:pPr>
            <a:r>
              <a:t>Random Forest</a:t>
            </a:r>
          </a:p>
        </p:txBody>
      </p:sp>
      <p:sp>
        <p:nvSpPr>
          <p:cNvPr id="41" name="Rectangle 40"/>
          <p:cNvSpPr/>
          <p:nvPr/>
        </p:nvSpPr>
        <p:spPr>
          <a:xfrm>
            <a:off x="4251960" y="4160520"/>
            <a:ext cx="18059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89120" y="4270248"/>
            <a:ext cx="1554480" cy="630936"/>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95,10%</a:t>
            </a:r>
          </a:p>
        </p:txBody>
      </p:sp>
      <p:sp>
        <p:nvSpPr>
          <p:cNvPr id="43" name="Rectangle 42"/>
          <p:cNvSpPr/>
          <p:nvPr/>
        </p:nvSpPr>
        <p:spPr>
          <a:xfrm>
            <a:off x="6080760" y="4160520"/>
            <a:ext cx="18059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0" y="4270248"/>
            <a:ext cx="1554480" cy="630936"/>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94,23%</a:t>
            </a:r>
          </a:p>
        </p:txBody>
      </p:sp>
      <p:sp>
        <p:nvSpPr>
          <p:cNvPr id="45" name="Rectangle 44"/>
          <p:cNvSpPr/>
          <p:nvPr/>
        </p:nvSpPr>
        <p:spPr>
          <a:xfrm>
            <a:off x="7909560" y="4160520"/>
            <a:ext cx="18059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46720" y="4270248"/>
            <a:ext cx="1554480" cy="630936"/>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92,45%</a:t>
            </a:r>
          </a:p>
        </p:txBody>
      </p:sp>
      <p:sp>
        <p:nvSpPr>
          <p:cNvPr id="47" name="Rectangle 46"/>
          <p:cNvSpPr/>
          <p:nvPr/>
        </p:nvSpPr>
        <p:spPr>
          <a:xfrm>
            <a:off x="9738360" y="4160520"/>
            <a:ext cx="18059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75520" y="4270248"/>
            <a:ext cx="1554480" cy="630936"/>
          </a:xfrm>
          <a:prstGeom prst="rect">
            <a:avLst/>
          </a:prstGeom>
          <a:noFill/>
        </p:spPr>
        <p:txBody>
          <a:bodyPr wrap="square" lIns="9144" rIns="9144" tIns="9144" bIns="9144" anchor="t">
            <a:spAutoFit/>
          </a:bodyPr>
          <a:lstStyle/>
          <a:p>
            <a:pPr algn="ctr">
              <a:spcAft>
                <a:spcPts val="500"/>
              </a:spcAft>
              <a:defRPr sz="1800" b="0">
                <a:solidFill>
                  <a:srgbClr val="173246"/>
                </a:solidFill>
                <a:latin typeface="Noto Sans"/>
              </a:defRPr>
            </a:pPr>
            <a:r>
              <a:t>93,33%</a:t>
            </a:r>
          </a:p>
        </p:txBody>
      </p:sp>
      <p:sp>
        <p:nvSpPr>
          <p:cNvPr id="49" name="TextBox 48"/>
          <p:cNvSpPr txBox="1"/>
          <p:nvPr/>
        </p:nvSpPr>
        <p:spPr>
          <a:xfrm>
            <a:off x="685800" y="5120640"/>
            <a:ext cx="10789920" cy="365760"/>
          </a:xfrm>
          <a:prstGeom prst="rect">
            <a:avLst/>
          </a:prstGeom>
          <a:noFill/>
        </p:spPr>
        <p:txBody>
          <a:bodyPr wrap="square" lIns="9144" rIns="9144" tIns="9144" bIns="9144" anchor="t">
            <a:spAutoFit/>
          </a:bodyPr>
          <a:lstStyle/>
          <a:p>
            <a:pPr algn="l">
              <a:spcAft>
                <a:spcPts val="500"/>
              </a:spcAft>
              <a:defRPr sz="1700" b="0">
                <a:solidFill>
                  <a:srgbClr val="566A76"/>
                </a:solidFill>
                <a:latin typeface="Noto Sans"/>
              </a:defRPr>
            </a:pPr>
            <a:r>
              <a:t>* Lớp dương: ác tính = 0. Precision, Recall và F1 đều tính cho lớp này.</a:t>
            </a:r>
          </a:p>
        </p:txBody>
      </p:sp>
      <p:sp>
        <p:nvSpPr>
          <p:cNvPr id="50" name="TextBox 49"/>
          <p:cNvSpPr txBox="1"/>
          <p:nvPr/>
        </p:nvSpPr>
        <p:spPr>
          <a:xfrm>
            <a:off x="685800" y="5715000"/>
            <a:ext cx="10789920" cy="411480"/>
          </a:xfrm>
          <a:prstGeom prst="rect">
            <a:avLst/>
          </a:prstGeom>
          <a:noFill/>
        </p:spPr>
        <p:txBody>
          <a:bodyPr wrap="square" lIns="9144" rIns="9144" tIns="9144" bIns="9144" anchor="t">
            <a:spAutoFit/>
          </a:bodyPr>
          <a:lstStyle/>
          <a:p>
            <a:pPr algn="l">
              <a:spcAft>
                <a:spcPts val="500"/>
              </a:spcAft>
              <a:defRPr sz="1900" b="1">
                <a:solidFill>
                  <a:srgbClr val="087E83"/>
                </a:solidFill>
                <a:latin typeface="Noto Sans"/>
              </a:defRPr>
            </a:pPr>
            <a:r>
              <a:t>Accuracy tăng 0,70 điểm phần trăm; không suy ra ưu thế tổng quát từ một lần chia.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06 • ĐỘ ỔN ĐỊNH</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Đánh giá lại trên 10 lần chia phân tầng</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Nguồn: repeated_evaluation.summary • seeds 42–51 • Mean ± SD mẫu</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17</a:t>
            </a:r>
          </a:p>
        </p:txBody>
      </p:sp>
      <p:sp>
        <p:nvSpPr>
          <p:cNvPr id="9" name="TextBox 8"/>
          <p:cNvSpPr txBox="1"/>
          <p:nvPr/>
        </p:nvSpPr>
        <p:spPr>
          <a:xfrm>
            <a:off x="640080" y="1691640"/>
            <a:ext cx="10789920" cy="411480"/>
          </a:xfrm>
          <a:prstGeom prst="rect">
            <a:avLst/>
          </a:prstGeom>
          <a:noFill/>
        </p:spPr>
        <p:txBody>
          <a:bodyPr wrap="square" lIns="9144" rIns="9144" tIns="9144" bIns="9144" anchor="t">
            <a:spAutoFit/>
          </a:bodyPr>
          <a:lstStyle/>
          <a:p>
            <a:pPr algn="l">
              <a:spcAft>
                <a:spcPts val="500"/>
              </a:spcAft>
              <a:defRPr sz="2000" b="0">
                <a:solidFill>
                  <a:srgbClr val="566A76"/>
                </a:solidFill>
                <a:latin typeface="Noto Sans"/>
              </a:defRPr>
            </a:pPr>
            <a:r>
              <a:t>Mỗi seed: chia lại train/test → chọn depth trên train → đánh giá ba mô hình.</a:t>
            </a:r>
          </a:p>
        </p:txBody>
      </p:sp>
      <p:sp>
        <p:nvSpPr>
          <p:cNvPr id="10" name="Rectangle 9"/>
          <p:cNvSpPr/>
          <p:nvPr/>
        </p:nvSpPr>
        <p:spPr>
          <a:xfrm>
            <a:off x="594360" y="2423160"/>
            <a:ext cx="3634740" cy="66294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532888"/>
            <a:ext cx="3383280" cy="539496"/>
          </a:xfrm>
          <a:prstGeom prst="rect">
            <a:avLst/>
          </a:prstGeom>
          <a:noFill/>
        </p:spPr>
        <p:txBody>
          <a:bodyPr wrap="square" lIns="9144" rIns="9144" tIns="9144" bIns="9144" anchor="t">
            <a:spAutoFit/>
          </a:bodyPr>
          <a:lstStyle/>
          <a:p>
            <a:pPr algn="l">
              <a:spcAft>
                <a:spcPts val="500"/>
              </a:spcAft>
              <a:defRPr sz="1700" b="1">
                <a:solidFill>
                  <a:srgbClr val="FFFFFF"/>
                </a:solidFill>
                <a:latin typeface="Noto Sans"/>
              </a:defRPr>
            </a:pPr>
            <a:r>
              <a:t>Mô hình</a:t>
            </a:r>
          </a:p>
        </p:txBody>
      </p:sp>
      <p:sp>
        <p:nvSpPr>
          <p:cNvPr id="12" name="Rectangle 11"/>
          <p:cNvSpPr/>
          <p:nvPr/>
        </p:nvSpPr>
        <p:spPr>
          <a:xfrm>
            <a:off x="4251960" y="2423160"/>
            <a:ext cx="2400300" cy="66294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2532888"/>
            <a:ext cx="2148840" cy="539496"/>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Accuracy (%)</a:t>
            </a:r>
          </a:p>
        </p:txBody>
      </p:sp>
      <p:sp>
        <p:nvSpPr>
          <p:cNvPr id="14" name="Rectangle 13"/>
          <p:cNvSpPr/>
          <p:nvPr/>
        </p:nvSpPr>
        <p:spPr>
          <a:xfrm>
            <a:off x="6675120" y="2423160"/>
            <a:ext cx="2400300" cy="66294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2532888"/>
            <a:ext cx="2148840" cy="539496"/>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Recall ác (%)</a:t>
            </a:r>
          </a:p>
        </p:txBody>
      </p:sp>
      <p:sp>
        <p:nvSpPr>
          <p:cNvPr id="16" name="Rectangle 15"/>
          <p:cNvSpPr/>
          <p:nvPr/>
        </p:nvSpPr>
        <p:spPr>
          <a:xfrm>
            <a:off x="9098280" y="2423160"/>
            <a:ext cx="2446020" cy="66294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0" y="2532888"/>
            <a:ext cx="2194560" cy="539496"/>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F1 ác (%)</a:t>
            </a:r>
          </a:p>
        </p:txBody>
      </p:sp>
      <p:sp>
        <p:nvSpPr>
          <p:cNvPr id="18" name="Rectangle 17"/>
          <p:cNvSpPr/>
          <p:nvPr/>
        </p:nvSpPr>
        <p:spPr>
          <a:xfrm>
            <a:off x="594360" y="3108960"/>
            <a:ext cx="3634740"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218688"/>
            <a:ext cx="3383280" cy="539496"/>
          </a:xfrm>
          <a:prstGeom prst="rect">
            <a:avLst/>
          </a:prstGeom>
          <a:noFill/>
        </p:spPr>
        <p:txBody>
          <a:bodyPr wrap="square" lIns="9144" rIns="9144" tIns="9144" bIns="9144" anchor="t">
            <a:spAutoFit/>
          </a:bodyPr>
          <a:lstStyle/>
          <a:p>
            <a:pPr algn="l">
              <a:spcAft>
                <a:spcPts val="500"/>
              </a:spcAft>
              <a:defRPr sz="1700" b="0">
                <a:solidFill>
                  <a:srgbClr val="173246"/>
                </a:solidFill>
                <a:latin typeface="Noto Sans"/>
              </a:defRPr>
            </a:pPr>
            <a:r>
              <a:t>Cây quyết định đơn</a:t>
            </a:r>
          </a:p>
        </p:txBody>
      </p:sp>
      <p:sp>
        <p:nvSpPr>
          <p:cNvPr id="20" name="Rectangle 19"/>
          <p:cNvSpPr/>
          <p:nvPr/>
        </p:nvSpPr>
        <p:spPr>
          <a:xfrm>
            <a:off x="4251960" y="3108960"/>
            <a:ext cx="2400300"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0" y="3218688"/>
            <a:ext cx="2148840" cy="53949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92,80 ± 1,84</a:t>
            </a:r>
          </a:p>
        </p:txBody>
      </p:sp>
      <p:sp>
        <p:nvSpPr>
          <p:cNvPr id="22" name="Rectangle 21"/>
          <p:cNvSpPr/>
          <p:nvPr/>
        </p:nvSpPr>
        <p:spPr>
          <a:xfrm>
            <a:off x="6675120" y="3108960"/>
            <a:ext cx="2400300"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3218688"/>
            <a:ext cx="2148840" cy="53949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90,38 ± 4,66</a:t>
            </a:r>
          </a:p>
        </p:txBody>
      </p:sp>
      <p:sp>
        <p:nvSpPr>
          <p:cNvPr id="24" name="Rectangle 23"/>
          <p:cNvSpPr/>
          <p:nvPr/>
        </p:nvSpPr>
        <p:spPr>
          <a:xfrm>
            <a:off x="9098280" y="3108960"/>
            <a:ext cx="2446020"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0" y="3218688"/>
            <a:ext cx="2194560" cy="53949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90,30 ± 2,42</a:t>
            </a:r>
          </a:p>
        </p:txBody>
      </p:sp>
      <p:sp>
        <p:nvSpPr>
          <p:cNvPr id="26" name="Rectangle 25"/>
          <p:cNvSpPr/>
          <p:nvPr/>
        </p:nvSpPr>
        <p:spPr>
          <a:xfrm>
            <a:off x="594360" y="3794760"/>
            <a:ext cx="3634740" cy="662940"/>
          </a:xfrm>
          <a:prstGeom prst="rect">
            <a:avLst/>
          </a:prstGeom>
          <a:solidFill>
            <a:srgbClr val="DD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3904488"/>
            <a:ext cx="3383280" cy="539496"/>
          </a:xfrm>
          <a:prstGeom prst="rect">
            <a:avLst/>
          </a:prstGeom>
          <a:noFill/>
        </p:spPr>
        <p:txBody>
          <a:bodyPr wrap="square" lIns="9144" rIns="9144" tIns="9144" bIns="9144" anchor="t">
            <a:spAutoFit/>
          </a:bodyPr>
          <a:lstStyle/>
          <a:p>
            <a:pPr algn="l">
              <a:spcAft>
                <a:spcPts val="500"/>
              </a:spcAft>
              <a:defRPr sz="1700" b="1">
                <a:solidFill>
                  <a:srgbClr val="173246"/>
                </a:solidFill>
                <a:latin typeface="Noto Sans"/>
              </a:defRPr>
            </a:pPr>
            <a:r>
              <a:t>Bagging tự viết</a:t>
            </a:r>
          </a:p>
        </p:txBody>
      </p:sp>
      <p:sp>
        <p:nvSpPr>
          <p:cNvPr id="28" name="Rectangle 27"/>
          <p:cNvSpPr/>
          <p:nvPr/>
        </p:nvSpPr>
        <p:spPr>
          <a:xfrm>
            <a:off x="4251960" y="3794760"/>
            <a:ext cx="2400300" cy="662940"/>
          </a:xfrm>
          <a:prstGeom prst="rect">
            <a:avLst/>
          </a:prstGeom>
          <a:solidFill>
            <a:srgbClr val="DD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89120" y="3904488"/>
            <a:ext cx="2148840" cy="539496"/>
          </a:xfrm>
          <a:prstGeom prst="rect">
            <a:avLst/>
          </a:prstGeom>
          <a:noFill/>
        </p:spPr>
        <p:txBody>
          <a:bodyPr wrap="square" lIns="9144" rIns="9144" tIns="9144" bIns="9144" anchor="t">
            <a:spAutoFit/>
          </a:bodyPr>
          <a:lstStyle/>
          <a:p>
            <a:pPr algn="ctr">
              <a:spcAft>
                <a:spcPts val="500"/>
              </a:spcAft>
              <a:defRPr sz="1700" b="1">
                <a:solidFill>
                  <a:srgbClr val="173246"/>
                </a:solidFill>
                <a:latin typeface="Noto Sans"/>
              </a:defRPr>
            </a:pPr>
            <a:r>
              <a:t>94,76 ± 1,59</a:t>
            </a:r>
          </a:p>
        </p:txBody>
      </p:sp>
      <p:sp>
        <p:nvSpPr>
          <p:cNvPr id="30" name="Rectangle 29"/>
          <p:cNvSpPr/>
          <p:nvPr/>
        </p:nvSpPr>
        <p:spPr>
          <a:xfrm>
            <a:off x="6675120" y="3794760"/>
            <a:ext cx="2400300" cy="662940"/>
          </a:xfrm>
          <a:prstGeom prst="rect">
            <a:avLst/>
          </a:prstGeom>
          <a:solidFill>
            <a:srgbClr val="DD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12280" y="3904488"/>
            <a:ext cx="2148840" cy="539496"/>
          </a:xfrm>
          <a:prstGeom prst="rect">
            <a:avLst/>
          </a:prstGeom>
          <a:noFill/>
        </p:spPr>
        <p:txBody>
          <a:bodyPr wrap="square" lIns="9144" rIns="9144" tIns="9144" bIns="9144" anchor="t">
            <a:spAutoFit/>
          </a:bodyPr>
          <a:lstStyle/>
          <a:p>
            <a:pPr algn="ctr">
              <a:spcAft>
                <a:spcPts val="500"/>
              </a:spcAft>
              <a:defRPr sz="1700" b="1">
                <a:solidFill>
                  <a:srgbClr val="173246"/>
                </a:solidFill>
                <a:latin typeface="Noto Sans"/>
              </a:defRPr>
            </a:pPr>
            <a:r>
              <a:t>92,45 ± 3,77</a:t>
            </a:r>
          </a:p>
        </p:txBody>
      </p:sp>
      <p:sp>
        <p:nvSpPr>
          <p:cNvPr id="32" name="Rectangle 31"/>
          <p:cNvSpPr/>
          <p:nvPr/>
        </p:nvSpPr>
        <p:spPr>
          <a:xfrm>
            <a:off x="9098280" y="3794760"/>
            <a:ext cx="2446020" cy="662940"/>
          </a:xfrm>
          <a:prstGeom prst="rect">
            <a:avLst/>
          </a:prstGeom>
          <a:solidFill>
            <a:srgbClr val="DDF1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0" y="3904488"/>
            <a:ext cx="2194560" cy="539496"/>
          </a:xfrm>
          <a:prstGeom prst="rect">
            <a:avLst/>
          </a:prstGeom>
          <a:noFill/>
        </p:spPr>
        <p:txBody>
          <a:bodyPr wrap="square" lIns="9144" rIns="9144" tIns="9144" bIns="9144" anchor="t">
            <a:spAutoFit/>
          </a:bodyPr>
          <a:lstStyle/>
          <a:p>
            <a:pPr algn="ctr">
              <a:spcAft>
                <a:spcPts val="500"/>
              </a:spcAft>
              <a:defRPr sz="1700" b="1">
                <a:solidFill>
                  <a:srgbClr val="173246"/>
                </a:solidFill>
                <a:latin typeface="Noto Sans"/>
              </a:defRPr>
            </a:pPr>
            <a:r>
              <a:t>92,89 ± 2,13</a:t>
            </a:r>
          </a:p>
        </p:txBody>
      </p:sp>
      <p:sp>
        <p:nvSpPr>
          <p:cNvPr id="34" name="Rectangle 33"/>
          <p:cNvSpPr/>
          <p:nvPr/>
        </p:nvSpPr>
        <p:spPr>
          <a:xfrm>
            <a:off x="594360" y="4480560"/>
            <a:ext cx="3634740"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4590288"/>
            <a:ext cx="3383280" cy="539496"/>
          </a:xfrm>
          <a:prstGeom prst="rect">
            <a:avLst/>
          </a:prstGeom>
          <a:noFill/>
        </p:spPr>
        <p:txBody>
          <a:bodyPr wrap="square" lIns="9144" rIns="9144" tIns="9144" bIns="9144" anchor="t">
            <a:spAutoFit/>
          </a:bodyPr>
          <a:lstStyle/>
          <a:p>
            <a:pPr algn="l">
              <a:spcAft>
                <a:spcPts val="500"/>
              </a:spcAft>
              <a:defRPr sz="1700" b="0">
                <a:solidFill>
                  <a:srgbClr val="173246"/>
                </a:solidFill>
                <a:latin typeface="Noto Sans"/>
              </a:defRPr>
            </a:pPr>
            <a:r>
              <a:t>Random Forest</a:t>
            </a:r>
          </a:p>
        </p:txBody>
      </p:sp>
      <p:sp>
        <p:nvSpPr>
          <p:cNvPr id="36" name="Rectangle 35"/>
          <p:cNvSpPr/>
          <p:nvPr/>
        </p:nvSpPr>
        <p:spPr>
          <a:xfrm>
            <a:off x="4251960" y="4480560"/>
            <a:ext cx="2400300"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89120" y="4590288"/>
            <a:ext cx="2148840" cy="53949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95,03 ± 1,85</a:t>
            </a:r>
          </a:p>
        </p:txBody>
      </p:sp>
      <p:sp>
        <p:nvSpPr>
          <p:cNvPr id="38" name="Rectangle 37"/>
          <p:cNvSpPr/>
          <p:nvPr/>
        </p:nvSpPr>
        <p:spPr>
          <a:xfrm>
            <a:off x="6675120" y="4480560"/>
            <a:ext cx="2400300"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12280" y="4590288"/>
            <a:ext cx="2148840" cy="53949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92,26 ± 3,26</a:t>
            </a:r>
          </a:p>
        </p:txBody>
      </p:sp>
      <p:sp>
        <p:nvSpPr>
          <p:cNvPr id="40" name="Rectangle 39"/>
          <p:cNvSpPr/>
          <p:nvPr/>
        </p:nvSpPr>
        <p:spPr>
          <a:xfrm>
            <a:off x="9098280" y="4480560"/>
            <a:ext cx="2446020"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0" y="4590288"/>
            <a:ext cx="2194560" cy="53949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93,26 ± 2,39</a:t>
            </a:r>
          </a:p>
        </p:txBody>
      </p:sp>
      <p:sp>
        <p:nvSpPr>
          <p:cNvPr id="42" name="TextBox 41"/>
          <p:cNvSpPr txBox="1"/>
          <p:nvPr/>
        </p:nvSpPr>
        <p:spPr>
          <a:xfrm>
            <a:off x="685800" y="5440680"/>
            <a:ext cx="10789920" cy="640080"/>
          </a:xfrm>
          <a:prstGeom prst="rect">
            <a:avLst/>
          </a:prstGeom>
          <a:noFill/>
        </p:spPr>
        <p:txBody>
          <a:bodyPr wrap="square" lIns="9144" rIns="9144" tIns="9144" bIns="9144" anchor="t">
            <a:spAutoFit/>
          </a:bodyPr>
          <a:lstStyle/>
          <a:p>
            <a:pPr algn="l">
              <a:spcAft>
                <a:spcPts val="500"/>
              </a:spcAft>
              <a:defRPr sz="1800" b="1">
                <a:solidFill>
                  <a:srgbClr val="087E83"/>
                </a:solidFill>
                <a:latin typeface="Noto Sans"/>
              </a:defRPr>
            </a:pPr>
            <a:r>
              <a:t>Các tập test có thể giao nhau. SD mô tả độ biến thiên giữa các split,</a:t>
            </a:r>
          </a:p>
          <a:p>
            <a:pPr algn="l">
              <a:spcAft>
                <a:spcPts val="500"/>
              </a:spcAft>
              <a:defRPr sz="1800" b="1">
                <a:solidFill>
                  <a:srgbClr val="087E83"/>
                </a:solidFill>
                <a:latin typeface="Noto Sans"/>
              </a:defRPr>
            </a:pPr>
            <a:r>
              <a:t>không phải khoảng tin cậy của các mẫu kiểm định độc lập.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06 • KIỂM TRA TRÊN TRAIN</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Out-of-bag: chỉ bỏ phiếu cho mẫu cây chưa học</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Nguồn: results.json → oob • Manual Bagging, seed 42</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18</a:t>
            </a:r>
          </a:p>
        </p:txBody>
      </p:sp>
      <p:sp>
        <p:nvSpPr>
          <p:cNvPr id="9" name="Rounded Rectangle 8"/>
          <p:cNvSpPr/>
          <p:nvPr/>
        </p:nvSpPr>
        <p:spPr>
          <a:xfrm>
            <a:off x="594360" y="1783080"/>
            <a:ext cx="3502152" cy="2057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38528"/>
            <a:ext cx="3017520" cy="777240"/>
          </a:xfrm>
          <a:prstGeom prst="rect">
            <a:avLst/>
          </a:prstGeom>
          <a:noFill/>
        </p:spPr>
        <p:txBody>
          <a:bodyPr wrap="square" lIns="9144" rIns="9144" tIns="9144" bIns="9144" anchor="t">
            <a:spAutoFit/>
          </a:bodyPr>
          <a:lstStyle/>
          <a:p>
            <a:pPr algn="l">
              <a:spcAft>
                <a:spcPts val="500"/>
              </a:spcAft>
              <a:defRPr sz="3700" b="1">
                <a:solidFill>
                  <a:srgbClr val="087E83"/>
                </a:solidFill>
                <a:latin typeface="Noto Sans"/>
              </a:defRPr>
            </a:pPr>
            <a:r>
              <a:t>94,13%</a:t>
            </a:r>
          </a:p>
        </p:txBody>
      </p:sp>
      <p:sp>
        <p:nvSpPr>
          <p:cNvPr id="11" name="TextBox 10"/>
          <p:cNvSpPr txBox="1"/>
          <p:nvPr/>
        </p:nvSpPr>
        <p:spPr>
          <a:xfrm>
            <a:off x="822960" y="2743200"/>
            <a:ext cx="3017520" cy="365760"/>
          </a:xfrm>
          <a:prstGeom prst="rect">
            <a:avLst/>
          </a:prstGeom>
          <a:noFill/>
        </p:spPr>
        <p:txBody>
          <a:bodyPr wrap="square" lIns="9144" rIns="9144" tIns="9144" bIns="9144" anchor="t">
            <a:spAutoFit/>
          </a:bodyPr>
          <a:lstStyle/>
          <a:p>
            <a:pPr algn="l">
              <a:spcAft>
                <a:spcPts val="500"/>
              </a:spcAft>
              <a:defRPr sz="1500" b="1">
                <a:solidFill>
                  <a:srgbClr val="173246"/>
                </a:solidFill>
                <a:latin typeface="Noto Sans"/>
              </a:defRPr>
            </a:pPr>
            <a:r>
              <a:t>ACCURACY OOB</a:t>
            </a:r>
          </a:p>
        </p:txBody>
      </p:sp>
      <p:sp>
        <p:nvSpPr>
          <p:cNvPr id="12" name="TextBox 11"/>
          <p:cNvSpPr txBox="1"/>
          <p:nvPr/>
        </p:nvSpPr>
        <p:spPr>
          <a:xfrm>
            <a:off x="822960" y="3337560"/>
            <a:ext cx="3017520" cy="365760"/>
          </a:xfrm>
          <a:prstGeom prst="rect">
            <a:avLst/>
          </a:prstGeom>
          <a:noFill/>
        </p:spPr>
        <p:txBody>
          <a:bodyPr wrap="square" lIns="9144" rIns="9144" tIns="9144" bIns="9144" anchor="t">
            <a:spAutoFit/>
          </a:bodyPr>
          <a:lstStyle/>
          <a:p>
            <a:pPr algn="l">
              <a:spcAft>
                <a:spcPts val="500"/>
              </a:spcAft>
              <a:defRPr sz="1200" b="0">
                <a:solidFill>
                  <a:srgbClr val="566A76"/>
                </a:solidFill>
                <a:latin typeface="Noto Sans"/>
              </a:defRPr>
            </a:pPr>
            <a:r>
              <a:t>401 / 426 mẫu có dự đoán đúng</a:t>
            </a:r>
          </a:p>
        </p:txBody>
      </p:sp>
      <p:sp>
        <p:nvSpPr>
          <p:cNvPr id="13" name="Rounded Rectangle 12"/>
          <p:cNvSpPr/>
          <p:nvPr/>
        </p:nvSpPr>
        <p:spPr>
          <a:xfrm>
            <a:off x="4325112" y="1783080"/>
            <a:ext cx="3502152" cy="2057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1938528"/>
            <a:ext cx="3017520" cy="777240"/>
          </a:xfrm>
          <a:prstGeom prst="rect">
            <a:avLst/>
          </a:prstGeom>
          <a:noFill/>
        </p:spPr>
        <p:txBody>
          <a:bodyPr wrap="square" lIns="9144" rIns="9144" tIns="9144" bIns="9144" anchor="t">
            <a:spAutoFit/>
          </a:bodyPr>
          <a:lstStyle/>
          <a:p>
            <a:pPr algn="l">
              <a:spcAft>
                <a:spcPts val="500"/>
              </a:spcAft>
              <a:defRPr sz="3700" b="1">
                <a:solidFill>
                  <a:srgbClr val="087E83"/>
                </a:solidFill>
                <a:latin typeface="Noto Sans"/>
              </a:defRPr>
            </a:pPr>
            <a:r>
              <a:t>100%</a:t>
            </a:r>
          </a:p>
        </p:txBody>
      </p:sp>
      <p:sp>
        <p:nvSpPr>
          <p:cNvPr id="15" name="TextBox 14"/>
          <p:cNvSpPr txBox="1"/>
          <p:nvPr/>
        </p:nvSpPr>
        <p:spPr>
          <a:xfrm>
            <a:off x="4553712" y="2743200"/>
            <a:ext cx="3017520" cy="365760"/>
          </a:xfrm>
          <a:prstGeom prst="rect">
            <a:avLst/>
          </a:prstGeom>
          <a:noFill/>
        </p:spPr>
        <p:txBody>
          <a:bodyPr wrap="square" lIns="9144" rIns="9144" tIns="9144" bIns="9144" anchor="t">
            <a:spAutoFit/>
          </a:bodyPr>
          <a:lstStyle/>
          <a:p>
            <a:pPr algn="l">
              <a:spcAft>
                <a:spcPts val="500"/>
              </a:spcAft>
              <a:defRPr sz="1500" b="1">
                <a:solidFill>
                  <a:srgbClr val="173246"/>
                </a:solidFill>
                <a:latin typeface="Noto Sans"/>
              </a:defRPr>
            </a:pPr>
            <a:r>
              <a:t>COVERAGE</a:t>
            </a:r>
          </a:p>
        </p:txBody>
      </p:sp>
      <p:sp>
        <p:nvSpPr>
          <p:cNvPr id="16" name="TextBox 15"/>
          <p:cNvSpPr txBox="1"/>
          <p:nvPr/>
        </p:nvSpPr>
        <p:spPr>
          <a:xfrm>
            <a:off x="4553712" y="3337560"/>
            <a:ext cx="3017520" cy="365760"/>
          </a:xfrm>
          <a:prstGeom prst="rect">
            <a:avLst/>
          </a:prstGeom>
          <a:noFill/>
        </p:spPr>
        <p:txBody>
          <a:bodyPr wrap="square" lIns="9144" rIns="9144" tIns="9144" bIns="9144" anchor="t">
            <a:spAutoFit/>
          </a:bodyPr>
          <a:lstStyle/>
          <a:p>
            <a:pPr algn="l">
              <a:spcAft>
                <a:spcPts val="500"/>
              </a:spcAft>
              <a:defRPr sz="1200" b="0">
                <a:solidFill>
                  <a:srgbClr val="566A76"/>
                </a:solidFill>
                <a:latin typeface="Noto Sans"/>
              </a:defRPr>
            </a:pPr>
            <a:r>
              <a:t>426 / 426 mẫu có ít nhất 1 phiếu</a:t>
            </a:r>
          </a:p>
        </p:txBody>
      </p:sp>
      <p:sp>
        <p:nvSpPr>
          <p:cNvPr id="17" name="Rounded Rectangle 16"/>
          <p:cNvSpPr/>
          <p:nvPr/>
        </p:nvSpPr>
        <p:spPr>
          <a:xfrm>
            <a:off x="8055864" y="1783080"/>
            <a:ext cx="3502152" cy="2057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4" y="1938528"/>
            <a:ext cx="3017520" cy="777240"/>
          </a:xfrm>
          <a:prstGeom prst="rect">
            <a:avLst/>
          </a:prstGeom>
          <a:noFill/>
        </p:spPr>
        <p:txBody>
          <a:bodyPr wrap="square" lIns="9144" rIns="9144" tIns="9144" bIns="9144" anchor="t">
            <a:spAutoFit/>
          </a:bodyPr>
          <a:lstStyle/>
          <a:p>
            <a:pPr algn="l">
              <a:spcAft>
                <a:spcPts val="500"/>
              </a:spcAft>
              <a:defRPr sz="3700" b="1">
                <a:solidFill>
                  <a:srgbClr val="087E83"/>
                </a:solidFill>
                <a:latin typeface="Noto Sans"/>
              </a:defRPr>
            </a:pPr>
            <a:r>
              <a:t>8–34</a:t>
            </a:r>
          </a:p>
        </p:txBody>
      </p:sp>
      <p:sp>
        <p:nvSpPr>
          <p:cNvPr id="19" name="TextBox 18"/>
          <p:cNvSpPr txBox="1"/>
          <p:nvPr/>
        </p:nvSpPr>
        <p:spPr>
          <a:xfrm>
            <a:off x="8284464" y="2743200"/>
            <a:ext cx="3017520" cy="365760"/>
          </a:xfrm>
          <a:prstGeom prst="rect">
            <a:avLst/>
          </a:prstGeom>
          <a:noFill/>
        </p:spPr>
        <p:txBody>
          <a:bodyPr wrap="square" lIns="9144" rIns="9144" tIns="9144" bIns="9144" anchor="t">
            <a:spAutoFit/>
          </a:bodyPr>
          <a:lstStyle/>
          <a:p>
            <a:pPr algn="l">
              <a:spcAft>
                <a:spcPts val="500"/>
              </a:spcAft>
              <a:defRPr sz="1500" b="1">
                <a:solidFill>
                  <a:srgbClr val="173246"/>
                </a:solidFill>
                <a:latin typeface="Noto Sans"/>
              </a:defRPr>
            </a:pPr>
            <a:r>
              <a:t>CÂY OOB / MẪU</a:t>
            </a:r>
          </a:p>
        </p:txBody>
      </p:sp>
      <p:sp>
        <p:nvSpPr>
          <p:cNvPr id="20" name="TextBox 19"/>
          <p:cNvSpPr txBox="1"/>
          <p:nvPr/>
        </p:nvSpPr>
        <p:spPr>
          <a:xfrm>
            <a:off x="8284464" y="3337560"/>
            <a:ext cx="3017520" cy="365760"/>
          </a:xfrm>
          <a:prstGeom prst="rect">
            <a:avLst/>
          </a:prstGeom>
          <a:noFill/>
        </p:spPr>
        <p:txBody>
          <a:bodyPr wrap="square" lIns="9144" rIns="9144" tIns="9144" bIns="9144" anchor="t">
            <a:spAutoFit/>
          </a:bodyPr>
          <a:lstStyle/>
          <a:p>
            <a:pPr algn="l">
              <a:spcAft>
                <a:spcPts val="500"/>
              </a:spcAft>
              <a:defRPr sz="1200" b="0">
                <a:solidFill>
                  <a:srgbClr val="566A76"/>
                </a:solidFill>
                <a:latin typeface="Noto Sans"/>
              </a:defRPr>
            </a:pPr>
            <a:r>
              <a:t>Số phiếu mỗi mẫu có thể khác nhau</a:t>
            </a:r>
          </a:p>
        </p:txBody>
      </p:sp>
      <p:sp>
        <p:nvSpPr>
          <p:cNvPr id="21" name="Rounded Rectangle 20"/>
          <p:cNvSpPr/>
          <p:nvPr/>
        </p:nvSpPr>
        <p:spPr>
          <a:xfrm>
            <a:off x="594360" y="4251960"/>
            <a:ext cx="10972800" cy="914400"/>
          </a:xfrm>
          <a:prstGeom prst="roundRect">
            <a:avLst>
              <a:gd name="adj" fmla="val 12000"/>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453128"/>
            <a:ext cx="10515600" cy="548640"/>
          </a:xfrm>
          <a:prstGeom prst="rect">
            <a:avLst/>
          </a:prstGeom>
          <a:noFill/>
        </p:spPr>
        <p:txBody>
          <a:bodyPr wrap="square" lIns="9144" rIns="9144" tIns="9144" bIns="9144" anchor="t">
            <a:spAutoFit/>
          </a:bodyPr>
          <a:lstStyle/>
          <a:p>
            <a:pPr algn="l">
              <a:spcAft>
                <a:spcPts val="500"/>
              </a:spcAft>
              <a:defRPr sz="1800" b="0">
                <a:solidFill>
                  <a:srgbClr val="FFFFFF"/>
                </a:solidFill>
                <a:latin typeface="Noto Sans"/>
              </a:defRPr>
            </a:pPr>
            <a:r>
              <a:t>Mẫu nằm trong bootstrap của cây  →  Không nhận phiếu OOB từ cây đó.</a:t>
            </a:r>
          </a:p>
          <a:p>
            <a:pPr algn="l">
              <a:spcAft>
                <a:spcPts val="500"/>
              </a:spcAft>
              <a:defRPr sz="1800" b="0">
                <a:solidFill>
                  <a:srgbClr val="FFFFFF"/>
                </a:solidFill>
                <a:latin typeface="Noto Sans"/>
              </a:defRPr>
            </a:pPr>
            <a:r>
              <a:t>Mẫu không được chọn vào bootstrap →  Nhận 1 phiếu từ cây đó.</a:t>
            </a:r>
          </a:p>
        </p:txBody>
      </p:sp>
      <p:sp>
        <p:nvSpPr>
          <p:cNvPr id="23" name="TextBox 22"/>
          <p:cNvSpPr txBox="1"/>
          <p:nvPr/>
        </p:nvSpPr>
        <p:spPr>
          <a:xfrm>
            <a:off x="685800" y="5577840"/>
            <a:ext cx="10789920" cy="594360"/>
          </a:xfrm>
          <a:prstGeom prst="rect">
            <a:avLst/>
          </a:prstGeom>
          <a:noFill/>
        </p:spPr>
        <p:txBody>
          <a:bodyPr wrap="square" lIns="9144" rIns="9144" tIns="9144" bIns="9144" anchor="t">
            <a:spAutoFit/>
          </a:bodyPr>
          <a:lstStyle/>
          <a:p>
            <a:pPr algn="l">
              <a:spcAft>
                <a:spcPts val="500"/>
              </a:spcAft>
              <a:defRPr sz="1700" b="1">
                <a:solidFill>
                  <a:srgbClr val="087E83"/>
                </a:solidFill>
                <a:latin typeface="Noto Sans"/>
              </a:defRPr>
            </a:pPr>
            <a:r>
              <a:t>Depth đã chọn bằng CV trên train. OOB sau lựa chọn này không phải điểm kiểm định</a:t>
            </a:r>
          </a:p>
          <a:p>
            <a:pPr algn="l">
              <a:spcAft>
                <a:spcPts val="500"/>
              </a:spcAft>
              <a:defRPr sz="1700" b="1">
                <a:solidFill>
                  <a:srgbClr val="087E83"/>
                </a:solidFill>
                <a:latin typeface="Noto Sans"/>
              </a:defRPr>
            </a:pPr>
            <a:r>
              <a:t>độc lập; test vẫn được giữ riêng cho đánh giá cuối ở mỗi seed.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06 • PHÂN TÍCH LỖI</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Nhìn vào ca bỏ sót, không chỉ accuracy</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Seed 42 • Hàng = thật • Cột = dự đoán • Lớp dương = ác tính (0)</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19</a:t>
            </a:r>
          </a:p>
        </p:txBody>
      </p:sp>
      <p:sp>
        <p:nvSpPr>
          <p:cNvPr id="9" name="TextBox 8"/>
          <p:cNvSpPr txBox="1"/>
          <p:nvPr/>
        </p:nvSpPr>
        <p:spPr>
          <a:xfrm>
            <a:off x="1188720" y="1719072"/>
            <a:ext cx="4023360" cy="457200"/>
          </a:xfrm>
          <a:prstGeom prst="rect">
            <a:avLst/>
          </a:prstGeom>
          <a:noFill/>
        </p:spPr>
        <p:txBody>
          <a:bodyPr wrap="square" lIns="9144" rIns="9144" tIns="9144" bIns="9144" anchor="t">
            <a:spAutoFit/>
          </a:bodyPr>
          <a:lstStyle/>
          <a:p>
            <a:pPr algn="ctr">
              <a:spcAft>
                <a:spcPts val="500"/>
              </a:spcAft>
              <a:defRPr sz="2200" b="1">
                <a:solidFill>
                  <a:srgbClr val="087E83"/>
                </a:solidFill>
                <a:latin typeface="Noto Sans"/>
              </a:defRPr>
            </a:pPr>
            <a:r>
              <a:t>CÂY ĐƠN</a:t>
            </a:r>
          </a:p>
        </p:txBody>
      </p:sp>
      <p:sp>
        <p:nvSpPr>
          <p:cNvPr id="10" name="TextBox 9"/>
          <p:cNvSpPr txBox="1"/>
          <p:nvPr/>
        </p:nvSpPr>
        <p:spPr>
          <a:xfrm>
            <a:off x="1920240" y="2331720"/>
            <a:ext cx="1463040" cy="320040"/>
          </a:xfrm>
          <a:prstGeom prst="rect">
            <a:avLst/>
          </a:prstGeom>
          <a:noFill/>
        </p:spPr>
        <p:txBody>
          <a:bodyPr wrap="square" lIns="9144" rIns="9144" tIns="9144" bIns="9144" anchor="t">
            <a:spAutoFit/>
          </a:bodyPr>
          <a:lstStyle/>
          <a:p>
            <a:pPr algn="ctr">
              <a:spcAft>
                <a:spcPts val="500"/>
              </a:spcAft>
              <a:defRPr sz="1300" b="0">
                <a:solidFill>
                  <a:srgbClr val="566A76"/>
                </a:solidFill>
                <a:latin typeface="Noto Sans"/>
              </a:defRPr>
            </a:pPr>
            <a:r>
              <a:t>Dự đoán ác</a:t>
            </a:r>
          </a:p>
        </p:txBody>
      </p:sp>
      <p:sp>
        <p:nvSpPr>
          <p:cNvPr id="11" name="TextBox 10"/>
          <p:cNvSpPr txBox="1"/>
          <p:nvPr/>
        </p:nvSpPr>
        <p:spPr>
          <a:xfrm>
            <a:off x="3566160" y="2331720"/>
            <a:ext cx="1463040" cy="320040"/>
          </a:xfrm>
          <a:prstGeom prst="rect">
            <a:avLst/>
          </a:prstGeom>
          <a:noFill/>
        </p:spPr>
        <p:txBody>
          <a:bodyPr wrap="square" lIns="9144" rIns="9144" tIns="9144" bIns="9144" anchor="t">
            <a:spAutoFit/>
          </a:bodyPr>
          <a:lstStyle/>
          <a:p>
            <a:pPr algn="ctr">
              <a:spcAft>
                <a:spcPts val="500"/>
              </a:spcAft>
              <a:defRPr sz="1300" b="0">
                <a:solidFill>
                  <a:srgbClr val="566A76"/>
                </a:solidFill>
                <a:latin typeface="Noto Sans"/>
              </a:defRPr>
            </a:pPr>
            <a:r>
              <a:t>Dự đoán lành</a:t>
            </a:r>
          </a:p>
        </p:txBody>
      </p:sp>
      <p:sp>
        <p:nvSpPr>
          <p:cNvPr id="12" name="TextBox 11"/>
          <p:cNvSpPr txBox="1"/>
          <p:nvPr/>
        </p:nvSpPr>
        <p:spPr>
          <a:xfrm>
            <a:off x="594360" y="3035808"/>
            <a:ext cx="1234440" cy="548640"/>
          </a:xfrm>
          <a:prstGeom prst="rect">
            <a:avLst/>
          </a:prstGeom>
          <a:noFill/>
        </p:spPr>
        <p:txBody>
          <a:bodyPr wrap="square" lIns="9144" rIns="9144" tIns="9144" bIns="9144" anchor="t">
            <a:spAutoFit/>
          </a:bodyPr>
          <a:lstStyle/>
          <a:p>
            <a:pPr algn="r">
              <a:spcAft>
                <a:spcPts val="500"/>
              </a:spcAft>
              <a:defRPr sz="1300" b="0">
                <a:solidFill>
                  <a:srgbClr val="566A76"/>
                </a:solidFill>
                <a:latin typeface="Noto Sans"/>
              </a:defRPr>
            </a:pPr>
            <a:r>
              <a:t>Thật ác</a:t>
            </a:r>
          </a:p>
        </p:txBody>
      </p:sp>
      <p:sp>
        <p:nvSpPr>
          <p:cNvPr id="13" name="Rounded Rectangle 12"/>
          <p:cNvSpPr/>
          <p:nvPr/>
        </p:nvSpPr>
        <p:spPr>
          <a:xfrm>
            <a:off x="1920240" y="2788920"/>
            <a:ext cx="1554480" cy="914400"/>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20240" y="2935224"/>
            <a:ext cx="1554480" cy="594360"/>
          </a:xfrm>
          <a:prstGeom prst="rect">
            <a:avLst/>
          </a:prstGeom>
          <a:noFill/>
        </p:spPr>
        <p:txBody>
          <a:bodyPr wrap="square" lIns="9144" rIns="9144" tIns="9144" bIns="9144" anchor="t">
            <a:spAutoFit/>
          </a:bodyPr>
          <a:lstStyle/>
          <a:p>
            <a:pPr algn="ctr">
              <a:spcAft>
                <a:spcPts val="500"/>
              </a:spcAft>
              <a:defRPr sz="2900" b="1">
                <a:solidFill>
                  <a:srgbClr val="FFFFFF"/>
                </a:solidFill>
                <a:latin typeface="Noto Sans"/>
              </a:defRPr>
            </a:pPr>
            <a:r>
              <a:t>48</a:t>
            </a:r>
          </a:p>
        </p:txBody>
      </p:sp>
      <p:sp>
        <p:nvSpPr>
          <p:cNvPr id="15" name="Rounded Rectangle 14"/>
          <p:cNvSpPr/>
          <p:nvPr/>
        </p:nvSpPr>
        <p:spPr>
          <a:xfrm>
            <a:off x="3566160" y="2788920"/>
            <a:ext cx="1554480" cy="914400"/>
          </a:xfrm>
          <a:prstGeom prst="roundRect">
            <a:avLst>
              <a:gd name="adj" fmla="val 12000"/>
            </a:avLst>
          </a:prstGeom>
          <a:solidFill>
            <a:srgbClr val="F4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2935224"/>
            <a:ext cx="1554480" cy="594360"/>
          </a:xfrm>
          <a:prstGeom prst="rect">
            <a:avLst/>
          </a:prstGeom>
          <a:noFill/>
        </p:spPr>
        <p:txBody>
          <a:bodyPr wrap="square" lIns="9144" rIns="9144" tIns="9144" bIns="9144" anchor="t">
            <a:spAutoFit/>
          </a:bodyPr>
          <a:lstStyle/>
          <a:p>
            <a:pPr algn="ctr">
              <a:spcAft>
                <a:spcPts val="500"/>
              </a:spcAft>
              <a:defRPr sz="2900" b="1">
                <a:solidFill>
                  <a:srgbClr val="AD493B"/>
                </a:solidFill>
                <a:latin typeface="Noto Sans"/>
              </a:defRPr>
            </a:pPr>
            <a:r>
              <a:t>5</a:t>
            </a:r>
          </a:p>
        </p:txBody>
      </p:sp>
      <p:sp>
        <p:nvSpPr>
          <p:cNvPr id="17" name="TextBox 16"/>
          <p:cNvSpPr txBox="1"/>
          <p:nvPr/>
        </p:nvSpPr>
        <p:spPr>
          <a:xfrm>
            <a:off x="594360" y="4023360"/>
            <a:ext cx="1234440" cy="548640"/>
          </a:xfrm>
          <a:prstGeom prst="rect">
            <a:avLst/>
          </a:prstGeom>
          <a:noFill/>
        </p:spPr>
        <p:txBody>
          <a:bodyPr wrap="square" lIns="9144" rIns="9144" tIns="9144" bIns="9144" anchor="t">
            <a:spAutoFit/>
          </a:bodyPr>
          <a:lstStyle/>
          <a:p>
            <a:pPr algn="r">
              <a:spcAft>
                <a:spcPts val="500"/>
              </a:spcAft>
              <a:defRPr sz="1300" b="0">
                <a:solidFill>
                  <a:srgbClr val="566A76"/>
                </a:solidFill>
                <a:latin typeface="Noto Sans"/>
              </a:defRPr>
            </a:pPr>
            <a:r>
              <a:t>Thật lành</a:t>
            </a:r>
          </a:p>
        </p:txBody>
      </p:sp>
      <p:sp>
        <p:nvSpPr>
          <p:cNvPr id="18" name="Rounded Rectangle 17"/>
          <p:cNvSpPr/>
          <p:nvPr/>
        </p:nvSpPr>
        <p:spPr>
          <a:xfrm>
            <a:off x="1920240" y="3776472"/>
            <a:ext cx="1554480"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20240" y="3922776"/>
            <a:ext cx="1554480" cy="594360"/>
          </a:xfrm>
          <a:prstGeom prst="rect">
            <a:avLst/>
          </a:prstGeom>
          <a:noFill/>
        </p:spPr>
        <p:txBody>
          <a:bodyPr wrap="square" lIns="9144" rIns="9144" tIns="9144" bIns="9144" anchor="t">
            <a:spAutoFit/>
          </a:bodyPr>
          <a:lstStyle/>
          <a:p>
            <a:pPr algn="ctr">
              <a:spcAft>
                <a:spcPts val="500"/>
              </a:spcAft>
              <a:defRPr sz="2900" b="1">
                <a:solidFill>
                  <a:srgbClr val="AD493B"/>
                </a:solidFill>
                <a:latin typeface="Noto Sans"/>
              </a:defRPr>
            </a:pPr>
            <a:r>
              <a:t>3</a:t>
            </a:r>
          </a:p>
        </p:txBody>
      </p:sp>
      <p:sp>
        <p:nvSpPr>
          <p:cNvPr id="20" name="Rounded Rectangle 19"/>
          <p:cNvSpPr/>
          <p:nvPr/>
        </p:nvSpPr>
        <p:spPr>
          <a:xfrm>
            <a:off x="3566160" y="3776472"/>
            <a:ext cx="1554480" cy="914400"/>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66160" y="3922776"/>
            <a:ext cx="1554480" cy="594360"/>
          </a:xfrm>
          <a:prstGeom prst="rect">
            <a:avLst/>
          </a:prstGeom>
          <a:noFill/>
        </p:spPr>
        <p:txBody>
          <a:bodyPr wrap="square" lIns="9144" rIns="9144" tIns="9144" bIns="9144" anchor="t">
            <a:spAutoFit/>
          </a:bodyPr>
          <a:lstStyle/>
          <a:p>
            <a:pPr algn="ctr">
              <a:spcAft>
                <a:spcPts val="500"/>
              </a:spcAft>
              <a:defRPr sz="2900" b="1">
                <a:solidFill>
                  <a:srgbClr val="FFFFFF"/>
                </a:solidFill>
                <a:latin typeface="Noto Sans"/>
              </a:defRPr>
            </a:pPr>
            <a:r>
              <a:t>87</a:t>
            </a:r>
          </a:p>
        </p:txBody>
      </p:sp>
      <p:sp>
        <p:nvSpPr>
          <p:cNvPr id="22" name="TextBox 21"/>
          <p:cNvSpPr txBox="1"/>
          <p:nvPr/>
        </p:nvSpPr>
        <p:spPr>
          <a:xfrm>
            <a:off x="6675120" y="1719072"/>
            <a:ext cx="4023360" cy="457200"/>
          </a:xfrm>
          <a:prstGeom prst="rect">
            <a:avLst/>
          </a:prstGeom>
          <a:noFill/>
        </p:spPr>
        <p:txBody>
          <a:bodyPr wrap="square" lIns="9144" rIns="9144" tIns="9144" bIns="9144" anchor="t">
            <a:spAutoFit/>
          </a:bodyPr>
          <a:lstStyle/>
          <a:p>
            <a:pPr algn="ctr">
              <a:spcAft>
                <a:spcPts val="500"/>
              </a:spcAft>
              <a:defRPr sz="2200" b="1">
                <a:solidFill>
                  <a:srgbClr val="087E83"/>
                </a:solidFill>
                <a:latin typeface="Noto Sans"/>
              </a:defRPr>
            </a:pPr>
            <a:r>
              <a:t>BAGGING</a:t>
            </a:r>
          </a:p>
        </p:txBody>
      </p:sp>
      <p:sp>
        <p:nvSpPr>
          <p:cNvPr id="23" name="TextBox 22"/>
          <p:cNvSpPr txBox="1"/>
          <p:nvPr/>
        </p:nvSpPr>
        <p:spPr>
          <a:xfrm>
            <a:off x="7406640" y="2331720"/>
            <a:ext cx="1463040" cy="320040"/>
          </a:xfrm>
          <a:prstGeom prst="rect">
            <a:avLst/>
          </a:prstGeom>
          <a:noFill/>
        </p:spPr>
        <p:txBody>
          <a:bodyPr wrap="square" lIns="9144" rIns="9144" tIns="9144" bIns="9144" anchor="t">
            <a:spAutoFit/>
          </a:bodyPr>
          <a:lstStyle/>
          <a:p>
            <a:pPr algn="ctr">
              <a:spcAft>
                <a:spcPts val="500"/>
              </a:spcAft>
              <a:defRPr sz="1300" b="0">
                <a:solidFill>
                  <a:srgbClr val="566A76"/>
                </a:solidFill>
                <a:latin typeface="Noto Sans"/>
              </a:defRPr>
            </a:pPr>
            <a:r>
              <a:t>Dự đoán ác</a:t>
            </a:r>
          </a:p>
        </p:txBody>
      </p:sp>
      <p:sp>
        <p:nvSpPr>
          <p:cNvPr id="24" name="TextBox 23"/>
          <p:cNvSpPr txBox="1"/>
          <p:nvPr/>
        </p:nvSpPr>
        <p:spPr>
          <a:xfrm>
            <a:off x="9052560" y="2331720"/>
            <a:ext cx="1463040" cy="320040"/>
          </a:xfrm>
          <a:prstGeom prst="rect">
            <a:avLst/>
          </a:prstGeom>
          <a:noFill/>
        </p:spPr>
        <p:txBody>
          <a:bodyPr wrap="square" lIns="9144" rIns="9144" tIns="9144" bIns="9144" anchor="t">
            <a:spAutoFit/>
          </a:bodyPr>
          <a:lstStyle/>
          <a:p>
            <a:pPr algn="ctr">
              <a:spcAft>
                <a:spcPts val="500"/>
              </a:spcAft>
              <a:defRPr sz="1300" b="0">
                <a:solidFill>
                  <a:srgbClr val="566A76"/>
                </a:solidFill>
                <a:latin typeface="Noto Sans"/>
              </a:defRPr>
            </a:pPr>
            <a:r>
              <a:t>Dự đoán lành</a:t>
            </a:r>
          </a:p>
        </p:txBody>
      </p:sp>
      <p:sp>
        <p:nvSpPr>
          <p:cNvPr id="25" name="TextBox 24"/>
          <p:cNvSpPr txBox="1"/>
          <p:nvPr/>
        </p:nvSpPr>
        <p:spPr>
          <a:xfrm>
            <a:off x="6080759" y="3035808"/>
            <a:ext cx="1234440" cy="548640"/>
          </a:xfrm>
          <a:prstGeom prst="rect">
            <a:avLst/>
          </a:prstGeom>
          <a:noFill/>
        </p:spPr>
        <p:txBody>
          <a:bodyPr wrap="square" lIns="9144" rIns="9144" tIns="9144" bIns="9144" anchor="t">
            <a:spAutoFit/>
          </a:bodyPr>
          <a:lstStyle/>
          <a:p>
            <a:pPr algn="r">
              <a:spcAft>
                <a:spcPts val="500"/>
              </a:spcAft>
              <a:defRPr sz="1300" b="0">
                <a:solidFill>
                  <a:srgbClr val="566A76"/>
                </a:solidFill>
                <a:latin typeface="Noto Sans"/>
              </a:defRPr>
            </a:pPr>
            <a:r>
              <a:t>Thật ác</a:t>
            </a:r>
          </a:p>
        </p:txBody>
      </p:sp>
      <p:sp>
        <p:nvSpPr>
          <p:cNvPr id="26" name="Rounded Rectangle 25"/>
          <p:cNvSpPr/>
          <p:nvPr/>
        </p:nvSpPr>
        <p:spPr>
          <a:xfrm>
            <a:off x="7406640" y="2788920"/>
            <a:ext cx="1554480" cy="914400"/>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0" y="2935224"/>
            <a:ext cx="1554480" cy="594360"/>
          </a:xfrm>
          <a:prstGeom prst="rect">
            <a:avLst/>
          </a:prstGeom>
          <a:noFill/>
        </p:spPr>
        <p:txBody>
          <a:bodyPr wrap="square" lIns="9144" rIns="9144" tIns="9144" bIns="9144" anchor="t">
            <a:spAutoFit/>
          </a:bodyPr>
          <a:lstStyle/>
          <a:p>
            <a:pPr algn="ctr">
              <a:spcAft>
                <a:spcPts val="500"/>
              </a:spcAft>
              <a:defRPr sz="2900" b="1">
                <a:solidFill>
                  <a:srgbClr val="FFFFFF"/>
                </a:solidFill>
                <a:latin typeface="Noto Sans"/>
              </a:defRPr>
            </a:pPr>
            <a:r>
              <a:t>49</a:t>
            </a:r>
          </a:p>
        </p:txBody>
      </p:sp>
      <p:sp>
        <p:nvSpPr>
          <p:cNvPr id="28" name="Rounded Rectangle 27"/>
          <p:cNvSpPr/>
          <p:nvPr/>
        </p:nvSpPr>
        <p:spPr>
          <a:xfrm>
            <a:off x="9052560" y="2788920"/>
            <a:ext cx="1554480" cy="914400"/>
          </a:xfrm>
          <a:prstGeom prst="roundRect">
            <a:avLst>
              <a:gd name="adj" fmla="val 12000"/>
            </a:avLst>
          </a:prstGeom>
          <a:solidFill>
            <a:srgbClr val="F4DD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52560" y="2935224"/>
            <a:ext cx="1554480" cy="594360"/>
          </a:xfrm>
          <a:prstGeom prst="rect">
            <a:avLst/>
          </a:prstGeom>
          <a:noFill/>
        </p:spPr>
        <p:txBody>
          <a:bodyPr wrap="square" lIns="9144" rIns="9144" tIns="9144" bIns="9144" anchor="t">
            <a:spAutoFit/>
          </a:bodyPr>
          <a:lstStyle/>
          <a:p>
            <a:pPr algn="ctr">
              <a:spcAft>
                <a:spcPts val="500"/>
              </a:spcAft>
              <a:defRPr sz="2900" b="1">
                <a:solidFill>
                  <a:srgbClr val="AD493B"/>
                </a:solidFill>
                <a:latin typeface="Noto Sans"/>
              </a:defRPr>
            </a:pPr>
            <a:r>
              <a:t>4</a:t>
            </a:r>
          </a:p>
        </p:txBody>
      </p:sp>
      <p:sp>
        <p:nvSpPr>
          <p:cNvPr id="30" name="TextBox 29"/>
          <p:cNvSpPr txBox="1"/>
          <p:nvPr/>
        </p:nvSpPr>
        <p:spPr>
          <a:xfrm>
            <a:off x="6080759" y="4023360"/>
            <a:ext cx="1234440" cy="548640"/>
          </a:xfrm>
          <a:prstGeom prst="rect">
            <a:avLst/>
          </a:prstGeom>
          <a:noFill/>
        </p:spPr>
        <p:txBody>
          <a:bodyPr wrap="square" lIns="9144" rIns="9144" tIns="9144" bIns="9144" anchor="t">
            <a:spAutoFit/>
          </a:bodyPr>
          <a:lstStyle/>
          <a:p>
            <a:pPr algn="r">
              <a:spcAft>
                <a:spcPts val="500"/>
              </a:spcAft>
              <a:defRPr sz="1300" b="0">
                <a:solidFill>
                  <a:srgbClr val="566A76"/>
                </a:solidFill>
                <a:latin typeface="Noto Sans"/>
              </a:defRPr>
            </a:pPr>
            <a:r>
              <a:t>Thật lành</a:t>
            </a:r>
          </a:p>
        </p:txBody>
      </p:sp>
      <p:sp>
        <p:nvSpPr>
          <p:cNvPr id="31" name="Rounded Rectangle 30"/>
          <p:cNvSpPr/>
          <p:nvPr/>
        </p:nvSpPr>
        <p:spPr>
          <a:xfrm>
            <a:off x="7406640" y="3776472"/>
            <a:ext cx="1554480" cy="91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06640" y="3922776"/>
            <a:ext cx="1554480" cy="594360"/>
          </a:xfrm>
          <a:prstGeom prst="rect">
            <a:avLst/>
          </a:prstGeom>
          <a:noFill/>
        </p:spPr>
        <p:txBody>
          <a:bodyPr wrap="square" lIns="9144" rIns="9144" tIns="9144" bIns="9144" anchor="t">
            <a:spAutoFit/>
          </a:bodyPr>
          <a:lstStyle/>
          <a:p>
            <a:pPr algn="ctr">
              <a:spcAft>
                <a:spcPts val="500"/>
              </a:spcAft>
              <a:defRPr sz="2900" b="1">
                <a:solidFill>
                  <a:srgbClr val="AD493B"/>
                </a:solidFill>
                <a:latin typeface="Noto Sans"/>
              </a:defRPr>
            </a:pPr>
            <a:r>
              <a:t>3</a:t>
            </a:r>
          </a:p>
        </p:txBody>
      </p:sp>
      <p:sp>
        <p:nvSpPr>
          <p:cNvPr id="33" name="Rounded Rectangle 32"/>
          <p:cNvSpPr/>
          <p:nvPr/>
        </p:nvSpPr>
        <p:spPr>
          <a:xfrm>
            <a:off x="9052560" y="3776472"/>
            <a:ext cx="1554480" cy="914400"/>
          </a:xfrm>
          <a:prstGeom prst="roundRect">
            <a:avLst>
              <a:gd name="adj" fmla="val 12000"/>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052560" y="3922776"/>
            <a:ext cx="1554480" cy="594360"/>
          </a:xfrm>
          <a:prstGeom prst="rect">
            <a:avLst/>
          </a:prstGeom>
          <a:noFill/>
        </p:spPr>
        <p:txBody>
          <a:bodyPr wrap="square" lIns="9144" rIns="9144" tIns="9144" bIns="9144" anchor="t">
            <a:spAutoFit/>
          </a:bodyPr>
          <a:lstStyle/>
          <a:p>
            <a:pPr algn="ctr">
              <a:spcAft>
                <a:spcPts val="500"/>
              </a:spcAft>
              <a:defRPr sz="2900" b="1">
                <a:solidFill>
                  <a:srgbClr val="FFFFFF"/>
                </a:solidFill>
                <a:latin typeface="Noto Sans"/>
              </a:defRPr>
            </a:pPr>
            <a:r>
              <a:t>87</a:t>
            </a:r>
          </a:p>
        </p:txBody>
      </p:sp>
      <p:sp>
        <p:nvSpPr>
          <p:cNvPr id="35" name="TextBox 34"/>
          <p:cNvSpPr txBox="1"/>
          <p:nvPr/>
        </p:nvSpPr>
        <p:spPr>
          <a:xfrm>
            <a:off x="685800" y="5166360"/>
            <a:ext cx="10789920" cy="502920"/>
          </a:xfrm>
          <a:prstGeom prst="rect">
            <a:avLst/>
          </a:prstGeom>
          <a:noFill/>
        </p:spPr>
        <p:txBody>
          <a:bodyPr wrap="square" lIns="9144" rIns="9144" tIns="9144" bIns="9144" anchor="t">
            <a:spAutoFit/>
          </a:bodyPr>
          <a:lstStyle/>
          <a:p>
            <a:pPr algn="ctr">
              <a:spcAft>
                <a:spcPts val="500"/>
              </a:spcAft>
              <a:defRPr sz="2500" b="1">
                <a:solidFill>
                  <a:srgbClr val="173246"/>
                </a:solidFill>
                <a:latin typeface="Noto Sans"/>
              </a:defRPr>
            </a:pPr>
            <a:r>
              <a:t>Bỏ sót ác tính: 5/53 → 4/53  |  Recall: 90,57% → 92,45%</a:t>
            </a:r>
          </a:p>
        </p:txBody>
      </p:sp>
      <p:sp>
        <p:nvSpPr>
          <p:cNvPr id="36" name="TextBox 35"/>
          <p:cNvSpPr txBox="1"/>
          <p:nvPr/>
        </p:nvSpPr>
        <p:spPr>
          <a:xfrm>
            <a:off x="685800" y="5897880"/>
            <a:ext cx="10789920" cy="320040"/>
          </a:xfrm>
          <a:prstGeom prst="rect">
            <a:avLst/>
          </a:prstGeom>
          <a:noFill/>
        </p:spPr>
        <p:txBody>
          <a:bodyPr wrap="square" lIns="9144" rIns="9144" tIns="9144" bIns="9144" anchor="t">
            <a:spAutoFit/>
          </a:bodyPr>
          <a:lstStyle/>
          <a:p>
            <a:pPr algn="ctr">
              <a:spcAft>
                <a:spcPts val="500"/>
              </a:spcAft>
              <a:defRPr sz="1500" b="0">
                <a:solidFill>
                  <a:srgbClr val="566A76"/>
                </a:solidFill>
                <a:latin typeface="Noto Sans"/>
              </a:defRPr>
            </a:pPr>
            <a:r>
              <a:t>Bagging vẫn bỏ sót 4 ca; chưa đủ cơ sở sử dụng cho quyết định lâm sàng.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02537"/>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79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79E2CC"/>
                </a:solidFill>
                <a:latin typeface="Noto Sans"/>
              </a:defRPr>
            </a:pPr>
            <a:r>
              <a:t>06 • MINH HỌA ĐẦU RA</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FFFFFF"/>
                </a:solidFill>
                <a:latin typeface="Noto Sans"/>
              </a:defRPr>
            </a:pPr>
            <a:r>
              <a:t>Phiếu bất đồng có thể dẫn đến dự đoán sai</a:t>
            </a:r>
          </a:p>
        </p:txBody>
      </p:sp>
      <p:cxnSp>
        <p:nvCxnSpPr>
          <p:cNvPr id="5" name="Connector 4"/>
          <p:cNvCxnSpPr/>
          <p:nvPr/>
        </p:nvCxnSpPr>
        <p:spPr>
          <a:xfrm>
            <a:off x="502920" y="6446520"/>
            <a:ext cx="11155680" cy="0"/>
          </a:xfrm>
          <a:prstGeom prst="line">
            <a:avLst/>
          </a:prstGeom>
          <a:ln w="8890">
            <a:solidFill>
              <a:srgbClr val="37516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AFC4CF"/>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AFC4CF"/>
                </a:solidFill>
                <a:latin typeface="Noto Sans"/>
              </a:defRPr>
            </a:pPr>
            <a:r>
              <a:t>Nguồn: outputs/results.json → disagreement_example • Seed 42</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79E2CC"/>
                </a:solidFill>
                <a:latin typeface="Noto Sans"/>
              </a:defRPr>
            </a:pPr>
            <a:r>
              <a:t>20</a:t>
            </a:r>
          </a:p>
        </p:txBody>
      </p:sp>
      <p:sp>
        <p:nvSpPr>
          <p:cNvPr id="9" name="TextBox 8"/>
          <p:cNvSpPr txBox="1"/>
          <p:nvPr/>
        </p:nvSpPr>
        <p:spPr>
          <a:xfrm>
            <a:off x="640080" y="1691640"/>
            <a:ext cx="10789920" cy="457200"/>
          </a:xfrm>
          <a:prstGeom prst="rect">
            <a:avLst/>
          </a:prstGeom>
          <a:noFill/>
        </p:spPr>
        <p:txBody>
          <a:bodyPr wrap="square" lIns="9144" rIns="9144" tIns="9144" bIns="9144" anchor="t">
            <a:spAutoFit/>
          </a:bodyPr>
          <a:lstStyle/>
          <a:p>
            <a:pPr algn="l">
              <a:spcAft>
                <a:spcPts val="500"/>
              </a:spcAft>
              <a:defRPr sz="2200" b="1">
                <a:solidFill>
                  <a:srgbClr val="FFFFFF"/>
                </a:solidFill>
                <a:latin typeface="Noto Sans"/>
              </a:defRPr>
            </a:pPr>
            <a:r>
              <a:t>Vị trí test 2  •  Hàng dữ liệu gốc 291  •  Nhãn thật: lành tính</a:t>
            </a:r>
          </a:p>
        </p:txBody>
      </p:sp>
      <p:sp>
        <p:nvSpPr>
          <p:cNvPr id="10" name="Rounded Rectangle 9"/>
          <p:cNvSpPr/>
          <p:nvPr/>
        </p:nvSpPr>
        <p:spPr>
          <a:xfrm>
            <a:off x="640080" y="2514600"/>
            <a:ext cx="6492240" cy="2560320"/>
          </a:xfrm>
          <a:prstGeom prst="roundRect">
            <a:avLst>
              <a:gd name="adj" fmla="val 12000"/>
            </a:avLst>
          </a:prstGeom>
          <a:solidFill>
            <a:srgbClr val="1C3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43200"/>
            <a:ext cx="6035040" cy="365760"/>
          </a:xfrm>
          <a:prstGeom prst="rect">
            <a:avLst/>
          </a:prstGeom>
          <a:noFill/>
        </p:spPr>
        <p:txBody>
          <a:bodyPr wrap="square" lIns="9144" rIns="9144" tIns="9144" bIns="9144" anchor="t">
            <a:spAutoFit/>
          </a:bodyPr>
          <a:lstStyle/>
          <a:p>
            <a:pPr algn="l">
              <a:spcAft>
                <a:spcPts val="500"/>
              </a:spcAft>
              <a:defRPr sz="1900" b="1">
                <a:solidFill>
                  <a:srgbClr val="79E2CC"/>
                </a:solidFill>
                <a:latin typeface="Noto Sans"/>
              </a:defRPr>
            </a:pPr>
            <a:r>
              <a:t>Mẫu bất đồng đầu tiên theo thứ tự test</a:t>
            </a:r>
          </a:p>
        </p:txBody>
      </p:sp>
      <p:sp>
        <p:nvSpPr>
          <p:cNvPr id="12" name="TextBox 11"/>
          <p:cNvSpPr txBox="1"/>
          <p:nvPr/>
        </p:nvSpPr>
        <p:spPr>
          <a:xfrm>
            <a:off x="868680" y="3474720"/>
            <a:ext cx="5989320" cy="914400"/>
          </a:xfrm>
          <a:prstGeom prst="rect">
            <a:avLst/>
          </a:prstGeom>
          <a:noFill/>
        </p:spPr>
        <p:txBody>
          <a:bodyPr wrap="square" lIns="9144" rIns="9144" tIns="9144" bIns="9144" anchor="t">
            <a:spAutoFit/>
          </a:bodyPr>
          <a:lstStyle/>
          <a:p>
            <a:pPr algn="l">
              <a:spcAft>
                <a:spcPts val="500"/>
              </a:spcAft>
              <a:defRPr sz="2500" b="1">
                <a:solidFill>
                  <a:srgbClr val="FFFFFF"/>
                </a:solidFill>
                <a:latin typeface="Noto Sans"/>
              </a:defRPr>
            </a:pPr>
            <a:r>
              <a:t>27 cây chọn ác tính</a:t>
            </a:r>
          </a:p>
          <a:p>
            <a:pPr algn="l">
              <a:spcAft>
                <a:spcPts val="500"/>
              </a:spcAft>
              <a:defRPr sz="2500" b="1">
                <a:solidFill>
                  <a:srgbClr val="FFFFFF"/>
                </a:solidFill>
                <a:latin typeface="Noto Sans"/>
              </a:defRPr>
            </a:pPr>
            <a:r>
              <a:t>24 cây chọn lành tính</a:t>
            </a:r>
          </a:p>
        </p:txBody>
      </p:sp>
      <p:sp>
        <p:nvSpPr>
          <p:cNvPr id="13" name="TextBox 12"/>
          <p:cNvSpPr txBox="1"/>
          <p:nvPr/>
        </p:nvSpPr>
        <p:spPr>
          <a:xfrm>
            <a:off x="868680" y="4526280"/>
            <a:ext cx="5989320" cy="365760"/>
          </a:xfrm>
          <a:prstGeom prst="rect">
            <a:avLst/>
          </a:prstGeom>
          <a:noFill/>
        </p:spPr>
        <p:txBody>
          <a:bodyPr wrap="square" lIns="9144" rIns="9144" tIns="9144" bIns="9144" anchor="t">
            <a:spAutoFit/>
          </a:bodyPr>
          <a:lstStyle/>
          <a:p>
            <a:pPr algn="l">
              <a:spcAft>
                <a:spcPts val="500"/>
              </a:spcAft>
              <a:defRPr sz="1700" b="0">
                <a:solidFill>
                  <a:srgbClr val="C9D8DF"/>
                </a:solidFill>
                <a:latin typeface="Noto Sans"/>
              </a:defRPr>
            </a:pPr>
            <a:r>
              <a:t>45 / 143 mẫu test có phiếu chia hai phía.</a:t>
            </a:r>
          </a:p>
        </p:txBody>
      </p:sp>
      <p:sp>
        <p:nvSpPr>
          <p:cNvPr id="14" name="TextBox 13"/>
          <p:cNvSpPr txBox="1"/>
          <p:nvPr/>
        </p:nvSpPr>
        <p:spPr>
          <a:xfrm>
            <a:off x="7955279" y="2514600"/>
            <a:ext cx="3017520" cy="594360"/>
          </a:xfrm>
          <a:prstGeom prst="rect">
            <a:avLst/>
          </a:prstGeom>
          <a:noFill/>
        </p:spPr>
        <p:txBody>
          <a:bodyPr wrap="square" lIns="9144" rIns="9144" tIns="9144" bIns="9144" anchor="t">
            <a:spAutoFit/>
          </a:bodyPr>
          <a:lstStyle/>
          <a:p>
            <a:pPr algn="l">
              <a:spcAft>
                <a:spcPts val="500"/>
              </a:spcAft>
              <a:defRPr sz="2000" b="1">
                <a:solidFill>
                  <a:srgbClr val="79E2CC"/>
                </a:solidFill>
                <a:latin typeface="Noto Sans"/>
              </a:defRPr>
            </a:pPr>
            <a:r>
              <a:t>TỔNG 51 CÂY</a:t>
            </a:r>
          </a:p>
        </p:txBody>
      </p:sp>
      <p:sp>
        <p:nvSpPr>
          <p:cNvPr id="15" name="TextBox 14"/>
          <p:cNvSpPr txBox="1"/>
          <p:nvPr/>
        </p:nvSpPr>
        <p:spPr>
          <a:xfrm>
            <a:off x="7955279" y="3246120"/>
            <a:ext cx="3474720" cy="822960"/>
          </a:xfrm>
          <a:prstGeom prst="rect">
            <a:avLst/>
          </a:prstGeom>
          <a:noFill/>
        </p:spPr>
        <p:txBody>
          <a:bodyPr wrap="square" lIns="9144" rIns="9144" tIns="9144" bIns="9144" anchor="t">
            <a:spAutoFit/>
          </a:bodyPr>
          <a:lstStyle/>
          <a:p>
            <a:pPr algn="l">
              <a:spcAft>
                <a:spcPts val="500"/>
              </a:spcAft>
              <a:defRPr sz="4500" b="1">
                <a:solidFill>
                  <a:srgbClr val="FFFFFF"/>
                </a:solidFill>
                <a:latin typeface="Noto Sans"/>
              </a:defRPr>
            </a:pPr>
            <a:r>
              <a:t>27 : 24</a:t>
            </a:r>
          </a:p>
        </p:txBody>
      </p:sp>
      <p:sp>
        <p:nvSpPr>
          <p:cNvPr id="16" name="TextBox 15"/>
          <p:cNvSpPr txBox="1"/>
          <p:nvPr/>
        </p:nvSpPr>
        <p:spPr>
          <a:xfrm>
            <a:off x="7955279" y="4206240"/>
            <a:ext cx="3200400" cy="502920"/>
          </a:xfrm>
          <a:prstGeom prst="rect">
            <a:avLst/>
          </a:prstGeom>
          <a:noFill/>
        </p:spPr>
        <p:txBody>
          <a:bodyPr wrap="square" lIns="9144" rIns="9144" tIns="9144" bIns="9144" anchor="t">
            <a:spAutoFit/>
          </a:bodyPr>
          <a:lstStyle/>
          <a:p>
            <a:pPr algn="l">
              <a:spcAft>
                <a:spcPts val="500"/>
              </a:spcAft>
              <a:defRPr sz="1800" b="0">
                <a:solidFill>
                  <a:srgbClr val="C9D8DF"/>
                </a:solidFill>
                <a:latin typeface="Noto Sans"/>
              </a:defRPr>
            </a:pPr>
            <a:r>
              <a:t>Ác tính : Lành tính</a:t>
            </a:r>
          </a:p>
        </p:txBody>
      </p:sp>
      <p:sp>
        <p:nvSpPr>
          <p:cNvPr id="17" name="TextBox 16"/>
          <p:cNvSpPr txBox="1"/>
          <p:nvPr/>
        </p:nvSpPr>
        <p:spPr>
          <a:xfrm>
            <a:off x="685800" y="5623560"/>
            <a:ext cx="10789920" cy="457200"/>
          </a:xfrm>
          <a:prstGeom prst="rect">
            <a:avLst/>
          </a:prstGeom>
          <a:noFill/>
        </p:spPr>
        <p:txBody>
          <a:bodyPr wrap="square" lIns="9144" rIns="9144" tIns="9144" bIns="9144" anchor="t">
            <a:spAutoFit/>
          </a:bodyPr>
          <a:lstStyle/>
          <a:p>
            <a:pPr algn="l">
              <a:spcAft>
                <a:spcPts val="500"/>
              </a:spcAft>
              <a:defRPr sz="1900" b="1">
                <a:solidFill>
                  <a:srgbClr val="79E2CC"/>
                </a:solidFill>
                <a:latin typeface="Noto Sans"/>
              </a:defRPr>
            </a:pPr>
            <a:r>
              <a:t>Đa số chọn ác tính → Sai: nhãn thật là lành tính. Tỷ lệ phiếu không phải xác suất bệnh.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07 • NHẬN XÉT VÀ HƯỚNG PHÁT TRIỂN</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Kết quả có ích, nhưng phạm vi kết luận còn hẹp</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Phân tích từ thiết kế thí nghiệm hiện tại</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21</a:t>
            </a:r>
          </a:p>
        </p:txBody>
      </p:sp>
      <p:sp>
        <p:nvSpPr>
          <p:cNvPr id="9" name="Rounded Rectangle 8"/>
          <p:cNvSpPr/>
          <p:nvPr/>
        </p:nvSpPr>
        <p:spPr>
          <a:xfrm>
            <a:off x="594360" y="1783080"/>
            <a:ext cx="3520440" cy="4206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95528" y="201168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03704"/>
            <a:ext cx="3063240"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ĐÃ KIỂM CHỨNG</a:t>
            </a:r>
          </a:p>
        </p:txBody>
      </p:sp>
      <p:sp>
        <p:nvSpPr>
          <p:cNvPr id="12" name="TextBox 11"/>
          <p:cNvSpPr txBox="1"/>
          <p:nvPr/>
        </p:nvSpPr>
        <p:spPr>
          <a:xfrm>
            <a:off x="822960" y="2953512"/>
            <a:ext cx="3063240" cy="2926079"/>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Bootstrap và hard voting.</a:t>
            </a:r>
          </a:p>
          <a:p>
            <a:pPr algn="l">
              <a:spcAft>
                <a:spcPts val="500"/>
              </a:spcAft>
              <a:defRPr sz="1800" b="0">
                <a:solidFill>
                  <a:srgbClr val="566A76"/>
                </a:solidFill>
                <a:latin typeface="Noto Sans"/>
              </a:defRPr>
            </a:pPr>
            <a:r>
              <a:t>10 seed, mean và SD mẫu.</a:t>
            </a:r>
          </a:p>
          <a:p>
            <a:pPr algn="l">
              <a:spcAft>
                <a:spcPts val="500"/>
              </a:spcAft>
              <a:defRPr sz="1800" b="0">
                <a:solidFill>
                  <a:srgbClr val="566A76"/>
                </a:solidFill>
                <a:latin typeface="Noto Sans"/>
              </a:defRPr>
            </a:pPr>
            <a:r>
              <a:t>OOB kèm coverage.</a:t>
            </a:r>
          </a:p>
          <a:p>
            <a:pPr algn="l">
              <a:spcAft>
                <a:spcPts val="500"/>
              </a:spcAft>
              <a:defRPr sz="1800" b="0">
                <a:solidFill>
                  <a:srgbClr val="566A76"/>
                </a:solidFill>
                <a:latin typeface="Noto Sans"/>
              </a:defRPr>
            </a:pPr>
            <a:r>
              <a:t>Test riêng ở mỗi seed.</a:t>
            </a:r>
          </a:p>
          <a:p>
            <a:pPr algn="l">
              <a:spcAft>
                <a:spcPts val="500"/>
              </a:spcAft>
              <a:defRPr sz="1800" b="0">
                <a:solidFill>
                  <a:srgbClr val="566A76"/>
                </a:solidFill>
                <a:latin typeface="Noto Sans"/>
              </a:defRPr>
            </a:pPr>
            <a:r>
              <a:t>Ví dụ bất đồng và lỗi.</a:t>
            </a:r>
          </a:p>
        </p:txBody>
      </p:sp>
      <p:sp>
        <p:nvSpPr>
          <p:cNvPr id="13" name="Rounded Rectangle 12"/>
          <p:cNvSpPr/>
          <p:nvPr/>
        </p:nvSpPr>
        <p:spPr>
          <a:xfrm>
            <a:off x="4343400" y="1783080"/>
            <a:ext cx="3520440" cy="4206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44568" y="2011680"/>
            <a:ext cx="384048" cy="50292"/>
          </a:xfrm>
          <a:prstGeom prst="rect">
            <a:avLst/>
          </a:prstGeom>
          <a:solidFill>
            <a:srgbClr val="E67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2203704"/>
            <a:ext cx="3063240"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GIỚI HẠN</a:t>
            </a:r>
          </a:p>
        </p:txBody>
      </p:sp>
      <p:sp>
        <p:nvSpPr>
          <p:cNvPr id="16" name="TextBox 15"/>
          <p:cNvSpPr txBox="1"/>
          <p:nvPr/>
        </p:nvSpPr>
        <p:spPr>
          <a:xfrm>
            <a:off x="4572000" y="2953512"/>
            <a:ext cx="3063240" cy="2926079"/>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Các holdout giao nhau.</a:t>
            </a:r>
          </a:p>
          <a:p>
            <a:pPr algn="l">
              <a:spcAft>
                <a:spcPts val="500"/>
              </a:spcAft>
              <a:defRPr sz="1800" b="0">
                <a:solidFill>
                  <a:srgbClr val="566A76"/>
                </a:solidFill>
                <a:latin typeface="Noto Sans"/>
              </a:defRPr>
            </a:pPr>
            <a:r>
              <a:t>Chọn depth bằng cây đơn.</a:t>
            </a:r>
          </a:p>
          <a:p>
            <a:pPr algn="l">
              <a:spcAft>
                <a:spcPts val="500"/>
              </a:spcAft>
              <a:defRPr sz="1800" b="0">
                <a:solidFill>
                  <a:srgbClr val="566A76"/>
                </a:solidFill>
                <a:latin typeface="Noto Sans"/>
              </a:defRPr>
            </a:pPr>
            <a:r>
              <a:t>OOB sau chọn depth.</a:t>
            </a:r>
          </a:p>
          <a:p>
            <a:pPr algn="l">
              <a:spcAft>
                <a:spcPts val="500"/>
              </a:spcAft>
              <a:defRPr sz="1800" b="0">
                <a:solidFill>
                  <a:srgbClr val="566A76"/>
                </a:solidFill>
                <a:latin typeface="Noto Sans"/>
              </a:defRPr>
            </a:pPr>
            <a:r>
              <a:t>Chưa kiểm định trên</a:t>
            </a:r>
          </a:p>
          <a:p>
            <a:pPr algn="l">
              <a:spcAft>
                <a:spcPts val="500"/>
              </a:spcAft>
              <a:defRPr sz="1800" b="0">
                <a:solidFill>
                  <a:srgbClr val="566A76"/>
                </a:solidFill>
                <a:latin typeface="Noto Sans"/>
              </a:defRPr>
            </a:pPr>
            <a:r>
              <a:t>quần thể độc lập.</a:t>
            </a:r>
          </a:p>
        </p:txBody>
      </p:sp>
      <p:sp>
        <p:nvSpPr>
          <p:cNvPr id="17" name="Rounded Rectangle 16"/>
          <p:cNvSpPr/>
          <p:nvPr/>
        </p:nvSpPr>
        <p:spPr>
          <a:xfrm>
            <a:off x="8092440" y="1783080"/>
            <a:ext cx="3474720" cy="42062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93608" y="201168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2203704"/>
            <a:ext cx="3017520"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PHÁT TRIỂN</a:t>
            </a:r>
          </a:p>
        </p:txBody>
      </p:sp>
      <p:sp>
        <p:nvSpPr>
          <p:cNvPr id="20" name="TextBox 19"/>
          <p:cNvSpPr txBox="1"/>
          <p:nvPr/>
        </p:nvSpPr>
        <p:spPr>
          <a:xfrm>
            <a:off x="8321040" y="2953512"/>
            <a:ext cx="3017520" cy="2926079"/>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Tuning riêng bằng CV.</a:t>
            </a:r>
          </a:p>
          <a:p>
            <a:pPr algn="l">
              <a:spcAft>
                <a:spcPts val="500"/>
              </a:spcAft>
              <a:defRPr sz="1800" b="0">
                <a:solidFill>
                  <a:srgbClr val="566A76"/>
                </a:solidFill>
                <a:latin typeface="Noto Sans"/>
              </a:defRPr>
            </a:pPr>
            <a:r>
              <a:t>Kiểm định dữ liệu ngoài.</a:t>
            </a:r>
          </a:p>
          <a:p>
            <a:pPr algn="l">
              <a:spcAft>
                <a:spcPts val="500"/>
              </a:spcAft>
              <a:defRPr sz="1800" b="0">
                <a:solidFill>
                  <a:srgbClr val="566A76"/>
                </a:solidFill>
                <a:latin typeface="Noto Sans"/>
              </a:defRPr>
            </a:pPr>
            <a:r>
              <a:t>So sánh AdaBoost, GBM.</a:t>
            </a:r>
          </a:p>
          <a:p>
            <a:pPr algn="l">
              <a:spcAft>
                <a:spcPts val="500"/>
              </a:spcAft>
              <a:defRPr sz="1800" b="0">
                <a:solidFill>
                  <a:srgbClr val="566A76"/>
                </a:solidFill>
                <a:latin typeface="Noto Sans"/>
              </a:defRPr>
            </a:pPr>
            <a:r>
              <a:t>Đánh giá đánh đổi lỗi.</a:t>
            </a:r>
          </a:p>
          <a:p>
            <a:pPr algn="l">
              <a:spcAft>
                <a:spcPts val="500"/>
              </a:spcAft>
              <a:defRPr sz="1800" b="0">
                <a:solidFill>
                  <a:srgbClr val="566A76"/>
                </a:solidFill>
                <a:latin typeface="Noto Sans"/>
              </a:defRPr>
            </a:pPr>
            <a:r>
              <a:t>Khảo sát số cây bằng CV.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07 • TRÌNH DIỄN MÃ</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Demo nhanh hoặc chạy đầy đủ 10 seed</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Điều phối: de_5_ensemble_learning.py • Mô hình: ensemble_model.py</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22</a:t>
            </a:r>
          </a:p>
        </p:txBody>
      </p:sp>
      <p:sp>
        <p:nvSpPr>
          <p:cNvPr id="9" name="Rounded Rectangle 8"/>
          <p:cNvSpPr/>
          <p:nvPr/>
        </p:nvSpPr>
        <p:spPr>
          <a:xfrm>
            <a:off x="594360" y="1783080"/>
            <a:ext cx="10972800" cy="1188720"/>
          </a:xfrm>
          <a:prstGeom prst="roundRect">
            <a:avLst>
              <a:gd name="adj" fmla="val 12000"/>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29968"/>
            <a:ext cx="10424160" cy="731520"/>
          </a:xfrm>
          <a:prstGeom prst="rect">
            <a:avLst/>
          </a:prstGeom>
          <a:noFill/>
        </p:spPr>
        <p:txBody>
          <a:bodyPr wrap="square" lIns="9144" rIns="9144" tIns="9144" bIns="9144" anchor="t">
            <a:spAutoFit/>
          </a:bodyPr>
          <a:lstStyle/>
          <a:p>
            <a:pPr algn="l">
              <a:spcAft>
                <a:spcPts val="500"/>
              </a:spcAft>
              <a:defRPr sz="1700" b="0">
                <a:solidFill>
                  <a:srgbClr val="79E2CC"/>
                </a:solidFill>
                <a:latin typeface="DejaVu Sans Mono"/>
              </a:defRPr>
            </a:pPr>
            <a:r>
              <a:t>python de_5_ensemble_learning.py --repeats 1 --output-dir outputs/quick</a:t>
            </a:r>
          </a:p>
          <a:p>
            <a:pPr algn="l">
              <a:spcAft>
                <a:spcPts val="500"/>
              </a:spcAft>
              <a:defRPr sz="1700" b="0">
                <a:solidFill>
                  <a:srgbClr val="79E2CC"/>
                </a:solidFill>
                <a:latin typeface="DejaVu Sans Mono"/>
              </a:defRPr>
            </a:pPr>
            <a:r>
              <a:t>python de_5_ensemble_learning.py                 # 10 seed</a:t>
            </a:r>
          </a:p>
        </p:txBody>
      </p:sp>
      <p:sp>
        <p:nvSpPr>
          <p:cNvPr id="11" name="Rounded Rectangle 10"/>
          <p:cNvSpPr/>
          <p:nvPr/>
        </p:nvSpPr>
        <p:spPr>
          <a:xfrm>
            <a:off x="594360" y="3474720"/>
            <a:ext cx="3502152" cy="2331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95528" y="370332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895344"/>
            <a:ext cx="3044952"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Kết quả đầy đủ</a:t>
            </a:r>
          </a:p>
        </p:txBody>
      </p:sp>
      <p:sp>
        <p:nvSpPr>
          <p:cNvPr id="14" name="TextBox 13"/>
          <p:cNvSpPr txBox="1"/>
          <p:nvPr/>
        </p:nvSpPr>
        <p:spPr>
          <a:xfrm>
            <a:off x="822960" y="4645152"/>
            <a:ext cx="3044952" cy="105156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results.json, report.md</a:t>
            </a:r>
          </a:p>
          <a:p>
            <a:pPr algn="l">
              <a:spcAft>
                <a:spcPts val="500"/>
              </a:spcAft>
              <a:defRPr sz="1800" b="0">
                <a:solidFill>
                  <a:srgbClr val="566A76"/>
                </a:solidFill>
                <a:latin typeface="Noto Sans"/>
              </a:defRPr>
            </a:pPr>
            <a:r>
              <a:t>Cấu hình, OOB và diễn giải.</a:t>
            </a:r>
          </a:p>
        </p:txBody>
      </p:sp>
      <p:sp>
        <p:nvSpPr>
          <p:cNvPr id="15" name="Rounded Rectangle 14"/>
          <p:cNvSpPr/>
          <p:nvPr/>
        </p:nvSpPr>
        <p:spPr>
          <a:xfrm>
            <a:off x="4325112" y="3474720"/>
            <a:ext cx="3502152" cy="2331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26280" y="370332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53712" y="3895344"/>
            <a:ext cx="3044952"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Độ ổn định</a:t>
            </a:r>
          </a:p>
        </p:txBody>
      </p:sp>
      <p:sp>
        <p:nvSpPr>
          <p:cNvPr id="18" name="TextBox 17"/>
          <p:cNvSpPr txBox="1"/>
          <p:nvPr/>
        </p:nvSpPr>
        <p:spPr>
          <a:xfrm>
            <a:off x="4553712" y="4645152"/>
            <a:ext cx="3044952" cy="105156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summary_metrics.csv</a:t>
            </a:r>
          </a:p>
          <a:p>
            <a:pPr algn="l">
              <a:spcAft>
                <a:spcPts val="500"/>
              </a:spcAft>
              <a:defRPr sz="1800" b="0">
                <a:solidFill>
                  <a:srgbClr val="566A76"/>
                </a:solidFill>
                <a:latin typeface="Noto Sans"/>
              </a:defRPr>
            </a:pPr>
            <a:r>
              <a:t>stability.png: mean và SD.</a:t>
            </a:r>
          </a:p>
        </p:txBody>
      </p:sp>
      <p:sp>
        <p:nvSpPr>
          <p:cNvPr id="19" name="Rounded Rectangle 18"/>
          <p:cNvSpPr/>
          <p:nvPr/>
        </p:nvSpPr>
        <p:spPr>
          <a:xfrm>
            <a:off x="8055864" y="3474720"/>
            <a:ext cx="3502152" cy="233172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57032" y="3703320"/>
            <a:ext cx="384048" cy="50292"/>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84464" y="3895344"/>
            <a:ext cx="3044952" cy="685800"/>
          </a:xfrm>
          <a:prstGeom prst="rect">
            <a:avLst/>
          </a:prstGeom>
          <a:noFill/>
        </p:spPr>
        <p:txBody>
          <a:bodyPr wrap="square" lIns="9144" rIns="9144" tIns="9144" bIns="9144" anchor="t">
            <a:spAutoFit/>
          </a:bodyPr>
          <a:lstStyle/>
          <a:p>
            <a:pPr algn="l">
              <a:spcAft>
                <a:spcPts val="500"/>
              </a:spcAft>
              <a:defRPr sz="2300" b="1">
                <a:solidFill>
                  <a:srgbClr val="173246"/>
                </a:solidFill>
                <a:latin typeface="Noto Sans"/>
              </a:defRPr>
            </a:pPr>
            <a:r>
              <a:t>Phân tích lỗi</a:t>
            </a:r>
          </a:p>
        </p:txBody>
      </p:sp>
      <p:sp>
        <p:nvSpPr>
          <p:cNvPr id="22" name="TextBox 21"/>
          <p:cNvSpPr txBox="1"/>
          <p:nvPr/>
        </p:nvSpPr>
        <p:spPr>
          <a:xfrm>
            <a:off x="8284464" y="4645152"/>
            <a:ext cx="3044952" cy="1051560"/>
          </a:xfrm>
          <a:prstGeom prst="rect">
            <a:avLst/>
          </a:prstGeom>
          <a:noFill/>
        </p:spPr>
        <p:txBody>
          <a:bodyPr wrap="square" lIns="9144" rIns="9144" tIns="9144" bIns="9144" anchor="t">
            <a:spAutoFit/>
          </a:bodyPr>
          <a:lstStyle/>
          <a:p>
            <a:pPr algn="l">
              <a:spcAft>
                <a:spcPts val="500"/>
              </a:spcAft>
              <a:defRPr sz="1800" b="0">
                <a:solidFill>
                  <a:srgbClr val="566A76"/>
                </a:solidFill>
                <a:latin typeface="Noto Sans"/>
              </a:defRPr>
            </a:pPr>
            <a:r>
              <a:t>confusion_matrices.png</a:t>
            </a:r>
          </a:p>
          <a:p>
            <a:pPr algn="l">
              <a:spcAft>
                <a:spcPts val="500"/>
              </a:spcAft>
              <a:defRPr sz="1800" b="0">
                <a:solidFill>
                  <a:srgbClr val="566A76"/>
                </a:solidFill>
                <a:latin typeface="Noto Sans"/>
              </a:defRPr>
            </a:pPr>
            <a:r>
              <a:t>voting_example.png: phiếu.</a:t>
            </a:r>
          </a:p>
        </p:txBody>
      </p:sp>
      <p:sp>
        <p:nvSpPr>
          <p:cNvPr id="23" name="TextBox 22"/>
          <p:cNvSpPr txBox="1"/>
          <p:nvPr/>
        </p:nvSpPr>
        <p:spPr>
          <a:xfrm>
            <a:off x="640080" y="5989320"/>
            <a:ext cx="10789920" cy="274320"/>
          </a:xfrm>
          <a:prstGeom prst="rect">
            <a:avLst/>
          </a:prstGeom>
          <a:noFill/>
        </p:spPr>
        <p:txBody>
          <a:bodyPr wrap="square" lIns="9144" rIns="9144" tIns="9144" bIns="9144" anchor="t">
            <a:spAutoFit/>
          </a:bodyPr>
          <a:lstStyle/>
          <a:p>
            <a:pPr algn="l">
              <a:spcAft>
                <a:spcPts val="500"/>
              </a:spcAft>
              <a:defRPr sz="1300" b="0">
                <a:solidFill>
                  <a:srgbClr val="566A76"/>
                </a:solidFill>
                <a:latin typeface="Noto Sans"/>
              </a:defRPr>
            </a:pPr>
            <a:r>
              <a:t>Cài dependencies theo README trước khi chạy. Không cần tải dữ liệu hoặc khóa API.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02537"/>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79E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79E2CC"/>
                </a:solidFill>
                <a:latin typeface="Noto Sans"/>
              </a:defRPr>
            </a:pPr>
            <a:r>
              <a:t>08 • KẾT LUẬN</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FFFFFF"/>
                </a:solidFill>
                <a:latin typeface="Noto Sans"/>
              </a:defRPr>
            </a:pPr>
            <a:r>
              <a:t>Ba điều cần nhớ</a:t>
            </a:r>
          </a:p>
        </p:txBody>
      </p:sp>
      <p:cxnSp>
        <p:nvCxnSpPr>
          <p:cNvPr id="5" name="Connector 4"/>
          <p:cNvCxnSpPr/>
          <p:nvPr/>
        </p:nvCxnSpPr>
        <p:spPr>
          <a:xfrm>
            <a:off x="502920" y="6446520"/>
            <a:ext cx="11155680" cy="0"/>
          </a:xfrm>
          <a:prstGeom prst="line">
            <a:avLst/>
          </a:prstGeom>
          <a:ln w="8890">
            <a:solidFill>
              <a:srgbClr val="375161"/>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AFC4CF"/>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AFC4CF"/>
                </a:solidFill>
                <a:latin typeface="Noto Sans"/>
              </a:defRPr>
            </a:pPr>
            <a:r>
              <a:t>Kết luận trong phạm vi thí nghiệm hiện tại</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79E2CC"/>
                </a:solidFill>
                <a:latin typeface="Noto Sans"/>
              </a:defRPr>
            </a:pPr>
            <a:r>
              <a:t>23</a:t>
            </a:r>
          </a:p>
        </p:txBody>
      </p:sp>
      <p:sp>
        <p:nvSpPr>
          <p:cNvPr id="9" name="Oval 8"/>
          <p:cNvSpPr/>
          <p:nvPr/>
        </p:nvSpPr>
        <p:spPr>
          <a:xfrm>
            <a:off x="685800" y="1783080"/>
            <a:ext cx="685800" cy="685800"/>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927098"/>
            <a:ext cx="685800" cy="397763"/>
          </a:xfrm>
          <a:prstGeom prst="rect">
            <a:avLst/>
          </a:prstGeom>
          <a:noFill/>
        </p:spPr>
        <p:txBody>
          <a:bodyPr wrap="square" lIns="9144" rIns="9144" tIns="9144" bIns="9144" anchor="t">
            <a:spAutoFit/>
          </a:bodyPr>
          <a:lstStyle/>
          <a:p>
            <a:pPr algn="ctr">
              <a:spcAft>
                <a:spcPts val="500"/>
              </a:spcAft>
              <a:defRPr sz="2200" b="1">
                <a:solidFill>
                  <a:srgbClr val="FFFFFF"/>
                </a:solidFill>
                <a:latin typeface="Noto Sans"/>
              </a:defRPr>
            </a:pPr>
            <a:r>
              <a:t>1</a:t>
            </a:r>
          </a:p>
        </p:txBody>
      </p:sp>
      <p:sp>
        <p:nvSpPr>
          <p:cNvPr id="11" name="TextBox 10"/>
          <p:cNvSpPr txBox="1"/>
          <p:nvPr/>
        </p:nvSpPr>
        <p:spPr>
          <a:xfrm>
            <a:off x="1645920" y="1764792"/>
            <a:ext cx="9784080" cy="548640"/>
          </a:xfrm>
          <a:prstGeom prst="rect">
            <a:avLst/>
          </a:prstGeom>
          <a:noFill/>
        </p:spPr>
        <p:txBody>
          <a:bodyPr wrap="square" lIns="9144" rIns="9144" tIns="9144" bIns="9144" anchor="t">
            <a:spAutoFit/>
          </a:bodyPr>
          <a:lstStyle/>
          <a:p>
            <a:pPr algn="l">
              <a:spcAft>
                <a:spcPts val="500"/>
              </a:spcAft>
              <a:defRPr sz="2600" b="1">
                <a:solidFill>
                  <a:srgbClr val="FFFFFF"/>
                </a:solidFill>
                <a:latin typeface="Noto Sans"/>
              </a:defRPr>
            </a:pPr>
            <a:r>
              <a:t>Đa dạng trước, tổng hợp sau</a:t>
            </a:r>
          </a:p>
        </p:txBody>
      </p:sp>
      <p:sp>
        <p:nvSpPr>
          <p:cNvPr id="12" name="TextBox 11"/>
          <p:cNvSpPr txBox="1"/>
          <p:nvPr/>
        </p:nvSpPr>
        <p:spPr>
          <a:xfrm>
            <a:off x="1645920" y="2423160"/>
            <a:ext cx="9784080" cy="502920"/>
          </a:xfrm>
          <a:prstGeom prst="rect">
            <a:avLst/>
          </a:prstGeom>
          <a:noFill/>
        </p:spPr>
        <p:txBody>
          <a:bodyPr wrap="square" lIns="9144" rIns="9144" tIns="9144" bIns="9144" anchor="t">
            <a:spAutoFit/>
          </a:bodyPr>
          <a:lstStyle/>
          <a:p>
            <a:pPr algn="l">
              <a:spcAft>
                <a:spcPts val="500"/>
              </a:spcAft>
              <a:defRPr sz="1800" b="0">
                <a:solidFill>
                  <a:srgbClr val="C9D8DF"/>
                </a:solidFill>
                <a:latin typeface="Noto Sans"/>
              </a:defRPr>
            </a:pPr>
            <a:r>
              <a:t>Nhiều mô hình giống nhau không tự tạo ra một tổ hợp tốt.</a:t>
            </a:r>
          </a:p>
        </p:txBody>
      </p:sp>
      <p:sp>
        <p:nvSpPr>
          <p:cNvPr id="13" name="Oval 12"/>
          <p:cNvSpPr/>
          <p:nvPr/>
        </p:nvSpPr>
        <p:spPr>
          <a:xfrm>
            <a:off x="685800" y="3154680"/>
            <a:ext cx="685800" cy="685800"/>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298698"/>
            <a:ext cx="685800" cy="397763"/>
          </a:xfrm>
          <a:prstGeom prst="rect">
            <a:avLst/>
          </a:prstGeom>
          <a:noFill/>
        </p:spPr>
        <p:txBody>
          <a:bodyPr wrap="square" lIns="9144" rIns="9144" tIns="9144" bIns="9144" anchor="t">
            <a:spAutoFit/>
          </a:bodyPr>
          <a:lstStyle/>
          <a:p>
            <a:pPr algn="ctr">
              <a:spcAft>
                <a:spcPts val="500"/>
              </a:spcAft>
              <a:defRPr sz="2200" b="1">
                <a:solidFill>
                  <a:srgbClr val="FFFFFF"/>
                </a:solidFill>
                <a:latin typeface="Noto Sans"/>
              </a:defRPr>
            </a:pPr>
            <a:r>
              <a:t>2</a:t>
            </a:r>
          </a:p>
        </p:txBody>
      </p:sp>
      <p:sp>
        <p:nvSpPr>
          <p:cNvPr id="15" name="TextBox 14"/>
          <p:cNvSpPr txBox="1"/>
          <p:nvPr/>
        </p:nvSpPr>
        <p:spPr>
          <a:xfrm>
            <a:off x="1645920" y="3136392"/>
            <a:ext cx="9784080" cy="548640"/>
          </a:xfrm>
          <a:prstGeom prst="rect">
            <a:avLst/>
          </a:prstGeom>
          <a:noFill/>
        </p:spPr>
        <p:txBody>
          <a:bodyPr wrap="square" lIns="9144" rIns="9144" tIns="9144" bIns="9144" anchor="t">
            <a:spAutoFit/>
          </a:bodyPr>
          <a:lstStyle/>
          <a:p>
            <a:pPr algn="l">
              <a:spcAft>
                <a:spcPts val="500"/>
              </a:spcAft>
              <a:defRPr sz="2600" b="1">
                <a:solidFill>
                  <a:srgbClr val="FFFFFF"/>
                </a:solidFill>
                <a:latin typeface="Noto Sans"/>
              </a:defRPr>
            </a:pPr>
            <a:r>
              <a:t>Bagging = Bootstrap + Aggregating</a:t>
            </a:r>
          </a:p>
        </p:txBody>
      </p:sp>
      <p:sp>
        <p:nvSpPr>
          <p:cNvPr id="16" name="TextBox 15"/>
          <p:cNvSpPr txBox="1"/>
          <p:nvPr/>
        </p:nvSpPr>
        <p:spPr>
          <a:xfrm>
            <a:off x="1645920" y="3794760"/>
            <a:ext cx="9784080" cy="502920"/>
          </a:xfrm>
          <a:prstGeom prst="rect">
            <a:avLst/>
          </a:prstGeom>
          <a:noFill/>
        </p:spPr>
        <p:txBody>
          <a:bodyPr wrap="square" lIns="9144" rIns="9144" tIns="9144" bIns="9144" anchor="t">
            <a:spAutoFit/>
          </a:bodyPr>
          <a:lstStyle/>
          <a:p>
            <a:pPr algn="l">
              <a:spcAft>
                <a:spcPts val="500"/>
              </a:spcAft>
              <a:defRPr sz="1800" b="0">
                <a:solidFill>
                  <a:srgbClr val="C9D8DF"/>
                </a:solidFill>
                <a:latin typeface="Noto Sans"/>
              </a:defRPr>
            </a:pPr>
            <a:r>
              <a:t>Mẫu có hoàn lại tạo các cây khác nhau; voting kết hợp dự đoán.</a:t>
            </a:r>
          </a:p>
        </p:txBody>
      </p:sp>
      <p:sp>
        <p:nvSpPr>
          <p:cNvPr id="17" name="Oval 16"/>
          <p:cNvSpPr/>
          <p:nvPr/>
        </p:nvSpPr>
        <p:spPr>
          <a:xfrm>
            <a:off x="685800" y="4526280"/>
            <a:ext cx="685800" cy="685800"/>
          </a:xfrm>
          <a:prstGeom prst="ellipse">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670298"/>
            <a:ext cx="685800" cy="397763"/>
          </a:xfrm>
          <a:prstGeom prst="rect">
            <a:avLst/>
          </a:prstGeom>
          <a:noFill/>
        </p:spPr>
        <p:txBody>
          <a:bodyPr wrap="square" lIns="9144" rIns="9144" tIns="9144" bIns="9144" anchor="t">
            <a:spAutoFit/>
          </a:bodyPr>
          <a:lstStyle/>
          <a:p>
            <a:pPr algn="ctr">
              <a:spcAft>
                <a:spcPts val="500"/>
              </a:spcAft>
              <a:defRPr sz="2200" b="1">
                <a:solidFill>
                  <a:srgbClr val="FFFFFF"/>
                </a:solidFill>
                <a:latin typeface="Noto Sans"/>
              </a:defRPr>
            </a:pPr>
            <a:r>
              <a:t>3</a:t>
            </a:r>
          </a:p>
        </p:txBody>
      </p:sp>
      <p:sp>
        <p:nvSpPr>
          <p:cNvPr id="19" name="TextBox 18"/>
          <p:cNvSpPr txBox="1"/>
          <p:nvPr/>
        </p:nvSpPr>
        <p:spPr>
          <a:xfrm>
            <a:off x="1645920" y="4507992"/>
            <a:ext cx="9784080" cy="548640"/>
          </a:xfrm>
          <a:prstGeom prst="rect">
            <a:avLst/>
          </a:prstGeom>
          <a:noFill/>
        </p:spPr>
        <p:txBody>
          <a:bodyPr wrap="square" lIns="9144" rIns="9144" tIns="9144" bIns="9144" anchor="t">
            <a:spAutoFit/>
          </a:bodyPr>
          <a:lstStyle/>
          <a:p>
            <a:pPr algn="l">
              <a:spcAft>
                <a:spcPts val="500"/>
              </a:spcAft>
              <a:defRPr sz="2600" b="1">
                <a:solidFill>
                  <a:srgbClr val="FFFFFF"/>
                </a:solidFill>
                <a:latin typeface="Noto Sans"/>
              </a:defRPr>
            </a:pPr>
            <a:r>
              <a:t>Đọc lỗi cụ thể, giữ kết luận có giới hạn</a:t>
            </a:r>
          </a:p>
        </p:txBody>
      </p:sp>
      <p:sp>
        <p:nvSpPr>
          <p:cNvPr id="20" name="TextBox 19"/>
          <p:cNvSpPr txBox="1"/>
          <p:nvPr/>
        </p:nvSpPr>
        <p:spPr>
          <a:xfrm>
            <a:off x="1645920" y="5166360"/>
            <a:ext cx="9784080" cy="502920"/>
          </a:xfrm>
          <a:prstGeom prst="rect">
            <a:avLst/>
          </a:prstGeom>
          <a:noFill/>
        </p:spPr>
        <p:txBody>
          <a:bodyPr wrap="square" lIns="9144" rIns="9144" tIns="9144" bIns="9144" anchor="t">
            <a:spAutoFit/>
          </a:bodyPr>
          <a:lstStyle/>
          <a:p>
            <a:pPr algn="l">
              <a:spcAft>
                <a:spcPts val="500"/>
              </a:spcAft>
              <a:defRPr sz="1800" b="0">
                <a:solidFill>
                  <a:srgbClr val="C9D8DF"/>
                </a:solidFill>
                <a:latin typeface="Noto Sans"/>
              </a:defRPr>
            </a:pPr>
            <a:r>
              <a:t>Bagging đạt 95,10% accuracy và bỏ sót 4/53 ca ác tính trên test này.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08 • NGUỒN VÀ KHẢ NĂNG TÁI LẬP</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Tài liệu tham khảo</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24</a:t>
            </a:r>
          </a:p>
        </p:txBody>
      </p:sp>
      <p:sp>
        <p:nvSpPr>
          <p:cNvPr id="9" name="TextBox 8"/>
          <p:cNvSpPr txBox="1"/>
          <p:nvPr/>
        </p:nvSpPr>
        <p:spPr>
          <a:xfrm>
            <a:off x="640080" y="1691640"/>
            <a:ext cx="10881360" cy="301752"/>
          </a:xfrm>
          <a:prstGeom prst="rect">
            <a:avLst/>
          </a:prstGeom>
          <a:noFill/>
        </p:spPr>
        <p:txBody>
          <a:bodyPr wrap="square" lIns="9144" rIns="9144" tIns="9144" bIns="9144" anchor="t">
            <a:spAutoFit/>
          </a:bodyPr>
          <a:lstStyle/>
          <a:p>
            <a:pPr algn="l">
              <a:spcAft>
                <a:spcPts val="500"/>
              </a:spcAft>
              <a:defRPr sz="1500" b="1">
                <a:solidFill>
                  <a:srgbClr val="173246"/>
                </a:solidFill>
                <a:latin typeface="Noto Sans"/>
              </a:defRPr>
            </a:pPr>
            <a:r>
              <a:t>[1] Breiman (1996). Bagging Predictors. Machine Learning 24, 123–140.</a:t>
            </a:r>
          </a:p>
        </p:txBody>
      </p:sp>
      <p:sp>
        <p:nvSpPr>
          <p:cNvPr id="10" name="TextBox 9"/>
          <p:cNvSpPr txBox="1"/>
          <p:nvPr/>
        </p:nvSpPr>
        <p:spPr>
          <a:xfrm>
            <a:off x="640080" y="1975104"/>
            <a:ext cx="10881360" cy="246888"/>
          </a:xfrm>
          <a:prstGeom prst="rect">
            <a:avLst/>
          </a:prstGeom>
          <a:noFill/>
        </p:spPr>
        <p:txBody>
          <a:bodyPr wrap="square" lIns="9144" rIns="9144" tIns="9144" bIns="9144" anchor="t">
            <a:spAutoFit/>
          </a:bodyPr>
          <a:lstStyle/>
          <a:p>
            <a:pPr algn="l">
              <a:spcAft>
                <a:spcPts val="500"/>
              </a:spcAft>
              <a:defRPr sz="1000" b="0">
                <a:solidFill>
                  <a:srgbClr val="087E83"/>
                </a:solidFill>
                <a:latin typeface="Noto Sans"/>
              </a:defRPr>
            </a:pPr>
            <a:r>
              <a:rPr>
                <a:hlinkClick r:id="rId2"/>
              </a:rPr>
              <a:t>https://doi.org/10.1007/BF00058655</a:t>
            </a:r>
          </a:p>
        </p:txBody>
      </p:sp>
      <p:sp>
        <p:nvSpPr>
          <p:cNvPr id="11" name="TextBox 10"/>
          <p:cNvSpPr txBox="1"/>
          <p:nvPr/>
        </p:nvSpPr>
        <p:spPr>
          <a:xfrm>
            <a:off x="640080" y="2295144"/>
            <a:ext cx="10881360" cy="301752"/>
          </a:xfrm>
          <a:prstGeom prst="rect">
            <a:avLst/>
          </a:prstGeom>
          <a:noFill/>
        </p:spPr>
        <p:txBody>
          <a:bodyPr wrap="square" lIns="9144" rIns="9144" tIns="9144" bIns="9144" anchor="t">
            <a:spAutoFit/>
          </a:bodyPr>
          <a:lstStyle/>
          <a:p>
            <a:pPr algn="l">
              <a:spcAft>
                <a:spcPts val="500"/>
              </a:spcAft>
              <a:defRPr sz="1500" b="1">
                <a:solidFill>
                  <a:srgbClr val="173246"/>
                </a:solidFill>
                <a:latin typeface="Noto Sans"/>
              </a:defRPr>
            </a:pPr>
            <a:r>
              <a:t>[2] Breiman (2001). Random Forests. Machine Learning 45, 5–32.</a:t>
            </a:r>
          </a:p>
        </p:txBody>
      </p:sp>
      <p:sp>
        <p:nvSpPr>
          <p:cNvPr id="12" name="TextBox 11"/>
          <p:cNvSpPr txBox="1"/>
          <p:nvPr/>
        </p:nvSpPr>
        <p:spPr>
          <a:xfrm>
            <a:off x="640080" y="2578608"/>
            <a:ext cx="10881360" cy="246888"/>
          </a:xfrm>
          <a:prstGeom prst="rect">
            <a:avLst/>
          </a:prstGeom>
          <a:noFill/>
        </p:spPr>
        <p:txBody>
          <a:bodyPr wrap="square" lIns="9144" rIns="9144" tIns="9144" bIns="9144" anchor="t">
            <a:spAutoFit/>
          </a:bodyPr>
          <a:lstStyle/>
          <a:p>
            <a:pPr algn="l">
              <a:spcAft>
                <a:spcPts val="500"/>
              </a:spcAft>
              <a:defRPr sz="1000" b="0">
                <a:solidFill>
                  <a:srgbClr val="087E83"/>
                </a:solidFill>
                <a:latin typeface="Noto Sans"/>
              </a:defRPr>
            </a:pPr>
            <a:r>
              <a:rPr>
                <a:hlinkClick r:id="rId3"/>
              </a:rPr>
              <a:t>https://doi.org/10.1023/A:1010933404324</a:t>
            </a:r>
          </a:p>
        </p:txBody>
      </p:sp>
      <p:sp>
        <p:nvSpPr>
          <p:cNvPr id="13" name="TextBox 12"/>
          <p:cNvSpPr txBox="1"/>
          <p:nvPr/>
        </p:nvSpPr>
        <p:spPr>
          <a:xfrm>
            <a:off x="640080" y="2898648"/>
            <a:ext cx="10881360" cy="301752"/>
          </a:xfrm>
          <a:prstGeom prst="rect">
            <a:avLst/>
          </a:prstGeom>
          <a:noFill/>
        </p:spPr>
        <p:txBody>
          <a:bodyPr wrap="square" lIns="9144" rIns="9144" tIns="9144" bIns="9144" anchor="t">
            <a:spAutoFit/>
          </a:bodyPr>
          <a:lstStyle/>
          <a:p>
            <a:pPr algn="l">
              <a:spcAft>
                <a:spcPts val="500"/>
              </a:spcAft>
              <a:defRPr sz="1500" b="1">
                <a:solidFill>
                  <a:srgbClr val="173246"/>
                </a:solidFill>
                <a:latin typeface="Noto Sans"/>
              </a:defRPr>
            </a:pPr>
            <a:r>
              <a:t>[3] scikit-learn — Ensemble methods (Voting, Bagging, RF, Boosting, Stacking).</a:t>
            </a:r>
          </a:p>
        </p:txBody>
      </p:sp>
      <p:sp>
        <p:nvSpPr>
          <p:cNvPr id="14" name="TextBox 13"/>
          <p:cNvSpPr txBox="1"/>
          <p:nvPr/>
        </p:nvSpPr>
        <p:spPr>
          <a:xfrm>
            <a:off x="640080" y="3182112"/>
            <a:ext cx="10881360" cy="246888"/>
          </a:xfrm>
          <a:prstGeom prst="rect">
            <a:avLst/>
          </a:prstGeom>
          <a:noFill/>
        </p:spPr>
        <p:txBody>
          <a:bodyPr wrap="square" lIns="9144" rIns="9144" tIns="9144" bIns="9144" anchor="t">
            <a:spAutoFit/>
          </a:bodyPr>
          <a:lstStyle/>
          <a:p>
            <a:pPr algn="l">
              <a:spcAft>
                <a:spcPts val="500"/>
              </a:spcAft>
              <a:defRPr sz="1000" b="0">
                <a:solidFill>
                  <a:srgbClr val="087E83"/>
                </a:solidFill>
                <a:latin typeface="Noto Sans"/>
              </a:defRPr>
            </a:pPr>
            <a:r>
              <a:rPr>
                <a:hlinkClick r:id="rId4"/>
              </a:rPr>
              <a:t>https://scikit-learn.org/stable/modules/ensemble.html</a:t>
            </a:r>
          </a:p>
        </p:txBody>
      </p:sp>
      <p:sp>
        <p:nvSpPr>
          <p:cNvPr id="15" name="TextBox 14"/>
          <p:cNvSpPr txBox="1"/>
          <p:nvPr/>
        </p:nvSpPr>
        <p:spPr>
          <a:xfrm>
            <a:off x="640080" y="3502152"/>
            <a:ext cx="10881360" cy="301752"/>
          </a:xfrm>
          <a:prstGeom prst="rect">
            <a:avLst/>
          </a:prstGeom>
          <a:noFill/>
        </p:spPr>
        <p:txBody>
          <a:bodyPr wrap="square" lIns="9144" rIns="9144" tIns="9144" bIns="9144" anchor="t">
            <a:spAutoFit/>
          </a:bodyPr>
          <a:lstStyle/>
          <a:p>
            <a:pPr algn="l">
              <a:spcAft>
                <a:spcPts val="500"/>
              </a:spcAft>
              <a:defRPr sz="1500" b="1">
                <a:solidFill>
                  <a:srgbClr val="173246"/>
                </a:solidFill>
                <a:latin typeface="Noto Sans"/>
              </a:defRPr>
            </a:pPr>
            <a:r>
              <a:t>[4] scikit-learn — Breast Cancer Wisconsin Diagnostic dataset.</a:t>
            </a:r>
          </a:p>
        </p:txBody>
      </p:sp>
      <p:sp>
        <p:nvSpPr>
          <p:cNvPr id="16" name="TextBox 15"/>
          <p:cNvSpPr txBox="1"/>
          <p:nvPr/>
        </p:nvSpPr>
        <p:spPr>
          <a:xfrm>
            <a:off x="640080" y="3785615"/>
            <a:ext cx="10881360" cy="246888"/>
          </a:xfrm>
          <a:prstGeom prst="rect">
            <a:avLst/>
          </a:prstGeom>
          <a:noFill/>
        </p:spPr>
        <p:txBody>
          <a:bodyPr wrap="square" lIns="9144" rIns="9144" tIns="9144" bIns="9144" anchor="t">
            <a:spAutoFit/>
          </a:bodyPr>
          <a:lstStyle/>
          <a:p>
            <a:pPr algn="l">
              <a:spcAft>
                <a:spcPts val="500"/>
              </a:spcAft>
              <a:defRPr sz="1000" b="0">
                <a:solidFill>
                  <a:srgbClr val="087E83"/>
                </a:solidFill>
                <a:latin typeface="Noto Sans"/>
              </a:defRPr>
            </a:pPr>
            <a:r>
              <a:rPr>
                <a:hlinkClick r:id="rId5"/>
              </a:rPr>
              <a:t>https://scikit-learn.org/stable/modules/generated/sklearn.datasets.load_breast_cancer.html</a:t>
            </a:r>
          </a:p>
        </p:txBody>
      </p:sp>
      <p:sp>
        <p:nvSpPr>
          <p:cNvPr id="17" name="TextBox 16"/>
          <p:cNvSpPr txBox="1"/>
          <p:nvPr/>
        </p:nvSpPr>
        <p:spPr>
          <a:xfrm>
            <a:off x="640080" y="4105656"/>
            <a:ext cx="10881360" cy="301752"/>
          </a:xfrm>
          <a:prstGeom prst="rect">
            <a:avLst/>
          </a:prstGeom>
          <a:noFill/>
        </p:spPr>
        <p:txBody>
          <a:bodyPr wrap="square" lIns="9144" rIns="9144" tIns="9144" bIns="9144" anchor="t">
            <a:spAutoFit/>
          </a:bodyPr>
          <a:lstStyle/>
          <a:p>
            <a:pPr algn="l">
              <a:spcAft>
                <a:spcPts val="500"/>
              </a:spcAft>
              <a:defRPr sz="1500" b="1">
                <a:solidFill>
                  <a:srgbClr val="173246"/>
                </a:solidFill>
                <a:latin typeface="Noto Sans"/>
              </a:defRPr>
            </a:pPr>
            <a:r>
              <a:t>[5] scikit-learn — Decision Trees (Gini impurity, splitting criteria).</a:t>
            </a:r>
          </a:p>
        </p:txBody>
      </p:sp>
      <p:sp>
        <p:nvSpPr>
          <p:cNvPr id="18" name="TextBox 17"/>
          <p:cNvSpPr txBox="1"/>
          <p:nvPr/>
        </p:nvSpPr>
        <p:spPr>
          <a:xfrm>
            <a:off x="640080" y="4389120"/>
            <a:ext cx="10881360" cy="246888"/>
          </a:xfrm>
          <a:prstGeom prst="rect">
            <a:avLst/>
          </a:prstGeom>
          <a:noFill/>
        </p:spPr>
        <p:txBody>
          <a:bodyPr wrap="square" lIns="9144" rIns="9144" tIns="9144" bIns="9144" anchor="t">
            <a:spAutoFit/>
          </a:bodyPr>
          <a:lstStyle/>
          <a:p>
            <a:pPr algn="l">
              <a:spcAft>
                <a:spcPts val="500"/>
              </a:spcAft>
              <a:defRPr sz="1000" b="0">
                <a:solidFill>
                  <a:srgbClr val="087E83"/>
                </a:solidFill>
                <a:latin typeface="Noto Sans"/>
              </a:defRPr>
            </a:pPr>
            <a:r>
              <a:rPr>
                <a:hlinkClick r:id="rId6"/>
              </a:rPr>
              <a:t>https://scikit-learn.org/stable/modules/tree.html</a:t>
            </a:r>
          </a:p>
        </p:txBody>
      </p:sp>
      <p:sp>
        <p:nvSpPr>
          <p:cNvPr id="19" name="TextBox 18"/>
          <p:cNvSpPr txBox="1"/>
          <p:nvPr/>
        </p:nvSpPr>
        <p:spPr>
          <a:xfrm>
            <a:off x="640080" y="4709160"/>
            <a:ext cx="10881360" cy="301752"/>
          </a:xfrm>
          <a:prstGeom prst="rect">
            <a:avLst/>
          </a:prstGeom>
          <a:noFill/>
        </p:spPr>
        <p:txBody>
          <a:bodyPr wrap="square" lIns="9144" rIns="9144" tIns="9144" bIns="9144" anchor="t">
            <a:spAutoFit/>
          </a:bodyPr>
          <a:lstStyle/>
          <a:p>
            <a:pPr algn="l">
              <a:spcAft>
                <a:spcPts val="500"/>
              </a:spcAft>
              <a:defRPr sz="1500" b="1">
                <a:solidFill>
                  <a:srgbClr val="173246"/>
                </a:solidFill>
                <a:latin typeface="Noto Sans"/>
              </a:defRPr>
            </a:pPr>
            <a:r>
              <a:t>[6] Freund &amp; Schapire (1997). A Decision-Theoretic Generalization…</a:t>
            </a:r>
          </a:p>
        </p:txBody>
      </p:sp>
      <p:sp>
        <p:nvSpPr>
          <p:cNvPr id="20" name="TextBox 19"/>
          <p:cNvSpPr txBox="1"/>
          <p:nvPr/>
        </p:nvSpPr>
        <p:spPr>
          <a:xfrm>
            <a:off x="640080" y="4992624"/>
            <a:ext cx="10881360" cy="246888"/>
          </a:xfrm>
          <a:prstGeom prst="rect">
            <a:avLst/>
          </a:prstGeom>
          <a:noFill/>
        </p:spPr>
        <p:txBody>
          <a:bodyPr wrap="square" lIns="9144" rIns="9144" tIns="9144" bIns="9144" anchor="t">
            <a:spAutoFit/>
          </a:bodyPr>
          <a:lstStyle/>
          <a:p>
            <a:pPr algn="l">
              <a:spcAft>
                <a:spcPts val="500"/>
              </a:spcAft>
              <a:defRPr sz="1000" b="0">
                <a:solidFill>
                  <a:srgbClr val="087E83"/>
                </a:solidFill>
                <a:latin typeface="Noto Sans"/>
              </a:defRPr>
            </a:pPr>
            <a:r>
              <a:rPr>
                <a:hlinkClick r:id="rId7"/>
              </a:rPr>
              <a:t>https://doi.org/10.1006/jcss.1997.1504</a:t>
            </a:r>
          </a:p>
        </p:txBody>
      </p:sp>
      <p:sp>
        <p:nvSpPr>
          <p:cNvPr id="21" name="TextBox 20"/>
          <p:cNvSpPr txBox="1"/>
          <p:nvPr/>
        </p:nvSpPr>
        <p:spPr>
          <a:xfrm>
            <a:off x="640080" y="5312664"/>
            <a:ext cx="10881360" cy="301752"/>
          </a:xfrm>
          <a:prstGeom prst="rect">
            <a:avLst/>
          </a:prstGeom>
          <a:noFill/>
        </p:spPr>
        <p:txBody>
          <a:bodyPr wrap="square" lIns="9144" rIns="9144" tIns="9144" bIns="9144" anchor="t">
            <a:spAutoFit/>
          </a:bodyPr>
          <a:lstStyle/>
          <a:p>
            <a:pPr algn="l">
              <a:spcAft>
                <a:spcPts val="500"/>
              </a:spcAft>
              <a:defRPr sz="1500" b="1">
                <a:solidFill>
                  <a:srgbClr val="173246"/>
                </a:solidFill>
                <a:latin typeface="Noto Sans"/>
              </a:defRPr>
            </a:pPr>
            <a:r>
              <a:t>[7] Wolpert (1992). Stacked Generalization. Neural Networks 5(2), 241–259.</a:t>
            </a:r>
          </a:p>
        </p:txBody>
      </p:sp>
      <p:sp>
        <p:nvSpPr>
          <p:cNvPr id="22" name="TextBox 21"/>
          <p:cNvSpPr txBox="1"/>
          <p:nvPr/>
        </p:nvSpPr>
        <p:spPr>
          <a:xfrm>
            <a:off x="640080" y="5596128"/>
            <a:ext cx="10881360" cy="246888"/>
          </a:xfrm>
          <a:prstGeom prst="rect">
            <a:avLst/>
          </a:prstGeom>
          <a:noFill/>
        </p:spPr>
        <p:txBody>
          <a:bodyPr wrap="square" lIns="9144" rIns="9144" tIns="9144" bIns="9144" anchor="t">
            <a:spAutoFit/>
          </a:bodyPr>
          <a:lstStyle/>
          <a:p>
            <a:pPr algn="l">
              <a:spcAft>
                <a:spcPts val="500"/>
              </a:spcAft>
              <a:defRPr sz="1000" b="0">
                <a:solidFill>
                  <a:srgbClr val="087E83"/>
                </a:solidFill>
                <a:latin typeface="Noto Sans"/>
              </a:defRPr>
            </a:pPr>
            <a:r>
              <a:rPr>
                <a:hlinkClick r:id="rId8"/>
              </a:rPr>
              <a:t>https://doi.org/10.1016/S0893-6080(05)80023-1</a:t>
            </a:r>
          </a:p>
        </p:txBody>
      </p:sp>
      <p:sp>
        <p:nvSpPr>
          <p:cNvPr id="23" name="TextBox 22"/>
          <p:cNvSpPr txBox="1"/>
          <p:nvPr/>
        </p:nvSpPr>
        <p:spPr>
          <a:xfrm>
            <a:off x="640080" y="6080760"/>
            <a:ext cx="10881360" cy="228600"/>
          </a:xfrm>
          <a:prstGeom prst="rect">
            <a:avLst/>
          </a:prstGeom>
          <a:noFill/>
        </p:spPr>
        <p:txBody>
          <a:bodyPr wrap="square" lIns="9144" rIns="9144" tIns="9144" bIns="9144" anchor="t">
            <a:spAutoFit/>
          </a:bodyPr>
          <a:lstStyle/>
          <a:p>
            <a:pPr algn="l">
              <a:spcAft>
                <a:spcPts val="500"/>
              </a:spcAft>
              <a:defRPr sz="1100" b="0">
                <a:solidFill>
                  <a:srgbClr val="566A76"/>
                </a:solidFill>
                <a:latin typeface="Noto Sans"/>
              </a:defRPr>
            </a:pPr>
            <a:r>
              <a:t>Số liệu: outputs/results.json • Seeds 42–51 (tham chiếu 42) • NumPy 2.3.5 / scikit-learn 1.8.0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PHỤ LỤC A • DÙNG KHI HỎI ĐÁP</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Câu hỏi thường gặp khi bảo vệ</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Gợi ý trả lời dựa trên mã và thiết kế hiện tại</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25</a:t>
            </a:r>
          </a:p>
        </p:txBody>
      </p:sp>
      <p:sp>
        <p:nvSpPr>
          <p:cNvPr id="9" name="Rounded Rectangle 8"/>
          <p:cNvSpPr/>
          <p:nvPr/>
        </p:nvSpPr>
        <p:spPr>
          <a:xfrm>
            <a:off x="594360" y="1783080"/>
            <a:ext cx="10972800" cy="7040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3291840" cy="438912"/>
          </a:xfrm>
          <a:prstGeom prst="rect">
            <a:avLst/>
          </a:prstGeom>
          <a:noFill/>
        </p:spPr>
        <p:txBody>
          <a:bodyPr wrap="square" lIns="9144" rIns="9144" tIns="9144" bIns="9144" anchor="t">
            <a:spAutoFit/>
          </a:bodyPr>
          <a:lstStyle/>
          <a:p>
            <a:pPr algn="l">
              <a:spcAft>
                <a:spcPts val="500"/>
              </a:spcAft>
              <a:defRPr sz="1800" b="1">
                <a:solidFill>
                  <a:srgbClr val="087E83"/>
                </a:solidFill>
                <a:latin typeface="Noto Sans"/>
              </a:defRPr>
            </a:pPr>
            <a:r>
              <a:t>Vì sao 51 cây?</a:t>
            </a:r>
          </a:p>
        </p:txBody>
      </p:sp>
      <p:sp>
        <p:nvSpPr>
          <p:cNvPr id="11" name="TextBox 10"/>
          <p:cNvSpPr txBox="1"/>
          <p:nvPr/>
        </p:nvSpPr>
        <p:spPr>
          <a:xfrm>
            <a:off x="4206240" y="1911095"/>
            <a:ext cx="7132320" cy="502920"/>
          </a:xfrm>
          <a:prstGeom prst="rect">
            <a:avLst/>
          </a:prstGeom>
          <a:noFill/>
        </p:spPr>
        <p:txBody>
          <a:bodyPr wrap="square" lIns="9144" rIns="9144" tIns="9144" bIns="9144" anchor="t">
            <a:spAutoFit/>
          </a:bodyPr>
          <a:lstStyle/>
          <a:p>
            <a:pPr algn="l">
              <a:spcAft>
                <a:spcPts val="500"/>
              </a:spcAft>
              <a:defRPr sz="1600" b="0">
                <a:solidFill>
                  <a:srgbClr val="173246"/>
                </a:solidFill>
                <a:latin typeface="Noto Sans"/>
              </a:defRPr>
            </a:pPr>
            <a:r>
              <a:t>Minh họa tổ hợp đủ lớn, tránh hòa ở hai lớp; chưa tối ưu số cây.</a:t>
            </a:r>
          </a:p>
        </p:txBody>
      </p:sp>
      <p:sp>
        <p:nvSpPr>
          <p:cNvPr id="12" name="Rounded Rectangle 11"/>
          <p:cNvSpPr/>
          <p:nvPr/>
        </p:nvSpPr>
        <p:spPr>
          <a:xfrm>
            <a:off x="594360" y="2606040"/>
            <a:ext cx="10972800" cy="7040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743200"/>
            <a:ext cx="3291840" cy="438912"/>
          </a:xfrm>
          <a:prstGeom prst="rect">
            <a:avLst/>
          </a:prstGeom>
          <a:noFill/>
        </p:spPr>
        <p:txBody>
          <a:bodyPr wrap="square" lIns="9144" rIns="9144" tIns="9144" bIns="9144" anchor="t">
            <a:spAutoFit/>
          </a:bodyPr>
          <a:lstStyle/>
          <a:p>
            <a:pPr algn="l">
              <a:spcAft>
                <a:spcPts val="500"/>
              </a:spcAft>
              <a:defRPr sz="1800" b="1">
                <a:solidFill>
                  <a:srgbClr val="087E83"/>
                </a:solidFill>
                <a:latin typeface="Noto Sans"/>
              </a:defRPr>
            </a:pPr>
            <a:r>
              <a:t>Vì sao không chuẩn hóa?</a:t>
            </a:r>
          </a:p>
        </p:txBody>
      </p:sp>
      <p:sp>
        <p:nvSpPr>
          <p:cNvPr id="14" name="TextBox 13"/>
          <p:cNvSpPr txBox="1"/>
          <p:nvPr/>
        </p:nvSpPr>
        <p:spPr>
          <a:xfrm>
            <a:off x="4206240" y="2734056"/>
            <a:ext cx="7132320" cy="502920"/>
          </a:xfrm>
          <a:prstGeom prst="rect">
            <a:avLst/>
          </a:prstGeom>
          <a:noFill/>
        </p:spPr>
        <p:txBody>
          <a:bodyPr wrap="square" lIns="9144" rIns="9144" tIns="9144" bIns="9144" anchor="t">
            <a:spAutoFit/>
          </a:bodyPr>
          <a:lstStyle/>
          <a:p>
            <a:pPr algn="l">
              <a:spcAft>
                <a:spcPts val="500"/>
              </a:spcAft>
              <a:defRPr sz="1600" b="0">
                <a:solidFill>
                  <a:srgbClr val="173246"/>
                </a:solidFill>
                <a:latin typeface="Noto Sans"/>
              </a:defRPr>
            </a:pPr>
            <a:r>
              <a:t>Các cây dùng phép chia theo ngưỡng, không dựa vào khoảng cách Euclid.</a:t>
            </a:r>
          </a:p>
        </p:txBody>
      </p:sp>
      <p:sp>
        <p:nvSpPr>
          <p:cNvPr id="15" name="Rounded Rectangle 14"/>
          <p:cNvSpPr/>
          <p:nvPr/>
        </p:nvSpPr>
        <p:spPr>
          <a:xfrm>
            <a:off x="594360" y="3429000"/>
            <a:ext cx="10972800" cy="7040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566160"/>
            <a:ext cx="3291840" cy="438912"/>
          </a:xfrm>
          <a:prstGeom prst="rect">
            <a:avLst/>
          </a:prstGeom>
          <a:noFill/>
        </p:spPr>
        <p:txBody>
          <a:bodyPr wrap="square" lIns="9144" rIns="9144" tIns="9144" bIns="9144" anchor="t">
            <a:spAutoFit/>
          </a:bodyPr>
          <a:lstStyle/>
          <a:p>
            <a:pPr algn="l">
              <a:spcAft>
                <a:spcPts val="500"/>
              </a:spcAft>
              <a:defRPr sz="1800" b="1">
                <a:solidFill>
                  <a:srgbClr val="087E83"/>
                </a:solidFill>
                <a:latin typeface="Noto Sans"/>
              </a:defRPr>
            </a:pPr>
            <a:r>
              <a:t>Test có bị dùng để tuning?</a:t>
            </a:r>
          </a:p>
        </p:txBody>
      </p:sp>
      <p:sp>
        <p:nvSpPr>
          <p:cNvPr id="17" name="TextBox 16"/>
          <p:cNvSpPr txBox="1"/>
          <p:nvPr/>
        </p:nvSpPr>
        <p:spPr>
          <a:xfrm>
            <a:off x="4206240" y="3557016"/>
            <a:ext cx="7132320" cy="502920"/>
          </a:xfrm>
          <a:prstGeom prst="rect">
            <a:avLst/>
          </a:prstGeom>
          <a:noFill/>
        </p:spPr>
        <p:txBody>
          <a:bodyPr wrap="square" lIns="9144" rIns="9144" tIns="9144" bIns="9144" anchor="t">
            <a:spAutoFit/>
          </a:bodyPr>
          <a:lstStyle/>
          <a:p>
            <a:pPr algn="l">
              <a:spcAft>
                <a:spcPts val="500"/>
              </a:spcAft>
              <a:defRPr sz="1600" b="0">
                <a:solidFill>
                  <a:srgbClr val="173246"/>
                </a:solidFill>
                <a:latin typeface="Noto Sans"/>
              </a:defRPr>
            </a:pPr>
            <a:r>
              <a:t>Không. Độ sâu chọn bằng CV trên train; test chỉ đánh giá cuối.</a:t>
            </a:r>
          </a:p>
        </p:txBody>
      </p:sp>
      <p:sp>
        <p:nvSpPr>
          <p:cNvPr id="18" name="Rounded Rectangle 17"/>
          <p:cNvSpPr/>
          <p:nvPr/>
        </p:nvSpPr>
        <p:spPr>
          <a:xfrm>
            <a:off x="594360" y="4251960"/>
            <a:ext cx="10972800" cy="7040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389120"/>
            <a:ext cx="3291840" cy="438912"/>
          </a:xfrm>
          <a:prstGeom prst="rect">
            <a:avLst/>
          </a:prstGeom>
          <a:noFill/>
        </p:spPr>
        <p:txBody>
          <a:bodyPr wrap="square" lIns="9144" rIns="9144" tIns="9144" bIns="9144" anchor="t">
            <a:spAutoFit/>
          </a:bodyPr>
          <a:lstStyle/>
          <a:p>
            <a:pPr algn="l">
              <a:spcAft>
                <a:spcPts val="500"/>
              </a:spcAft>
              <a:defRPr sz="1800" b="1">
                <a:solidFill>
                  <a:srgbClr val="087E83"/>
                </a:solidFill>
                <a:latin typeface="Noto Sans"/>
              </a:defRPr>
            </a:pPr>
            <a:r>
              <a:t>Bagging có luôn tốt hơn?</a:t>
            </a:r>
          </a:p>
        </p:txBody>
      </p:sp>
      <p:sp>
        <p:nvSpPr>
          <p:cNvPr id="20" name="TextBox 19"/>
          <p:cNvSpPr txBox="1"/>
          <p:nvPr/>
        </p:nvSpPr>
        <p:spPr>
          <a:xfrm>
            <a:off x="4206240" y="4379976"/>
            <a:ext cx="7132320" cy="502920"/>
          </a:xfrm>
          <a:prstGeom prst="rect">
            <a:avLst/>
          </a:prstGeom>
          <a:noFill/>
        </p:spPr>
        <p:txBody>
          <a:bodyPr wrap="square" lIns="9144" rIns="9144" tIns="9144" bIns="9144" anchor="t">
            <a:spAutoFit/>
          </a:bodyPr>
          <a:lstStyle/>
          <a:p>
            <a:pPr algn="l">
              <a:spcAft>
                <a:spcPts val="500"/>
              </a:spcAft>
              <a:defRPr sz="1600" b="0">
                <a:solidFill>
                  <a:srgbClr val="173246"/>
                </a:solidFill>
                <a:latin typeface="Noto Sans"/>
              </a:defRPr>
            </a:pPr>
            <a:r>
              <a:t>Không. Lỗi tương quan cao và mô hình cơ sở yếu có thể làm lợi ích thấp.</a:t>
            </a:r>
          </a:p>
        </p:txBody>
      </p:sp>
      <p:sp>
        <p:nvSpPr>
          <p:cNvPr id="21" name="Rounded Rectangle 20"/>
          <p:cNvSpPr/>
          <p:nvPr/>
        </p:nvSpPr>
        <p:spPr>
          <a:xfrm>
            <a:off x="594360" y="5074920"/>
            <a:ext cx="10972800" cy="704088"/>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212080"/>
            <a:ext cx="3291840" cy="438912"/>
          </a:xfrm>
          <a:prstGeom prst="rect">
            <a:avLst/>
          </a:prstGeom>
          <a:noFill/>
        </p:spPr>
        <p:txBody>
          <a:bodyPr wrap="square" lIns="9144" rIns="9144" tIns="9144" bIns="9144" anchor="t">
            <a:spAutoFit/>
          </a:bodyPr>
          <a:lstStyle/>
          <a:p>
            <a:pPr algn="l">
              <a:spcAft>
                <a:spcPts val="500"/>
              </a:spcAft>
              <a:defRPr sz="1800" b="1">
                <a:solidFill>
                  <a:srgbClr val="087E83"/>
                </a:solidFill>
                <a:latin typeface="Noto Sans"/>
              </a:defRPr>
            </a:pPr>
            <a:r>
              <a:t>Vì sao nhấn mạnh recall?</a:t>
            </a:r>
          </a:p>
        </p:txBody>
      </p:sp>
      <p:sp>
        <p:nvSpPr>
          <p:cNvPr id="23" name="TextBox 22"/>
          <p:cNvSpPr txBox="1"/>
          <p:nvPr/>
        </p:nvSpPr>
        <p:spPr>
          <a:xfrm>
            <a:off x="4206240" y="5202936"/>
            <a:ext cx="7132320" cy="502920"/>
          </a:xfrm>
          <a:prstGeom prst="rect">
            <a:avLst/>
          </a:prstGeom>
          <a:noFill/>
        </p:spPr>
        <p:txBody>
          <a:bodyPr wrap="square" lIns="9144" rIns="9144" tIns="9144" bIns="9144" anchor="t">
            <a:spAutoFit/>
          </a:bodyPr>
          <a:lstStyle/>
          <a:p>
            <a:pPr algn="l">
              <a:spcAft>
                <a:spcPts val="500"/>
              </a:spcAft>
              <a:defRPr sz="1600" b="0">
                <a:solidFill>
                  <a:srgbClr val="173246"/>
                </a:solidFill>
                <a:latin typeface="Noto Sans"/>
              </a:defRPr>
            </a:pPr>
            <a:r>
              <a:t>Recall ác tính phản ánh tỷ lệ phát hiện và số ca ác tính bị bỏ sót.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EE"/>
        </a:solidFill>
        <a:effectLst/>
      </p:bgPr>
    </p:bg>
    <p:spTree>
      <p:nvGrpSpPr>
        <p:cNvPr id="1" name=""/>
        <p:cNvGrpSpPr/>
        <p:nvPr/>
      </p:nvGrpSpPr>
      <p:grpSpPr/>
      <p:sp>
        <p:nvSpPr>
          <p:cNvPr id="2" name="Rectangle 1"/>
          <p:cNvSpPr/>
          <p:nvPr/>
        </p:nvSpPr>
        <p:spPr>
          <a:xfrm>
            <a:off x="502920" y="320040"/>
            <a:ext cx="320040" cy="54864"/>
          </a:xfrm>
          <a:prstGeom prst="rect">
            <a:avLst/>
          </a:prstGeom>
          <a:solidFill>
            <a:srgbClr val="087E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41832" y="228600"/>
            <a:ext cx="10241280" cy="274320"/>
          </a:xfrm>
          <a:prstGeom prst="rect">
            <a:avLst/>
          </a:prstGeom>
          <a:noFill/>
        </p:spPr>
        <p:txBody>
          <a:bodyPr wrap="square" lIns="9144" rIns="9144" tIns="9144" bIns="9144" anchor="t">
            <a:spAutoFit/>
          </a:bodyPr>
          <a:lstStyle/>
          <a:p>
            <a:pPr algn="l">
              <a:spcAft>
                <a:spcPts val="500"/>
              </a:spcAft>
              <a:defRPr sz="1000" b="1">
                <a:solidFill>
                  <a:srgbClr val="087E83"/>
                </a:solidFill>
                <a:latin typeface="Noto Sans"/>
              </a:defRPr>
            </a:pPr>
            <a:r>
              <a:t>PHỤ LỤC B • KIỂM TRA PHÉP TÍNH</a:t>
            </a:r>
          </a:p>
        </p:txBody>
      </p:sp>
      <p:sp>
        <p:nvSpPr>
          <p:cNvPr id="4" name="TextBox 3"/>
          <p:cNvSpPr txBox="1"/>
          <p:nvPr/>
        </p:nvSpPr>
        <p:spPr>
          <a:xfrm>
            <a:off x="502920" y="685800"/>
            <a:ext cx="11064240" cy="731520"/>
          </a:xfrm>
          <a:prstGeom prst="rect">
            <a:avLst/>
          </a:prstGeom>
          <a:noFill/>
        </p:spPr>
        <p:txBody>
          <a:bodyPr wrap="square" lIns="9144" rIns="9144" tIns="9144" bIns="9144" anchor="t">
            <a:spAutoFit/>
          </a:bodyPr>
          <a:lstStyle/>
          <a:p>
            <a:pPr algn="l">
              <a:spcAft>
                <a:spcPts val="500"/>
              </a:spcAft>
              <a:defRPr sz="3000" b="1">
                <a:solidFill>
                  <a:srgbClr val="173246"/>
                </a:solidFill>
                <a:latin typeface="Noto Sans"/>
              </a:defRPr>
            </a:pPr>
            <a:r>
              <a:t>Cách tính chỉ số với ác tính là lớp dương</a:t>
            </a:r>
          </a:p>
        </p:txBody>
      </p:sp>
      <p:cxnSp>
        <p:nvCxnSpPr>
          <p:cNvPr id="5" name="Connector 4"/>
          <p:cNvCxnSpPr/>
          <p:nvPr/>
        </p:nvCxnSpPr>
        <p:spPr>
          <a:xfrm>
            <a:off x="502920" y="6446520"/>
            <a:ext cx="11155680" cy="0"/>
          </a:xfrm>
          <a:prstGeom prst="line">
            <a:avLst/>
          </a:prstGeom>
          <a:ln w="8890">
            <a:solidFill>
              <a:srgbClr val="D3DF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1207" y="6519672"/>
            <a:ext cx="4389120" cy="182880"/>
          </a:xfrm>
          <a:prstGeom prst="rect">
            <a:avLst/>
          </a:prstGeom>
          <a:noFill/>
        </p:spPr>
        <p:txBody>
          <a:bodyPr wrap="square" lIns="9144" rIns="9144" tIns="9144" bIns="9144" anchor="t">
            <a:spAutoFit/>
          </a:bodyPr>
          <a:lstStyle/>
          <a:p>
            <a:pPr algn="l">
              <a:spcAft>
                <a:spcPts val="500"/>
              </a:spcAft>
              <a:defRPr sz="800" b="0">
                <a:solidFill>
                  <a:srgbClr val="566A76"/>
                </a:solidFill>
                <a:latin typeface="Noto Sans"/>
              </a:defRPr>
            </a:pPr>
            <a:r>
              <a:t>ĐỀ 5  /  ENSEMBLE LEARNING</a:t>
            </a:r>
          </a:p>
        </p:txBody>
      </p:sp>
      <p:sp>
        <p:nvSpPr>
          <p:cNvPr id="7" name="TextBox 6"/>
          <p:cNvSpPr txBox="1"/>
          <p:nvPr/>
        </p:nvSpPr>
        <p:spPr>
          <a:xfrm>
            <a:off x="4572000" y="6519672"/>
            <a:ext cx="6583680" cy="182880"/>
          </a:xfrm>
          <a:prstGeom prst="rect">
            <a:avLst/>
          </a:prstGeom>
          <a:noFill/>
        </p:spPr>
        <p:txBody>
          <a:bodyPr wrap="square" lIns="9144" rIns="9144" tIns="9144" bIns="9144" anchor="t">
            <a:spAutoFit/>
          </a:bodyPr>
          <a:lstStyle/>
          <a:p>
            <a:pPr algn="r">
              <a:spcAft>
                <a:spcPts val="500"/>
              </a:spcAft>
              <a:defRPr sz="800" b="0">
                <a:solidFill>
                  <a:srgbClr val="566A76"/>
                </a:solidFill>
                <a:latin typeface="Noto Sans"/>
              </a:defRPr>
            </a:pPr>
            <a:r>
              <a:t>Số đếm của Bagging: TP = 49, FN = 4, FP = 3, TN = 87</a:t>
            </a:r>
          </a:p>
        </p:txBody>
      </p:sp>
      <p:sp>
        <p:nvSpPr>
          <p:cNvPr id="8" name="TextBox 7"/>
          <p:cNvSpPr txBox="1"/>
          <p:nvPr/>
        </p:nvSpPr>
        <p:spPr>
          <a:xfrm>
            <a:off x="11247120" y="6492240"/>
            <a:ext cx="411480" cy="228600"/>
          </a:xfrm>
          <a:prstGeom prst="rect">
            <a:avLst/>
          </a:prstGeom>
          <a:noFill/>
        </p:spPr>
        <p:txBody>
          <a:bodyPr wrap="square" lIns="9144" rIns="9144" tIns="9144" bIns="9144" anchor="t">
            <a:spAutoFit/>
          </a:bodyPr>
          <a:lstStyle/>
          <a:p>
            <a:pPr algn="r">
              <a:spcAft>
                <a:spcPts val="500"/>
              </a:spcAft>
              <a:defRPr sz="1000" b="1">
                <a:solidFill>
                  <a:srgbClr val="087E83"/>
                </a:solidFill>
                <a:latin typeface="Noto Sans"/>
              </a:defRPr>
            </a:pPr>
            <a:r>
              <a:t>26</a:t>
            </a:r>
          </a:p>
        </p:txBody>
      </p:sp>
      <p:sp>
        <p:nvSpPr>
          <p:cNvPr id="9" name="Rectangle 8"/>
          <p:cNvSpPr/>
          <p:nvPr/>
        </p:nvSpPr>
        <p:spPr>
          <a:xfrm>
            <a:off x="594360" y="1783080"/>
            <a:ext cx="2720340"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92807"/>
            <a:ext cx="2468880" cy="630936"/>
          </a:xfrm>
          <a:prstGeom prst="rect">
            <a:avLst/>
          </a:prstGeom>
          <a:noFill/>
        </p:spPr>
        <p:txBody>
          <a:bodyPr wrap="square" lIns="9144" rIns="9144" tIns="9144" bIns="9144" anchor="t">
            <a:spAutoFit/>
          </a:bodyPr>
          <a:lstStyle/>
          <a:p>
            <a:pPr algn="l">
              <a:spcAft>
                <a:spcPts val="500"/>
              </a:spcAft>
              <a:defRPr sz="1700" b="1">
                <a:solidFill>
                  <a:srgbClr val="FFFFFF"/>
                </a:solidFill>
                <a:latin typeface="Noto Sans"/>
              </a:defRPr>
            </a:pPr>
            <a:r>
              <a:t>Chỉ số</a:t>
            </a:r>
          </a:p>
        </p:txBody>
      </p:sp>
      <p:sp>
        <p:nvSpPr>
          <p:cNvPr id="11" name="Rectangle 10"/>
          <p:cNvSpPr/>
          <p:nvPr/>
        </p:nvSpPr>
        <p:spPr>
          <a:xfrm>
            <a:off x="3337560" y="1783080"/>
            <a:ext cx="3634740"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0" y="1892807"/>
            <a:ext cx="3383280" cy="630936"/>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Công thức</a:t>
            </a:r>
          </a:p>
        </p:txBody>
      </p:sp>
      <p:sp>
        <p:nvSpPr>
          <p:cNvPr id="13" name="Rectangle 12"/>
          <p:cNvSpPr/>
          <p:nvPr/>
        </p:nvSpPr>
        <p:spPr>
          <a:xfrm>
            <a:off x="6995160" y="1783080"/>
            <a:ext cx="4549140" cy="754380"/>
          </a:xfrm>
          <a:prstGeom prst="rect">
            <a:avLst/>
          </a:prstGeom>
          <a:solidFill>
            <a:srgbClr val="1025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1892807"/>
            <a:ext cx="4297680" cy="630936"/>
          </a:xfrm>
          <a:prstGeom prst="rect">
            <a:avLst/>
          </a:prstGeom>
          <a:noFill/>
        </p:spPr>
        <p:txBody>
          <a:bodyPr wrap="square" lIns="9144" rIns="9144" tIns="9144" bIns="9144" anchor="t">
            <a:spAutoFit/>
          </a:bodyPr>
          <a:lstStyle/>
          <a:p>
            <a:pPr algn="ctr">
              <a:spcAft>
                <a:spcPts val="500"/>
              </a:spcAft>
              <a:defRPr sz="1700" b="1">
                <a:solidFill>
                  <a:srgbClr val="FFFFFF"/>
                </a:solidFill>
                <a:latin typeface="Noto Sans"/>
              </a:defRPr>
            </a:pPr>
            <a:r>
              <a:t>Thay số Bagging</a:t>
            </a:r>
          </a:p>
        </p:txBody>
      </p:sp>
      <p:sp>
        <p:nvSpPr>
          <p:cNvPr id="15" name="Rectangle 14"/>
          <p:cNvSpPr/>
          <p:nvPr/>
        </p:nvSpPr>
        <p:spPr>
          <a:xfrm>
            <a:off x="594360" y="2560320"/>
            <a:ext cx="27203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670048"/>
            <a:ext cx="2468880" cy="630936"/>
          </a:xfrm>
          <a:prstGeom prst="rect">
            <a:avLst/>
          </a:prstGeom>
          <a:noFill/>
        </p:spPr>
        <p:txBody>
          <a:bodyPr wrap="square" lIns="9144" rIns="9144" tIns="9144" bIns="9144" anchor="t">
            <a:spAutoFit/>
          </a:bodyPr>
          <a:lstStyle/>
          <a:p>
            <a:pPr algn="l">
              <a:spcAft>
                <a:spcPts val="500"/>
              </a:spcAft>
              <a:defRPr sz="1700" b="0">
                <a:solidFill>
                  <a:srgbClr val="173246"/>
                </a:solidFill>
                <a:latin typeface="Noto Sans"/>
              </a:defRPr>
            </a:pPr>
            <a:r>
              <a:t>Accuracy</a:t>
            </a:r>
          </a:p>
        </p:txBody>
      </p:sp>
      <p:sp>
        <p:nvSpPr>
          <p:cNvPr id="17" name="Rectangle 16"/>
          <p:cNvSpPr/>
          <p:nvPr/>
        </p:nvSpPr>
        <p:spPr>
          <a:xfrm>
            <a:off x="3337560" y="2560320"/>
            <a:ext cx="36347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4720" y="2670048"/>
            <a:ext cx="3383280" cy="63093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(TP + TN) / N</a:t>
            </a:r>
          </a:p>
        </p:txBody>
      </p:sp>
      <p:sp>
        <p:nvSpPr>
          <p:cNvPr id="19" name="Rectangle 18"/>
          <p:cNvSpPr/>
          <p:nvPr/>
        </p:nvSpPr>
        <p:spPr>
          <a:xfrm>
            <a:off x="6995160" y="2560320"/>
            <a:ext cx="45491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0" y="2670048"/>
            <a:ext cx="4297680" cy="63093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(49 + 87) / 143 = 95,10%</a:t>
            </a:r>
          </a:p>
        </p:txBody>
      </p:sp>
      <p:sp>
        <p:nvSpPr>
          <p:cNvPr id="21" name="Rectangle 20"/>
          <p:cNvSpPr/>
          <p:nvPr/>
        </p:nvSpPr>
        <p:spPr>
          <a:xfrm>
            <a:off x="594360" y="3337560"/>
            <a:ext cx="27203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447288"/>
            <a:ext cx="2468880" cy="630936"/>
          </a:xfrm>
          <a:prstGeom prst="rect">
            <a:avLst/>
          </a:prstGeom>
          <a:noFill/>
        </p:spPr>
        <p:txBody>
          <a:bodyPr wrap="square" lIns="9144" rIns="9144" tIns="9144" bIns="9144" anchor="t">
            <a:spAutoFit/>
          </a:bodyPr>
          <a:lstStyle/>
          <a:p>
            <a:pPr algn="l">
              <a:spcAft>
                <a:spcPts val="500"/>
              </a:spcAft>
              <a:defRPr sz="1700" b="0">
                <a:solidFill>
                  <a:srgbClr val="173246"/>
                </a:solidFill>
                <a:latin typeface="Noto Sans"/>
              </a:defRPr>
            </a:pPr>
            <a:r>
              <a:t>Precision ác tính</a:t>
            </a:r>
          </a:p>
        </p:txBody>
      </p:sp>
      <p:sp>
        <p:nvSpPr>
          <p:cNvPr id="23" name="Rectangle 22"/>
          <p:cNvSpPr/>
          <p:nvPr/>
        </p:nvSpPr>
        <p:spPr>
          <a:xfrm>
            <a:off x="3337560" y="3337560"/>
            <a:ext cx="36347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74720" y="3447288"/>
            <a:ext cx="3383280" cy="63093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TP / (TP + FP)</a:t>
            </a:r>
          </a:p>
        </p:txBody>
      </p:sp>
      <p:sp>
        <p:nvSpPr>
          <p:cNvPr id="25" name="Rectangle 24"/>
          <p:cNvSpPr/>
          <p:nvPr/>
        </p:nvSpPr>
        <p:spPr>
          <a:xfrm>
            <a:off x="6995160" y="3337560"/>
            <a:ext cx="45491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0" y="3447288"/>
            <a:ext cx="4297680" cy="63093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49 / (49 + 3) = 94,23%</a:t>
            </a:r>
          </a:p>
        </p:txBody>
      </p:sp>
      <p:sp>
        <p:nvSpPr>
          <p:cNvPr id="27" name="Rectangle 26"/>
          <p:cNvSpPr/>
          <p:nvPr/>
        </p:nvSpPr>
        <p:spPr>
          <a:xfrm>
            <a:off x="594360" y="4114800"/>
            <a:ext cx="27203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224528"/>
            <a:ext cx="2468880" cy="630936"/>
          </a:xfrm>
          <a:prstGeom prst="rect">
            <a:avLst/>
          </a:prstGeom>
          <a:noFill/>
        </p:spPr>
        <p:txBody>
          <a:bodyPr wrap="square" lIns="9144" rIns="9144" tIns="9144" bIns="9144" anchor="t">
            <a:spAutoFit/>
          </a:bodyPr>
          <a:lstStyle/>
          <a:p>
            <a:pPr algn="l">
              <a:spcAft>
                <a:spcPts val="500"/>
              </a:spcAft>
              <a:defRPr sz="1700" b="0">
                <a:solidFill>
                  <a:srgbClr val="173246"/>
                </a:solidFill>
                <a:latin typeface="Noto Sans"/>
              </a:defRPr>
            </a:pPr>
            <a:r>
              <a:t>Recall ác tính</a:t>
            </a:r>
          </a:p>
        </p:txBody>
      </p:sp>
      <p:sp>
        <p:nvSpPr>
          <p:cNvPr id="29" name="Rectangle 28"/>
          <p:cNvSpPr/>
          <p:nvPr/>
        </p:nvSpPr>
        <p:spPr>
          <a:xfrm>
            <a:off x="3337560" y="4114800"/>
            <a:ext cx="36347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0" y="4224528"/>
            <a:ext cx="3383280" cy="63093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TP / (TP + FN)</a:t>
            </a:r>
          </a:p>
        </p:txBody>
      </p:sp>
      <p:sp>
        <p:nvSpPr>
          <p:cNvPr id="31" name="Rectangle 30"/>
          <p:cNvSpPr/>
          <p:nvPr/>
        </p:nvSpPr>
        <p:spPr>
          <a:xfrm>
            <a:off x="6995160" y="4114800"/>
            <a:ext cx="45491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0" y="4224528"/>
            <a:ext cx="4297680" cy="63093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49 / (49 + 4) = 92,45%</a:t>
            </a:r>
          </a:p>
        </p:txBody>
      </p:sp>
      <p:sp>
        <p:nvSpPr>
          <p:cNvPr id="33" name="Rectangle 32"/>
          <p:cNvSpPr/>
          <p:nvPr/>
        </p:nvSpPr>
        <p:spPr>
          <a:xfrm>
            <a:off x="594360" y="4892040"/>
            <a:ext cx="27203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001768"/>
            <a:ext cx="2468880" cy="630936"/>
          </a:xfrm>
          <a:prstGeom prst="rect">
            <a:avLst/>
          </a:prstGeom>
          <a:noFill/>
        </p:spPr>
        <p:txBody>
          <a:bodyPr wrap="square" lIns="9144" rIns="9144" tIns="9144" bIns="9144" anchor="t">
            <a:spAutoFit/>
          </a:bodyPr>
          <a:lstStyle/>
          <a:p>
            <a:pPr algn="l">
              <a:spcAft>
                <a:spcPts val="500"/>
              </a:spcAft>
              <a:defRPr sz="1700" b="0">
                <a:solidFill>
                  <a:srgbClr val="173246"/>
                </a:solidFill>
                <a:latin typeface="Noto Sans"/>
              </a:defRPr>
            </a:pPr>
            <a:r>
              <a:t>F1 ác tính</a:t>
            </a:r>
          </a:p>
        </p:txBody>
      </p:sp>
      <p:sp>
        <p:nvSpPr>
          <p:cNvPr id="35" name="Rectangle 34"/>
          <p:cNvSpPr/>
          <p:nvPr/>
        </p:nvSpPr>
        <p:spPr>
          <a:xfrm>
            <a:off x="3337560" y="4892040"/>
            <a:ext cx="36347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74720" y="5001768"/>
            <a:ext cx="3383280" cy="63093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2TP / (2TP + FP + FN)</a:t>
            </a:r>
          </a:p>
        </p:txBody>
      </p:sp>
      <p:sp>
        <p:nvSpPr>
          <p:cNvPr id="37" name="Rectangle 36"/>
          <p:cNvSpPr/>
          <p:nvPr/>
        </p:nvSpPr>
        <p:spPr>
          <a:xfrm>
            <a:off x="6995160" y="4892040"/>
            <a:ext cx="4549140"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0" y="5001768"/>
            <a:ext cx="4297680" cy="630936"/>
          </a:xfrm>
          <a:prstGeom prst="rect">
            <a:avLst/>
          </a:prstGeom>
          <a:noFill/>
        </p:spPr>
        <p:txBody>
          <a:bodyPr wrap="square" lIns="9144" rIns="9144" tIns="9144" bIns="9144" anchor="t">
            <a:spAutoFit/>
          </a:bodyPr>
          <a:lstStyle/>
          <a:p>
            <a:pPr algn="ctr">
              <a:spcAft>
                <a:spcPts val="500"/>
              </a:spcAft>
              <a:defRPr sz="1700" b="0">
                <a:solidFill>
                  <a:srgbClr val="173246"/>
                </a:solidFill>
                <a:latin typeface="Noto Sans"/>
              </a:defRPr>
            </a:pPr>
            <a:r>
              <a:t>98 / (98 + 3 + 4) = 93,33%</a:t>
            </a:r>
          </a:p>
        </p:txBody>
      </p:sp>
      <p:sp>
        <p:nvSpPr>
          <p:cNvPr id="39" name="TextBox 38"/>
          <p:cNvSpPr txBox="1"/>
          <p:nvPr/>
        </p:nvSpPr>
        <p:spPr>
          <a:xfrm>
            <a:off x="685800" y="5943600"/>
            <a:ext cx="10789920" cy="320040"/>
          </a:xfrm>
          <a:prstGeom prst="rect">
            <a:avLst/>
          </a:prstGeom>
          <a:noFill/>
        </p:spPr>
        <p:txBody>
          <a:bodyPr wrap="square" lIns="9144" rIns="9144" tIns="9144" bIns="9144" anchor="t">
            <a:spAutoFit/>
          </a:bodyPr>
          <a:lstStyle/>
          <a:p>
            <a:pPr algn="l">
              <a:spcAft>
                <a:spcPts val="500"/>
              </a:spcAft>
              <a:defRPr sz="1700" b="1">
                <a:solidFill>
                  <a:srgbClr val="087E83"/>
                </a:solidFill>
                <a:latin typeface="Noto Sans"/>
              </a:defRPr>
            </a:pPr>
            <a:r>
              <a:t>Balanced accuracy dùng trong CV = (Recall ác tính + Recall lành tính) /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Đề 5 — Ensemble Learning</dc:title>
  <dc:subject>Tiểu luận giữa kỳ — Nhập môn học máy</dc:subject>
  <dc:creator>Nhóm trình bày (bổ sung tên thành viên)</dc:creator>
  <cp:keywords>Ensemble Learning, Bagging, Voting, Boosting, Stacking</cp:keywords>
  <dc:description>Generated from verified local experiment results; speaker notes included.</dc:description>
  <cp:lastModifiedBy>Steve Canny</cp:lastModifiedBy>
  <cp:revision>1</cp:revision>
  <dcterms:created xsi:type="dcterms:W3CDTF">2013-01-27T09:14:16Z</dcterms:created>
  <dcterms:modified xsi:type="dcterms:W3CDTF">2013-01-27T09:15:58Z</dcterms:modified>
  <cp:category/>
</cp:coreProperties>
</file>