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2"/>
  <c:chart>
    <c:autoTitleDeleted val="1"/>
    <c:plotArea>
      <c:lineChart>
        <c:grouping val="standard"/>
        <c:varyColors val="0"/>
        <c:ser>
          <c:idx val="0"/>
          <c:order val="0"/>
          <c:tx>
            <c:strRef>
              <c:f>Sheet1!$B$1</c:f>
              <c:strCache>
                <c:ptCount val="1"/>
                <c:pt idx="0">
                  <c:v>Balanced accuracy CV</c:v>
                </c:pt>
              </c:strCache>
            </c:strRef>
          </c:tx>
          <c:spPr>
            <a:ln w="29209">
              <a:solidFill>
                <a:srgbClr val="087F82"/>
              </a:solidFill>
            </a:ln>
          </c:spPr>
          <c:marker>
            <c:symbol val="circle"/>
            <c:size val="8"/>
            <c:spPr>
              <a:solidFill>
                <a:srgbClr val="087F82"/>
              </a:solidFill>
              <a:ln>
                <a:solidFill>
                  <a:srgbClr val="FFFFFF"/>
                </a:solidFill>
              </a:ln>
            </c:spPr>
          </c:marker>
          <c:dLbls>
            <c:dLbl>
              <c:idx val="0"/>
              <c:tx>
                <c:rich>
                  <a:bodyPr/>
                  <a:lstStyle/>
                  <a:p>
                    <a:pPr>
                      <a:defRPr sz="1400">
                        <a:solidFill>
                          <a:srgbClr val="087F82"/>
                        </a:solidFill>
                        <a:latin typeface="Noto Sans"/>
                      </a:defRPr>
                    </a:pPr>
                    <a:r>
                      <a:t>92,33</a:t>
                    </a:r>
                  </a:p>
                </c:rich>
              </c:tx>
              <c:showLegendKey val="0"/>
              <c:showVal val="1"/>
              <c:showCatName val="0"/>
              <c:showSerName val="0"/>
              <c:showPercent val="0"/>
              <c:showBubbleSize val="0"/>
            </c:dLbl>
            <c:dLbl>
              <c:idx val="1"/>
              <c:tx>
                <c:rich>
                  <a:bodyPr/>
                  <a:lstStyle/>
                  <a:p>
                    <a:pPr>
                      <a:defRPr sz="1400">
                        <a:solidFill>
                          <a:srgbClr val="087F82"/>
                        </a:solidFill>
                        <a:latin typeface="Noto Sans"/>
                      </a:defRPr>
                    </a:pPr>
                    <a:r>
                      <a:t>92,83</a:t>
                    </a:r>
                  </a:p>
                </c:rich>
              </c:tx>
              <c:showLegendKey val="0"/>
              <c:showVal val="1"/>
              <c:showCatName val="0"/>
              <c:showSerName val="0"/>
              <c:showPercent val="0"/>
              <c:showBubbleSize val="0"/>
            </c:dLbl>
            <c:dLbl>
              <c:idx val="2"/>
              <c:tx>
                <c:rich>
                  <a:bodyPr/>
                  <a:lstStyle/>
                  <a:p>
                    <a:pPr>
                      <a:defRPr sz="1400">
                        <a:solidFill>
                          <a:srgbClr val="087F82"/>
                        </a:solidFill>
                        <a:latin typeface="Noto Sans"/>
                      </a:defRPr>
                    </a:pPr>
                    <a:r>
                      <a:t>94,44</a:t>
                    </a:r>
                  </a:p>
                </c:rich>
              </c:tx>
              <c:showLegendKey val="0"/>
              <c:showVal val="1"/>
              <c:showCatName val="0"/>
              <c:showSerName val="0"/>
              <c:showPercent val="0"/>
              <c:showBubbleSize val="0"/>
            </c:dLbl>
            <c:dLbl>
              <c:idx val="3"/>
              <c:tx>
                <c:rich>
                  <a:bodyPr/>
                  <a:lstStyle/>
                  <a:p>
                    <a:pPr>
                      <a:defRPr sz="1400">
                        <a:solidFill>
                          <a:srgbClr val="087F82"/>
                        </a:solidFill>
                        <a:latin typeface="Noto Sans"/>
                      </a:defRPr>
                    </a:pPr>
                    <a:r>
                      <a:t>94,88</a:t>
                    </a:r>
                  </a:p>
                </c:rich>
              </c:tx>
              <c:showLegendKey val="0"/>
              <c:showVal val="1"/>
              <c:showCatName val="0"/>
              <c:showSerName val="0"/>
              <c:showPercent val="0"/>
              <c:showBubbleSize val="0"/>
            </c:dLbl>
            <c:dLbl>
              <c:idx val="4"/>
              <c:tx>
                <c:rich>
                  <a:bodyPr/>
                  <a:lstStyle/>
                  <a:p>
                    <a:pPr>
                      <a:defRPr sz="1400">
                        <a:solidFill>
                          <a:srgbClr val="087F82"/>
                        </a:solidFill>
                        <a:latin typeface="Noto Sans"/>
                      </a:defRPr>
                    </a:pPr>
                    <a:r>
                      <a:t>95,26</a:t>
                    </a:r>
                  </a:p>
                </c:rich>
              </c:tx>
              <c:showLegendKey val="0"/>
              <c:showVal val="1"/>
              <c:showCatName val="0"/>
              <c:showSerName val="0"/>
              <c:showPercent val="0"/>
              <c:showBubbleSize val="0"/>
            </c:dLbl>
            <c:dLbl>
              <c:idx val="5"/>
              <c:tx>
                <c:rich>
                  <a:bodyPr/>
                  <a:lstStyle/>
                  <a:p>
                    <a:pPr>
                      <a:defRPr sz="1400">
                        <a:solidFill>
                          <a:srgbClr val="087F82"/>
                        </a:solidFill>
                        <a:latin typeface="Noto Sans"/>
                      </a:defRPr>
                    </a:pPr>
                    <a:r>
                      <a:t>95,07</a:t>
                    </a:r>
                  </a:p>
                </c:rich>
              </c:tx>
              <c:showLegendKey val="0"/>
              <c:showVal val="1"/>
              <c:showCatName val="0"/>
              <c:showSerName val="0"/>
              <c:showPercent val="0"/>
              <c:showBubbleSize val="0"/>
            </c:dLbl>
            <c:numFmt formatCode="0.00" sourceLinked="0"/>
            <c:txPr>
              <a:bodyPr/>
              <a:lstStyle/>
              <a:p>
                <a:pPr>
                  <a:defRPr sz="1400">
                    <a:solidFill>
                      <a:srgbClr val="087F82"/>
                    </a:solidFill>
                    <a:latin typeface="Noto Sans"/>
                  </a:defRPr>
                </a:pPr>
              </a:p>
            </c:txPr>
            <c:dLblPos val="t"/>
            <c:showLegendKey val="0"/>
            <c:showVal val="1"/>
            <c:showCatName val="0"/>
            <c:showSerName val="0"/>
            <c:showPercent val="0"/>
            <c:showBubbleSize val="0"/>
            <c:showLeaderLines val="1"/>
          </c:dLbls>
          <c:cat>
            <c:strRef>
              <c:f>Sheet1!$A$2:$A$7</c:f>
              <c:strCache>
                <c:ptCount val="6"/>
                <c:pt idx="0">
                  <c:v>1</c:v>
                </c:pt>
                <c:pt idx="1">
                  <c:v>5</c:v>
                </c:pt>
                <c:pt idx="2">
                  <c:v>11</c:v>
                </c:pt>
                <c:pt idx="3">
                  <c:v>21</c:v>
                </c:pt>
                <c:pt idx="4">
                  <c:v>51</c:v>
                </c:pt>
                <c:pt idx="5">
                  <c:v>101</c:v>
                </c:pt>
              </c:strCache>
            </c:strRef>
          </c:cat>
          <c:val>
            <c:numRef>
              <c:f>Sheet1!$B$2:$B$7</c:f>
              <c:numCache>
                <c:formatCode>General</c:formatCode>
                <c:ptCount val="6"/>
                <c:pt idx="0">
                  <c:v>92.3250786163522</c:v>
                </c:pt>
                <c:pt idx="1">
                  <c:v>92.8286600279525</c:v>
                </c:pt>
                <c:pt idx="2">
                  <c:v>94.44204227812719</c:v>
                </c:pt>
                <c:pt idx="3">
                  <c:v>94.881857092942</c:v>
                </c:pt>
                <c:pt idx="4">
                  <c:v>95.2557215234102</c:v>
                </c:pt>
                <c:pt idx="5">
                  <c:v>95.06704227812719</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400">
                <a:latin typeface="Noto Sans"/>
              </a:defRPr>
            </a:pPr>
          </a:p>
        </c:txPr>
        <c:crossAx val="2140495176"/>
        <c:crosses val="autoZero"/>
        <c:auto val="1"/>
        <c:lblAlgn val="ctr"/>
        <c:lblOffset val="100"/>
        <c:noMultiLvlLbl val="0"/>
      </c:catAx>
      <c:valAx>
        <c:axId val="2140495176"/>
        <c:scaling>
          <c:max val="98.0"/>
          <c:min val="90.0"/>
        </c:scaling>
        <c:delete val="0"/>
        <c:axPos val="l"/>
        <c:majorGridlines>
          <c:spPr>
            <a:ln>
              <a:solidFill>
                <a:srgbClr val="DCE4EB"/>
              </a:solidFill>
            </a:ln>
          </c:spPr>
        </c:majorGridlines>
        <c:majorTickMark val="out"/>
        <c:minorTickMark val="none"/>
        <c:tickLblPos val="nextTo"/>
        <c:txPr>
          <a:bodyPr/>
          <a:lstStyle/>
          <a:p>
            <a:pPr>
              <a:defRPr sz="1300">
                <a:latin typeface="Noto Sans"/>
              </a:defRPr>
            </a:pPr>
          </a:p>
        </c:txPr>
        <c:crossAx val="2118791784"/>
        <c:crosses val="autoZero"/>
        <c:majorUnit val="2.0"/>
      </c:valAx>
    </c:plotArea>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Nguyễn Nghĩa Hiếu.</a:t>
            </a:r>
          </a:p>
          <a:p/>
          <a:p>
            <a:r>
              <a:t>Mở đầu bằng câu hỏi: khi một cây quyết định nhạy với dữ liệu, kết hợp nhiều cây có giúp cải thiện dự đoán không? Báo cáo tập trung vào Bagging. Nhóm tự triển khai bootstrap, hard voting và OOB; cây cơ sở dùng scikit-learn. Sơ đồ trên bìa minh họa cơ chế kết hợp, không biểu diễn những cây đã học cụ thể. Bộ slide gồm 24 trang chính và 4 trang dự phòng cho hỏi đáp. Thời lượng luyện tập gợi ý là 18–22 phút, không phải quy định của đề bài.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Nguyễn Nghĩa Hiếu.</a:t>
            </a:r>
          </a:p>
          <a:p/>
          <a:p>
            <a:r>
              <a:t>Ba câu hỏi dẫn dắt toàn bộ phần thực nghiệm: Bagging cải thiện so với cây đơn đến mức nào; tăng số cây có tiếp tục có lợi; và đa dạng hơn có luôn tạo tổ hợp tốt hơn? Các mô hình được so sánh trong cùng lần chia để giữ chung điều kiện train/test. Khảo sát số cây và đối chứng được thực hiện bổ sung sau thí nghiệm gốc, chưa phải nghiên cứu xác nhận được thiết kế trước. Bagging và Random Forest là những phương pháp đã công bố, không phải phương pháp mới do nhóm đề xuất.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Nguyễn Nghĩa Hiếu.</a:t>
            </a:r>
          </a:p>
          <a:p/>
          <a:p>
            <a:r>
              <a:t>Bagging tạo nhiều mẫu bootstrap để học các mô hình cơ sở. Boosting xây dựng một chuỗi mô hình nhằm xử lý sai sót hoặc giảm hàm mất mát. Voting là quy tắc kết hợp nhãn hay xác suất; Stacking học một bộ kết hợp từ dự đoán ngoài fold. Các hướng này không hoàn toàn tách rời: Bagging cũng cần quy tắc tổng hợp. Bài chỉ thực nghiệm sâu Bagging và Random Forest. Boosting, Stacking được giới thiệu tổng quan; chi tiết minh họa nằm ở slide dự phòng 27.</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Nguyễn Nghĩa Hiếu.</a:t>
            </a:r>
          </a:p>
          <a:p/>
          <a:p>
            <a:r>
              <a:t>Mỗi bootstrap có N lượt lấy có hoàn lại, nên một quan sát có thể lặp hoặc không xuất hiện. Mỗi cây học trên bootstrap riêng rồi cùng dự đoán một quan sát mới. Các cây học độc lập về quy trình, không có nghĩa dự đoán của chúng độc lập thống kê. Mã minh họa huấn luyện tuần tự. Mô hình tham chiếu có N = 426, B = 51 và max_depth = 3. Số cây lẻ tránh hòa trong bài toán hai lớp; khi có nhiều lớp vẫn có thể hòa, mã chọn lớp đầu trong classes_.</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Nguyễn Nghĩa Hiếu.</a:t>
            </a:r>
          </a:p>
          <a:p/>
          <a:p>
            <a:r>
              <a:t>Ví dụ gồm x = [1, 2, 3, 4, 5] và y = [1, 1, 0, 0, 0], với nhãn 1 là lành, nhãn 0 là ác. Các chỉ số hàng bắt đầu từ 0. Ba bootstrap được chọn cố định để dễ tính tay: h₁ vắng hàng 3, h₂ vắng hàng 2 và h₃ vắng hàng 0. Đây là dữ liệu giả lập, không đại diện cho một đặc trưng y tế cụ thể. Trong thí nghiệm chính, bootstrap vẫn được sinh ngẫu nhiên có hoàn lại theo seed.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Nguyễn Nghĩa Hiếu.</a:t>
            </a:r>
          </a:p>
          <a:p/>
          <a:p>
            <a:r>
              <a:t>Bootstrap của h₁ có các giá trị [1, 1, 3, 5, 2], gồm ba nhãn lành và hai nhãn ác. Gini ban đầu bằng 0,48. Các ngưỡng ứng viên là 1,5; 2,5 và 4,0, cho Gini sau chia lần lượt 0,2667; 0 và 0,30. Ngưỡng 2,5 có mức giảm lớn nhất nên được chọn. h₂ thiếu x = 3 nên học ngưỡng 3,0; h₃ có ngưỡng 2,5. Phép tính được đối chiếu với cây một mức của scikit-learn, không phải bộ học cây do nhóm tự cài từ đầu.</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Nguyễn Nghĩa Hiếu.</a:t>
            </a:r>
          </a:p>
          <a:p/>
          <a:p>
            <a:r>
              <a:t>Đưa cùng quan sát mới x = 2,8 qua ba cây. Với h₁ và h₃, giá trị này lớn hơn ngưỡng 2,5 nên dự đoán ác, nhãn 0. Với h₂, 2,8 nhỏ hơn hoặc bằng ngưỡng 3,0 nên dự đoán lành, nhãn 1. Tổ hợp có hai phiếu ác và một phiếu lành, vì vậy chọn nhãn 0. Đây chỉ là minh họa quy tắc đa số. Mẫu mới chưa có nhãn thật, nên chưa thể kết luận dự đoán đúng hay sai; tỷ lệ phiếu cũng chưa phải xác suất bệnh.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Nguyễn Nghĩa Hiếu.</a:t>
            </a:r>
          </a:p>
          <a:p/>
          <a:p>
            <a:r>
              <a:t>Đây là ví dụ giả định để phân biệt hai quy tắc tổng hợp, khác với ví dụ tính tay trước. Hard voting chỉ đếm nhãn nên chọn ác với hai trong ba phiếu. Soft voting lấy trung bình xác suất: (0,51 + 0,51 + 0,01)/3 ≈ 0,3433 cho lớp ác, tương ứng khoảng 0,6567 cho lớp lành, nên chọn lành. Hai quy tắc có thể cho kết quả khác; soft không tự động tốt hơn hard. Phần đối chứng ở slide 21 kiểm tra chúng trên cùng các cây đã học thực tế.</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Nguyễn Nghĩa Hiếu.</a:t>
            </a:r>
          </a:p>
          <a:p/>
          <a:p>
            <a:r>
              <a:t>Mỗi quan sát chỉ nhận phiếu OOB từ các cây chưa lấy nó vào bootstrap. Hàng chưa có phiếu được giữ không xác định, tránh dùng argmax trên hàng toàn 0. Lần tham chiếu có coverage 100% và 401/426 dự đoán đúng. Với N = 426, xác suất vắng trong một bootstrap khoảng 36,74%. Số quan sát khác nhau kỳ vọng là 269,47, thực tế trung bình 268,04; số phiếu OOB kỳ vọng mỗi mẫu là 18,74, thực tế 18,91. Coverage khác accuracy. OOB được tính sau chọn độ sâu nên chưa độc lập hoàn toàn với tuning.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Nguyễn Nghĩa Hiếu.</a:t>
            </a:r>
          </a:p>
          <a:p/>
          <a:p>
            <a:r>
              <a:t>Bộ dữ liệu có 569 quan sát, gồm 212 mẫu ác tính và 357 mẫu lành tính. Mỗi quan sát được mô tả bằng 30 đặc trưng số của nhân tế bào, như radius, texture và perimeter; đầu vào không phải ảnh gốc. Các mô hình dựa trên cây không yêu cầu chuẩn hóa thang đo như mô hình dùng khoảng cách. Báo cáo quy ước ác tính là lớp dương dù có mã 0, nên khi tính precision, recall và F1 cần đặt pos_label = 0. Đây là minh họa học máy, chưa có xác thực lâm sàng.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Nguyễn Nghĩa Hiếu.</a:t>
            </a:r>
          </a:p>
          <a:p/>
          <a:p>
            <a:r>
              <a:t>Mỗi seed chia dữ liệu theo tỷ lệ 75/25 và phân tầng theo nhãn. Tại seed 42, CV trên train cho balanced accuracy trung bình của độ sâu 2–6 lần lượt là 91,75%; 93,73%; 92,42%; 92,55% và 92,05%, nên chọn độ sâu 3. Các seed từ 42 đến 51 đều lặp lại quy trình chọn độ sâu chỉ trên train rồi đánh giá trên test tương ứng. Độ sâu được dùng chung cho ba mô hình, chưa tuning riêng. Cấu hình 51 cây được cố định ban đầu; khảo sát số cây được thực hiện bổ sung sau đó.</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Nguyễn Nghĩa Hiếu.</a:t>
            </a:r>
          </a:p>
          <a:p/>
          <a:p>
            <a:r>
              <a:t>Đoạn trích nằm trong phương thức fit; X ở đây chỉ chứa train. Nhãn encoded được tạo bằng np.unique(y, return_inverse=True), giúp đưa các lớp về chỉ số liên tiếp. Bộ sinh rng khởi tạo từ random_state, rồi sinh n_samples chỉ số có hoàn lại và seed cho từng cây. Mỗi cây học X và nhãn trên cùng chỉ số bootstrap. Mã đầy đủ còn lưu estimators_samples_ để truy vết và tính OOB. Cây DecisionTreeClassifier dùng thư viện; phần nhóm tự triển khai là tổ chức lấy mẫu, nhiều cây và quản lý phiếu.</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Nguyễn Nghĩa Hiếu.</a:t>
            </a:r>
          </a:p>
          <a:p/>
          <a:p>
            <a:r>
              <a:t>Các cây học nhãn mã hóa nên predict trả về chỉ số cột lớp. np.add.at cộng một phiếu vào đúng hàng và cột; argmax chọn lớp nhiều phiếu nhất, rồi self.classes_ ánh xạ về nhãn gốc. Trong mã đầy đủ, votes và predict là hai phương thức riêng; slide gộp để giải thích. Bộ mã đạt 26/26 kiểm thử, gồm hard/soft khác nhãn, cây học một lớp và phép đo bất đồng. Chuyển lời cho thành viên thứ hai: từ cơ chế đã kiểm chứng, phần tiếp theo xem các cây hoạt động ra sao trên dữ liệu thực.</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Trần Quốc Bảo.</a:t>
            </a:r>
          </a:p>
          <a:p/>
          <a:p>
            <a:r>
              <a:t>Ở seed 42, cây đơn đúng 135/143 mẫu, Bagging và Random Forest đúng 136/143 mẫu. Precision ác tính tương ứng là 94,12% và 94,23%. Bagging và RF có cùng chỉ số tổng hợp nhưng khác dự đoán ở hai hàng dữ liệu 291 và 128, nên chưa thể kết luận chúng tương đương. RF của scikit-learn xét ngẫu nhiên đặc trưng theo sqrt và trung bình xác suất; Bagging xét toàn bộ đặc trưng và dùng hard voting. Đối chiếu gốc vì vậy thay nhiều thành phần; phần sau sẽ tách chúng bằng thiết kế đối chứng.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Trần Quốc Bảo.</a:t>
            </a:r>
          </a:p>
          <a:p/>
          <a:p>
            <a:r>
              <a:t>Đọc ma trận theo hàng nhãn thật và cột dự đoán, thứ tự ác tính rồi lành tính. So với cây đơn, Bagging có TP tăng từ 48 lên 49 và FN giảm từ 5 xuống 4; FP vẫn bằng 3, TN vẫn bằng 87. Recall ác tính tăng từ 48/53 = 90,57% lên 49/53 = 92,45%. FP là mẫu lành bị dự đoán ác. Đây là số đếm của một lần chia, chưa chứng minh Bagging luôn giảm bỏ sót. Cần đọc cả precision, recall và các loại lỗi, thay vì chỉ accuracy.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Trần Quốc Bảo.</a:t>
            </a:r>
          </a:p>
          <a:p/>
          <a:p>
            <a:r>
              <a:t>Trung bình được trình bày theo phần trăm; SD mẫu theo điểm phần trăm. Mỗi seed đều chia lại 75/25 có phân tầng và chọn độ sâu trên train. Khi so accuracy trong cùng seed, Bagging cao hơn cây đơn 9 lần, bằng 1 lần, thấp hơn 0 lần; chênh lệch trung bình khoảng +1,96 điểm phần trăm. So với RF, các số tương ứng là 2, 4 và 4, chênh lệch trung bình −0,28 điểm phần trăm. Các holdout có thể giao nhau, nên không coi là mười phép thử độc lập hay suy ra giá trị p từ số lần thắng.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Trần Quốc Bảo.</a:t>
            </a:r>
          </a:p>
          <a:p/>
          <a:p>
            <a:r>
              <a:t>Khảo sát chỉ dùng 426 mẫu train của seed 42, với năm fold ngoài. Trong phần học của mỗi fold, CV năm fold chọn độ sâu bằng cây đơn; các độ sâu là [2, 6, 2, 2, 6]. Các cấu hình B = [1, 5, 11, 21, 51, 101] dùng chung độ sâu và chuỗi seed tương ứng. Balanced accuracy trung bình tăng đến 95,26% ở 51 cây, rồi còn 95,07% ở 101 cây. SD tại 51 cây là 2,45 điểm phần trăm, không phải khoảng tin cậy. Đây là khảo sát bổ sung, chưa chứng minh 51 tối ưu tổng quát.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Trần Quốc Bảo.</a:t>
            </a:r>
          </a:p>
          <a:p/>
          <a:p>
            <a:r>
              <a:t>Quan sát được chọn có chỉ số test 2, tức mẫu thứ ba khi bắt đầu đếm từ 0, tương ứng hàng dữ liệu 291. Nhãn thật là lành tính, nhãn 1. Bagging nhận 27 phiếu ác và 24 phiếu lành, nên chọn nhãn 0 và tạo lỗi dương tính giả. Biên phiếu bằng 3/51 ≈ 0,0588; chênh lệch hai tỷ lệ là 5,88 điểm phần trăm, chưa phải xác suất bệnh đã hiệu chỉnh. RF dự đoán đúng mẫu này nhưng sai hàng 128, nên tổng FP vẫn bằng 3. Truy vết hai cây ở slide 25.</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Trần Quốc Bảo.</a:t>
            </a:r>
          </a:p>
          <a:p/>
          <a:p>
            <a:r>
              <a:t>Ba đặc trưng được chọn từ tần suất xuất hiện tại nút gốc trên train: worst perimeter ở 16 cây, worst concave points ở 14 cây và worst radius ở 9 cây. Giá trị của mẫu 291 lần lượt là 109,10; 0,14890 và 16,25, đều nằm giữa trung vị hai lớp, đồng thời giữa Q3 lớp lành và Q1 lớp ác. Hộp biểu diễn Q1–Q3, vạch là trung vị, hình thoi là mẫu lỗi. Mỗi hàng có thang đo riêng, không so chiều dài giữa các đặc trưng. Phân tích này chưa xác định nguyên nhân y khoa.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Trần Quốc Bảo.</a:t>
            </a:r>
          </a:p>
          <a:p/>
          <a:p>
            <a:r>
              <a:t>Thiết kế 2 × 2 thay đổi cách xét đặc trưng và quy tắc tổng hợp, chỉ trên train của seed 42. Cả bốn cấu hình dùng cùng năm fold ngoài. Trong phần học mỗi fold, CV năm fold chọn độ sâu bằng cây đơn rồi dùng chung. Khi đổi all thành sqrt, giữ nguyên bootstrap và seed từng cây. Trong mỗi nhóm đặc trưng, hard và soft sử dụng chính những cây đã học, không huấn luyện lại khi đổi quy tắc. Đây là đối chứng bổ sung ở độ sâu được kiểm soát, chưa tuning riêng từng biến thể.</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Trần Quốc Bảo.</a:t>
            </a:r>
          </a:p>
          <a:p/>
          <a:p>
            <a:r>
              <a:t>Balanced accuracy của all/hard và all/soft đều là 95,26 ± 2,45%; sqrt/hard là 93,62 ± 3,48%, sqrt/soft là 93,44 ± 3,77%. Trung bình được tính từ chỉ số của từng fold, không phải chỉ số gộp 426 dự đoán. SD theo điểm phần trăm, chưa phải khoảng tin cậy. Kết quả chưa chứng minh soft luôn kém hard hoặc hai quy tắc luôn tương đương. Các nhóm sqrt là Bagging ngẫu nhiên hóa đặc trưng tự xây, không đồng nhất với RF của scikit-learn. Báo cáo chưa kiểm định ý nghĩa thống kê của chênh lệch.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Trần Quốc Bảo.</a:t>
            </a:r>
          </a:p>
          <a:p/>
          <a:p>
            <a:r>
              <a:t>D là tỷ lệ các cặp cây dự đoán khác nhãn, trung bình trên các quan sát và fold; chưa phải tương quan lỗi hay mức độc lập. Với hai lớp và 51 cây, D tối đa khoảng 50,98%. Ngẫu nhiên hóa đặc trưng làm tăng bất đồng nhưng giảm chất lượng cây cơ sở; balanced accuracy tổ hợp hard cũng giảm. Điều này chưa chứng minh xét toàn bộ đặc trưng luôn tốt hơn. Công thức phương sai σ²[ρ + (1 − ρ)/B] chỉ tạo trực giác khi các dự đoán số cùng phương sai và tương quan; không suy ρ từ 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Trần Quốc Bảo.</a:t>
            </a:r>
          </a:p>
          <a:p/>
          <a:p>
            <a:r>
              <a:t>Bộ mã có 26 kiểm thử giúp phát hiện lỗi cài đặt, không thay thế đánh giá ngoài mẫu. Gói nộp kèm chương trình, kết quả và báo cáo. Chạy thí nghiệm gốc để tạo results.json trước hai script bổ sung; dùng các phiên bản thư viện trong requirements.txt. Học tuần tự B cây có chi phí xấp xỉ B lần chi phí một cây; dự đoán K quan sát, độ sâu d có bậc O(KBd). Đây là phân tích cấu trúc, chưa đo thời gian thực. Demo nhanh lưu ở outputs/quick để giữ riêng kết quả mặc định.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Trần Quốc Bảo.</a:t>
            </a:r>
          </a:p>
          <a:p/>
          <a:p>
            <a:r>
              <a:t>Kết thúc bằng ba ý trả lời câu hỏi nghiên cứu. Bagging liên hệ bootstrap với tổng hợp dự đoán; cải thiện so với cây đơn trong các lần chia đã khảo sát; nhưng tăng số cây hoặc mức bất đồng chưa tự động tạo mô hình tốt hơn. Chưa thể khẳng định Bagging vượt trội nhất quán so với RF, 51 cây tối ưu tổng quát hay mô hình đủ hiệu quả lâm sàng. Phần trình bày chính dừng tại đây. Hai thành viên cùng tham gia hỏi đáp và chỉ mở slide dự phòng phù hợp với câu hỏi.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Cả hai — dự phòng khi hỏi đáp.</a:t>
            </a:r>
          </a:p>
          <a:p/>
          <a:p>
            <a:r>
              <a:t>Các ngưỡng trên slide đã làm tròn để dễ đọc; JSON lưu giá trị đầy đủ. Mẫu có worst radius = 16,25; worst concave points = 0,14890; worst symmetry = 0,29620; mean concave points = 0,04819 và worst perimeter = 109,10. Theo hai chuỗi điều kiện khác nhau, cây thứ nhất đến lá chứa 18 lượt nhãn ác; cây thứ hai đến lá có 256 lượt lành và 3 lượt ác. Bootstrap có thể lặp hàng nên số lượt chưa phải số bệnh nhân khác nhau. Hai đường đi chỉ giải thích hai phiếu; tổ hợp cuối dùng đủ 51 cây.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Cả hai — dự phòng khi hỏi đáp.</a:t>
            </a:r>
          </a:p>
          <a:p/>
          <a:p>
            <a:r>
              <a:t>TP và FN đọc từ hàng nhãn thật ác tính; FP và TN từ hàng nhãn thật lành tính. Với Bagging tại seed 42, TP = 49, FN = 4, FP = 3 và TN = 87. Balanced accuracy bằng (49/53 + 87/90)/2 ≈ 94,56%. Vì lớp dương có nhãn 0, các hàm tính precision, recall và F1 dùng pos_label = 0. Phân biệt accuracy test 95,10% với balanced accuracy CV 95,26% trên train: chúng thuộc hai quy trình khác nhau. Tỷ lệ phiếu cây chưa phải xác suất bệnh đã hiệu chỉnh.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Cả hai — dự phòng khi hỏi đáp.</a:t>
            </a:r>
          </a:p>
          <a:p/>
          <a:p>
            <a:r>
              <a:t>Trong ví dụ AdaBoost nhị phân, sai số có trọng số bằng 0,2 cho alpha = 0,5 ln 4 ≈ 0,693. Nhóm sai nhân 2, nhóm đúng nhân 0,5; sau chuẩn hóa, nhóm sai mang 50% trọng số. Đây chưa phải accuracy tăng từ 20% lên 50%. Stacking dùng dự đoán ngoài fold để mỗi quan sát train nhận dự đoán từ mô hình chưa học nó, rồi học meta-model. Khi dự đoán dữ liệu mới, các mô hình cơ sở học lại trên toàn train. Nếu hỏi 51 cây: đó là cấu hình ban đầu, khảo sát bổ sung chưa chứng minh tối ưu tổng quát.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nói gợi ý: Cả hai — dự phòng khi hỏi đáp.</a:t>
            </a:r>
          </a:p>
          <a:p/>
          <a:p>
            <a:r>
              <a:t>Tài liệu: [1] https://doi.org/10.1007/BF00058655; [2] https://doi.org/10.1023/A:1010933404324; [3] https://scikit-learn.org/stable/modules/ensemble.html; [4] https://scikit-learn.org/stable/modules/generated/sklearn.datasets.load_breast_cancer.html; [5] https://scikit-learn.org/stable/modules/tree.html; [6] https://doi.org/10.1006/jcss.1997.1504; [7] https://doi.org/10.1016/S0893-6080(05)80023-1. Mã nhóm: https://github.com/Huyngaongow/hocmaygk. Dùng Python 3.12 và requirements.txt. Chạy thí nghiệm gốc trước hai phân tích bổ sung. Kiểm thử: python -m unittest discover -s tests -v. Ví dụ: python examples/toy_bagging.py. Demo nhanh: python de_5_ensemble_learning.py --repeats 1 --output-dir outputs/quick. Dùng Python trong venv đã cài thư viện; trên Windows có thể gọi trực tiếp .venv\Scripts\python.exe.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Huyngaongow/hocmaygk" TargetMode="Externa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BÁO CÁO GIỮA KỲ · NHẬP MÔN HỌC MÁY</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01</a:t>
            </a:r>
          </a:p>
        </p:txBody>
      </p:sp>
      <p:sp>
        <p:nvSpPr>
          <p:cNvPr id="8" name="Rectangle 7"/>
          <p:cNvSpPr/>
          <p:nvPr/>
        </p:nvSpPr>
        <p:spPr>
          <a:xfrm>
            <a:off x="10671048"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2" name="Picture 11" descr="tdtu_logo.png"/>
          <p:cNvPicPr>
            <a:picLocks noChangeAspect="1"/>
          </p:cNvPicPr>
          <p:nvPr/>
        </p:nvPicPr>
        <p:blipFill>
          <a:blip r:embed="rId2"/>
          <a:stretch>
            <a:fillRect/>
          </a:stretch>
        </p:blipFill>
        <p:spPr>
          <a:xfrm>
            <a:off x="576072" y="786384"/>
            <a:ext cx="1188720" cy="657339"/>
          </a:xfrm>
          <a:prstGeom prst="rect">
            <a:avLst/>
          </a:prstGeom>
        </p:spPr>
      </p:pic>
      <p:sp>
        <p:nvSpPr>
          <p:cNvPr id="13" name="TextBox 12"/>
          <p:cNvSpPr txBox="1"/>
          <p:nvPr/>
        </p:nvSpPr>
        <p:spPr>
          <a:xfrm>
            <a:off x="2011680" y="896112"/>
            <a:ext cx="8046720" cy="594360"/>
          </a:xfrm>
          <a:prstGeom prst="rect">
            <a:avLst/>
          </a:prstGeom>
          <a:noFill/>
        </p:spPr>
        <p:txBody>
          <a:bodyPr wrap="square" lIns="0" rIns="0" tIns="0" bIns="0" anchor="t">
            <a:spAutoFit/>
          </a:bodyPr>
          <a:lstStyle/>
          <a:p>
            <a:pPr algn="l">
              <a:lnSpc>
                <a:spcPct val="112000"/>
              </a:lnSpc>
              <a:spcBef>
                <a:spcPts val="0"/>
              </a:spcBef>
              <a:spcAft>
                <a:spcPts val="0"/>
              </a:spcAft>
              <a:defRPr sz="1200" b="1">
                <a:solidFill>
                  <a:srgbClr val="5B6B7B"/>
                </a:solidFill>
                <a:latin typeface="Noto Sans"/>
              </a:defRPr>
            </a:pPr>
            <a:r>
              <a:t>TRƯỜNG ĐẠI HỌC TÔN ĐỨC THẮNG</a:t>
            </a:r>
          </a:p>
          <a:p>
            <a:pPr algn="l">
              <a:lnSpc>
                <a:spcPct val="112000"/>
              </a:lnSpc>
              <a:spcBef>
                <a:spcPts val="0"/>
              </a:spcBef>
              <a:spcAft>
                <a:spcPts val="0"/>
              </a:spcAft>
              <a:defRPr sz="1200" b="1">
                <a:solidFill>
                  <a:srgbClr val="5B6B7B"/>
                </a:solidFill>
                <a:latin typeface="Noto Sans"/>
              </a:defRPr>
            </a:pPr>
            <a:r>
              <a:t>KHOA CÔNG NGHỆ THÔNG TIN</a:t>
            </a:r>
          </a:p>
        </p:txBody>
      </p:sp>
      <p:sp>
        <p:nvSpPr>
          <p:cNvPr id="14" name="TextBox 13"/>
          <p:cNvSpPr txBox="1"/>
          <p:nvPr/>
        </p:nvSpPr>
        <p:spPr>
          <a:xfrm>
            <a:off x="566928" y="1828800"/>
            <a:ext cx="6583680" cy="1554480"/>
          </a:xfrm>
          <a:prstGeom prst="rect">
            <a:avLst/>
          </a:prstGeom>
          <a:noFill/>
        </p:spPr>
        <p:txBody>
          <a:bodyPr wrap="square" lIns="0" rIns="0" tIns="0" bIns="0" anchor="t">
            <a:spAutoFit/>
          </a:bodyPr>
          <a:lstStyle/>
          <a:p>
            <a:pPr algn="l">
              <a:lnSpc>
                <a:spcPct val="100000"/>
              </a:lnSpc>
              <a:spcBef>
                <a:spcPts val="0"/>
              </a:spcBef>
              <a:spcAft>
                <a:spcPts val="0"/>
              </a:spcAft>
              <a:defRPr sz="4800" b="1">
                <a:solidFill>
                  <a:srgbClr val="142D46"/>
                </a:solidFill>
                <a:latin typeface="Noto Sans"/>
              </a:defRPr>
            </a:pPr>
            <a:r>
              <a:t>ENSEMBLE</a:t>
            </a:r>
          </a:p>
          <a:p>
            <a:pPr algn="l">
              <a:lnSpc>
                <a:spcPct val="100000"/>
              </a:lnSpc>
              <a:spcBef>
                <a:spcPts val="0"/>
              </a:spcBef>
              <a:spcAft>
                <a:spcPts val="0"/>
              </a:spcAft>
              <a:defRPr sz="4800" b="1">
                <a:solidFill>
                  <a:srgbClr val="142D46"/>
                </a:solidFill>
                <a:latin typeface="Noto Sans"/>
              </a:defRPr>
            </a:pPr>
            <a:r>
              <a:t>LEARNING</a:t>
            </a:r>
          </a:p>
        </p:txBody>
      </p:sp>
      <p:sp>
        <p:nvSpPr>
          <p:cNvPr id="15" name="TextBox 14"/>
          <p:cNvSpPr txBox="1"/>
          <p:nvPr/>
        </p:nvSpPr>
        <p:spPr>
          <a:xfrm>
            <a:off x="612648" y="3675887"/>
            <a:ext cx="6537960" cy="822960"/>
          </a:xfrm>
          <a:prstGeom prst="rect">
            <a:avLst/>
          </a:prstGeom>
          <a:noFill/>
        </p:spPr>
        <p:txBody>
          <a:bodyPr wrap="square" lIns="0" rIns="0" tIns="0" bIns="0" anchor="t">
            <a:spAutoFit/>
          </a:bodyPr>
          <a:lstStyle/>
          <a:p>
            <a:pPr algn="l">
              <a:lnSpc>
                <a:spcPct val="112000"/>
              </a:lnSpc>
              <a:spcBef>
                <a:spcPts val="0"/>
              </a:spcBef>
              <a:spcAft>
                <a:spcPts val="0"/>
              </a:spcAft>
              <a:defRPr sz="2500" b="0">
                <a:solidFill>
                  <a:srgbClr val="087F82"/>
                </a:solidFill>
                <a:latin typeface="Noto Sans"/>
              </a:defRPr>
            </a:pPr>
            <a:r>
              <a:t>Bagging cây quyết định</a:t>
            </a:r>
          </a:p>
          <a:p>
            <a:pPr algn="l">
              <a:lnSpc>
                <a:spcPct val="112000"/>
              </a:lnSpc>
              <a:spcBef>
                <a:spcPts val="0"/>
              </a:spcBef>
              <a:spcAft>
                <a:spcPts val="0"/>
              </a:spcAft>
              <a:defRPr sz="2500" b="0">
                <a:solidFill>
                  <a:srgbClr val="087F82"/>
                </a:solidFill>
                <a:latin typeface="Noto Sans"/>
              </a:defRPr>
            </a:pPr>
            <a:r>
              <a:t>trong phân loại u vú</a:t>
            </a:r>
          </a:p>
        </p:txBody>
      </p:sp>
      <p:sp>
        <p:nvSpPr>
          <p:cNvPr id="16" name="TextBox 15"/>
          <p:cNvSpPr txBox="1"/>
          <p:nvPr/>
        </p:nvSpPr>
        <p:spPr>
          <a:xfrm>
            <a:off x="612648" y="5129784"/>
            <a:ext cx="6858000" cy="868680"/>
          </a:xfrm>
          <a:prstGeom prst="rect">
            <a:avLst/>
          </a:prstGeom>
          <a:noFill/>
        </p:spPr>
        <p:txBody>
          <a:bodyPr wrap="square" lIns="0" rIns="0" tIns="0" bIns="0" anchor="t">
            <a:spAutoFit/>
          </a:bodyPr>
          <a:lstStyle/>
          <a:p>
            <a:pPr algn="l">
              <a:lnSpc>
                <a:spcPct val="135000"/>
              </a:lnSpc>
              <a:spcBef>
                <a:spcPts val="0"/>
              </a:spcBef>
              <a:spcAft>
                <a:spcPts val="0"/>
              </a:spcAft>
              <a:defRPr sz="1350" b="0">
                <a:solidFill>
                  <a:srgbClr val="5B6B7B"/>
                </a:solidFill>
                <a:latin typeface="Noto Sans"/>
              </a:defRPr>
            </a:pPr>
            <a:r>
              <a:t>Nguyễn Nghĩa Hiếu  ·  52400013</a:t>
            </a:r>
          </a:p>
          <a:p>
            <a:pPr algn="l">
              <a:lnSpc>
                <a:spcPct val="135000"/>
              </a:lnSpc>
              <a:spcBef>
                <a:spcPts val="0"/>
              </a:spcBef>
              <a:spcAft>
                <a:spcPts val="0"/>
              </a:spcAft>
              <a:defRPr sz="1350" b="0">
                <a:solidFill>
                  <a:srgbClr val="5B6B7B"/>
                </a:solidFill>
                <a:latin typeface="Noto Sans"/>
              </a:defRPr>
            </a:pPr>
            <a:r>
              <a:t>Trần Quốc Bảo  ·  52400102</a:t>
            </a:r>
          </a:p>
          <a:p>
            <a:pPr algn="l">
              <a:lnSpc>
                <a:spcPct val="135000"/>
              </a:lnSpc>
              <a:spcBef>
                <a:spcPts val="0"/>
              </a:spcBef>
              <a:spcAft>
                <a:spcPts val="0"/>
              </a:spcAft>
              <a:defRPr sz="1350" b="0">
                <a:solidFill>
                  <a:srgbClr val="5B6B7B"/>
                </a:solidFill>
                <a:latin typeface="Noto Sans"/>
              </a:defRPr>
            </a:pPr>
            <a:r>
              <a:t>Giảng viên: TS. Trần Lương Quốc Đại</a:t>
            </a:r>
          </a:p>
        </p:txBody>
      </p:sp>
      <p:sp>
        <p:nvSpPr>
          <p:cNvPr id="17" name="Rounded Rectangle 16"/>
          <p:cNvSpPr/>
          <p:nvPr/>
        </p:nvSpPr>
        <p:spPr>
          <a:xfrm>
            <a:off x="7607808" y="1847088"/>
            <a:ext cx="4005072" cy="4261104"/>
          </a:xfrm>
          <a:prstGeom prst="roundRect">
            <a:avLst>
              <a:gd name="adj" fmla="val 8000"/>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7909560" y="2194560"/>
            <a:ext cx="365760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8BE0CF"/>
                </a:solidFill>
                <a:latin typeface="Noto Sans"/>
              </a:defRPr>
            </a:pPr>
            <a:r>
              <a:t>BOOTSTRAP → VOTING</a:t>
            </a:r>
          </a:p>
        </p:txBody>
      </p:sp>
      <p:sp>
        <p:nvSpPr>
          <p:cNvPr id="19" name="Rounded Rectangle 18"/>
          <p:cNvSpPr/>
          <p:nvPr/>
        </p:nvSpPr>
        <p:spPr>
          <a:xfrm>
            <a:off x="7927848" y="2761488"/>
            <a:ext cx="1325880" cy="585216"/>
          </a:xfrm>
          <a:prstGeom prst="roundRect">
            <a:avLst>
              <a:gd name="adj" fmla="val 8000"/>
            </a:avLst>
          </a:prstGeom>
          <a:solidFill>
            <a:srgbClr val="27465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8065008" y="2907792"/>
            <a:ext cx="1051560" cy="292608"/>
          </a:xfrm>
          <a:prstGeom prst="rect">
            <a:avLst/>
          </a:prstGeom>
          <a:noFill/>
        </p:spPr>
        <p:txBody>
          <a:bodyPr wrap="square" lIns="0" rIns="0" tIns="0" bIns="0" anchor="t">
            <a:spAutoFit/>
          </a:bodyPr>
          <a:lstStyle/>
          <a:p>
            <a:pPr algn="l">
              <a:lnSpc>
                <a:spcPct val="112000"/>
              </a:lnSpc>
              <a:spcBef>
                <a:spcPts val="0"/>
              </a:spcBef>
              <a:spcAft>
                <a:spcPts val="0"/>
              </a:spcAft>
              <a:defRPr sz="1700" b="0">
                <a:solidFill>
                  <a:srgbClr val="FFFFFF"/>
                </a:solidFill>
                <a:latin typeface="Noto Sans"/>
              </a:defRPr>
            </a:pPr>
            <a:r>
              <a:t>Cây 1</a:t>
            </a:r>
          </a:p>
        </p:txBody>
      </p:sp>
      <p:cxnSp>
        <p:nvCxnSpPr>
          <p:cNvPr id="21" name="Connector 20"/>
          <p:cNvCxnSpPr/>
          <p:nvPr/>
        </p:nvCxnSpPr>
        <p:spPr>
          <a:xfrm>
            <a:off x="9272016" y="3054096"/>
            <a:ext cx="859536" cy="859536"/>
          </a:xfrm>
          <a:prstGeom prst="line">
            <a:avLst/>
          </a:prstGeom>
          <a:ln w="19050">
            <a:solidFill>
              <a:srgbClr val="5CAAA7"/>
            </a:solidFill>
          </a:ln>
          <a:effectLst/>
        </p:spPr>
        <p:style>
          <a:lnRef idx="2">
            <a:schemeClr val="accent1"/>
          </a:lnRef>
          <a:fillRef idx="0">
            <a:schemeClr val="accent1"/>
          </a:fillRef>
          <a:effectRef idx="0">
            <a:schemeClr val="accent1"/>
          </a:effectRef>
          <a:fontRef idx="minor">
            <a:schemeClr val="tx1"/>
          </a:fontRef>
        </p:style>
      </p:cxnSp>
      <p:sp>
        <p:nvSpPr>
          <p:cNvPr id="22" name="Rounded Rectangle 21"/>
          <p:cNvSpPr/>
          <p:nvPr/>
        </p:nvSpPr>
        <p:spPr>
          <a:xfrm>
            <a:off x="7927848" y="3621024"/>
            <a:ext cx="1325880" cy="585216"/>
          </a:xfrm>
          <a:prstGeom prst="roundRect">
            <a:avLst>
              <a:gd name="adj" fmla="val 8000"/>
            </a:avLst>
          </a:prstGeom>
          <a:solidFill>
            <a:srgbClr val="27465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8065008" y="3767328"/>
            <a:ext cx="1051560" cy="292608"/>
          </a:xfrm>
          <a:prstGeom prst="rect">
            <a:avLst/>
          </a:prstGeom>
          <a:noFill/>
        </p:spPr>
        <p:txBody>
          <a:bodyPr wrap="square" lIns="0" rIns="0" tIns="0" bIns="0" anchor="t">
            <a:spAutoFit/>
          </a:bodyPr>
          <a:lstStyle/>
          <a:p>
            <a:pPr algn="l">
              <a:lnSpc>
                <a:spcPct val="112000"/>
              </a:lnSpc>
              <a:spcBef>
                <a:spcPts val="0"/>
              </a:spcBef>
              <a:spcAft>
                <a:spcPts val="0"/>
              </a:spcAft>
              <a:defRPr sz="1700" b="0">
                <a:solidFill>
                  <a:srgbClr val="FFFFFF"/>
                </a:solidFill>
                <a:latin typeface="Noto Sans"/>
              </a:defRPr>
            </a:pPr>
            <a:r>
              <a:t>Cây 2</a:t>
            </a:r>
          </a:p>
        </p:txBody>
      </p:sp>
      <p:cxnSp>
        <p:nvCxnSpPr>
          <p:cNvPr id="24" name="Connector 23"/>
          <p:cNvCxnSpPr/>
          <p:nvPr/>
        </p:nvCxnSpPr>
        <p:spPr>
          <a:xfrm>
            <a:off x="9272016" y="3913632"/>
            <a:ext cx="859536" cy="0"/>
          </a:xfrm>
          <a:prstGeom prst="line">
            <a:avLst/>
          </a:prstGeom>
          <a:ln w="19050">
            <a:solidFill>
              <a:srgbClr val="5CAAA7"/>
            </a:solidFill>
          </a:ln>
          <a:effectLst/>
        </p:spPr>
        <p:style>
          <a:lnRef idx="2">
            <a:schemeClr val="accent1"/>
          </a:lnRef>
          <a:fillRef idx="0">
            <a:schemeClr val="accent1"/>
          </a:fillRef>
          <a:effectRef idx="0">
            <a:schemeClr val="accent1"/>
          </a:effectRef>
          <a:fontRef idx="minor">
            <a:schemeClr val="tx1"/>
          </a:fontRef>
        </p:style>
      </p:cxnSp>
      <p:sp>
        <p:nvSpPr>
          <p:cNvPr id="25" name="Rounded Rectangle 24"/>
          <p:cNvSpPr/>
          <p:nvPr/>
        </p:nvSpPr>
        <p:spPr>
          <a:xfrm>
            <a:off x="7927848" y="4480560"/>
            <a:ext cx="1325880" cy="585216"/>
          </a:xfrm>
          <a:prstGeom prst="roundRect">
            <a:avLst>
              <a:gd name="adj" fmla="val 8000"/>
            </a:avLst>
          </a:prstGeom>
          <a:solidFill>
            <a:srgbClr val="27465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8065008" y="4626864"/>
            <a:ext cx="1051560" cy="292608"/>
          </a:xfrm>
          <a:prstGeom prst="rect">
            <a:avLst/>
          </a:prstGeom>
          <a:noFill/>
        </p:spPr>
        <p:txBody>
          <a:bodyPr wrap="square" lIns="0" rIns="0" tIns="0" bIns="0" anchor="t">
            <a:spAutoFit/>
          </a:bodyPr>
          <a:lstStyle/>
          <a:p>
            <a:pPr algn="l">
              <a:lnSpc>
                <a:spcPct val="112000"/>
              </a:lnSpc>
              <a:spcBef>
                <a:spcPts val="0"/>
              </a:spcBef>
              <a:spcAft>
                <a:spcPts val="0"/>
              </a:spcAft>
              <a:defRPr sz="1700" b="0">
                <a:solidFill>
                  <a:srgbClr val="FFFFFF"/>
                </a:solidFill>
                <a:latin typeface="Noto Sans"/>
              </a:defRPr>
            </a:pPr>
            <a:r>
              <a:t>Cây B</a:t>
            </a:r>
          </a:p>
        </p:txBody>
      </p:sp>
      <p:cxnSp>
        <p:nvCxnSpPr>
          <p:cNvPr id="27" name="Connector 26"/>
          <p:cNvCxnSpPr/>
          <p:nvPr/>
        </p:nvCxnSpPr>
        <p:spPr>
          <a:xfrm flipV="1">
            <a:off x="9272016" y="3913632"/>
            <a:ext cx="859536" cy="859536"/>
          </a:xfrm>
          <a:prstGeom prst="line">
            <a:avLst/>
          </a:prstGeom>
          <a:ln w="19050">
            <a:solidFill>
              <a:srgbClr val="5CAAA7"/>
            </a:solidFill>
          </a:ln>
          <a:effectLst/>
        </p:spPr>
        <p:style>
          <a:lnRef idx="2">
            <a:schemeClr val="accent1"/>
          </a:lnRef>
          <a:fillRef idx="0">
            <a:schemeClr val="accent1"/>
          </a:fillRef>
          <a:effectRef idx="0">
            <a:schemeClr val="accent1"/>
          </a:effectRef>
          <a:fontRef idx="minor">
            <a:schemeClr val="tx1"/>
          </a:fontRef>
        </p:style>
      </p:cxnSp>
      <p:sp>
        <p:nvSpPr>
          <p:cNvPr id="28" name="Rounded Rectangle 27"/>
          <p:cNvSpPr/>
          <p:nvPr/>
        </p:nvSpPr>
        <p:spPr>
          <a:xfrm>
            <a:off x="9893808" y="3465576"/>
            <a:ext cx="1207008" cy="914400"/>
          </a:xfrm>
          <a:prstGeom prst="roundRect">
            <a:avLst>
              <a:gd name="adj" fmla="val 8000"/>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9976104" y="3703320"/>
            <a:ext cx="1042415" cy="411480"/>
          </a:xfrm>
          <a:prstGeom prst="rect">
            <a:avLst/>
          </a:prstGeom>
          <a:noFill/>
        </p:spPr>
        <p:txBody>
          <a:bodyPr wrap="square" lIns="0" rIns="0" tIns="0" bIns="0" anchor="t">
            <a:spAutoFit/>
          </a:bodyPr>
          <a:lstStyle/>
          <a:p>
            <a:pPr algn="ctr">
              <a:lnSpc>
                <a:spcPct val="112000"/>
              </a:lnSpc>
              <a:spcBef>
                <a:spcPts val="0"/>
              </a:spcBef>
              <a:spcAft>
                <a:spcPts val="0"/>
              </a:spcAft>
              <a:defRPr sz="2500" b="1">
                <a:solidFill>
                  <a:srgbClr val="FFFFFF"/>
                </a:solidFill>
                <a:latin typeface="Noto Sans"/>
              </a:defRPr>
            </a:pPr>
            <a:r>
              <a:t>H(x)</a:t>
            </a:r>
          </a:p>
        </p:txBody>
      </p:sp>
      <p:sp>
        <p:nvSpPr>
          <p:cNvPr id="30" name="TextBox 29"/>
          <p:cNvSpPr txBox="1"/>
          <p:nvPr/>
        </p:nvSpPr>
        <p:spPr>
          <a:xfrm>
            <a:off x="7927848" y="5486400"/>
            <a:ext cx="3246120" cy="320040"/>
          </a:xfrm>
          <a:prstGeom prst="rect">
            <a:avLst/>
          </a:prstGeom>
          <a:noFill/>
        </p:spPr>
        <p:txBody>
          <a:bodyPr wrap="square" lIns="0" rIns="0" tIns="0" bIns="0" anchor="t">
            <a:spAutoFit/>
          </a:bodyPr>
          <a:lstStyle/>
          <a:p>
            <a:pPr algn="l">
              <a:lnSpc>
                <a:spcPct val="112000"/>
              </a:lnSpc>
              <a:spcBef>
                <a:spcPts val="0"/>
              </a:spcBef>
              <a:spcAft>
                <a:spcPts val="0"/>
              </a:spcAft>
              <a:defRPr sz="1500" b="0">
                <a:solidFill>
                  <a:srgbClr val="8BE0CF"/>
                </a:solidFill>
                <a:latin typeface="Noto Sans"/>
              </a:defRPr>
            </a:pPr>
            <a:r>
              <a:t>Nhiều cây · Một dự đoán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42D46"/>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8BE0CF"/>
                </a:solidFill>
                <a:latin typeface="Noto Sans"/>
              </a:defRPr>
            </a:pPr>
            <a:r>
              <a:t>01 / CÂU HỎI NGHIÊN CỨU</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FFFFFF"/>
                </a:solidFill>
                <a:latin typeface="Noto Sans"/>
              </a:defRPr>
            </a:pPr>
            <a:r>
              <a:t>Ba câu hỏi dẫn dắt báo cáo</a:t>
            </a:r>
          </a:p>
        </p:txBody>
      </p:sp>
      <p:cxnSp>
        <p:nvCxnSpPr>
          <p:cNvPr id="4" name="Connector 3"/>
          <p:cNvCxnSpPr/>
          <p:nvPr/>
        </p:nvCxnSpPr>
        <p:spPr>
          <a:xfrm>
            <a:off x="566928" y="6419088"/>
            <a:ext cx="11045952" cy="0"/>
          </a:xfrm>
          <a:prstGeom prst="line">
            <a:avLst/>
          </a:prstGeom>
          <a:ln w="8890">
            <a:solidFill>
              <a:srgbClr val="35516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8BE0CF"/>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B5CAD8"/>
                </a:solidFill>
                <a:latin typeface="Noto Sans"/>
              </a:defRPr>
            </a:pPr>
            <a:r>
              <a:t>Báo cáo · mục 1.2</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8BE0CF"/>
                </a:solidFill>
                <a:latin typeface="Noto Sans"/>
              </a:defRPr>
            </a:pPr>
            <a:r>
              <a:t>02</a:t>
            </a:r>
          </a:p>
        </p:txBody>
      </p:sp>
      <p:sp>
        <p:nvSpPr>
          <p:cNvPr id="8" name="Rectangle 7"/>
          <p:cNvSpPr/>
          <p:nvPr/>
        </p:nvSpPr>
        <p:spPr>
          <a:xfrm>
            <a:off x="10671048" y="329184"/>
            <a:ext cx="164592" cy="32004"/>
          </a:xfrm>
          <a:prstGeom prst="rect">
            <a:avLst/>
          </a:prstGeom>
          <a:solidFill>
            <a:srgbClr val="8BE0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35516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35516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35516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03504" y="2075688"/>
            <a:ext cx="365760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8BE0CF"/>
                </a:solidFill>
                <a:latin typeface="Noto Sans"/>
              </a:defRPr>
            </a:pPr>
            <a:r>
              <a:t>01</a:t>
            </a:r>
          </a:p>
        </p:txBody>
      </p:sp>
      <p:sp>
        <p:nvSpPr>
          <p:cNvPr id="13" name="TextBox 12"/>
          <p:cNvSpPr txBox="1"/>
          <p:nvPr/>
        </p:nvSpPr>
        <p:spPr>
          <a:xfrm>
            <a:off x="603504" y="2679192"/>
            <a:ext cx="3474720" cy="868680"/>
          </a:xfrm>
          <a:prstGeom prst="rect">
            <a:avLst/>
          </a:prstGeom>
          <a:noFill/>
        </p:spPr>
        <p:txBody>
          <a:bodyPr wrap="square" lIns="0" rIns="0" tIns="0" bIns="0" anchor="t">
            <a:spAutoFit/>
          </a:bodyPr>
          <a:lstStyle/>
          <a:p>
            <a:pPr algn="l">
              <a:lnSpc>
                <a:spcPct val="112000"/>
              </a:lnSpc>
              <a:spcBef>
                <a:spcPts val="0"/>
              </a:spcBef>
              <a:spcAft>
                <a:spcPts val="0"/>
              </a:spcAft>
              <a:defRPr sz="2600" b="1">
                <a:solidFill>
                  <a:srgbClr val="FFFFFF"/>
                </a:solidFill>
                <a:latin typeface="Noto Sans"/>
              </a:defRPr>
            </a:pPr>
            <a:r>
              <a:t>Có cải thiện không?</a:t>
            </a:r>
          </a:p>
        </p:txBody>
      </p:sp>
      <p:sp>
        <p:nvSpPr>
          <p:cNvPr id="14" name="TextBox 13"/>
          <p:cNvSpPr txBox="1"/>
          <p:nvPr/>
        </p:nvSpPr>
        <p:spPr>
          <a:xfrm>
            <a:off x="603504" y="3776472"/>
            <a:ext cx="3383280" cy="1097280"/>
          </a:xfrm>
          <a:prstGeom prst="rect">
            <a:avLst/>
          </a:prstGeom>
          <a:noFill/>
        </p:spPr>
        <p:txBody>
          <a:bodyPr wrap="square" lIns="0" rIns="0" tIns="0" bIns="0" anchor="t">
            <a:spAutoFit/>
          </a:bodyPr>
          <a:lstStyle/>
          <a:p>
            <a:pPr algn="l">
              <a:lnSpc>
                <a:spcPct val="112000"/>
              </a:lnSpc>
              <a:spcBef>
                <a:spcPts val="0"/>
              </a:spcBef>
              <a:spcAft>
                <a:spcPts val="0"/>
              </a:spcAft>
              <a:defRPr sz="2000" b="0">
                <a:solidFill>
                  <a:srgbClr val="C5D6E1"/>
                </a:solidFill>
                <a:latin typeface="Noto Sans"/>
              </a:defRPr>
            </a:pPr>
            <a:r>
              <a:t>Bagging so với một cây đơn</a:t>
            </a:r>
          </a:p>
          <a:p>
            <a:pPr algn="l">
              <a:lnSpc>
                <a:spcPct val="112000"/>
              </a:lnSpc>
              <a:spcBef>
                <a:spcPts val="0"/>
              </a:spcBef>
              <a:spcAft>
                <a:spcPts val="0"/>
              </a:spcAft>
              <a:defRPr sz="2000" b="0">
                <a:solidFill>
                  <a:srgbClr val="C5D6E1"/>
                </a:solidFill>
                <a:latin typeface="Noto Sans"/>
              </a:defRPr>
            </a:pPr>
            <a:r>
              <a:t>trên cùng các lần chia dữ liệu.</a:t>
            </a:r>
          </a:p>
        </p:txBody>
      </p:sp>
      <p:sp>
        <p:nvSpPr>
          <p:cNvPr id="15" name="TextBox 14"/>
          <p:cNvSpPr txBox="1"/>
          <p:nvPr/>
        </p:nvSpPr>
        <p:spPr>
          <a:xfrm>
            <a:off x="4352544" y="2075688"/>
            <a:ext cx="365760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8BE0CF"/>
                </a:solidFill>
                <a:latin typeface="Noto Sans"/>
              </a:defRPr>
            </a:pPr>
            <a:r>
              <a:t>02</a:t>
            </a:r>
          </a:p>
        </p:txBody>
      </p:sp>
      <p:sp>
        <p:nvSpPr>
          <p:cNvPr id="16" name="TextBox 15"/>
          <p:cNvSpPr txBox="1"/>
          <p:nvPr/>
        </p:nvSpPr>
        <p:spPr>
          <a:xfrm>
            <a:off x="4352544" y="2679192"/>
            <a:ext cx="3474720" cy="868680"/>
          </a:xfrm>
          <a:prstGeom prst="rect">
            <a:avLst/>
          </a:prstGeom>
          <a:noFill/>
        </p:spPr>
        <p:txBody>
          <a:bodyPr wrap="square" lIns="0" rIns="0" tIns="0" bIns="0" anchor="t">
            <a:spAutoFit/>
          </a:bodyPr>
          <a:lstStyle/>
          <a:p>
            <a:pPr algn="l">
              <a:lnSpc>
                <a:spcPct val="112000"/>
              </a:lnSpc>
              <a:spcBef>
                <a:spcPts val="0"/>
              </a:spcBef>
              <a:spcAft>
                <a:spcPts val="0"/>
              </a:spcAft>
              <a:defRPr sz="2600" b="1">
                <a:solidFill>
                  <a:srgbClr val="FFFFFF"/>
                </a:solidFill>
                <a:latin typeface="Noto Sans"/>
              </a:defRPr>
            </a:pPr>
            <a:r>
              <a:t>Bao nhiêu cây là đủ?</a:t>
            </a:r>
          </a:p>
        </p:txBody>
      </p:sp>
      <p:sp>
        <p:nvSpPr>
          <p:cNvPr id="17" name="TextBox 16"/>
          <p:cNvSpPr txBox="1"/>
          <p:nvPr/>
        </p:nvSpPr>
        <p:spPr>
          <a:xfrm>
            <a:off x="4352544" y="3776472"/>
            <a:ext cx="3383280" cy="1097280"/>
          </a:xfrm>
          <a:prstGeom prst="rect">
            <a:avLst/>
          </a:prstGeom>
          <a:noFill/>
        </p:spPr>
        <p:txBody>
          <a:bodyPr wrap="square" lIns="0" rIns="0" tIns="0" bIns="0" anchor="t">
            <a:spAutoFit/>
          </a:bodyPr>
          <a:lstStyle/>
          <a:p>
            <a:pPr algn="l">
              <a:lnSpc>
                <a:spcPct val="112000"/>
              </a:lnSpc>
              <a:spcBef>
                <a:spcPts val="0"/>
              </a:spcBef>
              <a:spcAft>
                <a:spcPts val="0"/>
              </a:spcAft>
              <a:defRPr sz="2000" b="0">
                <a:solidFill>
                  <a:srgbClr val="C5D6E1"/>
                </a:solidFill>
                <a:latin typeface="Noto Sans"/>
              </a:defRPr>
            </a:pPr>
            <a:r>
              <a:t>Khảo sát số cây trên train;</a:t>
            </a:r>
          </a:p>
          <a:p>
            <a:pPr algn="l">
              <a:lnSpc>
                <a:spcPct val="112000"/>
              </a:lnSpc>
              <a:spcBef>
                <a:spcPts val="0"/>
              </a:spcBef>
              <a:spcAft>
                <a:spcPts val="0"/>
              </a:spcAft>
              <a:defRPr sz="2000" b="0">
                <a:solidFill>
                  <a:srgbClr val="C5D6E1"/>
                </a:solidFill>
                <a:latin typeface="Noto Sans"/>
              </a:defRPr>
            </a:pPr>
            <a:r>
              <a:t>xem lợi ích có tiếp tục tăng.</a:t>
            </a:r>
          </a:p>
        </p:txBody>
      </p:sp>
      <p:sp>
        <p:nvSpPr>
          <p:cNvPr id="18" name="TextBox 17"/>
          <p:cNvSpPr txBox="1"/>
          <p:nvPr/>
        </p:nvSpPr>
        <p:spPr>
          <a:xfrm>
            <a:off x="8101583" y="2075688"/>
            <a:ext cx="365760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8BE0CF"/>
                </a:solidFill>
                <a:latin typeface="Noto Sans"/>
              </a:defRPr>
            </a:pPr>
            <a:r>
              <a:t>03</a:t>
            </a:r>
          </a:p>
        </p:txBody>
      </p:sp>
      <p:sp>
        <p:nvSpPr>
          <p:cNvPr id="19" name="TextBox 18"/>
          <p:cNvSpPr txBox="1"/>
          <p:nvPr/>
        </p:nvSpPr>
        <p:spPr>
          <a:xfrm>
            <a:off x="8101583" y="2679192"/>
            <a:ext cx="3474720" cy="868680"/>
          </a:xfrm>
          <a:prstGeom prst="rect">
            <a:avLst/>
          </a:prstGeom>
          <a:noFill/>
        </p:spPr>
        <p:txBody>
          <a:bodyPr wrap="square" lIns="0" rIns="0" tIns="0" bIns="0" anchor="t">
            <a:spAutoFit/>
          </a:bodyPr>
          <a:lstStyle/>
          <a:p>
            <a:pPr algn="l">
              <a:lnSpc>
                <a:spcPct val="112000"/>
              </a:lnSpc>
              <a:spcBef>
                <a:spcPts val="0"/>
              </a:spcBef>
              <a:spcAft>
                <a:spcPts val="0"/>
              </a:spcAft>
              <a:defRPr sz="2600" b="1">
                <a:solidFill>
                  <a:srgbClr val="FFFFFF"/>
                </a:solidFill>
                <a:latin typeface="Noto Sans"/>
              </a:defRPr>
            </a:pPr>
            <a:r>
              <a:t>Khác nhau thế nào là tốt?</a:t>
            </a:r>
          </a:p>
        </p:txBody>
      </p:sp>
      <p:sp>
        <p:nvSpPr>
          <p:cNvPr id="20" name="TextBox 19"/>
          <p:cNvSpPr txBox="1"/>
          <p:nvPr/>
        </p:nvSpPr>
        <p:spPr>
          <a:xfrm>
            <a:off x="8101583" y="3776472"/>
            <a:ext cx="3383280" cy="1097280"/>
          </a:xfrm>
          <a:prstGeom prst="rect">
            <a:avLst/>
          </a:prstGeom>
          <a:noFill/>
        </p:spPr>
        <p:txBody>
          <a:bodyPr wrap="square" lIns="0" rIns="0" tIns="0" bIns="0" anchor="t">
            <a:spAutoFit/>
          </a:bodyPr>
          <a:lstStyle/>
          <a:p>
            <a:pPr algn="l">
              <a:lnSpc>
                <a:spcPct val="112000"/>
              </a:lnSpc>
              <a:spcBef>
                <a:spcPts val="0"/>
              </a:spcBef>
              <a:spcAft>
                <a:spcPts val="0"/>
              </a:spcAft>
              <a:defRPr sz="2000" b="0">
                <a:solidFill>
                  <a:srgbClr val="C5D6E1"/>
                </a:solidFill>
                <a:latin typeface="Noto Sans"/>
              </a:defRPr>
            </a:pPr>
            <a:r>
              <a:t>Tách ảnh hưởng của đặc trưng</a:t>
            </a:r>
          </a:p>
          <a:p>
            <a:pPr algn="l">
              <a:lnSpc>
                <a:spcPct val="112000"/>
              </a:lnSpc>
              <a:spcBef>
                <a:spcPts val="0"/>
              </a:spcBef>
              <a:spcAft>
                <a:spcPts val="0"/>
              </a:spcAft>
              <a:defRPr sz="2000" b="0">
                <a:solidFill>
                  <a:srgbClr val="C5D6E1"/>
                </a:solidFill>
                <a:latin typeface="Noto Sans"/>
              </a:defRPr>
            </a:pPr>
            <a:r>
              <a:t>và cách tổng hợp dự đoán.</a:t>
            </a:r>
          </a:p>
        </p:txBody>
      </p:sp>
      <p:sp>
        <p:nvSpPr>
          <p:cNvPr id="21" name="Rounded Rectangle 20"/>
          <p:cNvSpPr/>
          <p:nvPr/>
        </p:nvSpPr>
        <p:spPr>
          <a:xfrm>
            <a:off x="566928" y="5769864"/>
            <a:ext cx="11045952" cy="438912"/>
          </a:xfrm>
          <a:prstGeom prst="roundRect">
            <a:avLst>
              <a:gd name="adj" fmla="val 8000"/>
            </a:avLst>
          </a:prstGeom>
          <a:solidFill>
            <a:srgbClr val="213E5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8BE0CF"/>
                </a:solidFill>
                <a:latin typeface="Noto Sans"/>
              </a:defRPr>
            </a:pPr>
            <a:r>
              <a:t>Mạch trình bày: cơ chế → ví dụ → triển khai → bằng chứng thực nghiệm.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01 / CƠ SỞ LÝ THUYẾT</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Bagging trong bức tranh học tổ hợp</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[1], [2], [3], [6], [7]</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03</a:t>
            </a:r>
          </a:p>
        </p:txBody>
      </p:sp>
      <p:sp>
        <p:nvSpPr>
          <p:cNvPr id="8" name="Rectangle 7"/>
          <p:cNvSpPr/>
          <p:nvPr/>
        </p:nvSpPr>
        <p:spPr>
          <a:xfrm>
            <a:off x="10671048"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ounded Rectangle 11"/>
          <p:cNvSpPr/>
          <p:nvPr/>
        </p:nvSpPr>
        <p:spPr>
          <a:xfrm>
            <a:off x="566928" y="1956816"/>
            <a:ext cx="2596896" cy="3355848"/>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768096" y="2267712"/>
            <a:ext cx="347472" cy="45720"/>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768096" y="2587752"/>
            <a:ext cx="2194560" cy="457200"/>
          </a:xfrm>
          <a:prstGeom prst="rect">
            <a:avLst/>
          </a:prstGeom>
          <a:noFill/>
        </p:spPr>
        <p:txBody>
          <a:bodyPr wrap="square" lIns="0" rIns="0" tIns="0" bIns="0" anchor="t">
            <a:spAutoFit/>
          </a:bodyPr>
          <a:lstStyle/>
          <a:p>
            <a:pPr algn="l">
              <a:lnSpc>
                <a:spcPct val="112000"/>
              </a:lnSpc>
              <a:spcBef>
                <a:spcPts val="0"/>
              </a:spcBef>
              <a:spcAft>
                <a:spcPts val="0"/>
              </a:spcAft>
              <a:defRPr sz="2600" b="1">
                <a:solidFill>
                  <a:srgbClr val="142D46"/>
                </a:solidFill>
                <a:latin typeface="Noto Sans"/>
              </a:defRPr>
            </a:pPr>
            <a:r>
              <a:t>Bagging</a:t>
            </a:r>
          </a:p>
        </p:txBody>
      </p:sp>
      <p:sp>
        <p:nvSpPr>
          <p:cNvPr id="15" name="TextBox 14"/>
          <p:cNvSpPr txBox="1"/>
          <p:nvPr/>
        </p:nvSpPr>
        <p:spPr>
          <a:xfrm>
            <a:off x="768096" y="3364992"/>
            <a:ext cx="2212848" cy="1280160"/>
          </a:xfrm>
          <a:prstGeom prst="rect">
            <a:avLst/>
          </a:prstGeom>
          <a:noFill/>
        </p:spPr>
        <p:txBody>
          <a:bodyPr wrap="square" lIns="0" rIns="0" tIns="0" bIns="0" anchor="t">
            <a:spAutoFit/>
          </a:bodyPr>
          <a:lstStyle/>
          <a:p>
            <a:pPr algn="l">
              <a:lnSpc>
                <a:spcPct val="130000"/>
              </a:lnSpc>
              <a:spcBef>
                <a:spcPts val="0"/>
              </a:spcBef>
              <a:spcAft>
                <a:spcPts val="0"/>
              </a:spcAft>
              <a:defRPr sz="1800" b="0">
                <a:solidFill>
                  <a:srgbClr val="5B6B7B"/>
                </a:solidFill>
                <a:latin typeface="Noto Sans"/>
              </a:defRPr>
            </a:pPr>
            <a:r>
              <a:t>Đổi mẫu train</a:t>
            </a:r>
          </a:p>
          <a:p>
            <a:pPr algn="l">
              <a:lnSpc>
                <a:spcPct val="130000"/>
              </a:lnSpc>
              <a:spcBef>
                <a:spcPts val="0"/>
              </a:spcBef>
              <a:spcAft>
                <a:spcPts val="0"/>
              </a:spcAft>
              <a:defRPr sz="1800" b="0">
                <a:solidFill>
                  <a:srgbClr val="5B6B7B"/>
                </a:solidFill>
                <a:latin typeface="Noto Sans"/>
              </a:defRPr>
            </a:pPr>
            <a:r>
              <a:t>Học các cây độc lập</a:t>
            </a:r>
          </a:p>
          <a:p>
            <a:pPr algn="l">
              <a:lnSpc>
                <a:spcPct val="130000"/>
              </a:lnSpc>
              <a:spcBef>
                <a:spcPts val="0"/>
              </a:spcBef>
              <a:spcAft>
                <a:spcPts val="0"/>
              </a:spcAft>
              <a:defRPr sz="1800" b="0">
                <a:solidFill>
                  <a:srgbClr val="5B6B7B"/>
                </a:solidFill>
                <a:latin typeface="Noto Sans"/>
              </a:defRPr>
            </a:pPr>
            <a:r>
              <a:t>Tổng hợp dự đoán</a:t>
            </a:r>
          </a:p>
        </p:txBody>
      </p:sp>
      <p:sp>
        <p:nvSpPr>
          <p:cNvPr id="16" name="TextBox 15"/>
          <p:cNvSpPr txBox="1"/>
          <p:nvPr/>
        </p:nvSpPr>
        <p:spPr>
          <a:xfrm>
            <a:off x="768096" y="4828032"/>
            <a:ext cx="2212848" cy="365760"/>
          </a:xfrm>
          <a:prstGeom prst="rect">
            <a:avLst/>
          </a:prstGeom>
          <a:noFill/>
        </p:spPr>
        <p:txBody>
          <a:bodyPr wrap="square" lIns="0" rIns="0" tIns="0" bIns="0" anchor="t">
            <a:spAutoFit/>
          </a:bodyPr>
          <a:lstStyle/>
          <a:p>
            <a:pPr algn="l">
              <a:lnSpc>
                <a:spcPct val="112000"/>
              </a:lnSpc>
              <a:spcBef>
                <a:spcPts val="0"/>
              </a:spcBef>
              <a:spcAft>
                <a:spcPts val="0"/>
              </a:spcAft>
              <a:defRPr sz="1070" b="1">
                <a:solidFill>
                  <a:srgbClr val="087F82"/>
                </a:solidFill>
                <a:latin typeface="Noto Sans"/>
              </a:defRPr>
            </a:pPr>
            <a:r>
              <a:t>TRỌNG TÂM TRIỂN KHAI</a:t>
            </a:r>
          </a:p>
        </p:txBody>
      </p:sp>
      <p:sp>
        <p:nvSpPr>
          <p:cNvPr id="17" name="Rounded Rectangle 16"/>
          <p:cNvSpPr/>
          <p:nvPr/>
        </p:nvSpPr>
        <p:spPr>
          <a:xfrm>
            <a:off x="3383280" y="1956816"/>
            <a:ext cx="2596896" cy="3355848"/>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ectangle 17"/>
          <p:cNvSpPr/>
          <p:nvPr/>
        </p:nvSpPr>
        <p:spPr>
          <a:xfrm>
            <a:off x="3584448" y="2267712"/>
            <a:ext cx="347472" cy="45720"/>
          </a:xfrm>
          <a:prstGeom prst="rect">
            <a:avLst/>
          </a:prstGeom>
          <a:solidFill>
            <a:srgbClr val="416D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3584448" y="2587752"/>
            <a:ext cx="2194560" cy="457200"/>
          </a:xfrm>
          <a:prstGeom prst="rect">
            <a:avLst/>
          </a:prstGeom>
          <a:noFill/>
        </p:spPr>
        <p:txBody>
          <a:bodyPr wrap="square" lIns="0" rIns="0" tIns="0" bIns="0" anchor="t">
            <a:spAutoFit/>
          </a:bodyPr>
          <a:lstStyle/>
          <a:p>
            <a:pPr algn="l">
              <a:lnSpc>
                <a:spcPct val="112000"/>
              </a:lnSpc>
              <a:spcBef>
                <a:spcPts val="0"/>
              </a:spcBef>
              <a:spcAft>
                <a:spcPts val="0"/>
              </a:spcAft>
              <a:defRPr sz="2600" b="1">
                <a:solidFill>
                  <a:srgbClr val="142D46"/>
                </a:solidFill>
                <a:latin typeface="Noto Sans"/>
              </a:defRPr>
            </a:pPr>
            <a:r>
              <a:t>Boosting</a:t>
            </a:r>
          </a:p>
        </p:txBody>
      </p:sp>
      <p:sp>
        <p:nvSpPr>
          <p:cNvPr id="20" name="TextBox 19"/>
          <p:cNvSpPr txBox="1"/>
          <p:nvPr/>
        </p:nvSpPr>
        <p:spPr>
          <a:xfrm>
            <a:off x="3584448" y="3364992"/>
            <a:ext cx="2212848" cy="1280160"/>
          </a:xfrm>
          <a:prstGeom prst="rect">
            <a:avLst/>
          </a:prstGeom>
          <a:noFill/>
        </p:spPr>
        <p:txBody>
          <a:bodyPr wrap="square" lIns="0" rIns="0" tIns="0" bIns="0" anchor="t">
            <a:spAutoFit/>
          </a:bodyPr>
          <a:lstStyle/>
          <a:p>
            <a:pPr algn="l">
              <a:lnSpc>
                <a:spcPct val="130000"/>
              </a:lnSpc>
              <a:spcBef>
                <a:spcPts val="0"/>
              </a:spcBef>
              <a:spcAft>
                <a:spcPts val="0"/>
              </a:spcAft>
              <a:defRPr sz="1800" b="0">
                <a:solidFill>
                  <a:srgbClr val="5B6B7B"/>
                </a:solidFill>
                <a:latin typeface="Noto Sans"/>
              </a:defRPr>
            </a:pPr>
            <a:r>
              <a:t>Học tuần tự</a:t>
            </a:r>
          </a:p>
          <a:p>
            <a:pPr algn="l">
              <a:lnSpc>
                <a:spcPct val="130000"/>
              </a:lnSpc>
              <a:spcBef>
                <a:spcPts val="0"/>
              </a:spcBef>
              <a:spcAft>
                <a:spcPts val="0"/>
              </a:spcAft>
              <a:defRPr sz="1800" b="0">
                <a:solidFill>
                  <a:srgbClr val="5B6B7B"/>
                </a:solidFill>
                <a:latin typeface="Noto Sans"/>
              </a:defRPr>
            </a:pPr>
            <a:r>
              <a:t>Xử lý sai sót hoặc</a:t>
            </a:r>
          </a:p>
          <a:p>
            <a:pPr algn="l">
              <a:lnSpc>
                <a:spcPct val="130000"/>
              </a:lnSpc>
              <a:spcBef>
                <a:spcPts val="0"/>
              </a:spcBef>
              <a:spcAft>
                <a:spcPts val="0"/>
              </a:spcAft>
              <a:defRPr sz="1800" b="0">
                <a:solidFill>
                  <a:srgbClr val="5B6B7B"/>
                </a:solidFill>
                <a:latin typeface="Noto Sans"/>
              </a:defRPr>
            </a:pPr>
            <a:r>
              <a:t>giảm hàm mất mát</a:t>
            </a:r>
          </a:p>
        </p:txBody>
      </p:sp>
      <p:sp>
        <p:nvSpPr>
          <p:cNvPr id="21" name="TextBox 20"/>
          <p:cNvSpPr txBox="1"/>
          <p:nvPr/>
        </p:nvSpPr>
        <p:spPr>
          <a:xfrm>
            <a:off x="3584448" y="4828032"/>
            <a:ext cx="2212848" cy="365760"/>
          </a:xfrm>
          <a:prstGeom prst="rect">
            <a:avLst/>
          </a:prstGeom>
          <a:noFill/>
        </p:spPr>
        <p:txBody>
          <a:bodyPr wrap="square" lIns="0" rIns="0" tIns="0" bIns="0" anchor="t">
            <a:spAutoFit/>
          </a:bodyPr>
          <a:lstStyle/>
          <a:p>
            <a:pPr algn="l">
              <a:lnSpc>
                <a:spcPct val="112000"/>
              </a:lnSpc>
              <a:spcBef>
                <a:spcPts val="0"/>
              </a:spcBef>
              <a:spcAft>
                <a:spcPts val="0"/>
              </a:spcAft>
              <a:defRPr sz="1070" b="1">
                <a:solidFill>
                  <a:srgbClr val="087F82"/>
                </a:solidFill>
                <a:latin typeface="Noto Sans"/>
              </a:defRPr>
            </a:pPr>
            <a:r>
              <a:t>AdaBoost / Gradient Boosting</a:t>
            </a:r>
          </a:p>
        </p:txBody>
      </p:sp>
      <p:sp>
        <p:nvSpPr>
          <p:cNvPr id="22" name="Rounded Rectangle 21"/>
          <p:cNvSpPr/>
          <p:nvPr/>
        </p:nvSpPr>
        <p:spPr>
          <a:xfrm>
            <a:off x="6199632" y="1956816"/>
            <a:ext cx="2596896" cy="3355848"/>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Rectangle 22"/>
          <p:cNvSpPr/>
          <p:nvPr/>
        </p:nvSpPr>
        <p:spPr>
          <a:xfrm>
            <a:off x="6400800" y="2267712"/>
            <a:ext cx="347472" cy="45720"/>
          </a:xfrm>
          <a:prstGeom prst="rect">
            <a:avLst/>
          </a:prstGeom>
          <a:solidFill>
            <a:srgbClr val="416D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6400800" y="2587752"/>
            <a:ext cx="2194560" cy="457200"/>
          </a:xfrm>
          <a:prstGeom prst="rect">
            <a:avLst/>
          </a:prstGeom>
          <a:noFill/>
        </p:spPr>
        <p:txBody>
          <a:bodyPr wrap="square" lIns="0" rIns="0" tIns="0" bIns="0" anchor="t">
            <a:spAutoFit/>
          </a:bodyPr>
          <a:lstStyle/>
          <a:p>
            <a:pPr algn="l">
              <a:lnSpc>
                <a:spcPct val="112000"/>
              </a:lnSpc>
              <a:spcBef>
                <a:spcPts val="0"/>
              </a:spcBef>
              <a:spcAft>
                <a:spcPts val="0"/>
              </a:spcAft>
              <a:defRPr sz="2600" b="1">
                <a:solidFill>
                  <a:srgbClr val="142D46"/>
                </a:solidFill>
                <a:latin typeface="Noto Sans"/>
              </a:defRPr>
            </a:pPr>
            <a:r>
              <a:t>Voting</a:t>
            </a:r>
          </a:p>
        </p:txBody>
      </p:sp>
      <p:sp>
        <p:nvSpPr>
          <p:cNvPr id="25" name="TextBox 24"/>
          <p:cNvSpPr txBox="1"/>
          <p:nvPr/>
        </p:nvSpPr>
        <p:spPr>
          <a:xfrm>
            <a:off x="6400800" y="3364992"/>
            <a:ext cx="2212848" cy="1280160"/>
          </a:xfrm>
          <a:prstGeom prst="rect">
            <a:avLst/>
          </a:prstGeom>
          <a:noFill/>
        </p:spPr>
        <p:txBody>
          <a:bodyPr wrap="square" lIns="0" rIns="0" tIns="0" bIns="0" anchor="t">
            <a:spAutoFit/>
          </a:bodyPr>
          <a:lstStyle/>
          <a:p>
            <a:pPr algn="l">
              <a:lnSpc>
                <a:spcPct val="130000"/>
              </a:lnSpc>
              <a:spcBef>
                <a:spcPts val="0"/>
              </a:spcBef>
              <a:spcAft>
                <a:spcPts val="0"/>
              </a:spcAft>
              <a:defRPr sz="1800" b="0">
                <a:solidFill>
                  <a:srgbClr val="5B6B7B"/>
                </a:solidFill>
                <a:latin typeface="Noto Sans"/>
              </a:defRPr>
            </a:pPr>
            <a:r>
              <a:t>Kết hợp đầu ra</a:t>
            </a:r>
          </a:p>
          <a:p>
            <a:pPr algn="l">
              <a:lnSpc>
                <a:spcPct val="130000"/>
              </a:lnSpc>
              <a:spcBef>
                <a:spcPts val="0"/>
              </a:spcBef>
              <a:spcAft>
                <a:spcPts val="0"/>
              </a:spcAft>
              <a:defRPr sz="1800" b="0">
                <a:solidFill>
                  <a:srgbClr val="5B6B7B"/>
                </a:solidFill>
                <a:latin typeface="Noto Sans"/>
              </a:defRPr>
            </a:pPr>
            <a:r>
              <a:t>Đa số nhãn hoặc</a:t>
            </a:r>
          </a:p>
          <a:p>
            <a:pPr algn="l">
              <a:lnSpc>
                <a:spcPct val="130000"/>
              </a:lnSpc>
              <a:spcBef>
                <a:spcPts val="0"/>
              </a:spcBef>
              <a:spcAft>
                <a:spcPts val="0"/>
              </a:spcAft>
              <a:defRPr sz="1800" b="0">
                <a:solidFill>
                  <a:srgbClr val="5B6B7B"/>
                </a:solidFill>
                <a:latin typeface="Noto Sans"/>
              </a:defRPr>
            </a:pPr>
            <a:r>
              <a:t>trung bình xác suất</a:t>
            </a:r>
          </a:p>
        </p:txBody>
      </p:sp>
      <p:sp>
        <p:nvSpPr>
          <p:cNvPr id="26" name="TextBox 25"/>
          <p:cNvSpPr txBox="1"/>
          <p:nvPr/>
        </p:nvSpPr>
        <p:spPr>
          <a:xfrm>
            <a:off x="6400800" y="4828032"/>
            <a:ext cx="2212848" cy="365760"/>
          </a:xfrm>
          <a:prstGeom prst="rect">
            <a:avLst/>
          </a:prstGeom>
          <a:noFill/>
        </p:spPr>
        <p:txBody>
          <a:bodyPr wrap="square" lIns="0" rIns="0" tIns="0" bIns="0" anchor="t">
            <a:spAutoFit/>
          </a:bodyPr>
          <a:lstStyle/>
          <a:p>
            <a:pPr algn="l">
              <a:lnSpc>
                <a:spcPct val="112000"/>
              </a:lnSpc>
              <a:spcBef>
                <a:spcPts val="0"/>
              </a:spcBef>
              <a:spcAft>
                <a:spcPts val="0"/>
              </a:spcAft>
              <a:defRPr sz="1070" b="1">
                <a:solidFill>
                  <a:srgbClr val="087F82"/>
                </a:solidFill>
                <a:latin typeface="Noto Sans"/>
              </a:defRPr>
            </a:pPr>
            <a:r>
              <a:t>Hard / Soft</a:t>
            </a:r>
          </a:p>
        </p:txBody>
      </p:sp>
      <p:sp>
        <p:nvSpPr>
          <p:cNvPr id="27" name="Rounded Rectangle 26"/>
          <p:cNvSpPr/>
          <p:nvPr/>
        </p:nvSpPr>
        <p:spPr>
          <a:xfrm>
            <a:off x="9015984" y="1956816"/>
            <a:ext cx="2596896" cy="3355848"/>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Rectangle 27"/>
          <p:cNvSpPr/>
          <p:nvPr/>
        </p:nvSpPr>
        <p:spPr>
          <a:xfrm>
            <a:off x="9217152" y="2267712"/>
            <a:ext cx="347472" cy="45720"/>
          </a:xfrm>
          <a:prstGeom prst="rect">
            <a:avLst/>
          </a:prstGeom>
          <a:solidFill>
            <a:srgbClr val="416DC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9217152" y="2587752"/>
            <a:ext cx="2194560" cy="457200"/>
          </a:xfrm>
          <a:prstGeom prst="rect">
            <a:avLst/>
          </a:prstGeom>
          <a:noFill/>
        </p:spPr>
        <p:txBody>
          <a:bodyPr wrap="square" lIns="0" rIns="0" tIns="0" bIns="0" anchor="t">
            <a:spAutoFit/>
          </a:bodyPr>
          <a:lstStyle/>
          <a:p>
            <a:pPr algn="l">
              <a:lnSpc>
                <a:spcPct val="112000"/>
              </a:lnSpc>
              <a:spcBef>
                <a:spcPts val="0"/>
              </a:spcBef>
              <a:spcAft>
                <a:spcPts val="0"/>
              </a:spcAft>
              <a:defRPr sz="2600" b="1">
                <a:solidFill>
                  <a:srgbClr val="142D46"/>
                </a:solidFill>
                <a:latin typeface="Noto Sans"/>
              </a:defRPr>
            </a:pPr>
            <a:r>
              <a:t>Stacking</a:t>
            </a:r>
          </a:p>
        </p:txBody>
      </p:sp>
      <p:sp>
        <p:nvSpPr>
          <p:cNvPr id="30" name="TextBox 29"/>
          <p:cNvSpPr txBox="1"/>
          <p:nvPr/>
        </p:nvSpPr>
        <p:spPr>
          <a:xfrm>
            <a:off x="9217152" y="3364992"/>
            <a:ext cx="2212848" cy="1280160"/>
          </a:xfrm>
          <a:prstGeom prst="rect">
            <a:avLst/>
          </a:prstGeom>
          <a:noFill/>
        </p:spPr>
        <p:txBody>
          <a:bodyPr wrap="square" lIns="0" rIns="0" tIns="0" bIns="0" anchor="t">
            <a:spAutoFit/>
          </a:bodyPr>
          <a:lstStyle/>
          <a:p>
            <a:pPr algn="l">
              <a:lnSpc>
                <a:spcPct val="130000"/>
              </a:lnSpc>
              <a:spcBef>
                <a:spcPts val="0"/>
              </a:spcBef>
              <a:spcAft>
                <a:spcPts val="0"/>
              </a:spcAft>
              <a:defRPr sz="1800" b="0">
                <a:solidFill>
                  <a:srgbClr val="5B6B7B"/>
                </a:solidFill>
                <a:latin typeface="Noto Sans"/>
              </a:defRPr>
            </a:pPr>
            <a:r>
              <a:t>Dự đoán ngoài fold</a:t>
            </a:r>
          </a:p>
          <a:p>
            <a:pPr algn="l">
              <a:lnSpc>
                <a:spcPct val="130000"/>
              </a:lnSpc>
              <a:spcBef>
                <a:spcPts val="0"/>
              </a:spcBef>
              <a:spcAft>
                <a:spcPts val="0"/>
              </a:spcAft>
              <a:defRPr sz="1800" b="0">
                <a:solidFill>
                  <a:srgbClr val="5B6B7B"/>
                </a:solidFill>
                <a:latin typeface="Noto Sans"/>
              </a:defRPr>
            </a:pPr>
            <a:r>
              <a:t>Tạo đầu vào cho</a:t>
            </a:r>
          </a:p>
          <a:p>
            <a:pPr algn="l">
              <a:lnSpc>
                <a:spcPct val="130000"/>
              </a:lnSpc>
              <a:spcBef>
                <a:spcPts val="0"/>
              </a:spcBef>
              <a:spcAft>
                <a:spcPts val="0"/>
              </a:spcAft>
              <a:defRPr sz="1800" b="0">
                <a:solidFill>
                  <a:srgbClr val="5B6B7B"/>
                </a:solidFill>
                <a:latin typeface="Noto Sans"/>
              </a:defRPr>
            </a:pPr>
            <a:r>
              <a:t>mô hình tầng hai</a:t>
            </a:r>
          </a:p>
        </p:txBody>
      </p:sp>
      <p:sp>
        <p:nvSpPr>
          <p:cNvPr id="31" name="TextBox 30"/>
          <p:cNvSpPr txBox="1"/>
          <p:nvPr/>
        </p:nvSpPr>
        <p:spPr>
          <a:xfrm>
            <a:off x="9217152" y="4828032"/>
            <a:ext cx="2212848" cy="365760"/>
          </a:xfrm>
          <a:prstGeom prst="rect">
            <a:avLst/>
          </a:prstGeom>
          <a:noFill/>
        </p:spPr>
        <p:txBody>
          <a:bodyPr wrap="square" lIns="0" rIns="0" tIns="0" bIns="0" anchor="t">
            <a:spAutoFit/>
          </a:bodyPr>
          <a:lstStyle/>
          <a:p>
            <a:pPr algn="l">
              <a:lnSpc>
                <a:spcPct val="112000"/>
              </a:lnSpc>
              <a:spcBef>
                <a:spcPts val="0"/>
              </a:spcBef>
              <a:spcAft>
                <a:spcPts val="0"/>
              </a:spcAft>
              <a:defRPr sz="1070" b="1">
                <a:solidFill>
                  <a:srgbClr val="087F82"/>
                </a:solidFill>
                <a:latin typeface="Noto Sans"/>
              </a:defRPr>
            </a:pPr>
            <a:r>
              <a:t>Meta-model</a:t>
            </a:r>
          </a:p>
        </p:txBody>
      </p:sp>
      <p:sp>
        <p:nvSpPr>
          <p:cNvPr id="32" name="Rounded Rectangle 31"/>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Các hướng không tách rời: Bagging vẫn cần một quy tắc tổng hợp như voting.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02 / CƠ CHẾ</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Bagging = Bootstrap + Aggregating</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[1], [3] · ensemble_model.py</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04</a:t>
            </a:r>
          </a:p>
        </p:txBody>
      </p:sp>
      <p:sp>
        <p:nvSpPr>
          <p:cNvPr id="8" name="Rectangle 7"/>
          <p:cNvSpPr/>
          <p:nvPr/>
        </p:nvSpPr>
        <p:spPr>
          <a:xfrm>
            <a:off x="10671048"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566928" y="2176272"/>
            <a:ext cx="242316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BƯỚC 1</a:t>
            </a:r>
          </a:p>
        </p:txBody>
      </p:sp>
      <p:cxnSp>
        <p:nvCxnSpPr>
          <p:cNvPr id="13" name="Connector 12"/>
          <p:cNvCxnSpPr/>
          <p:nvPr/>
        </p:nvCxnSpPr>
        <p:spPr>
          <a:xfrm>
            <a:off x="566928" y="2688336"/>
            <a:ext cx="2423160" cy="0"/>
          </a:xfrm>
          <a:prstGeom prst="line">
            <a:avLst/>
          </a:prstGeom>
          <a:ln w="2540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14" name="TextBox 13"/>
          <p:cNvSpPr txBox="1"/>
          <p:nvPr/>
        </p:nvSpPr>
        <p:spPr>
          <a:xfrm>
            <a:off x="566928" y="2999232"/>
            <a:ext cx="2487168" cy="594360"/>
          </a:xfrm>
          <a:prstGeom prst="rect">
            <a:avLst/>
          </a:prstGeom>
          <a:noFill/>
        </p:spPr>
        <p:txBody>
          <a:bodyPr wrap="square" lIns="0" rIns="0" tIns="0" bIns="0" anchor="t">
            <a:spAutoFit/>
          </a:bodyPr>
          <a:lstStyle/>
          <a:p>
            <a:pPr algn="l">
              <a:lnSpc>
                <a:spcPct val="112000"/>
              </a:lnSpc>
              <a:spcBef>
                <a:spcPts val="0"/>
              </a:spcBef>
              <a:spcAft>
                <a:spcPts val="0"/>
              </a:spcAft>
              <a:defRPr sz="2400" b="1">
                <a:solidFill>
                  <a:srgbClr val="142D46"/>
                </a:solidFill>
                <a:latin typeface="Noto Sans"/>
              </a:defRPr>
            </a:pPr>
            <a:r>
              <a:t>Giữ riêng test</a:t>
            </a:r>
          </a:p>
        </p:txBody>
      </p:sp>
      <p:sp>
        <p:nvSpPr>
          <p:cNvPr id="15" name="TextBox 14"/>
          <p:cNvSpPr txBox="1"/>
          <p:nvPr/>
        </p:nvSpPr>
        <p:spPr>
          <a:xfrm>
            <a:off x="566928" y="3904487"/>
            <a:ext cx="2487168" cy="1051560"/>
          </a:xfrm>
          <a:prstGeom prst="rect">
            <a:avLst/>
          </a:prstGeom>
          <a:noFill/>
        </p:spPr>
        <p:txBody>
          <a:bodyPr wrap="square" lIns="0" rIns="0" tIns="0" bIns="0" anchor="t">
            <a:spAutoFit/>
          </a:bodyPr>
          <a:lstStyle/>
          <a:p>
            <a:pPr algn="l">
              <a:lnSpc>
                <a:spcPct val="112000"/>
              </a:lnSpc>
              <a:spcBef>
                <a:spcPts val="0"/>
              </a:spcBef>
              <a:spcAft>
                <a:spcPts val="0"/>
              </a:spcAft>
              <a:defRPr sz="2100" b="0">
                <a:solidFill>
                  <a:srgbClr val="5B6B7B"/>
                </a:solidFill>
                <a:latin typeface="Noto Sans"/>
              </a:defRPr>
            </a:pPr>
            <a:r>
              <a:t>Chỉ lấy mẫu</a:t>
            </a:r>
          </a:p>
          <a:p>
            <a:pPr algn="l">
              <a:lnSpc>
                <a:spcPct val="112000"/>
              </a:lnSpc>
              <a:spcBef>
                <a:spcPts val="0"/>
              </a:spcBef>
              <a:spcAft>
                <a:spcPts val="0"/>
              </a:spcAft>
              <a:defRPr sz="2100" b="0">
                <a:solidFill>
                  <a:srgbClr val="5B6B7B"/>
                </a:solidFill>
                <a:latin typeface="Noto Sans"/>
              </a:defRPr>
            </a:pPr>
            <a:r>
              <a:t>từ tập train.</a:t>
            </a:r>
          </a:p>
        </p:txBody>
      </p:sp>
      <p:sp>
        <p:nvSpPr>
          <p:cNvPr id="16" name="Right Arrow 15"/>
          <p:cNvSpPr/>
          <p:nvPr/>
        </p:nvSpPr>
        <p:spPr>
          <a:xfrm>
            <a:off x="3054096" y="3154680"/>
            <a:ext cx="228600" cy="182880"/>
          </a:xfrm>
          <a:prstGeom prst="rightArrow">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3401568" y="2176272"/>
            <a:ext cx="242316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BƯỚC 2</a:t>
            </a:r>
          </a:p>
        </p:txBody>
      </p:sp>
      <p:cxnSp>
        <p:nvCxnSpPr>
          <p:cNvPr id="18" name="Connector 17"/>
          <p:cNvCxnSpPr/>
          <p:nvPr/>
        </p:nvCxnSpPr>
        <p:spPr>
          <a:xfrm>
            <a:off x="3401568" y="2688336"/>
            <a:ext cx="2423160" cy="0"/>
          </a:xfrm>
          <a:prstGeom prst="line">
            <a:avLst/>
          </a:prstGeom>
          <a:ln w="2540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19" name="TextBox 18"/>
          <p:cNvSpPr txBox="1"/>
          <p:nvPr/>
        </p:nvSpPr>
        <p:spPr>
          <a:xfrm>
            <a:off x="3401568" y="2999232"/>
            <a:ext cx="2487168" cy="594360"/>
          </a:xfrm>
          <a:prstGeom prst="rect">
            <a:avLst/>
          </a:prstGeom>
          <a:noFill/>
        </p:spPr>
        <p:txBody>
          <a:bodyPr wrap="square" lIns="0" rIns="0" tIns="0" bIns="0" anchor="t">
            <a:spAutoFit/>
          </a:bodyPr>
          <a:lstStyle/>
          <a:p>
            <a:pPr algn="l">
              <a:lnSpc>
                <a:spcPct val="112000"/>
              </a:lnSpc>
              <a:spcBef>
                <a:spcPts val="0"/>
              </a:spcBef>
              <a:spcAft>
                <a:spcPts val="0"/>
              </a:spcAft>
              <a:defRPr sz="2400" b="1">
                <a:solidFill>
                  <a:srgbClr val="142D46"/>
                </a:solidFill>
                <a:latin typeface="Noto Sans"/>
              </a:defRPr>
            </a:pPr>
            <a:r>
              <a:t>Tạo bootstrap</a:t>
            </a:r>
          </a:p>
        </p:txBody>
      </p:sp>
      <p:sp>
        <p:nvSpPr>
          <p:cNvPr id="20" name="TextBox 19"/>
          <p:cNvSpPr txBox="1"/>
          <p:nvPr/>
        </p:nvSpPr>
        <p:spPr>
          <a:xfrm>
            <a:off x="3401568" y="3904487"/>
            <a:ext cx="2487168" cy="1051560"/>
          </a:xfrm>
          <a:prstGeom prst="rect">
            <a:avLst/>
          </a:prstGeom>
          <a:noFill/>
        </p:spPr>
        <p:txBody>
          <a:bodyPr wrap="square" lIns="0" rIns="0" tIns="0" bIns="0" anchor="t">
            <a:spAutoFit/>
          </a:bodyPr>
          <a:lstStyle/>
          <a:p>
            <a:pPr algn="l">
              <a:lnSpc>
                <a:spcPct val="112000"/>
              </a:lnSpc>
              <a:spcBef>
                <a:spcPts val="0"/>
              </a:spcBef>
              <a:spcAft>
                <a:spcPts val="0"/>
              </a:spcAft>
              <a:defRPr sz="2100" b="0">
                <a:solidFill>
                  <a:srgbClr val="5B6B7B"/>
                </a:solidFill>
                <a:latin typeface="Noto Sans"/>
              </a:defRPr>
            </a:pPr>
            <a:r>
              <a:t>N lượt lấy</a:t>
            </a:r>
          </a:p>
          <a:p>
            <a:pPr algn="l">
              <a:lnSpc>
                <a:spcPct val="112000"/>
              </a:lnSpc>
              <a:spcBef>
                <a:spcPts val="0"/>
              </a:spcBef>
              <a:spcAft>
                <a:spcPts val="0"/>
              </a:spcAft>
              <a:defRPr sz="2100" b="0">
                <a:solidFill>
                  <a:srgbClr val="5B6B7B"/>
                </a:solidFill>
                <a:latin typeface="Noto Sans"/>
              </a:defRPr>
            </a:pPr>
            <a:r>
              <a:t>có hoàn lại / cây.</a:t>
            </a:r>
          </a:p>
        </p:txBody>
      </p:sp>
      <p:sp>
        <p:nvSpPr>
          <p:cNvPr id="21" name="Right Arrow 20"/>
          <p:cNvSpPr/>
          <p:nvPr/>
        </p:nvSpPr>
        <p:spPr>
          <a:xfrm>
            <a:off x="5888736" y="3154680"/>
            <a:ext cx="228600" cy="182880"/>
          </a:xfrm>
          <a:prstGeom prst="rightArrow">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6236208" y="2176272"/>
            <a:ext cx="242316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BƯỚC 3</a:t>
            </a:r>
          </a:p>
        </p:txBody>
      </p:sp>
      <p:cxnSp>
        <p:nvCxnSpPr>
          <p:cNvPr id="23" name="Connector 22"/>
          <p:cNvCxnSpPr/>
          <p:nvPr/>
        </p:nvCxnSpPr>
        <p:spPr>
          <a:xfrm>
            <a:off x="6236208" y="2688336"/>
            <a:ext cx="2423160" cy="0"/>
          </a:xfrm>
          <a:prstGeom prst="line">
            <a:avLst/>
          </a:prstGeom>
          <a:ln w="2540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24" name="TextBox 23"/>
          <p:cNvSpPr txBox="1"/>
          <p:nvPr/>
        </p:nvSpPr>
        <p:spPr>
          <a:xfrm>
            <a:off x="6236208" y="2999232"/>
            <a:ext cx="2487168" cy="594360"/>
          </a:xfrm>
          <a:prstGeom prst="rect">
            <a:avLst/>
          </a:prstGeom>
          <a:noFill/>
        </p:spPr>
        <p:txBody>
          <a:bodyPr wrap="square" lIns="0" rIns="0" tIns="0" bIns="0" anchor="t">
            <a:spAutoFit/>
          </a:bodyPr>
          <a:lstStyle/>
          <a:p>
            <a:pPr algn="l">
              <a:lnSpc>
                <a:spcPct val="112000"/>
              </a:lnSpc>
              <a:spcBef>
                <a:spcPts val="0"/>
              </a:spcBef>
              <a:spcAft>
                <a:spcPts val="0"/>
              </a:spcAft>
              <a:defRPr sz="2400" b="1">
                <a:solidFill>
                  <a:srgbClr val="142D46"/>
                </a:solidFill>
                <a:latin typeface="Noto Sans"/>
              </a:defRPr>
            </a:pPr>
            <a:r>
              <a:t>Học B cây</a:t>
            </a:r>
          </a:p>
        </p:txBody>
      </p:sp>
      <p:sp>
        <p:nvSpPr>
          <p:cNvPr id="25" name="TextBox 24"/>
          <p:cNvSpPr txBox="1"/>
          <p:nvPr/>
        </p:nvSpPr>
        <p:spPr>
          <a:xfrm>
            <a:off x="6236208" y="3904487"/>
            <a:ext cx="2487168" cy="1051560"/>
          </a:xfrm>
          <a:prstGeom prst="rect">
            <a:avLst/>
          </a:prstGeom>
          <a:noFill/>
        </p:spPr>
        <p:txBody>
          <a:bodyPr wrap="square" lIns="0" rIns="0" tIns="0" bIns="0" anchor="t">
            <a:spAutoFit/>
          </a:bodyPr>
          <a:lstStyle/>
          <a:p>
            <a:pPr algn="l">
              <a:lnSpc>
                <a:spcPct val="112000"/>
              </a:lnSpc>
              <a:spcBef>
                <a:spcPts val="0"/>
              </a:spcBef>
              <a:spcAft>
                <a:spcPts val="0"/>
              </a:spcAft>
              <a:defRPr sz="2100" b="0">
                <a:solidFill>
                  <a:srgbClr val="5B6B7B"/>
                </a:solidFill>
                <a:latin typeface="Noto Sans"/>
              </a:defRPr>
            </a:pPr>
            <a:r>
              <a:t>Một cây học</a:t>
            </a:r>
          </a:p>
          <a:p>
            <a:pPr algn="l">
              <a:lnSpc>
                <a:spcPct val="112000"/>
              </a:lnSpc>
              <a:spcBef>
                <a:spcPts val="0"/>
              </a:spcBef>
              <a:spcAft>
                <a:spcPts val="0"/>
              </a:spcAft>
              <a:defRPr sz="2100" b="0">
                <a:solidFill>
                  <a:srgbClr val="5B6B7B"/>
                </a:solidFill>
                <a:latin typeface="Noto Sans"/>
              </a:defRPr>
            </a:pPr>
            <a:r>
              <a:t>trên mỗi bootstrap.</a:t>
            </a:r>
          </a:p>
        </p:txBody>
      </p:sp>
      <p:sp>
        <p:nvSpPr>
          <p:cNvPr id="26" name="Right Arrow 25"/>
          <p:cNvSpPr/>
          <p:nvPr/>
        </p:nvSpPr>
        <p:spPr>
          <a:xfrm>
            <a:off x="8723376" y="3154680"/>
            <a:ext cx="228600" cy="182880"/>
          </a:xfrm>
          <a:prstGeom prst="rightArrow">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9070848" y="2176272"/>
            <a:ext cx="242316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BƯỚC 4</a:t>
            </a:r>
          </a:p>
        </p:txBody>
      </p:sp>
      <p:cxnSp>
        <p:nvCxnSpPr>
          <p:cNvPr id="28" name="Connector 27"/>
          <p:cNvCxnSpPr/>
          <p:nvPr/>
        </p:nvCxnSpPr>
        <p:spPr>
          <a:xfrm>
            <a:off x="9070848" y="2688336"/>
            <a:ext cx="2423160" cy="0"/>
          </a:xfrm>
          <a:prstGeom prst="line">
            <a:avLst/>
          </a:prstGeom>
          <a:ln w="2540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29" name="TextBox 28"/>
          <p:cNvSpPr txBox="1"/>
          <p:nvPr/>
        </p:nvSpPr>
        <p:spPr>
          <a:xfrm>
            <a:off x="9070848" y="2999232"/>
            <a:ext cx="2487168" cy="594360"/>
          </a:xfrm>
          <a:prstGeom prst="rect">
            <a:avLst/>
          </a:prstGeom>
          <a:noFill/>
        </p:spPr>
        <p:txBody>
          <a:bodyPr wrap="square" lIns="0" rIns="0" tIns="0" bIns="0" anchor="t">
            <a:spAutoFit/>
          </a:bodyPr>
          <a:lstStyle/>
          <a:p>
            <a:pPr algn="l">
              <a:lnSpc>
                <a:spcPct val="112000"/>
              </a:lnSpc>
              <a:spcBef>
                <a:spcPts val="0"/>
              </a:spcBef>
              <a:spcAft>
                <a:spcPts val="0"/>
              </a:spcAft>
              <a:defRPr sz="2400" b="1">
                <a:solidFill>
                  <a:srgbClr val="142D46"/>
                </a:solidFill>
                <a:latin typeface="Noto Sans"/>
              </a:defRPr>
            </a:pPr>
            <a:r>
              <a:t>Đếm phiếu</a:t>
            </a:r>
          </a:p>
        </p:txBody>
      </p:sp>
      <p:sp>
        <p:nvSpPr>
          <p:cNvPr id="30" name="TextBox 29"/>
          <p:cNvSpPr txBox="1"/>
          <p:nvPr/>
        </p:nvSpPr>
        <p:spPr>
          <a:xfrm>
            <a:off x="9070848" y="3904487"/>
            <a:ext cx="2487168" cy="1051560"/>
          </a:xfrm>
          <a:prstGeom prst="rect">
            <a:avLst/>
          </a:prstGeom>
          <a:noFill/>
        </p:spPr>
        <p:txBody>
          <a:bodyPr wrap="square" lIns="0" rIns="0" tIns="0" bIns="0" anchor="t">
            <a:spAutoFit/>
          </a:bodyPr>
          <a:lstStyle/>
          <a:p>
            <a:pPr algn="l">
              <a:lnSpc>
                <a:spcPct val="112000"/>
              </a:lnSpc>
              <a:spcBef>
                <a:spcPts val="0"/>
              </a:spcBef>
              <a:spcAft>
                <a:spcPts val="0"/>
              </a:spcAft>
              <a:defRPr sz="2100" b="0">
                <a:solidFill>
                  <a:srgbClr val="5B6B7B"/>
                </a:solidFill>
                <a:latin typeface="Noto Sans"/>
              </a:defRPr>
            </a:pPr>
            <a:r>
              <a:t>Cùng một mẫu mới</a:t>
            </a:r>
          </a:p>
          <a:p>
            <a:pPr algn="l">
              <a:lnSpc>
                <a:spcPct val="112000"/>
              </a:lnSpc>
              <a:spcBef>
                <a:spcPts val="0"/>
              </a:spcBef>
              <a:spcAft>
                <a:spcPts val="0"/>
              </a:spcAft>
              <a:defRPr sz="2100" b="0">
                <a:solidFill>
                  <a:srgbClr val="5B6B7B"/>
                </a:solidFill>
                <a:latin typeface="Noto Sans"/>
              </a:defRPr>
            </a:pPr>
            <a:r>
              <a:t>→ chọn lớp đa số.</a:t>
            </a:r>
          </a:p>
        </p:txBody>
      </p:sp>
      <p:sp>
        <p:nvSpPr>
          <p:cNvPr id="31" name="Rounded Rectangle 30"/>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Không chia train thành B phần rời nhau. Mỗi bootstrap đều lấy từ cùng tập train.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02 / VÍ DỤ TÍNH TAY</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Cùng 5 quan sát, tạo 3 bootstrap khác nhau</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examples/toy_bagging.py · Dữ liệu giả lập</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05</a:t>
            </a:r>
          </a:p>
        </p:txBody>
      </p:sp>
      <p:sp>
        <p:nvSpPr>
          <p:cNvPr id="8" name="Rectangle 7"/>
          <p:cNvSpPr/>
          <p:nvPr/>
        </p:nvSpPr>
        <p:spPr>
          <a:xfrm>
            <a:off x="10671048"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12648" y="1810512"/>
            <a:ext cx="365760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DỮ LIỆU GỐC</a:t>
            </a:r>
          </a:p>
        </p:txBody>
      </p:sp>
      <p:sp>
        <p:nvSpPr>
          <p:cNvPr id="13" name="TextBox 12"/>
          <p:cNvSpPr txBox="1"/>
          <p:nvPr/>
        </p:nvSpPr>
        <p:spPr>
          <a:xfrm>
            <a:off x="2743200" y="1783080"/>
            <a:ext cx="1463040" cy="402336"/>
          </a:xfrm>
          <a:prstGeom prst="rect">
            <a:avLst/>
          </a:prstGeom>
          <a:noFill/>
        </p:spPr>
        <p:txBody>
          <a:bodyPr wrap="square" lIns="0" rIns="0" tIns="0" bIns="0" anchor="t">
            <a:spAutoFit/>
          </a:bodyPr>
          <a:lstStyle/>
          <a:p>
            <a:pPr algn="ctr">
              <a:lnSpc>
                <a:spcPct val="112000"/>
              </a:lnSpc>
              <a:spcBef>
                <a:spcPts val="0"/>
              </a:spcBef>
              <a:spcAft>
                <a:spcPts val="0"/>
              </a:spcAft>
              <a:defRPr sz="2200" b="1">
                <a:solidFill>
                  <a:srgbClr val="142D46"/>
                </a:solidFill>
                <a:latin typeface="Noto Sans"/>
              </a:defRPr>
            </a:pPr>
            <a:r>
              <a:t>x = 1</a:t>
            </a:r>
          </a:p>
        </p:txBody>
      </p:sp>
      <p:sp>
        <p:nvSpPr>
          <p:cNvPr id="14" name="TextBox 13"/>
          <p:cNvSpPr txBox="1"/>
          <p:nvPr/>
        </p:nvSpPr>
        <p:spPr>
          <a:xfrm>
            <a:off x="2743200" y="2267712"/>
            <a:ext cx="1463040" cy="320040"/>
          </a:xfrm>
          <a:prstGeom prst="rect">
            <a:avLst/>
          </a:prstGeom>
          <a:noFill/>
        </p:spPr>
        <p:txBody>
          <a:bodyPr wrap="square" lIns="0" rIns="0" tIns="0" bIns="0" anchor="t">
            <a:spAutoFit/>
          </a:bodyPr>
          <a:lstStyle/>
          <a:p>
            <a:pPr algn="ctr">
              <a:lnSpc>
                <a:spcPct val="112000"/>
              </a:lnSpc>
              <a:spcBef>
                <a:spcPts val="0"/>
              </a:spcBef>
              <a:spcAft>
                <a:spcPts val="0"/>
              </a:spcAft>
              <a:defRPr sz="1700" b="0">
                <a:solidFill>
                  <a:srgbClr val="087F82"/>
                </a:solidFill>
                <a:latin typeface="Noto Sans"/>
              </a:defRPr>
            </a:pPr>
            <a:r>
              <a:t>Lành</a:t>
            </a:r>
          </a:p>
        </p:txBody>
      </p:sp>
      <p:sp>
        <p:nvSpPr>
          <p:cNvPr id="15" name="TextBox 14"/>
          <p:cNvSpPr txBox="1"/>
          <p:nvPr/>
        </p:nvSpPr>
        <p:spPr>
          <a:xfrm>
            <a:off x="4453128" y="1783080"/>
            <a:ext cx="1463040" cy="402336"/>
          </a:xfrm>
          <a:prstGeom prst="rect">
            <a:avLst/>
          </a:prstGeom>
          <a:noFill/>
        </p:spPr>
        <p:txBody>
          <a:bodyPr wrap="square" lIns="0" rIns="0" tIns="0" bIns="0" anchor="t">
            <a:spAutoFit/>
          </a:bodyPr>
          <a:lstStyle/>
          <a:p>
            <a:pPr algn="ctr">
              <a:lnSpc>
                <a:spcPct val="112000"/>
              </a:lnSpc>
              <a:spcBef>
                <a:spcPts val="0"/>
              </a:spcBef>
              <a:spcAft>
                <a:spcPts val="0"/>
              </a:spcAft>
              <a:defRPr sz="2200" b="1">
                <a:solidFill>
                  <a:srgbClr val="142D46"/>
                </a:solidFill>
                <a:latin typeface="Noto Sans"/>
              </a:defRPr>
            </a:pPr>
            <a:r>
              <a:t>x = 2</a:t>
            </a:r>
          </a:p>
        </p:txBody>
      </p:sp>
      <p:sp>
        <p:nvSpPr>
          <p:cNvPr id="16" name="TextBox 15"/>
          <p:cNvSpPr txBox="1"/>
          <p:nvPr/>
        </p:nvSpPr>
        <p:spPr>
          <a:xfrm>
            <a:off x="4453128" y="2267712"/>
            <a:ext cx="1463040" cy="320040"/>
          </a:xfrm>
          <a:prstGeom prst="rect">
            <a:avLst/>
          </a:prstGeom>
          <a:noFill/>
        </p:spPr>
        <p:txBody>
          <a:bodyPr wrap="square" lIns="0" rIns="0" tIns="0" bIns="0" anchor="t">
            <a:spAutoFit/>
          </a:bodyPr>
          <a:lstStyle/>
          <a:p>
            <a:pPr algn="ctr">
              <a:lnSpc>
                <a:spcPct val="112000"/>
              </a:lnSpc>
              <a:spcBef>
                <a:spcPts val="0"/>
              </a:spcBef>
              <a:spcAft>
                <a:spcPts val="0"/>
              </a:spcAft>
              <a:defRPr sz="1700" b="0">
                <a:solidFill>
                  <a:srgbClr val="087F82"/>
                </a:solidFill>
                <a:latin typeface="Noto Sans"/>
              </a:defRPr>
            </a:pPr>
            <a:r>
              <a:t>Lành</a:t>
            </a:r>
          </a:p>
        </p:txBody>
      </p:sp>
      <p:sp>
        <p:nvSpPr>
          <p:cNvPr id="17" name="TextBox 16"/>
          <p:cNvSpPr txBox="1"/>
          <p:nvPr/>
        </p:nvSpPr>
        <p:spPr>
          <a:xfrm>
            <a:off x="6163056" y="1783080"/>
            <a:ext cx="1463040" cy="402336"/>
          </a:xfrm>
          <a:prstGeom prst="rect">
            <a:avLst/>
          </a:prstGeom>
          <a:noFill/>
        </p:spPr>
        <p:txBody>
          <a:bodyPr wrap="square" lIns="0" rIns="0" tIns="0" bIns="0" anchor="t">
            <a:spAutoFit/>
          </a:bodyPr>
          <a:lstStyle/>
          <a:p>
            <a:pPr algn="ctr">
              <a:lnSpc>
                <a:spcPct val="112000"/>
              </a:lnSpc>
              <a:spcBef>
                <a:spcPts val="0"/>
              </a:spcBef>
              <a:spcAft>
                <a:spcPts val="0"/>
              </a:spcAft>
              <a:defRPr sz="2200" b="1">
                <a:solidFill>
                  <a:srgbClr val="142D46"/>
                </a:solidFill>
                <a:latin typeface="Noto Sans"/>
              </a:defRPr>
            </a:pPr>
            <a:r>
              <a:t>x = 3</a:t>
            </a:r>
          </a:p>
        </p:txBody>
      </p:sp>
      <p:sp>
        <p:nvSpPr>
          <p:cNvPr id="18" name="TextBox 17"/>
          <p:cNvSpPr txBox="1"/>
          <p:nvPr/>
        </p:nvSpPr>
        <p:spPr>
          <a:xfrm>
            <a:off x="6163056" y="2267712"/>
            <a:ext cx="1463040" cy="320040"/>
          </a:xfrm>
          <a:prstGeom prst="rect">
            <a:avLst/>
          </a:prstGeom>
          <a:noFill/>
        </p:spPr>
        <p:txBody>
          <a:bodyPr wrap="square" lIns="0" rIns="0" tIns="0" bIns="0" anchor="t">
            <a:spAutoFit/>
          </a:bodyPr>
          <a:lstStyle/>
          <a:p>
            <a:pPr algn="ctr">
              <a:lnSpc>
                <a:spcPct val="112000"/>
              </a:lnSpc>
              <a:spcBef>
                <a:spcPts val="0"/>
              </a:spcBef>
              <a:spcAft>
                <a:spcPts val="0"/>
              </a:spcAft>
              <a:defRPr sz="1700" b="0">
                <a:solidFill>
                  <a:srgbClr val="C86449"/>
                </a:solidFill>
                <a:latin typeface="Noto Sans"/>
              </a:defRPr>
            </a:pPr>
            <a:r>
              <a:t>Ác</a:t>
            </a:r>
          </a:p>
        </p:txBody>
      </p:sp>
      <p:sp>
        <p:nvSpPr>
          <p:cNvPr id="19" name="TextBox 18"/>
          <p:cNvSpPr txBox="1"/>
          <p:nvPr/>
        </p:nvSpPr>
        <p:spPr>
          <a:xfrm>
            <a:off x="7872983" y="1783080"/>
            <a:ext cx="1463040" cy="402336"/>
          </a:xfrm>
          <a:prstGeom prst="rect">
            <a:avLst/>
          </a:prstGeom>
          <a:noFill/>
        </p:spPr>
        <p:txBody>
          <a:bodyPr wrap="square" lIns="0" rIns="0" tIns="0" bIns="0" anchor="t">
            <a:spAutoFit/>
          </a:bodyPr>
          <a:lstStyle/>
          <a:p>
            <a:pPr algn="ctr">
              <a:lnSpc>
                <a:spcPct val="112000"/>
              </a:lnSpc>
              <a:spcBef>
                <a:spcPts val="0"/>
              </a:spcBef>
              <a:spcAft>
                <a:spcPts val="0"/>
              </a:spcAft>
              <a:defRPr sz="2200" b="1">
                <a:solidFill>
                  <a:srgbClr val="142D46"/>
                </a:solidFill>
                <a:latin typeface="Noto Sans"/>
              </a:defRPr>
            </a:pPr>
            <a:r>
              <a:t>x = 4</a:t>
            </a:r>
          </a:p>
        </p:txBody>
      </p:sp>
      <p:sp>
        <p:nvSpPr>
          <p:cNvPr id="20" name="TextBox 19"/>
          <p:cNvSpPr txBox="1"/>
          <p:nvPr/>
        </p:nvSpPr>
        <p:spPr>
          <a:xfrm>
            <a:off x="7872983" y="2267712"/>
            <a:ext cx="1463040" cy="320040"/>
          </a:xfrm>
          <a:prstGeom prst="rect">
            <a:avLst/>
          </a:prstGeom>
          <a:noFill/>
        </p:spPr>
        <p:txBody>
          <a:bodyPr wrap="square" lIns="0" rIns="0" tIns="0" bIns="0" anchor="t">
            <a:spAutoFit/>
          </a:bodyPr>
          <a:lstStyle/>
          <a:p>
            <a:pPr algn="ctr">
              <a:lnSpc>
                <a:spcPct val="112000"/>
              </a:lnSpc>
              <a:spcBef>
                <a:spcPts val="0"/>
              </a:spcBef>
              <a:spcAft>
                <a:spcPts val="0"/>
              </a:spcAft>
              <a:defRPr sz="1700" b="0">
                <a:solidFill>
                  <a:srgbClr val="C86449"/>
                </a:solidFill>
                <a:latin typeface="Noto Sans"/>
              </a:defRPr>
            </a:pPr>
            <a:r>
              <a:t>Ác</a:t>
            </a:r>
          </a:p>
        </p:txBody>
      </p:sp>
      <p:sp>
        <p:nvSpPr>
          <p:cNvPr id="21" name="TextBox 20"/>
          <p:cNvSpPr txBox="1"/>
          <p:nvPr/>
        </p:nvSpPr>
        <p:spPr>
          <a:xfrm>
            <a:off x="9582912" y="1783080"/>
            <a:ext cx="1463040" cy="402336"/>
          </a:xfrm>
          <a:prstGeom prst="rect">
            <a:avLst/>
          </a:prstGeom>
          <a:noFill/>
        </p:spPr>
        <p:txBody>
          <a:bodyPr wrap="square" lIns="0" rIns="0" tIns="0" bIns="0" anchor="t">
            <a:spAutoFit/>
          </a:bodyPr>
          <a:lstStyle/>
          <a:p>
            <a:pPr algn="ctr">
              <a:lnSpc>
                <a:spcPct val="112000"/>
              </a:lnSpc>
              <a:spcBef>
                <a:spcPts val="0"/>
              </a:spcBef>
              <a:spcAft>
                <a:spcPts val="0"/>
              </a:spcAft>
              <a:defRPr sz="2200" b="1">
                <a:solidFill>
                  <a:srgbClr val="142D46"/>
                </a:solidFill>
                <a:latin typeface="Noto Sans"/>
              </a:defRPr>
            </a:pPr>
            <a:r>
              <a:t>x = 5</a:t>
            </a:r>
          </a:p>
        </p:txBody>
      </p:sp>
      <p:sp>
        <p:nvSpPr>
          <p:cNvPr id="22" name="TextBox 21"/>
          <p:cNvSpPr txBox="1"/>
          <p:nvPr/>
        </p:nvSpPr>
        <p:spPr>
          <a:xfrm>
            <a:off x="9582912" y="2267712"/>
            <a:ext cx="1463040" cy="320040"/>
          </a:xfrm>
          <a:prstGeom prst="rect">
            <a:avLst/>
          </a:prstGeom>
          <a:noFill/>
        </p:spPr>
        <p:txBody>
          <a:bodyPr wrap="square" lIns="0" rIns="0" tIns="0" bIns="0" anchor="t">
            <a:spAutoFit/>
          </a:bodyPr>
          <a:lstStyle/>
          <a:p>
            <a:pPr algn="ctr">
              <a:lnSpc>
                <a:spcPct val="112000"/>
              </a:lnSpc>
              <a:spcBef>
                <a:spcPts val="0"/>
              </a:spcBef>
              <a:spcAft>
                <a:spcPts val="0"/>
              </a:spcAft>
              <a:defRPr sz="1700" b="0">
                <a:solidFill>
                  <a:srgbClr val="C86449"/>
                </a:solidFill>
                <a:latin typeface="Noto Sans"/>
              </a:defRPr>
            </a:pPr>
            <a:r>
              <a:t>Ác</a:t>
            </a:r>
          </a:p>
        </p:txBody>
      </p:sp>
      <p:sp>
        <p:nvSpPr>
          <p:cNvPr id="23" name="Rectangle 22"/>
          <p:cNvSpPr/>
          <p:nvPr/>
        </p:nvSpPr>
        <p:spPr>
          <a:xfrm>
            <a:off x="612648" y="2926080"/>
            <a:ext cx="1463040" cy="594360"/>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768096" y="3072384"/>
            <a:ext cx="1152144" cy="429768"/>
          </a:xfrm>
          <a:prstGeom prst="rect">
            <a:avLst/>
          </a:prstGeom>
          <a:noFill/>
        </p:spPr>
        <p:txBody>
          <a:bodyPr wrap="square" lIns="0" rIns="0" tIns="0" bIns="0" anchor="t">
            <a:spAutoFit/>
          </a:bodyPr>
          <a:lstStyle/>
          <a:p>
            <a:pPr algn="l">
              <a:lnSpc>
                <a:spcPct val="112000"/>
              </a:lnSpc>
              <a:spcBef>
                <a:spcPts val="0"/>
              </a:spcBef>
              <a:spcAft>
                <a:spcPts val="0"/>
              </a:spcAft>
              <a:defRPr sz="1900" b="1">
                <a:solidFill>
                  <a:srgbClr val="FFFFFF"/>
                </a:solidFill>
                <a:latin typeface="Noto Sans"/>
              </a:defRPr>
            </a:pPr>
            <a:r>
              <a:t>Cây</a:t>
            </a:r>
          </a:p>
        </p:txBody>
      </p:sp>
      <p:sp>
        <p:nvSpPr>
          <p:cNvPr id="25" name="Rectangle 24"/>
          <p:cNvSpPr/>
          <p:nvPr/>
        </p:nvSpPr>
        <p:spPr>
          <a:xfrm>
            <a:off x="2075688" y="2926080"/>
            <a:ext cx="5943600" cy="594360"/>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2231136" y="3072384"/>
            <a:ext cx="5632704" cy="429768"/>
          </a:xfrm>
          <a:prstGeom prst="rect">
            <a:avLst/>
          </a:prstGeom>
          <a:noFill/>
        </p:spPr>
        <p:txBody>
          <a:bodyPr wrap="square" lIns="0" rIns="0" tIns="0" bIns="0" anchor="t">
            <a:spAutoFit/>
          </a:bodyPr>
          <a:lstStyle/>
          <a:p>
            <a:pPr algn="ctr">
              <a:lnSpc>
                <a:spcPct val="112000"/>
              </a:lnSpc>
              <a:spcBef>
                <a:spcPts val="0"/>
              </a:spcBef>
              <a:spcAft>
                <a:spcPts val="0"/>
              </a:spcAft>
              <a:defRPr sz="1900" b="1">
                <a:solidFill>
                  <a:srgbClr val="FFFFFF"/>
                </a:solidFill>
                <a:latin typeface="Noto Sans"/>
              </a:defRPr>
            </a:pPr>
            <a:r>
              <a:t>Chỉ số bootstrap (từ 0)</a:t>
            </a:r>
          </a:p>
        </p:txBody>
      </p:sp>
      <p:sp>
        <p:nvSpPr>
          <p:cNvPr id="27" name="Rectangle 26"/>
          <p:cNvSpPr/>
          <p:nvPr/>
        </p:nvSpPr>
        <p:spPr>
          <a:xfrm>
            <a:off x="8019288" y="2926080"/>
            <a:ext cx="3520440" cy="594360"/>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8174736" y="3072384"/>
            <a:ext cx="3209544" cy="429768"/>
          </a:xfrm>
          <a:prstGeom prst="rect">
            <a:avLst/>
          </a:prstGeom>
          <a:noFill/>
        </p:spPr>
        <p:txBody>
          <a:bodyPr wrap="square" lIns="0" rIns="0" tIns="0" bIns="0" anchor="t">
            <a:spAutoFit/>
          </a:bodyPr>
          <a:lstStyle/>
          <a:p>
            <a:pPr algn="ctr">
              <a:lnSpc>
                <a:spcPct val="112000"/>
              </a:lnSpc>
              <a:spcBef>
                <a:spcPts val="0"/>
              </a:spcBef>
              <a:spcAft>
                <a:spcPts val="0"/>
              </a:spcAft>
              <a:defRPr sz="1900" b="1">
                <a:solidFill>
                  <a:srgbClr val="FFFFFF"/>
                </a:solidFill>
                <a:latin typeface="Noto Sans"/>
              </a:defRPr>
            </a:pPr>
            <a:r>
              <a:t>Quan sát vắng mặt</a:t>
            </a:r>
          </a:p>
        </p:txBody>
      </p:sp>
      <p:sp>
        <p:nvSpPr>
          <p:cNvPr id="29" name="Rectangle 28"/>
          <p:cNvSpPr/>
          <p:nvPr/>
        </p:nvSpPr>
        <p:spPr>
          <a:xfrm>
            <a:off x="612648" y="3520440"/>
            <a:ext cx="1463040" cy="5943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768096" y="3666744"/>
            <a:ext cx="1152144" cy="429768"/>
          </a:xfrm>
          <a:prstGeom prst="rect">
            <a:avLst/>
          </a:prstGeom>
          <a:noFill/>
        </p:spPr>
        <p:txBody>
          <a:bodyPr wrap="square" lIns="0" rIns="0" tIns="0" bIns="0" anchor="t">
            <a:spAutoFit/>
          </a:bodyPr>
          <a:lstStyle/>
          <a:p>
            <a:pPr algn="l">
              <a:lnSpc>
                <a:spcPct val="112000"/>
              </a:lnSpc>
              <a:spcBef>
                <a:spcPts val="0"/>
              </a:spcBef>
              <a:spcAft>
                <a:spcPts val="0"/>
              </a:spcAft>
              <a:defRPr sz="2000" b="0">
                <a:solidFill>
                  <a:srgbClr val="192F43"/>
                </a:solidFill>
                <a:latin typeface="Noto Sans"/>
              </a:defRPr>
            </a:pPr>
            <a:r>
              <a:t>h1</a:t>
            </a:r>
          </a:p>
        </p:txBody>
      </p:sp>
      <p:sp>
        <p:nvSpPr>
          <p:cNvPr id="31" name="Rectangle 30"/>
          <p:cNvSpPr/>
          <p:nvPr/>
        </p:nvSpPr>
        <p:spPr>
          <a:xfrm>
            <a:off x="2075688" y="3520440"/>
            <a:ext cx="5943600" cy="5943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2231136" y="3666744"/>
            <a:ext cx="5632704" cy="429768"/>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92F43"/>
                </a:solidFill>
                <a:latin typeface="Noto Sans"/>
              </a:defRPr>
            </a:pPr>
            <a:r>
              <a:t>[0, 0, 2, 4, 1]</a:t>
            </a:r>
          </a:p>
        </p:txBody>
      </p:sp>
      <p:sp>
        <p:nvSpPr>
          <p:cNvPr id="33" name="Rectangle 32"/>
          <p:cNvSpPr/>
          <p:nvPr/>
        </p:nvSpPr>
        <p:spPr>
          <a:xfrm>
            <a:off x="8019288" y="3520440"/>
            <a:ext cx="3520440" cy="5943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8174736" y="3666744"/>
            <a:ext cx="3209544" cy="429768"/>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92F43"/>
                </a:solidFill>
                <a:latin typeface="Noto Sans"/>
              </a:defRPr>
            </a:pPr>
            <a:r>
              <a:t>3</a:t>
            </a:r>
          </a:p>
        </p:txBody>
      </p:sp>
      <p:cxnSp>
        <p:nvCxnSpPr>
          <p:cNvPr id="35" name="Connector 34"/>
          <p:cNvCxnSpPr/>
          <p:nvPr/>
        </p:nvCxnSpPr>
        <p:spPr>
          <a:xfrm>
            <a:off x="612648" y="4114800"/>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36" name="Rectangle 35"/>
          <p:cNvSpPr/>
          <p:nvPr/>
        </p:nvSpPr>
        <p:spPr>
          <a:xfrm>
            <a:off x="612648" y="4114800"/>
            <a:ext cx="1463040" cy="594360"/>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768096" y="4261104"/>
            <a:ext cx="1152144" cy="429768"/>
          </a:xfrm>
          <a:prstGeom prst="rect">
            <a:avLst/>
          </a:prstGeom>
          <a:noFill/>
        </p:spPr>
        <p:txBody>
          <a:bodyPr wrap="square" lIns="0" rIns="0" tIns="0" bIns="0" anchor="t">
            <a:spAutoFit/>
          </a:bodyPr>
          <a:lstStyle/>
          <a:p>
            <a:pPr algn="l">
              <a:lnSpc>
                <a:spcPct val="112000"/>
              </a:lnSpc>
              <a:spcBef>
                <a:spcPts val="0"/>
              </a:spcBef>
              <a:spcAft>
                <a:spcPts val="0"/>
              </a:spcAft>
              <a:defRPr sz="2000" b="0">
                <a:solidFill>
                  <a:srgbClr val="192F43"/>
                </a:solidFill>
                <a:latin typeface="Noto Sans"/>
              </a:defRPr>
            </a:pPr>
            <a:r>
              <a:t>h2</a:t>
            </a:r>
          </a:p>
        </p:txBody>
      </p:sp>
      <p:sp>
        <p:nvSpPr>
          <p:cNvPr id="38" name="Rectangle 37"/>
          <p:cNvSpPr/>
          <p:nvPr/>
        </p:nvSpPr>
        <p:spPr>
          <a:xfrm>
            <a:off x="2075688" y="4114800"/>
            <a:ext cx="5943600" cy="594360"/>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2231136" y="4261104"/>
            <a:ext cx="5632704" cy="429768"/>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92F43"/>
                </a:solidFill>
                <a:latin typeface="Noto Sans"/>
              </a:defRPr>
            </a:pPr>
            <a:r>
              <a:t>[0, 0, 1, 3, 4]</a:t>
            </a:r>
          </a:p>
        </p:txBody>
      </p:sp>
      <p:sp>
        <p:nvSpPr>
          <p:cNvPr id="40" name="Rectangle 39"/>
          <p:cNvSpPr/>
          <p:nvPr/>
        </p:nvSpPr>
        <p:spPr>
          <a:xfrm>
            <a:off x="8019288" y="4114800"/>
            <a:ext cx="3520440" cy="594360"/>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TextBox 40"/>
          <p:cNvSpPr txBox="1"/>
          <p:nvPr/>
        </p:nvSpPr>
        <p:spPr>
          <a:xfrm>
            <a:off x="8174736" y="4261104"/>
            <a:ext cx="3209544" cy="429768"/>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92F43"/>
                </a:solidFill>
                <a:latin typeface="Noto Sans"/>
              </a:defRPr>
            </a:pPr>
            <a:r>
              <a:t>2</a:t>
            </a:r>
          </a:p>
        </p:txBody>
      </p:sp>
      <p:cxnSp>
        <p:nvCxnSpPr>
          <p:cNvPr id="42" name="Connector 41"/>
          <p:cNvCxnSpPr/>
          <p:nvPr/>
        </p:nvCxnSpPr>
        <p:spPr>
          <a:xfrm>
            <a:off x="612648" y="4709160"/>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43" name="Rectangle 42"/>
          <p:cNvSpPr/>
          <p:nvPr/>
        </p:nvSpPr>
        <p:spPr>
          <a:xfrm>
            <a:off x="612648" y="4709160"/>
            <a:ext cx="1463040" cy="5943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768096" y="4855464"/>
            <a:ext cx="1152144" cy="429768"/>
          </a:xfrm>
          <a:prstGeom prst="rect">
            <a:avLst/>
          </a:prstGeom>
          <a:noFill/>
        </p:spPr>
        <p:txBody>
          <a:bodyPr wrap="square" lIns="0" rIns="0" tIns="0" bIns="0" anchor="t">
            <a:spAutoFit/>
          </a:bodyPr>
          <a:lstStyle/>
          <a:p>
            <a:pPr algn="l">
              <a:lnSpc>
                <a:spcPct val="112000"/>
              </a:lnSpc>
              <a:spcBef>
                <a:spcPts val="0"/>
              </a:spcBef>
              <a:spcAft>
                <a:spcPts val="0"/>
              </a:spcAft>
              <a:defRPr sz="2000" b="0">
                <a:solidFill>
                  <a:srgbClr val="192F43"/>
                </a:solidFill>
                <a:latin typeface="Noto Sans"/>
              </a:defRPr>
            </a:pPr>
            <a:r>
              <a:t>h3</a:t>
            </a:r>
          </a:p>
        </p:txBody>
      </p:sp>
      <p:sp>
        <p:nvSpPr>
          <p:cNvPr id="45" name="Rectangle 44"/>
          <p:cNvSpPr/>
          <p:nvPr/>
        </p:nvSpPr>
        <p:spPr>
          <a:xfrm>
            <a:off x="2075688" y="4709160"/>
            <a:ext cx="5943600" cy="5943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TextBox 45"/>
          <p:cNvSpPr txBox="1"/>
          <p:nvPr/>
        </p:nvSpPr>
        <p:spPr>
          <a:xfrm>
            <a:off x="2231136" y="4855464"/>
            <a:ext cx="5632704" cy="429768"/>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92F43"/>
                </a:solidFill>
                <a:latin typeface="Noto Sans"/>
              </a:defRPr>
            </a:pPr>
            <a:r>
              <a:t>[4, 2, 4, 1, 3]</a:t>
            </a:r>
          </a:p>
        </p:txBody>
      </p:sp>
      <p:sp>
        <p:nvSpPr>
          <p:cNvPr id="47" name="Rectangle 46"/>
          <p:cNvSpPr/>
          <p:nvPr/>
        </p:nvSpPr>
        <p:spPr>
          <a:xfrm>
            <a:off x="8019288" y="4709160"/>
            <a:ext cx="3520440" cy="5943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TextBox 47"/>
          <p:cNvSpPr txBox="1"/>
          <p:nvPr/>
        </p:nvSpPr>
        <p:spPr>
          <a:xfrm>
            <a:off x="8174736" y="4855464"/>
            <a:ext cx="3209544" cy="429768"/>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92F43"/>
                </a:solidFill>
                <a:latin typeface="Noto Sans"/>
              </a:defRPr>
            </a:pPr>
            <a:r>
              <a:t>0</a:t>
            </a:r>
          </a:p>
        </p:txBody>
      </p:sp>
      <p:cxnSp>
        <p:nvCxnSpPr>
          <p:cNvPr id="49" name="Connector 48"/>
          <p:cNvCxnSpPr/>
          <p:nvPr/>
        </p:nvCxnSpPr>
        <p:spPr>
          <a:xfrm>
            <a:off x="612648" y="5303520"/>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0" name="Rounded Rectangle 49"/>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TextBox 50"/>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Ví dụ h₁ lấy chỉ số 0 hai lần và không lấy chỉ số 3. Mỗi bootstrap vẫn có 5 lượt.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02 / VÍ DỤ TÍNH TAY</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Cây h₁ chọn ngưỡng làm giảm Gini nhiều nhất</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examples/toy_bagging.py · [5]</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06</a:t>
            </a:r>
          </a:p>
        </p:txBody>
      </p:sp>
      <p:sp>
        <p:nvSpPr>
          <p:cNvPr id="8" name="Rectangle 7"/>
          <p:cNvSpPr/>
          <p:nvPr/>
        </p:nvSpPr>
        <p:spPr>
          <a:xfrm>
            <a:off x="10671048"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12648" y="1920240"/>
            <a:ext cx="365760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TRƯỚC KHI CHIA</a:t>
            </a:r>
          </a:p>
        </p:txBody>
      </p:sp>
      <p:sp>
        <p:nvSpPr>
          <p:cNvPr id="13" name="TextBox 12"/>
          <p:cNvSpPr txBox="1"/>
          <p:nvPr/>
        </p:nvSpPr>
        <p:spPr>
          <a:xfrm>
            <a:off x="612648" y="2441448"/>
            <a:ext cx="5029200" cy="475488"/>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3 lành + 2 ác</a:t>
            </a:r>
          </a:p>
        </p:txBody>
      </p:sp>
      <p:sp>
        <p:nvSpPr>
          <p:cNvPr id="14" name="TextBox 13"/>
          <p:cNvSpPr txBox="1"/>
          <p:nvPr/>
        </p:nvSpPr>
        <p:spPr>
          <a:xfrm>
            <a:off x="612648" y="3145536"/>
            <a:ext cx="5029200" cy="822960"/>
          </a:xfrm>
          <a:prstGeom prst="rect">
            <a:avLst/>
          </a:prstGeom>
          <a:noFill/>
        </p:spPr>
        <p:txBody>
          <a:bodyPr wrap="square" lIns="0" rIns="0" tIns="0" bIns="0" anchor="t">
            <a:spAutoFit/>
          </a:bodyPr>
          <a:lstStyle/>
          <a:p>
            <a:pPr algn="l">
              <a:lnSpc>
                <a:spcPct val="130000"/>
              </a:lnSpc>
              <a:spcBef>
                <a:spcPts val="0"/>
              </a:spcBef>
              <a:spcAft>
                <a:spcPts val="0"/>
              </a:spcAft>
              <a:defRPr sz="2400" b="0">
                <a:solidFill>
                  <a:srgbClr val="087F82"/>
                </a:solidFill>
                <a:latin typeface="Noto Sans"/>
              </a:defRPr>
            </a:pPr>
            <a:r>
              <a:t>Gini = 1 − (3/5)² − (2/5)²</a:t>
            </a:r>
          </a:p>
          <a:p>
            <a:pPr algn="l">
              <a:lnSpc>
                <a:spcPct val="130000"/>
              </a:lnSpc>
              <a:spcBef>
                <a:spcPts val="0"/>
              </a:spcBef>
              <a:spcAft>
                <a:spcPts val="0"/>
              </a:spcAft>
              <a:defRPr sz="2400" b="0">
                <a:solidFill>
                  <a:srgbClr val="087F82"/>
                </a:solidFill>
                <a:latin typeface="Noto Sans"/>
              </a:defRPr>
            </a:pPr>
            <a:r>
              <a:t>        = 0,48</a:t>
            </a:r>
          </a:p>
        </p:txBody>
      </p:sp>
      <p:sp>
        <p:nvSpPr>
          <p:cNvPr id="15" name="Rectangle 14"/>
          <p:cNvSpPr/>
          <p:nvPr/>
        </p:nvSpPr>
        <p:spPr>
          <a:xfrm>
            <a:off x="612648" y="4407408"/>
            <a:ext cx="2331720" cy="530352"/>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68096" y="4553712"/>
            <a:ext cx="2020824" cy="365759"/>
          </a:xfrm>
          <a:prstGeom prst="rect">
            <a:avLst/>
          </a:prstGeom>
          <a:noFill/>
        </p:spPr>
        <p:txBody>
          <a:bodyPr wrap="square" lIns="0" rIns="0" tIns="0" bIns="0" anchor="t">
            <a:spAutoFit/>
          </a:bodyPr>
          <a:lstStyle/>
          <a:p>
            <a:pPr algn="l">
              <a:lnSpc>
                <a:spcPct val="112000"/>
              </a:lnSpc>
              <a:spcBef>
                <a:spcPts val="0"/>
              </a:spcBef>
              <a:spcAft>
                <a:spcPts val="0"/>
              </a:spcAft>
              <a:defRPr sz="1500" b="1">
                <a:solidFill>
                  <a:srgbClr val="FFFFFF"/>
                </a:solidFill>
                <a:latin typeface="Noto Sans"/>
              </a:defRPr>
            </a:pPr>
            <a:r>
              <a:t>Ngưỡng</a:t>
            </a:r>
          </a:p>
        </p:txBody>
      </p:sp>
      <p:sp>
        <p:nvSpPr>
          <p:cNvPr id="17" name="Rectangle 16"/>
          <p:cNvSpPr/>
          <p:nvPr/>
        </p:nvSpPr>
        <p:spPr>
          <a:xfrm>
            <a:off x="2944368" y="4407408"/>
            <a:ext cx="2377440" cy="530352"/>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3099815" y="4553712"/>
            <a:ext cx="2066544" cy="365759"/>
          </a:xfrm>
          <a:prstGeom prst="rect">
            <a:avLst/>
          </a:prstGeom>
          <a:noFill/>
        </p:spPr>
        <p:txBody>
          <a:bodyPr wrap="square" lIns="0" rIns="0" tIns="0" bIns="0" anchor="t">
            <a:spAutoFit/>
          </a:bodyPr>
          <a:lstStyle/>
          <a:p>
            <a:pPr algn="ctr">
              <a:lnSpc>
                <a:spcPct val="112000"/>
              </a:lnSpc>
              <a:spcBef>
                <a:spcPts val="0"/>
              </a:spcBef>
              <a:spcAft>
                <a:spcPts val="0"/>
              </a:spcAft>
              <a:defRPr sz="1500" b="1">
                <a:solidFill>
                  <a:srgbClr val="FFFFFF"/>
                </a:solidFill>
                <a:latin typeface="Noto Sans"/>
              </a:defRPr>
            </a:pPr>
            <a:r>
              <a:t>Gini sau chia</a:t>
            </a:r>
          </a:p>
        </p:txBody>
      </p:sp>
      <p:sp>
        <p:nvSpPr>
          <p:cNvPr id="19" name="Rectangle 18"/>
          <p:cNvSpPr/>
          <p:nvPr/>
        </p:nvSpPr>
        <p:spPr>
          <a:xfrm>
            <a:off x="612648" y="4937760"/>
            <a:ext cx="2331720" cy="53035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768096" y="5084064"/>
            <a:ext cx="2020824" cy="365759"/>
          </a:xfrm>
          <a:prstGeom prst="rect">
            <a:avLst/>
          </a:prstGeom>
          <a:noFill/>
        </p:spPr>
        <p:txBody>
          <a:bodyPr wrap="square" lIns="0" rIns="0" tIns="0" bIns="0" anchor="t">
            <a:spAutoFit/>
          </a:bodyPr>
          <a:lstStyle/>
          <a:p>
            <a:pPr algn="l">
              <a:lnSpc>
                <a:spcPct val="112000"/>
              </a:lnSpc>
              <a:spcBef>
                <a:spcPts val="0"/>
              </a:spcBef>
              <a:spcAft>
                <a:spcPts val="0"/>
              </a:spcAft>
              <a:defRPr sz="1600" b="0">
                <a:solidFill>
                  <a:srgbClr val="192F43"/>
                </a:solidFill>
                <a:latin typeface="Noto Sans"/>
              </a:defRPr>
            </a:pPr>
            <a:r>
              <a:t>1,5 / 2,5 / 4,0</a:t>
            </a:r>
          </a:p>
        </p:txBody>
      </p:sp>
      <p:sp>
        <p:nvSpPr>
          <p:cNvPr id="21" name="Rectangle 20"/>
          <p:cNvSpPr/>
          <p:nvPr/>
        </p:nvSpPr>
        <p:spPr>
          <a:xfrm>
            <a:off x="2944368" y="4937760"/>
            <a:ext cx="2377440" cy="53035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3099815" y="5084064"/>
            <a:ext cx="2066544" cy="365759"/>
          </a:xfrm>
          <a:prstGeom prst="rect">
            <a:avLst/>
          </a:prstGeom>
          <a:noFill/>
        </p:spPr>
        <p:txBody>
          <a:bodyPr wrap="square" lIns="0" rIns="0" tIns="0" bIns="0" anchor="t">
            <a:spAutoFit/>
          </a:bodyPr>
          <a:lstStyle/>
          <a:p>
            <a:pPr algn="ctr">
              <a:lnSpc>
                <a:spcPct val="112000"/>
              </a:lnSpc>
              <a:spcBef>
                <a:spcPts val="0"/>
              </a:spcBef>
              <a:spcAft>
                <a:spcPts val="0"/>
              </a:spcAft>
              <a:defRPr sz="1600" b="0">
                <a:solidFill>
                  <a:srgbClr val="192F43"/>
                </a:solidFill>
                <a:latin typeface="Noto Sans"/>
              </a:defRPr>
            </a:pPr>
            <a:r>
              <a:t>0,2667 / 0 / 0,30</a:t>
            </a:r>
          </a:p>
        </p:txBody>
      </p:sp>
      <p:cxnSp>
        <p:nvCxnSpPr>
          <p:cNvPr id="23" name="Connector 22"/>
          <p:cNvCxnSpPr/>
          <p:nvPr/>
        </p:nvCxnSpPr>
        <p:spPr>
          <a:xfrm>
            <a:off x="612648" y="5468112"/>
            <a:ext cx="470916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24" name="Rounded Rectangle 23"/>
          <p:cNvSpPr/>
          <p:nvPr/>
        </p:nvSpPr>
        <p:spPr>
          <a:xfrm>
            <a:off x="6217920" y="1874519"/>
            <a:ext cx="5376672" cy="3520440"/>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Rounded Rectangle 24"/>
          <p:cNvSpPr/>
          <p:nvPr/>
        </p:nvSpPr>
        <p:spPr>
          <a:xfrm>
            <a:off x="7616952" y="2267712"/>
            <a:ext cx="2560320" cy="640080"/>
          </a:xfrm>
          <a:prstGeom prst="roundRect">
            <a:avLst>
              <a:gd name="adj" fmla="val 8000"/>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7818120" y="2423160"/>
            <a:ext cx="2157984" cy="347472"/>
          </a:xfrm>
          <a:prstGeom prst="rect">
            <a:avLst/>
          </a:prstGeom>
          <a:noFill/>
        </p:spPr>
        <p:txBody>
          <a:bodyPr wrap="square" lIns="0" rIns="0" tIns="0" bIns="0" anchor="t">
            <a:spAutoFit/>
          </a:bodyPr>
          <a:lstStyle/>
          <a:p>
            <a:pPr algn="ctr">
              <a:lnSpc>
                <a:spcPct val="112000"/>
              </a:lnSpc>
              <a:spcBef>
                <a:spcPts val="0"/>
              </a:spcBef>
              <a:spcAft>
                <a:spcPts val="0"/>
              </a:spcAft>
              <a:defRPr sz="2400" b="1">
                <a:solidFill>
                  <a:srgbClr val="FFFFFF"/>
                </a:solidFill>
                <a:latin typeface="Noto Sans"/>
              </a:defRPr>
            </a:pPr>
            <a:r>
              <a:t>x ≤ 2,5 ?</a:t>
            </a:r>
          </a:p>
        </p:txBody>
      </p:sp>
      <p:cxnSp>
        <p:nvCxnSpPr>
          <p:cNvPr id="27" name="Connector 26"/>
          <p:cNvCxnSpPr/>
          <p:nvPr/>
        </p:nvCxnSpPr>
        <p:spPr>
          <a:xfrm flipH="1">
            <a:off x="7406640" y="2926080"/>
            <a:ext cx="822960" cy="868680"/>
          </a:xfrm>
          <a:prstGeom prst="line">
            <a:avLst/>
          </a:prstGeom>
          <a:ln w="25400">
            <a:solidFill>
              <a:srgbClr val="DCE4EB"/>
            </a:solidFill>
          </a:ln>
          <a:effectLst/>
        </p:spPr>
        <p:style>
          <a:lnRef idx="2">
            <a:schemeClr val="accent1"/>
          </a:lnRef>
          <a:fillRef idx="0">
            <a:schemeClr val="accent1"/>
          </a:fillRef>
          <a:effectRef idx="0">
            <a:schemeClr val="accent1"/>
          </a:effectRef>
          <a:fontRef idx="minor">
            <a:schemeClr val="tx1"/>
          </a:fontRef>
        </p:style>
      </p:cxnSp>
      <p:cxnSp>
        <p:nvCxnSpPr>
          <p:cNvPr id="28" name="Connector 27"/>
          <p:cNvCxnSpPr/>
          <p:nvPr/>
        </p:nvCxnSpPr>
        <p:spPr>
          <a:xfrm>
            <a:off x="9555480" y="2926080"/>
            <a:ext cx="832104" cy="868680"/>
          </a:xfrm>
          <a:prstGeom prst="line">
            <a:avLst/>
          </a:prstGeom>
          <a:ln w="2540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29" name="TextBox 28"/>
          <p:cNvSpPr txBox="1"/>
          <p:nvPr/>
        </p:nvSpPr>
        <p:spPr>
          <a:xfrm>
            <a:off x="6931152" y="3264408"/>
            <a:ext cx="1097280" cy="274320"/>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ĐÚNG</a:t>
            </a:r>
          </a:p>
        </p:txBody>
      </p:sp>
      <p:sp>
        <p:nvSpPr>
          <p:cNvPr id="30" name="TextBox 29"/>
          <p:cNvSpPr txBox="1"/>
          <p:nvPr/>
        </p:nvSpPr>
        <p:spPr>
          <a:xfrm>
            <a:off x="9784080" y="3264408"/>
            <a:ext cx="1097280" cy="274320"/>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C86449"/>
                </a:solidFill>
                <a:latin typeface="Noto Sans"/>
              </a:defRPr>
            </a:pPr>
            <a:r>
              <a:t>SAI</a:t>
            </a:r>
          </a:p>
        </p:txBody>
      </p:sp>
      <p:sp>
        <p:nvSpPr>
          <p:cNvPr id="31" name="TextBox 30"/>
          <p:cNvSpPr txBox="1"/>
          <p:nvPr/>
        </p:nvSpPr>
        <p:spPr>
          <a:xfrm>
            <a:off x="6565392" y="3895344"/>
            <a:ext cx="2377440" cy="438912"/>
          </a:xfrm>
          <a:prstGeom prst="rect">
            <a:avLst/>
          </a:prstGeom>
          <a:noFill/>
        </p:spPr>
        <p:txBody>
          <a:bodyPr wrap="square" lIns="0" rIns="0" tIns="0" bIns="0" anchor="t">
            <a:spAutoFit/>
          </a:bodyPr>
          <a:lstStyle/>
          <a:p>
            <a:pPr algn="ctr">
              <a:lnSpc>
                <a:spcPct val="112000"/>
              </a:lnSpc>
              <a:spcBef>
                <a:spcPts val="0"/>
              </a:spcBef>
              <a:spcAft>
                <a:spcPts val="0"/>
              </a:spcAft>
              <a:defRPr sz="2700" b="1">
                <a:solidFill>
                  <a:srgbClr val="087F82"/>
                </a:solidFill>
                <a:latin typeface="Noto Sans"/>
              </a:defRPr>
            </a:pPr>
            <a:r>
              <a:t>3 lành</a:t>
            </a:r>
          </a:p>
        </p:txBody>
      </p:sp>
      <p:sp>
        <p:nvSpPr>
          <p:cNvPr id="32" name="TextBox 31"/>
          <p:cNvSpPr txBox="1"/>
          <p:nvPr/>
        </p:nvSpPr>
        <p:spPr>
          <a:xfrm>
            <a:off x="9125712" y="3895344"/>
            <a:ext cx="2194560" cy="438912"/>
          </a:xfrm>
          <a:prstGeom prst="rect">
            <a:avLst/>
          </a:prstGeom>
          <a:noFill/>
        </p:spPr>
        <p:txBody>
          <a:bodyPr wrap="square" lIns="0" rIns="0" tIns="0" bIns="0" anchor="t">
            <a:spAutoFit/>
          </a:bodyPr>
          <a:lstStyle/>
          <a:p>
            <a:pPr algn="ctr">
              <a:lnSpc>
                <a:spcPct val="112000"/>
              </a:lnSpc>
              <a:spcBef>
                <a:spcPts val="0"/>
              </a:spcBef>
              <a:spcAft>
                <a:spcPts val="0"/>
              </a:spcAft>
              <a:defRPr sz="2700" b="1">
                <a:solidFill>
                  <a:srgbClr val="C86449"/>
                </a:solidFill>
                <a:latin typeface="Noto Sans"/>
              </a:defRPr>
            </a:pPr>
            <a:r>
              <a:t>2 ác</a:t>
            </a:r>
          </a:p>
        </p:txBody>
      </p:sp>
      <p:sp>
        <p:nvSpPr>
          <p:cNvPr id="33" name="TextBox 32"/>
          <p:cNvSpPr txBox="1"/>
          <p:nvPr/>
        </p:nvSpPr>
        <p:spPr>
          <a:xfrm>
            <a:off x="6656832" y="4617720"/>
            <a:ext cx="4572000" cy="365760"/>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5B6B7B"/>
                </a:solidFill>
                <a:latin typeface="Noto Sans"/>
              </a:defRPr>
            </a:pPr>
            <a:r>
              <a:t>Cả hai nhánh: Gini = 0</a:t>
            </a:r>
          </a:p>
        </p:txBody>
      </p:sp>
      <p:sp>
        <p:nvSpPr>
          <p:cNvPr id="34" name="Rounded Rectangle 33"/>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Ngưỡng 2,5 cho Gini sau chia bằng 0; mức giảm đạt 0,48.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02 / VÍ DỤ TÍNH TAY</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Mẫu x = 2,8 nhận hai phiếu ác và một phiếu lành</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Cùng ba bootstrap ở slide 5 · examples/toy_bagging.py</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07</a:t>
            </a:r>
          </a:p>
        </p:txBody>
      </p:sp>
      <p:sp>
        <p:nvSpPr>
          <p:cNvPr id="8" name="Rectangle 7"/>
          <p:cNvSpPr/>
          <p:nvPr/>
        </p:nvSpPr>
        <p:spPr>
          <a:xfrm>
            <a:off x="10671048"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ounded Rectangle 11"/>
          <p:cNvSpPr/>
          <p:nvPr/>
        </p:nvSpPr>
        <p:spPr>
          <a:xfrm>
            <a:off x="612648" y="2029968"/>
            <a:ext cx="3465576" cy="2423160"/>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41248" y="2295144"/>
            <a:ext cx="365760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CÂY H1</a:t>
            </a:r>
          </a:p>
        </p:txBody>
      </p:sp>
      <p:sp>
        <p:nvSpPr>
          <p:cNvPr id="14" name="TextBox 13"/>
          <p:cNvSpPr txBox="1"/>
          <p:nvPr/>
        </p:nvSpPr>
        <p:spPr>
          <a:xfrm>
            <a:off x="841248" y="2852928"/>
            <a:ext cx="3017520" cy="429768"/>
          </a:xfrm>
          <a:prstGeom prst="rect">
            <a:avLst/>
          </a:prstGeom>
          <a:noFill/>
        </p:spPr>
        <p:txBody>
          <a:bodyPr wrap="square" lIns="0" rIns="0" tIns="0" bIns="0" anchor="t">
            <a:spAutoFit/>
          </a:bodyPr>
          <a:lstStyle/>
          <a:p>
            <a:pPr algn="l">
              <a:lnSpc>
                <a:spcPct val="112000"/>
              </a:lnSpc>
              <a:spcBef>
                <a:spcPts val="0"/>
              </a:spcBef>
              <a:spcAft>
                <a:spcPts val="0"/>
              </a:spcAft>
              <a:defRPr sz="2800" b="1">
                <a:solidFill>
                  <a:srgbClr val="142D46"/>
                </a:solidFill>
                <a:latin typeface="Noto Sans"/>
              </a:defRPr>
            </a:pPr>
            <a:r>
              <a:t>2,8 &gt; 2,5</a:t>
            </a:r>
          </a:p>
        </p:txBody>
      </p:sp>
      <p:sp>
        <p:nvSpPr>
          <p:cNvPr id="15" name="TextBox 14"/>
          <p:cNvSpPr txBox="1"/>
          <p:nvPr/>
        </p:nvSpPr>
        <p:spPr>
          <a:xfrm>
            <a:off x="841248" y="3602736"/>
            <a:ext cx="3017520" cy="457200"/>
          </a:xfrm>
          <a:prstGeom prst="rect">
            <a:avLst/>
          </a:prstGeom>
          <a:noFill/>
        </p:spPr>
        <p:txBody>
          <a:bodyPr wrap="square" lIns="0" rIns="0" tIns="0" bIns="0" anchor="t">
            <a:spAutoFit/>
          </a:bodyPr>
          <a:lstStyle/>
          <a:p>
            <a:pPr algn="l">
              <a:lnSpc>
                <a:spcPct val="112000"/>
              </a:lnSpc>
              <a:spcBef>
                <a:spcPts val="0"/>
              </a:spcBef>
              <a:spcAft>
                <a:spcPts val="0"/>
              </a:spcAft>
              <a:defRPr sz="2700" b="1">
                <a:solidFill>
                  <a:srgbClr val="C86449"/>
                </a:solidFill>
                <a:latin typeface="Noto Sans"/>
              </a:defRPr>
            </a:pPr>
            <a:r>
              <a:t>Ác tính</a:t>
            </a:r>
          </a:p>
        </p:txBody>
      </p:sp>
      <p:sp>
        <p:nvSpPr>
          <p:cNvPr id="16" name="Rounded Rectangle 15"/>
          <p:cNvSpPr/>
          <p:nvPr/>
        </p:nvSpPr>
        <p:spPr>
          <a:xfrm>
            <a:off x="4389120" y="2029968"/>
            <a:ext cx="3465576" cy="2423160"/>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4617720" y="2295144"/>
            <a:ext cx="365760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CÂY H2</a:t>
            </a:r>
          </a:p>
        </p:txBody>
      </p:sp>
      <p:sp>
        <p:nvSpPr>
          <p:cNvPr id="18" name="TextBox 17"/>
          <p:cNvSpPr txBox="1"/>
          <p:nvPr/>
        </p:nvSpPr>
        <p:spPr>
          <a:xfrm>
            <a:off x="4617720" y="2852928"/>
            <a:ext cx="3017520" cy="429768"/>
          </a:xfrm>
          <a:prstGeom prst="rect">
            <a:avLst/>
          </a:prstGeom>
          <a:noFill/>
        </p:spPr>
        <p:txBody>
          <a:bodyPr wrap="square" lIns="0" rIns="0" tIns="0" bIns="0" anchor="t">
            <a:spAutoFit/>
          </a:bodyPr>
          <a:lstStyle/>
          <a:p>
            <a:pPr algn="l">
              <a:lnSpc>
                <a:spcPct val="112000"/>
              </a:lnSpc>
              <a:spcBef>
                <a:spcPts val="0"/>
              </a:spcBef>
              <a:spcAft>
                <a:spcPts val="0"/>
              </a:spcAft>
              <a:defRPr sz="2800" b="1">
                <a:solidFill>
                  <a:srgbClr val="142D46"/>
                </a:solidFill>
                <a:latin typeface="Noto Sans"/>
              </a:defRPr>
            </a:pPr>
            <a:r>
              <a:t>2,8 ≤ 3,0</a:t>
            </a:r>
          </a:p>
        </p:txBody>
      </p:sp>
      <p:sp>
        <p:nvSpPr>
          <p:cNvPr id="19" name="TextBox 18"/>
          <p:cNvSpPr txBox="1"/>
          <p:nvPr/>
        </p:nvSpPr>
        <p:spPr>
          <a:xfrm>
            <a:off x="4617720" y="3602736"/>
            <a:ext cx="3017520" cy="457200"/>
          </a:xfrm>
          <a:prstGeom prst="rect">
            <a:avLst/>
          </a:prstGeom>
          <a:noFill/>
        </p:spPr>
        <p:txBody>
          <a:bodyPr wrap="square" lIns="0" rIns="0" tIns="0" bIns="0" anchor="t">
            <a:spAutoFit/>
          </a:bodyPr>
          <a:lstStyle/>
          <a:p>
            <a:pPr algn="l">
              <a:lnSpc>
                <a:spcPct val="112000"/>
              </a:lnSpc>
              <a:spcBef>
                <a:spcPts val="0"/>
              </a:spcBef>
              <a:spcAft>
                <a:spcPts val="0"/>
              </a:spcAft>
              <a:defRPr sz="2700" b="1">
                <a:solidFill>
                  <a:srgbClr val="087F82"/>
                </a:solidFill>
                <a:latin typeface="Noto Sans"/>
              </a:defRPr>
            </a:pPr>
            <a:r>
              <a:t>Lành tính</a:t>
            </a:r>
          </a:p>
        </p:txBody>
      </p:sp>
      <p:sp>
        <p:nvSpPr>
          <p:cNvPr id="20" name="Rounded Rectangle 19"/>
          <p:cNvSpPr/>
          <p:nvPr/>
        </p:nvSpPr>
        <p:spPr>
          <a:xfrm>
            <a:off x="8165592" y="2029968"/>
            <a:ext cx="3465576" cy="2423160"/>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8394192" y="2295144"/>
            <a:ext cx="365760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CÂY H3</a:t>
            </a:r>
          </a:p>
        </p:txBody>
      </p:sp>
      <p:sp>
        <p:nvSpPr>
          <p:cNvPr id="22" name="TextBox 21"/>
          <p:cNvSpPr txBox="1"/>
          <p:nvPr/>
        </p:nvSpPr>
        <p:spPr>
          <a:xfrm>
            <a:off x="8394192" y="2852928"/>
            <a:ext cx="3017520" cy="429768"/>
          </a:xfrm>
          <a:prstGeom prst="rect">
            <a:avLst/>
          </a:prstGeom>
          <a:noFill/>
        </p:spPr>
        <p:txBody>
          <a:bodyPr wrap="square" lIns="0" rIns="0" tIns="0" bIns="0" anchor="t">
            <a:spAutoFit/>
          </a:bodyPr>
          <a:lstStyle/>
          <a:p>
            <a:pPr algn="l">
              <a:lnSpc>
                <a:spcPct val="112000"/>
              </a:lnSpc>
              <a:spcBef>
                <a:spcPts val="0"/>
              </a:spcBef>
              <a:spcAft>
                <a:spcPts val="0"/>
              </a:spcAft>
              <a:defRPr sz="2800" b="1">
                <a:solidFill>
                  <a:srgbClr val="142D46"/>
                </a:solidFill>
                <a:latin typeface="Noto Sans"/>
              </a:defRPr>
            </a:pPr>
            <a:r>
              <a:t>2,8 &gt; 2,5</a:t>
            </a:r>
          </a:p>
        </p:txBody>
      </p:sp>
      <p:sp>
        <p:nvSpPr>
          <p:cNvPr id="23" name="TextBox 22"/>
          <p:cNvSpPr txBox="1"/>
          <p:nvPr/>
        </p:nvSpPr>
        <p:spPr>
          <a:xfrm>
            <a:off x="8394192" y="3602736"/>
            <a:ext cx="3017520" cy="457200"/>
          </a:xfrm>
          <a:prstGeom prst="rect">
            <a:avLst/>
          </a:prstGeom>
          <a:noFill/>
        </p:spPr>
        <p:txBody>
          <a:bodyPr wrap="square" lIns="0" rIns="0" tIns="0" bIns="0" anchor="t">
            <a:spAutoFit/>
          </a:bodyPr>
          <a:lstStyle/>
          <a:p>
            <a:pPr algn="l">
              <a:lnSpc>
                <a:spcPct val="112000"/>
              </a:lnSpc>
              <a:spcBef>
                <a:spcPts val="0"/>
              </a:spcBef>
              <a:spcAft>
                <a:spcPts val="0"/>
              </a:spcAft>
              <a:defRPr sz="2700" b="1">
                <a:solidFill>
                  <a:srgbClr val="C86449"/>
                </a:solidFill>
                <a:latin typeface="Noto Sans"/>
              </a:defRPr>
            </a:pPr>
            <a:r>
              <a:t>Ác tính</a:t>
            </a:r>
          </a:p>
        </p:txBody>
      </p:sp>
      <p:sp>
        <p:nvSpPr>
          <p:cNvPr id="24" name="TextBox 23"/>
          <p:cNvSpPr txBox="1"/>
          <p:nvPr/>
        </p:nvSpPr>
        <p:spPr>
          <a:xfrm>
            <a:off x="640080" y="4727448"/>
            <a:ext cx="3931920" cy="731520"/>
          </a:xfrm>
          <a:prstGeom prst="rect">
            <a:avLst/>
          </a:prstGeom>
          <a:noFill/>
        </p:spPr>
        <p:txBody>
          <a:bodyPr wrap="square" lIns="0" rIns="0" tIns="0" bIns="0" anchor="t">
            <a:spAutoFit/>
          </a:bodyPr>
          <a:lstStyle/>
          <a:p>
            <a:pPr algn="l">
              <a:lnSpc>
                <a:spcPct val="112000"/>
              </a:lnSpc>
              <a:spcBef>
                <a:spcPts val="0"/>
              </a:spcBef>
              <a:spcAft>
                <a:spcPts val="0"/>
              </a:spcAft>
              <a:defRPr sz="4600" b="1">
                <a:solidFill>
                  <a:srgbClr val="C86449"/>
                </a:solidFill>
                <a:latin typeface="Noto Sans"/>
              </a:defRPr>
            </a:pPr>
            <a:r>
              <a:t>2 : 1</a:t>
            </a:r>
          </a:p>
        </p:txBody>
      </p:sp>
      <p:sp>
        <p:nvSpPr>
          <p:cNvPr id="25" name="TextBox 24"/>
          <p:cNvSpPr txBox="1"/>
          <p:nvPr/>
        </p:nvSpPr>
        <p:spPr>
          <a:xfrm>
            <a:off x="4315968" y="4882896"/>
            <a:ext cx="7040880" cy="548640"/>
          </a:xfrm>
          <a:prstGeom prst="rect">
            <a:avLst/>
          </a:prstGeom>
          <a:noFill/>
        </p:spPr>
        <p:txBody>
          <a:bodyPr wrap="square" lIns="0" rIns="0" tIns="0" bIns="0" anchor="t">
            <a:spAutoFit/>
          </a:bodyPr>
          <a:lstStyle/>
          <a:p>
            <a:pPr algn="l">
              <a:lnSpc>
                <a:spcPct val="112000"/>
              </a:lnSpc>
              <a:spcBef>
                <a:spcPts val="0"/>
              </a:spcBef>
              <a:spcAft>
                <a:spcPts val="0"/>
              </a:spcAft>
              <a:defRPr sz="2500" b="1">
                <a:solidFill>
                  <a:srgbClr val="142D46"/>
                </a:solidFill>
                <a:latin typeface="Noto Sans"/>
              </a:defRPr>
            </a:pPr>
            <a:r>
              <a:t>Hard voting chọn ác tính (0).</a:t>
            </a:r>
          </a:p>
        </p:txBody>
      </p:sp>
      <p:sp>
        <p:nvSpPr>
          <p:cNvPr id="26" name="Rounded Rectangle 25"/>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Mẫu toy chưa có nhãn thật: chưa thể nói đúng/sai; 2/3 phiếu không phải xác suất bệnh.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02 / QUY TẮC TỔNG HỢP</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Hard và soft voting có thể chọn khác lớp</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Ví dụ giả định · [3]</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08</a:t>
            </a:r>
          </a:p>
        </p:txBody>
      </p:sp>
      <p:sp>
        <p:nvSpPr>
          <p:cNvPr id="8" name="Rectangle 7"/>
          <p:cNvSpPr/>
          <p:nvPr/>
        </p:nvSpPr>
        <p:spPr>
          <a:xfrm>
            <a:off x="10671048"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612648" y="1965960"/>
            <a:ext cx="4069080" cy="612648"/>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768096" y="2112264"/>
            <a:ext cx="3758184" cy="448056"/>
          </a:xfrm>
          <a:prstGeom prst="rect">
            <a:avLst/>
          </a:prstGeom>
          <a:noFill/>
        </p:spPr>
        <p:txBody>
          <a:bodyPr wrap="square" lIns="0" rIns="0" tIns="0" bIns="0" anchor="t">
            <a:spAutoFit/>
          </a:bodyPr>
          <a:lstStyle/>
          <a:p>
            <a:pPr algn="l">
              <a:lnSpc>
                <a:spcPct val="112000"/>
              </a:lnSpc>
              <a:spcBef>
                <a:spcPts val="0"/>
              </a:spcBef>
              <a:spcAft>
                <a:spcPts val="0"/>
              </a:spcAft>
              <a:defRPr sz="1900" b="1">
                <a:solidFill>
                  <a:srgbClr val="FFFFFF"/>
                </a:solidFill>
                <a:latin typeface="Noto Sans"/>
              </a:defRPr>
            </a:pPr>
            <a:r>
              <a:t>Đầu ra từng mô hình</a:t>
            </a:r>
          </a:p>
        </p:txBody>
      </p:sp>
      <p:sp>
        <p:nvSpPr>
          <p:cNvPr id="14" name="Rectangle 13"/>
          <p:cNvSpPr/>
          <p:nvPr/>
        </p:nvSpPr>
        <p:spPr>
          <a:xfrm>
            <a:off x="4681728" y="1965960"/>
            <a:ext cx="2286000" cy="612648"/>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4837176" y="2112264"/>
            <a:ext cx="1975104" cy="448056"/>
          </a:xfrm>
          <a:prstGeom prst="rect">
            <a:avLst/>
          </a:prstGeom>
          <a:noFill/>
        </p:spPr>
        <p:txBody>
          <a:bodyPr wrap="square" lIns="0" rIns="0" tIns="0" bIns="0" anchor="t">
            <a:spAutoFit/>
          </a:bodyPr>
          <a:lstStyle/>
          <a:p>
            <a:pPr algn="ctr">
              <a:lnSpc>
                <a:spcPct val="112000"/>
              </a:lnSpc>
              <a:spcBef>
                <a:spcPts val="0"/>
              </a:spcBef>
              <a:spcAft>
                <a:spcPts val="0"/>
              </a:spcAft>
              <a:defRPr sz="1900" b="1">
                <a:solidFill>
                  <a:srgbClr val="FFFFFF"/>
                </a:solidFill>
                <a:latin typeface="Noto Sans"/>
              </a:defRPr>
            </a:pPr>
            <a:r>
              <a:t>Cây 1</a:t>
            </a:r>
          </a:p>
        </p:txBody>
      </p:sp>
      <p:sp>
        <p:nvSpPr>
          <p:cNvPr id="16" name="Rectangle 15"/>
          <p:cNvSpPr/>
          <p:nvPr/>
        </p:nvSpPr>
        <p:spPr>
          <a:xfrm>
            <a:off x="6967728" y="1965960"/>
            <a:ext cx="2286000" cy="612648"/>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7123176" y="2112264"/>
            <a:ext cx="1975104" cy="448056"/>
          </a:xfrm>
          <a:prstGeom prst="rect">
            <a:avLst/>
          </a:prstGeom>
          <a:noFill/>
        </p:spPr>
        <p:txBody>
          <a:bodyPr wrap="square" lIns="0" rIns="0" tIns="0" bIns="0" anchor="t">
            <a:spAutoFit/>
          </a:bodyPr>
          <a:lstStyle/>
          <a:p>
            <a:pPr algn="ctr">
              <a:lnSpc>
                <a:spcPct val="112000"/>
              </a:lnSpc>
              <a:spcBef>
                <a:spcPts val="0"/>
              </a:spcBef>
              <a:spcAft>
                <a:spcPts val="0"/>
              </a:spcAft>
              <a:defRPr sz="1900" b="1">
                <a:solidFill>
                  <a:srgbClr val="FFFFFF"/>
                </a:solidFill>
                <a:latin typeface="Noto Sans"/>
              </a:defRPr>
            </a:pPr>
            <a:r>
              <a:t>Cây 2</a:t>
            </a:r>
          </a:p>
        </p:txBody>
      </p:sp>
      <p:sp>
        <p:nvSpPr>
          <p:cNvPr id="18" name="Rectangle 17"/>
          <p:cNvSpPr/>
          <p:nvPr/>
        </p:nvSpPr>
        <p:spPr>
          <a:xfrm>
            <a:off x="9253728" y="1965960"/>
            <a:ext cx="2286000" cy="612648"/>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9409176" y="2112264"/>
            <a:ext cx="1975104" cy="448056"/>
          </a:xfrm>
          <a:prstGeom prst="rect">
            <a:avLst/>
          </a:prstGeom>
          <a:noFill/>
        </p:spPr>
        <p:txBody>
          <a:bodyPr wrap="square" lIns="0" rIns="0" tIns="0" bIns="0" anchor="t">
            <a:spAutoFit/>
          </a:bodyPr>
          <a:lstStyle/>
          <a:p>
            <a:pPr algn="ctr">
              <a:lnSpc>
                <a:spcPct val="112000"/>
              </a:lnSpc>
              <a:spcBef>
                <a:spcPts val="0"/>
              </a:spcBef>
              <a:spcAft>
                <a:spcPts val="0"/>
              </a:spcAft>
              <a:defRPr sz="1900" b="1">
                <a:solidFill>
                  <a:srgbClr val="FFFFFF"/>
                </a:solidFill>
                <a:latin typeface="Noto Sans"/>
              </a:defRPr>
            </a:pPr>
            <a:r>
              <a:t>Cây 3</a:t>
            </a:r>
          </a:p>
        </p:txBody>
      </p:sp>
      <p:sp>
        <p:nvSpPr>
          <p:cNvPr id="20" name="Rectangle 19"/>
          <p:cNvSpPr/>
          <p:nvPr/>
        </p:nvSpPr>
        <p:spPr>
          <a:xfrm>
            <a:off x="612648" y="2578608"/>
            <a:ext cx="4069080" cy="61264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768096" y="2724912"/>
            <a:ext cx="3758184" cy="448056"/>
          </a:xfrm>
          <a:prstGeom prst="rect">
            <a:avLst/>
          </a:prstGeom>
          <a:noFill/>
        </p:spPr>
        <p:txBody>
          <a:bodyPr wrap="square" lIns="0" rIns="0" tIns="0" bIns="0" anchor="t">
            <a:spAutoFit/>
          </a:bodyPr>
          <a:lstStyle/>
          <a:p>
            <a:pPr algn="l">
              <a:lnSpc>
                <a:spcPct val="112000"/>
              </a:lnSpc>
              <a:spcBef>
                <a:spcPts val="0"/>
              </a:spcBef>
              <a:spcAft>
                <a:spcPts val="0"/>
              </a:spcAft>
              <a:defRPr sz="2000" b="0">
                <a:solidFill>
                  <a:srgbClr val="192F43"/>
                </a:solidFill>
                <a:latin typeface="Noto Sans"/>
              </a:defRPr>
            </a:pPr>
            <a:r>
              <a:t>P(ác tính)</a:t>
            </a:r>
          </a:p>
        </p:txBody>
      </p:sp>
      <p:sp>
        <p:nvSpPr>
          <p:cNvPr id="22" name="Rectangle 21"/>
          <p:cNvSpPr/>
          <p:nvPr/>
        </p:nvSpPr>
        <p:spPr>
          <a:xfrm>
            <a:off x="4681728" y="2578608"/>
            <a:ext cx="2286000" cy="61264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4837176" y="2724912"/>
            <a:ext cx="1975104" cy="448056"/>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92F43"/>
                </a:solidFill>
                <a:latin typeface="Noto Sans"/>
              </a:defRPr>
            </a:pPr>
            <a:r>
              <a:t>0,51</a:t>
            </a:r>
          </a:p>
        </p:txBody>
      </p:sp>
      <p:sp>
        <p:nvSpPr>
          <p:cNvPr id="24" name="Rectangle 23"/>
          <p:cNvSpPr/>
          <p:nvPr/>
        </p:nvSpPr>
        <p:spPr>
          <a:xfrm>
            <a:off x="6967728" y="2578608"/>
            <a:ext cx="2286000" cy="61264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7123176" y="2724912"/>
            <a:ext cx="1975104" cy="448056"/>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92F43"/>
                </a:solidFill>
                <a:latin typeface="Noto Sans"/>
              </a:defRPr>
            </a:pPr>
            <a:r>
              <a:t>0,51</a:t>
            </a:r>
          </a:p>
        </p:txBody>
      </p:sp>
      <p:sp>
        <p:nvSpPr>
          <p:cNvPr id="26" name="Rectangle 25"/>
          <p:cNvSpPr/>
          <p:nvPr/>
        </p:nvSpPr>
        <p:spPr>
          <a:xfrm>
            <a:off x="9253728" y="2578608"/>
            <a:ext cx="2286000" cy="61264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9409176" y="2724912"/>
            <a:ext cx="1975104" cy="448056"/>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92F43"/>
                </a:solidFill>
                <a:latin typeface="Noto Sans"/>
              </a:defRPr>
            </a:pPr>
            <a:r>
              <a:t>0,01</a:t>
            </a:r>
          </a:p>
        </p:txBody>
      </p:sp>
      <p:cxnSp>
        <p:nvCxnSpPr>
          <p:cNvPr id="28" name="Connector 27"/>
          <p:cNvCxnSpPr/>
          <p:nvPr/>
        </p:nvCxnSpPr>
        <p:spPr>
          <a:xfrm>
            <a:off x="612648" y="3191256"/>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29" name="Rectangle 28"/>
          <p:cNvSpPr/>
          <p:nvPr/>
        </p:nvSpPr>
        <p:spPr>
          <a:xfrm>
            <a:off x="612648" y="3191256"/>
            <a:ext cx="4069080" cy="612648"/>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768096" y="3337560"/>
            <a:ext cx="3758184" cy="448056"/>
          </a:xfrm>
          <a:prstGeom prst="rect">
            <a:avLst/>
          </a:prstGeom>
          <a:noFill/>
        </p:spPr>
        <p:txBody>
          <a:bodyPr wrap="square" lIns="0" rIns="0" tIns="0" bIns="0" anchor="t">
            <a:spAutoFit/>
          </a:bodyPr>
          <a:lstStyle/>
          <a:p>
            <a:pPr algn="l">
              <a:lnSpc>
                <a:spcPct val="112000"/>
              </a:lnSpc>
              <a:spcBef>
                <a:spcPts val="0"/>
              </a:spcBef>
              <a:spcAft>
                <a:spcPts val="0"/>
              </a:spcAft>
              <a:defRPr sz="2000" b="0">
                <a:solidFill>
                  <a:srgbClr val="192F43"/>
                </a:solidFill>
                <a:latin typeface="Noto Sans"/>
              </a:defRPr>
            </a:pPr>
            <a:r>
              <a:t>Nhãn dự đoán</a:t>
            </a:r>
          </a:p>
        </p:txBody>
      </p:sp>
      <p:sp>
        <p:nvSpPr>
          <p:cNvPr id="31" name="Rectangle 30"/>
          <p:cNvSpPr/>
          <p:nvPr/>
        </p:nvSpPr>
        <p:spPr>
          <a:xfrm>
            <a:off x="4681728" y="3191256"/>
            <a:ext cx="2286000" cy="612648"/>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4837176" y="3337560"/>
            <a:ext cx="1975104" cy="448056"/>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92F43"/>
                </a:solidFill>
                <a:latin typeface="Noto Sans"/>
              </a:defRPr>
            </a:pPr>
            <a:r>
              <a:t>Ác</a:t>
            </a:r>
          </a:p>
        </p:txBody>
      </p:sp>
      <p:sp>
        <p:nvSpPr>
          <p:cNvPr id="33" name="Rectangle 32"/>
          <p:cNvSpPr/>
          <p:nvPr/>
        </p:nvSpPr>
        <p:spPr>
          <a:xfrm>
            <a:off x="6967728" y="3191256"/>
            <a:ext cx="2286000" cy="612648"/>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7123176" y="3337560"/>
            <a:ext cx="1975104" cy="448056"/>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92F43"/>
                </a:solidFill>
                <a:latin typeface="Noto Sans"/>
              </a:defRPr>
            </a:pPr>
            <a:r>
              <a:t>Ác</a:t>
            </a:r>
          </a:p>
        </p:txBody>
      </p:sp>
      <p:sp>
        <p:nvSpPr>
          <p:cNvPr id="35" name="Rectangle 34"/>
          <p:cNvSpPr/>
          <p:nvPr/>
        </p:nvSpPr>
        <p:spPr>
          <a:xfrm>
            <a:off x="9253728" y="3191256"/>
            <a:ext cx="2286000" cy="612648"/>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9409176" y="3337560"/>
            <a:ext cx="1975104" cy="448056"/>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92F43"/>
                </a:solidFill>
                <a:latin typeface="Noto Sans"/>
              </a:defRPr>
            </a:pPr>
            <a:r>
              <a:t>Lành</a:t>
            </a:r>
          </a:p>
        </p:txBody>
      </p:sp>
      <p:cxnSp>
        <p:nvCxnSpPr>
          <p:cNvPr id="37" name="Connector 36"/>
          <p:cNvCxnSpPr/>
          <p:nvPr/>
        </p:nvCxnSpPr>
        <p:spPr>
          <a:xfrm>
            <a:off x="612648" y="3803904"/>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38" name="Rounded Rectangle 37"/>
          <p:cNvSpPr/>
          <p:nvPr/>
        </p:nvSpPr>
        <p:spPr>
          <a:xfrm>
            <a:off x="612648" y="4297680"/>
            <a:ext cx="5276088" cy="1170432"/>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822960" y="4489704"/>
            <a:ext cx="4846320" cy="393192"/>
          </a:xfrm>
          <a:prstGeom prst="rect">
            <a:avLst/>
          </a:prstGeom>
          <a:noFill/>
        </p:spPr>
        <p:txBody>
          <a:bodyPr wrap="square" lIns="0" rIns="0" tIns="0" bIns="0" anchor="t">
            <a:spAutoFit/>
          </a:bodyPr>
          <a:lstStyle/>
          <a:p>
            <a:pPr algn="l">
              <a:lnSpc>
                <a:spcPct val="112000"/>
              </a:lnSpc>
              <a:spcBef>
                <a:spcPts val="0"/>
              </a:spcBef>
              <a:spcAft>
                <a:spcPts val="0"/>
              </a:spcAft>
              <a:defRPr sz="2400" b="1">
                <a:solidFill>
                  <a:srgbClr val="C86449"/>
                </a:solidFill>
                <a:latin typeface="Noto Sans"/>
              </a:defRPr>
            </a:pPr>
            <a:r>
              <a:t>HARD → ÁC</a:t>
            </a:r>
          </a:p>
        </p:txBody>
      </p:sp>
      <p:sp>
        <p:nvSpPr>
          <p:cNvPr id="40" name="TextBox 39"/>
          <p:cNvSpPr txBox="1"/>
          <p:nvPr/>
        </p:nvSpPr>
        <p:spPr>
          <a:xfrm>
            <a:off x="822960" y="5010912"/>
            <a:ext cx="4846320" cy="292608"/>
          </a:xfrm>
          <a:prstGeom prst="rect">
            <a:avLst/>
          </a:prstGeom>
          <a:noFill/>
        </p:spPr>
        <p:txBody>
          <a:bodyPr wrap="square" lIns="0" rIns="0" tIns="0" bIns="0" anchor="t">
            <a:spAutoFit/>
          </a:bodyPr>
          <a:lstStyle/>
          <a:p>
            <a:pPr algn="l">
              <a:lnSpc>
                <a:spcPct val="112000"/>
              </a:lnSpc>
              <a:spcBef>
                <a:spcPts val="0"/>
              </a:spcBef>
              <a:spcAft>
                <a:spcPts val="0"/>
              </a:spcAft>
              <a:defRPr sz="1800" b="0">
                <a:solidFill>
                  <a:srgbClr val="5B6B7B"/>
                </a:solidFill>
                <a:latin typeface="Noto Sans"/>
              </a:defRPr>
            </a:pPr>
            <a:r>
              <a:t>2 phiếu ác / 3 cây</a:t>
            </a:r>
          </a:p>
        </p:txBody>
      </p:sp>
      <p:sp>
        <p:nvSpPr>
          <p:cNvPr id="41" name="Rounded Rectangle 40"/>
          <p:cNvSpPr/>
          <p:nvPr/>
        </p:nvSpPr>
        <p:spPr>
          <a:xfrm>
            <a:off x="6263640" y="4297680"/>
            <a:ext cx="5276088" cy="1170432"/>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TextBox 41"/>
          <p:cNvSpPr txBox="1"/>
          <p:nvPr/>
        </p:nvSpPr>
        <p:spPr>
          <a:xfrm>
            <a:off x="6473952" y="4489704"/>
            <a:ext cx="4846320" cy="393192"/>
          </a:xfrm>
          <a:prstGeom prst="rect">
            <a:avLst/>
          </a:prstGeom>
          <a:noFill/>
        </p:spPr>
        <p:txBody>
          <a:bodyPr wrap="square" lIns="0" rIns="0" tIns="0" bIns="0" anchor="t">
            <a:spAutoFit/>
          </a:bodyPr>
          <a:lstStyle/>
          <a:p>
            <a:pPr algn="l">
              <a:lnSpc>
                <a:spcPct val="112000"/>
              </a:lnSpc>
              <a:spcBef>
                <a:spcPts val="0"/>
              </a:spcBef>
              <a:spcAft>
                <a:spcPts val="0"/>
              </a:spcAft>
              <a:defRPr sz="2400" b="1">
                <a:solidFill>
                  <a:srgbClr val="087F82"/>
                </a:solidFill>
                <a:latin typeface="Noto Sans"/>
              </a:defRPr>
            </a:pPr>
            <a:r>
              <a:t>SOFT → LÀNH</a:t>
            </a:r>
          </a:p>
        </p:txBody>
      </p:sp>
      <p:sp>
        <p:nvSpPr>
          <p:cNvPr id="43" name="TextBox 42"/>
          <p:cNvSpPr txBox="1"/>
          <p:nvPr/>
        </p:nvSpPr>
        <p:spPr>
          <a:xfrm>
            <a:off x="6473952" y="5010912"/>
            <a:ext cx="4846320" cy="292608"/>
          </a:xfrm>
          <a:prstGeom prst="rect">
            <a:avLst/>
          </a:prstGeom>
          <a:noFill/>
        </p:spPr>
        <p:txBody>
          <a:bodyPr wrap="square" lIns="0" rIns="0" tIns="0" bIns="0" anchor="t">
            <a:spAutoFit/>
          </a:bodyPr>
          <a:lstStyle/>
          <a:p>
            <a:pPr algn="l">
              <a:lnSpc>
                <a:spcPct val="112000"/>
              </a:lnSpc>
              <a:spcBef>
                <a:spcPts val="0"/>
              </a:spcBef>
              <a:spcAft>
                <a:spcPts val="0"/>
              </a:spcAft>
              <a:defRPr sz="1800" b="0">
                <a:solidFill>
                  <a:srgbClr val="5B6B7B"/>
                </a:solidFill>
                <a:latin typeface="Noto Sans"/>
              </a:defRPr>
            </a:pPr>
            <a:r>
              <a:t>P(ác) trung bình = 0,343</a:t>
            </a:r>
          </a:p>
        </p:txBody>
      </p:sp>
      <p:sp>
        <p:nvSpPr>
          <p:cNvPr id="44" name="Rounded Rectangle 43"/>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TextBox 44"/>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Thay quy tắc tổng hợp chưa chắc tốt hơn; cần kiểm tra trên cùng những cây đã học.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02 / ĐÁNH GIÁ BỔ SUNG</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OOB chỉ dùng phiếu của cây chưa học quan sát đó</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outputs/results.json → oob · [1]</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09</a:t>
            </a:r>
          </a:p>
        </p:txBody>
      </p:sp>
      <p:sp>
        <p:nvSpPr>
          <p:cNvPr id="8" name="Rectangle 7"/>
          <p:cNvSpPr/>
          <p:nvPr/>
        </p:nvSpPr>
        <p:spPr>
          <a:xfrm>
            <a:off x="10671048"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ounded Rectangle 11"/>
          <p:cNvSpPr/>
          <p:nvPr/>
        </p:nvSpPr>
        <p:spPr>
          <a:xfrm>
            <a:off x="612648" y="1901952"/>
            <a:ext cx="5541264" cy="3547872"/>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77824" y="2267712"/>
            <a:ext cx="3291840" cy="393192"/>
          </a:xfrm>
          <a:prstGeom prst="rect">
            <a:avLst/>
          </a:prstGeom>
          <a:noFill/>
        </p:spPr>
        <p:txBody>
          <a:bodyPr wrap="square" lIns="0" rIns="0" tIns="0" bIns="0" anchor="t">
            <a:spAutoFit/>
          </a:bodyPr>
          <a:lstStyle/>
          <a:p>
            <a:pPr algn="l">
              <a:lnSpc>
                <a:spcPct val="112000"/>
              </a:lnSpc>
              <a:spcBef>
                <a:spcPts val="0"/>
              </a:spcBef>
              <a:spcAft>
                <a:spcPts val="0"/>
              </a:spcAft>
              <a:defRPr sz="2100" b="0">
                <a:solidFill>
                  <a:srgbClr val="192F43"/>
                </a:solidFill>
                <a:latin typeface="Noto Sans"/>
              </a:defRPr>
            </a:pPr>
            <a:r>
              <a:t>Cây 1: có mẫu i</a:t>
            </a:r>
          </a:p>
        </p:txBody>
      </p:sp>
      <p:sp>
        <p:nvSpPr>
          <p:cNvPr id="14" name="TextBox 13"/>
          <p:cNvSpPr txBox="1"/>
          <p:nvPr/>
        </p:nvSpPr>
        <p:spPr>
          <a:xfrm>
            <a:off x="4169663" y="2267712"/>
            <a:ext cx="1645920" cy="393192"/>
          </a:xfrm>
          <a:prstGeom prst="rect">
            <a:avLst/>
          </a:prstGeom>
          <a:noFill/>
        </p:spPr>
        <p:txBody>
          <a:bodyPr wrap="square" lIns="0" rIns="0" tIns="0" bIns="0" anchor="t">
            <a:spAutoFit/>
          </a:bodyPr>
          <a:lstStyle/>
          <a:p>
            <a:pPr algn="l">
              <a:lnSpc>
                <a:spcPct val="112000"/>
              </a:lnSpc>
              <a:spcBef>
                <a:spcPts val="0"/>
              </a:spcBef>
              <a:spcAft>
                <a:spcPts val="0"/>
              </a:spcAft>
              <a:defRPr sz="1650" b="1">
                <a:solidFill>
                  <a:srgbClr val="5B6B7B"/>
                </a:solidFill>
                <a:latin typeface="Noto Sans"/>
              </a:defRPr>
            </a:pPr>
            <a:r>
              <a:t>Không tính</a:t>
            </a:r>
          </a:p>
        </p:txBody>
      </p:sp>
      <p:sp>
        <p:nvSpPr>
          <p:cNvPr id="15" name="TextBox 14"/>
          <p:cNvSpPr txBox="1"/>
          <p:nvPr/>
        </p:nvSpPr>
        <p:spPr>
          <a:xfrm>
            <a:off x="877824" y="3182112"/>
            <a:ext cx="3291840" cy="393192"/>
          </a:xfrm>
          <a:prstGeom prst="rect">
            <a:avLst/>
          </a:prstGeom>
          <a:noFill/>
        </p:spPr>
        <p:txBody>
          <a:bodyPr wrap="square" lIns="0" rIns="0" tIns="0" bIns="0" anchor="t">
            <a:spAutoFit/>
          </a:bodyPr>
          <a:lstStyle/>
          <a:p>
            <a:pPr algn="l">
              <a:lnSpc>
                <a:spcPct val="112000"/>
              </a:lnSpc>
              <a:spcBef>
                <a:spcPts val="0"/>
              </a:spcBef>
              <a:spcAft>
                <a:spcPts val="0"/>
              </a:spcAft>
              <a:defRPr sz="2100" b="0">
                <a:solidFill>
                  <a:srgbClr val="192F43"/>
                </a:solidFill>
                <a:latin typeface="Noto Sans"/>
              </a:defRPr>
            </a:pPr>
            <a:r>
              <a:t>Cây 2: vắng mẫu i</a:t>
            </a:r>
          </a:p>
        </p:txBody>
      </p:sp>
      <p:sp>
        <p:nvSpPr>
          <p:cNvPr id="16" name="TextBox 15"/>
          <p:cNvSpPr txBox="1"/>
          <p:nvPr/>
        </p:nvSpPr>
        <p:spPr>
          <a:xfrm>
            <a:off x="4169663" y="3182112"/>
            <a:ext cx="1645920" cy="393192"/>
          </a:xfrm>
          <a:prstGeom prst="rect">
            <a:avLst/>
          </a:prstGeom>
          <a:noFill/>
        </p:spPr>
        <p:txBody>
          <a:bodyPr wrap="square" lIns="0" rIns="0" tIns="0" bIns="0" anchor="t">
            <a:spAutoFit/>
          </a:bodyPr>
          <a:lstStyle/>
          <a:p>
            <a:pPr algn="l">
              <a:lnSpc>
                <a:spcPct val="112000"/>
              </a:lnSpc>
              <a:spcBef>
                <a:spcPts val="0"/>
              </a:spcBef>
              <a:spcAft>
                <a:spcPts val="0"/>
              </a:spcAft>
              <a:defRPr sz="1650" b="1">
                <a:solidFill>
                  <a:srgbClr val="087F82"/>
                </a:solidFill>
                <a:latin typeface="Noto Sans"/>
              </a:defRPr>
            </a:pPr>
            <a:r>
              <a:t>Được bỏ phiếu</a:t>
            </a:r>
          </a:p>
        </p:txBody>
      </p:sp>
      <p:sp>
        <p:nvSpPr>
          <p:cNvPr id="17" name="TextBox 16"/>
          <p:cNvSpPr txBox="1"/>
          <p:nvPr/>
        </p:nvSpPr>
        <p:spPr>
          <a:xfrm>
            <a:off x="877824" y="4096512"/>
            <a:ext cx="3291840" cy="393192"/>
          </a:xfrm>
          <a:prstGeom prst="rect">
            <a:avLst/>
          </a:prstGeom>
          <a:noFill/>
        </p:spPr>
        <p:txBody>
          <a:bodyPr wrap="square" lIns="0" rIns="0" tIns="0" bIns="0" anchor="t">
            <a:spAutoFit/>
          </a:bodyPr>
          <a:lstStyle/>
          <a:p>
            <a:pPr algn="l">
              <a:lnSpc>
                <a:spcPct val="112000"/>
              </a:lnSpc>
              <a:spcBef>
                <a:spcPts val="0"/>
              </a:spcBef>
              <a:spcAft>
                <a:spcPts val="0"/>
              </a:spcAft>
              <a:defRPr sz="2100" b="0">
                <a:solidFill>
                  <a:srgbClr val="192F43"/>
                </a:solidFill>
                <a:latin typeface="Noto Sans"/>
              </a:defRPr>
            </a:pPr>
            <a:r>
              <a:t>Cây 3: vắng mẫu i</a:t>
            </a:r>
          </a:p>
        </p:txBody>
      </p:sp>
      <p:sp>
        <p:nvSpPr>
          <p:cNvPr id="18" name="TextBox 17"/>
          <p:cNvSpPr txBox="1"/>
          <p:nvPr/>
        </p:nvSpPr>
        <p:spPr>
          <a:xfrm>
            <a:off x="4169663" y="4096512"/>
            <a:ext cx="1645920" cy="393192"/>
          </a:xfrm>
          <a:prstGeom prst="rect">
            <a:avLst/>
          </a:prstGeom>
          <a:noFill/>
        </p:spPr>
        <p:txBody>
          <a:bodyPr wrap="square" lIns="0" rIns="0" tIns="0" bIns="0" anchor="t">
            <a:spAutoFit/>
          </a:bodyPr>
          <a:lstStyle/>
          <a:p>
            <a:pPr algn="l">
              <a:lnSpc>
                <a:spcPct val="112000"/>
              </a:lnSpc>
              <a:spcBef>
                <a:spcPts val="0"/>
              </a:spcBef>
              <a:spcAft>
                <a:spcPts val="0"/>
              </a:spcAft>
              <a:defRPr sz="1650" b="1">
                <a:solidFill>
                  <a:srgbClr val="087F82"/>
                </a:solidFill>
                <a:latin typeface="Noto Sans"/>
              </a:defRPr>
            </a:pPr>
            <a:r>
              <a:t>Được bỏ phiếu</a:t>
            </a:r>
          </a:p>
        </p:txBody>
      </p:sp>
      <p:sp>
        <p:nvSpPr>
          <p:cNvPr id="19" name="TextBox 18"/>
          <p:cNvSpPr txBox="1"/>
          <p:nvPr/>
        </p:nvSpPr>
        <p:spPr>
          <a:xfrm>
            <a:off x="6556248" y="2011680"/>
            <a:ext cx="4572000" cy="777240"/>
          </a:xfrm>
          <a:prstGeom prst="rect">
            <a:avLst/>
          </a:prstGeom>
          <a:noFill/>
        </p:spPr>
        <p:txBody>
          <a:bodyPr wrap="square" lIns="0" rIns="0" tIns="0" bIns="0" anchor="t">
            <a:spAutoFit/>
          </a:bodyPr>
          <a:lstStyle/>
          <a:p>
            <a:pPr algn="l">
              <a:lnSpc>
                <a:spcPct val="112000"/>
              </a:lnSpc>
              <a:spcBef>
                <a:spcPts val="0"/>
              </a:spcBef>
              <a:spcAft>
                <a:spcPts val="0"/>
              </a:spcAft>
              <a:defRPr sz="4500" b="1">
                <a:solidFill>
                  <a:srgbClr val="087F82"/>
                </a:solidFill>
                <a:latin typeface="Noto Sans"/>
              </a:defRPr>
            </a:pPr>
            <a:r>
              <a:t>94,13%</a:t>
            </a:r>
          </a:p>
        </p:txBody>
      </p:sp>
      <p:sp>
        <p:nvSpPr>
          <p:cNvPr id="20" name="TextBox 19"/>
          <p:cNvSpPr txBox="1"/>
          <p:nvPr/>
        </p:nvSpPr>
        <p:spPr>
          <a:xfrm>
            <a:off x="6556248" y="2880360"/>
            <a:ext cx="4572000" cy="457200"/>
          </a:xfrm>
          <a:prstGeom prst="rect">
            <a:avLst/>
          </a:prstGeom>
          <a:noFill/>
        </p:spPr>
        <p:txBody>
          <a:bodyPr wrap="square" lIns="0" rIns="0" tIns="0" bIns="0" anchor="t">
            <a:spAutoFit/>
          </a:bodyPr>
          <a:lstStyle/>
          <a:p>
            <a:pPr algn="l">
              <a:lnSpc>
                <a:spcPct val="112000"/>
              </a:lnSpc>
              <a:spcBef>
                <a:spcPts val="0"/>
              </a:spcBef>
              <a:spcAft>
                <a:spcPts val="0"/>
              </a:spcAft>
              <a:defRPr sz="1900" b="1">
                <a:solidFill>
                  <a:srgbClr val="192F43"/>
                </a:solidFill>
                <a:latin typeface="Noto Sans"/>
              </a:defRPr>
            </a:pPr>
            <a:r>
              <a:t>Accuracy OOB</a:t>
            </a:r>
          </a:p>
        </p:txBody>
      </p:sp>
      <p:sp>
        <p:nvSpPr>
          <p:cNvPr id="21" name="TextBox 20"/>
          <p:cNvSpPr txBox="1"/>
          <p:nvPr/>
        </p:nvSpPr>
        <p:spPr>
          <a:xfrm>
            <a:off x="6556248" y="3474720"/>
            <a:ext cx="4572000" cy="731520"/>
          </a:xfrm>
          <a:prstGeom prst="rect">
            <a:avLst/>
          </a:prstGeom>
          <a:noFill/>
        </p:spPr>
        <p:txBody>
          <a:bodyPr wrap="square" lIns="0" rIns="0" tIns="0" bIns="0" anchor="t">
            <a:spAutoFit/>
          </a:bodyPr>
          <a:lstStyle/>
          <a:p>
            <a:pPr algn="l">
              <a:lnSpc>
                <a:spcPct val="112000"/>
              </a:lnSpc>
              <a:spcBef>
                <a:spcPts val="0"/>
              </a:spcBef>
              <a:spcAft>
                <a:spcPts val="0"/>
              </a:spcAft>
              <a:defRPr sz="1600" b="0">
                <a:solidFill>
                  <a:srgbClr val="5B6B7B"/>
                </a:solidFill>
                <a:latin typeface="Noto Sans"/>
              </a:defRPr>
            </a:pPr>
            <a:r>
              <a:t>401/426 dự đoán đúng</a:t>
            </a:r>
          </a:p>
        </p:txBody>
      </p:sp>
      <p:sp>
        <p:nvSpPr>
          <p:cNvPr id="22" name="TextBox 21"/>
          <p:cNvSpPr txBox="1"/>
          <p:nvPr/>
        </p:nvSpPr>
        <p:spPr>
          <a:xfrm>
            <a:off x="6556248" y="4572000"/>
            <a:ext cx="4663440" cy="731520"/>
          </a:xfrm>
          <a:prstGeom prst="rect">
            <a:avLst/>
          </a:prstGeom>
          <a:noFill/>
        </p:spPr>
        <p:txBody>
          <a:bodyPr wrap="square" lIns="0" rIns="0" tIns="0" bIns="0" anchor="t">
            <a:spAutoFit/>
          </a:bodyPr>
          <a:lstStyle/>
          <a:p>
            <a:pPr algn="l">
              <a:lnSpc>
                <a:spcPct val="130000"/>
              </a:lnSpc>
              <a:spcBef>
                <a:spcPts val="0"/>
              </a:spcBef>
              <a:spcAft>
                <a:spcPts val="0"/>
              </a:spcAft>
              <a:defRPr sz="2100" b="1">
                <a:solidFill>
                  <a:srgbClr val="142D46"/>
                </a:solidFill>
                <a:latin typeface="Noto Sans"/>
              </a:defRPr>
            </a:pPr>
            <a:r>
              <a:t>Coverage 100%</a:t>
            </a:r>
          </a:p>
          <a:p>
            <a:pPr algn="l">
              <a:lnSpc>
                <a:spcPct val="130000"/>
              </a:lnSpc>
              <a:spcBef>
                <a:spcPts val="0"/>
              </a:spcBef>
              <a:spcAft>
                <a:spcPts val="0"/>
              </a:spcAft>
              <a:defRPr sz="2100" b="1">
                <a:solidFill>
                  <a:srgbClr val="142D46"/>
                </a:solidFill>
                <a:latin typeface="Noto Sans"/>
              </a:defRPr>
            </a:pPr>
            <a:r>
              <a:t>Mỗi mẫu: 8–34 phiếu OOB</a:t>
            </a:r>
          </a:p>
        </p:txBody>
      </p:sp>
      <p:sp>
        <p:nvSpPr>
          <p:cNvPr id="23" name="Rounded Rectangle 22"/>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OOB được tính sau chọn độ sâu trên train; là đánh giá bổ sung, chưa độc lập với tuning.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03 / DỮ LIỆU VÀ GIAO THỨC</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Bài toán phân loại trên 569 quan sát</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Breast Cancer Wisconsin Diagnostic · load_breast_cancer · [4]</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10</a:t>
            </a:r>
          </a:p>
        </p:txBody>
      </p:sp>
      <p:sp>
        <p:nvSpPr>
          <p:cNvPr id="8" name="Rectangle 7"/>
          <p:cNvSpPr/>
          <p:nvPr/>
        </p:nvSpPr>
        <p:spPr>
          <a:xfrm>
            <a:off x="10671048"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40080" y="1938528"/>
            <a:ext cx="2926080" cy="777240"/>
          </a:xfrm>
          <a:prstGeom prst="rect">
            <a:avLst/>
          </a:prstGeom>
          <a:noFill/>
        </p:spPr>
        <p:txBody>
          <a:bodyPr wrap="square" lIns="0" rIns="0" tIns="0" bIns="0" anchor="t">
            <a:spAutoFit/>
          </a:bodyPr>
          <a:lstStyle/>
          <a:p>
            <a:pPr algn="l">
              <a:lnSpc>
                <a:spcPct val="112000"/>
              </a:lnSpc>
              <a:spcBef>
                <a:spcPts val="0"/>
              </a:spcBef>
              <a:spcAft>
                <a:spcPts val="0"/>
              </a:spcAft>
              <a:defRPr sz="4500" b="1">
                <a:solidFill>
                  <a:srgbClr val="087F82"/>
                </a:solidFill>
                <a:latin typeface="Noto Sans"/>
              </a:defRPr>
            </a:pPr>
            <a:r>
              <a:t>569</a:t>
            </a:r>
          </a:p>
        </p:txBody>
      </p:sp>
      <p:sp>
        <p:nvSpPr>
          <p:cNvPr id="13" name="TextBox 12"/>
          <p:cNvSpPr txBox="1"/>
          <p:nvPr/>
        </p:nvSpPr>
        <p:spPr>
          <a:xfrm>
            <a:off x="640080" y="2807208"/>
            <a:ext cx="2926080" cy="457200"/>
          </a:xfrm>
          <a:prstGeom prst="rect">
            <a:avLst/>
          </a:prstGeom>
          <a:noFill/>
        </p:spPr>
        <p:txBody>
          <a:bodyPr wrap="square" lIns="0" rIns="0" tIns="0" bIns="0" anchor="t">
            <a:spAutoFit/>
          </a:bodyPr>
          <a:lstStyle/>
          <a:p>
            <a:pPr algn="l">
              <a:lnSpc>
                <a:spcPct val="112000"/>
              </a:lnSpc>
              <a:spcBef>
                <a:spcPts val="0"/>
              </a:spcBef>
              <a:spcAft>
                <a:spcPts val="0"/>
              </a:spcAft>
              <a:defRPr sz="1900" b="1">
                <a:solidFill>
                  <a:srgbClr val="192F43"/>
                </a:solidFill>
                <a:latin typeface="Noto Sans"/>
              </a:defRPr>
            </a:pPr>
            <a:r>
              <a:t>quan sát</a:t>
            </a:r>
          </a:p>
        </p:txBody>
      </p:sp>
      <p:sp>
        <p:nvSpPr>
          <p:cNvPr id="14" name="TextBox 13"/>
          <p:cNvSpPr txBox="1"/>
          <p:nvPr/>
        </p:nvSpPr>
        <p:spPr>
          <a:xfrm>
            <a:off x="640080" y="3401568"/>
            <a:ext cx="2926080" cy="731520"/>
          </a:xfrm>
          <a:prstGeom prst="rect">
            <a:avLst/>
          </a:prstGeom>
          <a:noFill/>
        </p:spPr>
        <p:txBody>
          <a:bodyPr wrap="square" lIns="0" rIns="0" tIns="0" bIns="0" anchor="t">
            <a:spAutoFit/>
          </a:bodyPr>
          <a:lstStyle/>
          <a:p>
            <a:pPr algn="l">
              <a:lnSpc>
                <a:spcPct val="112000"/>
              </a:lnSpc>
              <a:spcBef>
                <a:spcPts val="0"/>
              </a:spcBef>
              <a:spcAft>
                <a:spcPts val="0"/>
              </a:spcAft>
              <a:defRPr sz="1600" b="0">
                <a:solidFill>
                  <a:srgbClr val="5B6B7B"/>
                </a:solidFill>
                <a:latin typeface="Noto Sans"/>
              </a:defRPr>
            </a:pPr>
            <a:r>
              <a:t>Dữ liệu công khai</a:t>
            </a:r>
          </a:p>
        </p:txBody>
      </p:sp>
      <p:sp>
        <p:nvSpPr>
          <p:cNvPr id="15" name="TextBox 14"/>
          <p:cNvSpPr txBox="1"/>
          <p:nvPr/>
        </p:nvSpPr>
        <p:spPr>
          <a:xfrm>
            <a:off x="4069080" y="1938528"/>
            <a:ext cx="2926080" cy="777240"/>
          </a:xfrm>
          <a:prstGeom prst="rect">
            <a:avLst/>
          </a:prstGeom>
          <a:noFill/>
        </p:spPr>
        <p:txBody>
          <a:bodyPr wrap="square" lIns="0" rIns="0" tIns="0" bIns="0" anchor="t">
            <a:spAutoFit/>
          </a:bodyPr>
          <a:lstStyle/>
          <a:p>
            <a:pPr algn="l">
              <a:lnSpc>
                <a:spcPct val="112000"/>
              </a:lnSpc>
              <a:spcBef>
                <a:spcPts val="0"/>
              </a:spcBef>
              <a:spcAft>
                <a:spcPts val="0"/>
              </a:spcAft>
              <a:defRPr sz="4500" b="1">
                <a:solidFill>
                  <a:srgbClr val="087F82"/>
                </a:solidFill>
                <a:latin typeface="Noto Sans"/>
              </a:defRPr>
            </a:pPr>
            <a:r>
              <a:t>30</a:t>
            </a:r>
          </a:p>
        </p:txBody>
      </p:sp>
      <p:sp>
        <p:nvSpPr>
          <p:cNvPr id="16" name="TextBox 15"/>
          <p:cNvSpPr txBox="1"/>
          <p:nvPr/>
        </p:nvSpPr>
        <p:spPr>
          <a:xfrm>
            <a:off x="4069080" y="2807208"/>
            <a:ext cx="2926080" cy="457200"/>
          </a:xfrm>
          <a:prstGeom prst="rect">
            <a:avLst/>
          </a:prstGeom>
          <a:noFill/>
        </p:spPr>
        <p:txBody>
          <a:bodyPr wrap="square" lIns="0" rIns="0" tIns="0" bIns="0" anchor="t">
            <a:spAutoFit/>
          </a:bodyPr>
          <a:lstStyle/>
          <a:p>
            <a:pPr algn="l">
              <a:lnSpc>
                <a:spcPct val="112000"/>
              </a:lnSpc>
              <a:spcBef>
                <a:spcPts val="0"/>
              </a:spcBef>
              <a:spcAft>
                <a:spcPts val="0"/>
              </a:spcAft>
              <a:defRPr sz="1900" b="1">
                <a:solidFill>
                  <a:srgbClr val="192F43"/>
                </a:solidFill>
                <a:latin typeface="Noto Sans"/>
              </a:defRPr>
            </a:pPr>
            <a:r>
              <a:t>đặc trưng số</a:t>
            </a:r>
          </a:p>
        </p:txBody>
      </p:sp>
      <p:sp>
        <p:nvSpPr>
          <p:cNvPr id="17" name="TextBox 16"/>
          <p:cNvSpPr txBox="1"/>
          <p:nvPr/>
        </p:nvSpPr>
        <p:spPr>
          <a:xfrm>
            <a:off x="4069080" y="3401568"/>
            <a:ext cx="2926080" cy="731520"/>
          </a:xfrm>
          <a:prstGeom prst="rect">
            <a:avLst/>
          </a:prstGeom>
          <a:noFill/>
        </p:spPr>
        <p:txBody>
          <a:bodyPr wrap="square" lIns="0" rIns="0" tIns="0" bIns="0" anchor="t">
            <a:spAutoFit/>
          </a:bodyPr>
          <a:lstStyle/>
          <a:p>
            <a:pPr algn="l">
              <a:lnSpc>
                <a:spcPct val="112000"/>
              </a:lnSpc>
              <a:spcBef>
                <a:spcPts val="0"/>
              </a:spcBef>
              <a:spcAft>
                <a:spcPts val="0"/>
              </a:spcAft>
              <a:defRPr sz="1600" b="0">
                <a:solidFill>
                  <a:srgbClr val="5B6B7B"/>
                </a:solidFill>
                <a:latin typeface="Noto Sans"/>
              </a:defRPr>
            </a:pPr>
            <a:r>
              <a:t>Đặc điểm nhân tế bào</a:t>
            </a:r>
          </a:p>
        </p:txBody>
      </p:sp>
      <p:sp>
        <p:nvSpPr>
          <p:cNvPr id="18" name="TextBox 17"/>
          <p:cNvSpPr txBox="1"/>
          <p:nvPr/>
        </p:nvSpPr>
        <p:spPr>
          <a:xfrm>
            <a:off x="7498079" y="1938528"/>
            <a:ext cx="3657600" cy="777240"/>
          </a:xfrm>
          <a:prstGeom prst="rect">
            <a:avLst/>
          </a:prstGeom>
          <a:noFill/>
        </p:spPr>
        <p:txBody>
          <a:bodyPr wrap="square" lIns="0" rIns="0" tIns="0" bIns="0" anchor="t">
            <a:spAutoFit/>
          </a:bodyPr>
          <a:lstStyle/>
          <a:p>
            <a:pPr algn="l">
              <a:lnSpc>
                <a:spcPct val="112000"/>
              </a:lnSpc>
              <a:spcBef>
                <a:spcPts val="0"/>
              </a:spcBef>
              <a:spcAft>
                <a:spcPts val="0"/>
              </a:spcAft>
              <a:defRPr sz="4500" b="1">
                <a:solidFill>
                  <a:srgbClr val="087F82"/>
                </a:solidFill>
                <a:latin typeface="Noto Sans"/>
              </a:defRPr>
            </a:pPr>
            <a:r>
              <a:t>2</a:t>
            </a:r>
          </a:p>
        </p:txBody>
      </p:sp>
      <p:sp>
        <p:nvSpPr>
          <p:cNvPr id="19" name="TextBox 18"/>
          <p:cNvSpPr txBox="1"/>
          <p:nvPr/>
        </p:nvSpPr>
        <p:spPr>
          <a:xfrm>
            <a:off x="7498079" y="2807208"/>
            <a:ext cx="3657600" cy="457200"/>
          </a:xfrm>
          <a:prstGeom prst="rect">
            <a:avLst/>
          </a:prstGeom>
          <a:noFill/>
        </p:spPr>
        <p:txBody>
          <a:bodyPr wrap="square" lIns="0" rIns="0" tIns="0" bIns="0" anchor="t">
            <a:spAutoFit/>
          </a:bodyPr>
          <a:lstStyle/>
          <a:p>
            <a:pPr algn="l">
              <a:lnSpc>
                <a:spcPct val="112000"/>
              </a:lnSpc>
              <a:spcBef>
                <a:spcPts val="0"/>
              </a:spcBef>
              <a:spcAft>
                <a:spcPts val="0"/>
              </a:spcAft>
              <a:defRPr sz="1900" b="1">
                <a:solidFill>
                  <a:srgbClr val="192F43"/>
                </a:solidFill>
                <a:latin typeface="Noto Sans"/>
              </a:defRPr>
            </a:pPr>
            <a:r>
              <a:t>lớp dự đoán</a:t>
            </a:r>
          </a:p>
        </p:txBody>
      </p:sp>
      <p:sp>
        <p:nvSpPr>
          <p:cNvPr id="20" name="TextBox 19"/>
          <p:cNvSpPr txBox="1"/>
          <p:nvPr/>
        </p:nvSpPr>
        <p:spPr>
          <a:xfrm>
            <a:off x="7498079" y="3401568"/>
            <a:ext cx="3657600" cy="731520"/>
          </a:xfrm>
          <a:prstGeom prst="rect">
            <a:avLst/>
          </a:prstGeom>
          <a:noFill/>
        </p:spPr>
        <p:txBody>
          <a:bodyPr wrap="square" lIns="0" rIns="0" tIns="0" bIns="0" anchor="t">
            <a:spAutoFit/>
          </a:bodyPr>
          <a:lstStyle/>
          <a:p>
            <a:pPr algn="l">
              <a:lnSpc>
                <a:spcPct val="112000"/>
              </a:lnSpc>
              <a:spcBef>
                <a:spcPts val="0"/>
              </a:spcBef>
              <a:spcAft>
                <a:spcPts val="0"/>
              </a:spcAft>
              <a:defRPr sz="1600" b="0">
                <a:solidFill>
                  <a:srgbClr val="5B6B7B"/>
                </a:solidFill>
                <a:latin typeface="Noto Sans"/>
              </a:defRPr>
            </a:pPr>
            <a:r>
              <a:t>Ác tính (0) / lành tính (1)</a:t>
            </a:r>
          </a:p>
        </p:txBody>
      </p:sp>
      <p:sp>
        <p:nvSpPr>
          <p:cNvPr id="21" name="Rectangle 20"/>
          <p:cNvSpPr/>
          <p:nvPr/>
        </p:nvSpPr>
        <p:spPr>
          <a:xfrm>
            <a:off x="640080" y="4709160"/>
            <a:ext cx="4054214" cy="347472"/>
          </a:xfrm>
          <a:prstGeom prst="rect">
            <a:avLst/>
          </a:prstGeom>
          <a:solidFill>
            <a:srgbClr val="C8644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Rectangle 21"/>
          <p:cNvSpPr/>
          <p:nvPr/>
        </p:nvSpPr>
        <p:spPr>
          <a:xfrm>
            <a:off x="4694294" y="4709160"/>
            <a:ext cx="6827145" cy="347472"/>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640080" y="5221224"/>
            <a:ext cx="4572000" cy="320040"/>
          </a:xfrm>
          <a:prstGeom prst="rect">
            <a:avLst/>
          </a:prstGeom>
          <a:noFill/>
        </p:spPr>
        <p:txBody>
          <a:bodyPr wrap="square" lIns="0" rIns="0" tIns="0" bIns="0" anchor="t">
            <a:spAutoFit/>
          </a:bodyPr>
          <a:lstStyle/>
          <a:p>
            <a:pPr algn="l">
              <a:lnSpc>
                <a:spcPct val="112000"/>
              </a:lnSpc>
              <a:spcBef>
                <a:spcPts val="0"/>
              </a:spcBef>
              <a:spcAft>
                <a:spcPts val="0"/>
              </a:spcAft>
              <a:defRPr sz="1800" b="1">
                <a:solidFill>
                  <a:srgbClr val="C86449"/>
                </a:solidFill>
                <a:latin typeface="Noto Sans"/>
              </a:defRPr>
            </a:pPr>
            <a:r>
              <a:t>212 ác tính · lớp dương = 0</a:t>
            </a:r>
          </a:p>
        </p:txBody>
      </p:sp>
      <p:sp>
        <p:nvSpPr>
          <p:cNvPr id="24" name="TextBox 23"/>
          <p:cNvSpPr txBox="1"/>
          <p:nvPr/>
        </p:nvSpPr>
        <p:spPr>
          <a:xfrm>
            <a:off x="6583680" y="5221224"/>
            <a:ext cx="4937760" cy="320040"/>
          </a:xfrm>
          <a:prstGeom prst="rect">
            <a:avLst/>
          </a:prstGeom>
          <a:noFill/>
        </p:spPr>
        <p:txBody>
          <a:bodyPr wrap="square" lIns="0" rIns="0" tIns="0" bIns="0" anchor="t">
            <a:spAutoFit/>
          </a:bodyPr>
          <a:lstStyle/>
          <a:p>
            <a:pPr algn="r">
              <a:lnSpc>
                <a:spcPct val="112000"/>
              </a:lnSpc>
              <a:spcBef>
                <a:spcPts val="0"/>
              </a:spcBef>
              <a:spcAft>
                <a:spcPts val="0"/>
              </a:spcAft>
              <a:defRPr sz="1800" b="1">
                <a:solidFill>
                  <a:srgbClr val="087F82"/>
                </a:solidFill>
                <a:latin typeface="Noto Sans"/>
              </a:defRPr>
            </a:pPr>
            <a:r>
              <a:t>357 lành tính · nhãn 1</a:t>
            </a:r>
          </a:p>
        </p:txBody>
      </p:sp>
      <p:sp>
        <p:nvSpPr>
          <p:cNvPr id="25" name="Rounded Rectangle 24"/>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Đầu vào là các đặc trưng đã trích xuất, không phải ảnh gốc. Mục đích minh họa học máy.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03 / DỮ LIỆU VÀ GIAO THỨC</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Chọn độ sâu trên train, giữ test bên ngoài</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outputs/results.json · seed 42 · CV theo balanced accuracy</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11</a:t>
            </a:r>
          </a:p>
        </p:txBody>
      </p:sp>
      <p:sp>
        <p:nvSpPr>
          <p:cNvPr id="8" name="Rectangle 7"/>
          <p:cNvSpPr/>
          <p:nvPr/>
        </p:nvSpPr>
        <p:spPr>
          <a:xfrm>
            <a:off x="10671048"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ounded Rectangle 11"/>
          <p:cNvSpPr/>
          <p:nvPr/>
        </p:nvSpPr>
        <p:spPr>
          <a:xfrm>
            <a:off x="612648" y="1874519"/>
            <a:ext cx="7635240" cy="914400"/>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59536" y="2121408"/>
            <a:ext cx="7132320" cy="411480"/>
          </a:xfrm>
          <a:prstGeom prst="rect">
            <a:avLst/>
          </a:prstGeom>
          <a:noFill/>
        </p:spPr>
        <p:txBody>
          <a:bodyPr wrap="square" lIns="0" rIns="0" tIns="0" bIns="0" anchor="t">
            <a:spAutoFit/>
          </a:bodyPr>
          <a:lstStyle/>
          <a:p>
            <a:pPr algn="l">
              <a:lnSpc>
                <a:spcPct val="112000"/>
              </a:lnSpc>
              <a:spcBef>
                <a:spcPts val="0"/>
              </a:spcBef>
              <a:spcAft>
                <a:spcPts val="0"/>
              </a:spcAft>
              <a:defRPr sz="2300" b="1">
                <a:solidFill>
                  <a:srgbClr val="087F82"/>
                </a:solidFill>
                <a:latin typeface="Noto Sans"/>
              </a:defRPr>
            </a:pPr>
            <a:r>
              <a:t>TRAIN 426 mẫu · 159 ác / 267 lành</a:t>
            </a:r>
          </a:p>
        </p:txBody>
      </p:sp>
      <p:sp>
        <p:nvSpPr>
          <p:cNvPr id="14" name="Rounded Rectangle 13"/>
          <p:cNvSpPr/>
          <p:nvPr/>
        </p:nvSpPr>
        <p:spPr>
          <a:xfrm>
            <a:off x="8476488" y="1874519"/>
            <a:ext cx="3099816" cy="3429000"/>
          </a:xfrm>
          <a:prstGeom prst="roundRect">
            <a:avLst>
              <a:gd name="adj" fmla="val 8000"/>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8732520" y="2194560"/>
            <a:ext cx="265176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8BE0CF"/>
                </a:solidFill>
                <a:latin typeface="Noto Sans"/>
              </a:defRPr>
            </a:pPr>
            <a:r>
              <a:t>TEST GIỮ RIÊNG</a:t>
            </a:r>
          </a:p>
        </p:txBody>
      </p:sp>
      <p:sp>
        <p:nvSpPr>
          <p:cNvPr id="16" name="TextBox 15"/>
          <p:cNvSpPr txBox="1"/>
          <p:nvPr/>
        </p:nvSpPr>
        <p:spPr>
          <a:xfrm>
            <a:off x="8732520" y="2871216"/>
            <a:ext cx="2560320" cy="822960"/>
          </a:xfrm>
          <a:prstGeom prst="rect">
            <a:avLst/>
          </a:prstGeom>
          <a:noFill/>
        </p:spPr>
        <p:txBody>
          <a:bodyPr wrap="square" lIns="0" rIns="0" tIns="0" bIns="0" anchor="t">
            <a:spAutoFit/>
          </a:bodyPr>
          <a:lstStyle/>
          <a:p>
            <a:pPr algn="l">
              <a:lnSpc>
                <a:spcPct val="112000"/>
              </a:lnSpc>
              <a:spcBef>
                <a:spcPts val="0"/>
              </a:spcBef>
              <a:spcAft>
                <a:spcPts val="0"/>
              </a:spcAft>
              <a:defRPr sz="4600" b="1">
                <a:solidFill>
                  <a:srgbClr val="FFFFFF"/>
                </a:solidFill>
                <a:latin typeface="Noto Sans"/>
              </a:defRPr>
            </a:pPr>
            <a:r>
              <a:t>143</a:t>
            </a:r>
          </a:p>
        </p:txBody>
      </p:sp>
      <p:sp>
        <p:nvSpPr>
          <p:cNvPr id="17" name="TextBox 16"/>
          <p:cNvSpPr txBox="1"/>
          <p:nvPr/>
        </p:nvSpPr>
        <p:spPr>
          <a:xfrm>
            <a:off x="8732520" y="3995928"/>
            <a:ext cx="2560320" cy="914400"/>
          </a:xfrm>
          <a:prstGeom prst="rect">
            <a:avLst/>
          </a:prstGeom>
          <a:noFill/>
        </p:spPr>
        <p:txBody>
          <a:bodyPr wrap="square" lIns="0" rIns="0" tIns="0" bIns="0" anchor="t">
            <a:spAutoFit/>
          </a:bodyPr>
          <a:lstStyle/>
          <a:p>
            <a:pPr algn="l">
              <a:lnSpc>
                <a:spcPct val="130000"/>
              </a:lnSpc>
              <a:spcBef>
                <a:spcPts val="0"/>
              </a:spcBef>
              <a:spcAft>
                <a:spcPts val="0"/>
              </a:spcAft>
              <a:defRPr sz="1800" b="0">
                <a:solidFill>
                  <a:srgbClr val="FFFFFF"/>
                </a:solidFill>
                <a:latin typeface="Noto Sans"/>
              </a:defRPr>
            </a:pPr>
            <a:r>
              <a:t>53 ác / 90 lành</a:t>
            </a:r>
          </a:p>
          <a:p>
            <a:pPr algn="l">
              <a:lnSpc>
                <a:spcPct val="130000"/>
              </a:lnSpc>
              <a:spcBef>
                <a:spcPts val="0"/>
              </a:spcBef>
              <a:spcAft>
                <a:spcPts val="0"/>
              </a:spcAft>
              <a:defRPr sz="1800" b="0">
                <a:solidFill>
                  <a:srgbClr val="FFFFFF"/>
                </a:solidFill>
                <a:latin typeface="Noto Sans"/>
              </a:defRPr>
            </a:pPr>
            <a:r>
              <a:t>Chỉ đánh giá sau</a:t>
            </a:r>
          </a:p>
          <a:p>
            <a:pPr algn="l">
              <a:lnSpc>
                <a:spcPct val="130000"/>
              </a:lnSpc>
              <a:spcBef>
                <a:spcPts val="0"/>
              </a:spcBef>
              <a:spcAft>
                <a:spcPts val="0"/>
              </a:spcAft>
              <a:defRPr sz="1800" b="0">
                <a:solidFill>
                  <a:srgbClr val="FFFFFF"/>
                </a:solidFill>
                <a:latin typeface="Noto Sans"/>
              </a:defRPr>
            </a:pPr>
            <a:r>
              <a:t>khi chốt cấu hình.</a:t>
            </a:r>
          </a:p>
        </p:txBody>
      </p:sp>
      <p:sp>
        <p:nvSpPr>
          <p:cNvPr id="18" name="Oval 17"/>
          <p:cNvSpPr/>
          <p:nvPr/>
        </p:nvSpPr>
        <p:spPr>
          <a:xfrm>
            <a:off x="667512" y="3154680"/>
            <a:ext cx="502920" cy="502920"/>
          </a:xfrm>
          <a:prstGeom prst="ellipse">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667512" y="3246120"/>
            <a:ext cx="502920" cy="274320"/>
          </a:xfrm>
          <a:prstGeom prst="rect">
            <a:avLst/>
          </a:prstGeom>
          <a:noFill/>
        </p:spPr>
        <p:txBody>
          <a:bodyPr wrap="square" lIns="0" rIns="0" tIns="0" bIns="0" anchor="t">
            <a:spAutoFit/>
          </a:bodyPr>
          <a:lstStyle/>
          <a:p>
            <a:pPr algn="ctr">
              <a:lnSpc>
                <a:spcPct val="112000"/>
              </a:lnSpc>
              <a:spcBef>
                <a:spcPts val="0"/>
              </a:spcBef>
              <a:spcAft>
                <a:spcPts val="0"/>
              </a:spcAft>
              <a:defRPr sz="1600" b="1">
                <a:solidFill>
                  <a:srgbClr val="FFFFFF"/>
                </a:solidFill>
                <a:latin typeface="Noto Sans"/>
              </a:defRPr>
            </a:pPr>
            <a:r>
              <a:t>1</a:t>
            </a:r>
          </a:p>
        </p:txBody>
      </p:sp>
      <p:sp>
        <p:nvSpPr>
          <p:cNvPr id="20" name="TextBox 19"/>
          <p:cNvSpPr txBox="1"/>
          <p:nvPr/>
        </p:nvSpPr>
        <p:spPr>
          <a:xfrm>
            <a:off x="1399032" y="3136392"/>
            <a:ext cx="6217920" cy="365760"/>
          </a:xfrm>
          <a:prstGeom prst="rect">
            <a:avLst/>
          </a:prstGeom>
          <a:noFill/>
        </p:spPr>
        <p:txBody>
          <a:bodyPr wrap="square" lIns="0" rIns="0" tIns="0" bIns="0" anchor="t">
            <a:spAutoFit/>
          </a:bodyPr>
          <a:lstStyle/>
          <a:p>
            <a:pPr algn="l">
              <a:lnSpc>
                <a:spcPct val="112000"/>
              </a:lnSpc>
              <a:spcBef>
                <a:spcPts val="0"/>
              </a:spcBef>
              <a:spcAft>
                <a:spcPts val="0"/>
              </a:spcAft>
              <a:defRPr sz="2300" b="1">
                <a:solidFill>
                  <a:srgbClr val="142D46"/>
                </a:solidFill>
                <a:latin typeface="Noto Sans"/>
              </a:defRPr>
            </a:pPr>
            <a:r>
              <a:t>CV phân tầng 5 fold</a:t>
            </a:r>
          </a:p>
        </p:txBody>
      </p:sp>
      <p:sp>
        <p:nvSpPr>
          <p:cNvPr id="21" name="TextBox 20"/>
          <p:cNvSpPr txBox="1"/>
          <p:nvPr/>
        </p:nvSpPr>
        <p:spPr>
          <a:xfrm>
            <a:off x="1399032" y="3602736"/>
            <a:ext cx="6217920" cy="365760"/>
          </a:xfrm>
          <a:prstGeom prst="rect">
            <a:avLst/>
          </a:prstGeom>
          <a:noFill/>
        </p:spPr>
        <p:txBody>
          <a:bodyPr wrap="square" lIns="0" rIns="0" tIns="0" bIns="0" anchor="t">
            <a:spAutoFit/>
          </a:bodyPr>
          <a:lstStyle/>
          <a:p>
            <a:pPr algn="l">
              <a:lnSpc>
                <a:spcPct val="112000"/>
              </a:lnSpc>
              <a:spcBef>
                <a:spcPts val="0"/>
              </a:spcBef>
              <a:spcAft>
                <a:spcPts val="0"/>
              </a:spcAft>
              <a:defRPr sz="1800" b="0">
                <a:solidFill>
                  <a:srgbClr val="5B6B7B"/>
                </a:solidFill>
                <a:latin typeface="Noto Sans"/>
              </a:defRPr>
            </a:pPr>
            <a:r>
              <a:t>Thử max_depth từ 2 đến 6.</a:t>
            </a:r>
          </a:p>
        </p:txBody>
      </p:sp>
      <p:sp>
        <p:nvSpPr>
          <p:cNvPr id="22" name="Oval 21"/>
          <p:cNvSpPr/>
          <p:nvPr/>
        </p:nvSpPr>
        <p:spPr>
          <a:xfrm>
            <a:off x="667512" y="4187952"/>
            <a:ext cx="502920" cy="502920"/>
          </a:xfrm>
          <a:prstGeom prst="ellipse">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667512" y="4279392"/>
            <a:ext cx="502920" cy="274320"/>
          </a:xfrm>
          <a:prstGeom prst="rect">
            <a:avLst/>
          </a:prstGeom>
          <a:noFill/>
        </p:spPr>
        <p:txBody>
          <a:bodyPr wrap="square" lIns="0" rIns="0" tIns="0" bIns="0" anchor="t">
            <a:spAutoFit/>
          </a:bodyPr>
          <a:lstStyle/>
          <a:p>
            <a:pPr algn="ctr">
              <a:lnSpc>
                <a:spcPct val="112000"/>
              </a:lnSpc>
              <a:spcBef>
                <a:spcPts val="0"/>
              </a:spcBef>
              <a:spcAft>
                <a:spcPts val="0"/>
              </a:spcAft>
              <a:defRPr sz="1600" b="1">
                <a:solidFill>
                  <a:srgbClr val="FFFFFF"/>
                </a:solidFill>
                <a:latin typeface="Noto Sans"/>
              </a:defRPr>
            </a:pPr>
            <a:r>
              <a:t>2</a:t>
            </a:r>
          </a:p>
        </p:txBody>
      </p:sp>
      <p:sp>
        <p:nvSpPr>
          <p:cNvPr id="24" name="TextBox 23"/>
          <p:cNvSpPr txBox="1"/>
          <p:nvPr/>
        </p:nvSpPr>
        <p:spPr>
          <a:xfrm>
            <a:off x="1399032" y="4169664"/>
            <a:ext cx="6217920" cy="365760"/>
          </a:xfrm>
          <a:prstGeom prst="rect">
            <a:avLst/>
          </a:prstGeom>
          <a:noFill/>
        </p:spPr>
        <p:txBody>
          <a:bodyPr wrap="square" lIns="0" rIns="0" tIns="0" bIns="0" anchor="t">
            <a:spAutoFit/>
          </a:bodyPr>
          <a:lstStyle/>
          <a:p>
            <a:pPr algn="l">
              <a:lnSpc>
                <a:spcPct val="112000"/>
              </a:lnSpc>
              <a:spcBef>
                <a:spcPts val="0"/>
              </a:spcBef>
              <a:spcAft>
                <a:spcPts val="0"/>
              </a:spcAft>
              <a:defRPr sz="2300" b="1">
                <a:solidFill>
                  <a:srgbClr val="142D46"/>
                </a:solidFill>
                <a:latin typeface="Noto Sans"/>
              </a:defRPr>
            </a:pPr>
            <a:r>
              <a:t>Chọn độ sâu 3</a:t>
            </a:r>
          </a:p>
        </p:txBody>
      </p:sp>
      <p:sp>
        <p:nvSpPr>
          <p:cNvPr id="25" name="TextBox 24"/>
          <p:cNvSpPr txBox="1"/>
          <p:nvPr/>
        </p:nvSpPr>
        <p:spPr>
          <a:xfrm>
            <a:off x="1399032" y="4636008"/>
            <a:ext cx="6217920" cy="365760"/>
          </a:xfrm>
          <a:prstGeom prst="rect">
            <a:avLst/>
          </a:prstGeom>
          <a:noFill/>
        </p:spPr>
        <p:txBody>
          <a:bodyPr wrap="square" lIns="0" rIns="0" tIns="0" bIns="0" anchor="t">
            <a:spAutoFit/>
          </a:bodyPr>
          <a:lstStyle/>
          <a:p>
            <a:pPr algn="l">
              <a:lnSpc>
                <a:spcPct val="112000"/>
              </a:lnSpc>
              <a:spcBef>
                <a:spcPts val="0"/>
              </a:spcBef>
              <a:spcAft>
                <a:spcPts val="0"/>
              </a:spcAft>
              <a:defRPr sz="1800" b="0">
                <a:solidFill>
                  <a:srgbClr val="5B6B7B"/>
                </a:solidFill>
                <a:latin typeface="Noto Sans"/>
              </a:defRPr>
            </a:pPr>
            <a:r>
              <a:t>Balanced accuracy CV: 93,73%.</a:t>
            </a:r>
          </a:p>
        </p:txBody>
      </p:sp>
      <p:sp>
        <p:nvSpPr>
          <p:cNvPr id="26" name="Rounded Rectangle 25"/>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Độ sâu chọn bằng cây đơn rồi dùng chung cho ba mô hình; chưa tối ưu riêng từng ensemble.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04 / TRIỂN KHAI</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Bootstrap được triển khai trực tiếp trong Python</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Trích lược ensemble_model.py · ManualBagging.fit</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12</a:t>
            </a:r>
          </a:p>
        </p:txBody>
      </p:sp>
      <p:sp>
        <p:nvSpPr>
          <p:cNvPr id="8" name="Rectangle 7"/>
          <p:cNvSpPr/>
          <p:nvPr/>
        </p:nvSpPr>
        <p:spPr>
          <a:xfrm>
            <a:off x="10671048"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ounded Rectangle 11"/>
          <p:cNvSpPr/>
          <p:nvPr/>
        </p:nvSpPr>
        <p:spPr>
          <a:xfrm>
            <a:off x="612648" y="1828800"/>
            <a:ext cx="7507224" cy="3758184"/>
          </a:xfrm>
          <a:prstGeom prst="roundRect">
            <a:avLst>
              <a:gd name="adj" fmla="val 8000"/>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68680" y="2029968"/>
            <a:ext cx="365760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8BE0CF"/>
                </a:solidFill>
                <a:latin typeface="Noto Sans"/>
              </a:defRPr>
            </a:pPr>
            <a:r>
              <a:t>PYTHON · TRÍCH LƯỢC</a:t>
            </a:r>
          </a:p>
        </p:txBody>
      </p:sp>
      <p:sp>
        <p:nvSpPr>
          <p:cNvPr id="14" name="TextBox 13"/>
          <p:cNvSpPr txBox="1"/>
          <p:nvPr/>
        </p:nvSpPr>
        <p:spPr>
          <a:xfrm>
            <a:off x="868680" y="2551176"/>
            <a:ext cx="6995160" cy="2907792"/>
          </a:xfrm>
          <a:prstGeom prst="rect">
            <a:avLst/>
          </a:prstGeom>
          <a:noFill/>
        </p:spPr>
        <p:txBody>
          <a:bodyPr wrap="square" lIns="0" rIns="0" tIns="0" bIns="0" anchor="t">
            <a:spAutoFit/>
          </a:bodyPr>
          <a:lstStyle/>
          <a:p>
            <a:pPr algn="l">
              <a:lnSpc>
                <a:spcPct val="122000"/>
              </a:lnSpc>
              <a:spcBef>
                <a:spcPts val="0"/>
              </a:spcBef>
              <a:spcAft>
                <a:spcPts val="0"/>
              </a:spcAft>
              <a:defRPr sz="1730" b="0">
                <a:solidFill>
                  <a:srgbClr val="FFFFFF"/>
                </a:solidFill>
                <a:latin typeface="DejaVu Sans Mono"/>
              </a:defRPr>
            </a:pPr>
            <a:r>
              <a:t>indices = rng.integers(</a:t>
            </a:r>
          </a:p>
          <a:p>
            <a:pPr algn="l">
              <a:lnSpc>
                <a:spcPct val="122000"/>
              </a:lnSpc>
              <a:spcBef>
                <a:spcPts val="0"/>
              </a:spcBef>
              <a:spcAft>
                <a:spcPts val="0"/>
              </a:spcAft>
              <a:defRPr sz="1730" b="0">
                <a:solidFill>
                  <a:srgbClr val="FFFFFF"/>
                </a:solidFill>
                <a:latin typeface="DejaVu Sans Mono"/>
              </a:defRPr>
            </a:pPr>
            <a:r>
              <a:t>    0, n_samples, size=n_samples</a:t>
            </a:r>
          </a:p>
          <a:p>
            <a:pPr algn="l">
              <a:lnSpc>
                <a:spcPct val="122000"/>
              </a:lnSpc>
              <a:spcBef>
                <a:spcPts val="0"/>
              </a:spcBef>
              <a:spcAft>
                <a:spcPts val="0"/>
              </a:spcAft>
              <a:defRPr sz="1730" b="0">
                <a:solidFill>
                  <a:srgbClr val="FFFFFF"/>
                </a:solidFill>
                <a:latin typeface="DejaVu Sans Mono"/>
              </a:defRPr>
            </a:pPr>
            <a:r>
              <a:t>)</a:t>
            </a:r>
          </a:p>
          <a:p>
            <a:pPr algn="l">
              <a:lnSpc>
                <a:spcPct val="122000"/>
              </a:lnSpc>
              <a:spcBef>
                <a:spcPts val="0"/>
              </a:spcBef>
              <a:spcAft>
                <a:spcPts val="0"/>
              </a:spcAft>
              <a:defRPr sz="1730" b="0">
                <a:solidFill>
                  <a:srgbClr val="FFFFFF"/>
                </a:solidFill>
                <a:latin typeface="DejaVu Sans Mono"/>
              </a:defRPr>
            </a:pPr>
            <a:r>
              <a:t>tree = DecisionTreeClassifier(</a:t>
            </a:r>
          </a:p>
          <a:p>
            <a:pPr algn="l">
              <a:lnSpc>
                <a:spcPct val="122000"/>
              </a:lnSpc>
              <a:spcBef>
                <a:spcPts val="0"/>
              </a:spcBef>
              <a:spcAft>
                <a:spcPts val="0"/>
              </a:spcAft>
              <a:defRPr sz="1730" b="0">
                <a:solidFill>
                  <a:srgbClr val="FFFFFF"/>
                </a:solidFill>
                <a:latin typeface="DejaVu Sans Mono"/>
              </a:defRPr>
            </a:pPr>
            <a:r>
              <a:t>    max_depth=self.max_depth,</a:t>
            </a:r>
          </a:p>
          <a:p>
            <a:pPr algn="l">
              <a:lnSpc>
                <a:spcPct val="122000"/>
              </a:lnSpc>
              <a:spcBef>
                <a:spcPts val="0"/>
              </a:spcBef>
              <a:spcAft>
                <a:spcPts val="0"/>
              </a:spcAft>
              <a:defRPr sz="1730" b="0">
                <a:solidFill>
                  <a:srgbClr val="FFFFFF"/>
                </a:solidFill>
                <a:latin typeface="DejaVu Sans Mono"/>
              </a:defRPr>
            </a:pPr>
            <a:r>
              <a:t>    random_state=int(rng.integers(0, 2**31 - 1)),</a:t>
            </a:r>
          </a:p>
          <a:p>
            <a:pPr algn="l">
              <a:lnSpc>
                <a:spcPct val="122000"/>
              </a:lnSpc>
              <a:spcBef>
                <a:spcPts val="0"/>
              </a:spcBef>
              <a:spcAft>
                <a:spcPts val="0"/>
              </a:spcAft>
              <a:defRPr sz="1730" b="0">
                <a:solidFill>
                  <a:srgbClr val="FFFFFF"/>
                </a:solidFill>
                <a:latin typeface="DejaVu Sans Mono"/>
              </a:defRPr>
            </a:pPr>
            <a:r>
              <a:t>)</a:t>
            </a:r>
          </a:p>
          <a:p>
            <a:pPr algn="l">
              <a:lnSpc>
                <a:spcPct val="122000"/>
              </a:lnSpc>
              <a:spcBef>
                <a:spcPts val="0"/>
              </a:spcBef>
              <a:spcAft>
                <a:spcPts val="0"/>
              </a:spcAft>
              <a:defRPr sz="1730" b="0">
                <a:solidFill>
                  <a:srgbClr val="FFFFFF"/>
                </a:solidFill>
                <a:latin typeface="DejaVu Sans Mono"/>
              </a:defRPr>
            </a:pPr>
            <a:r>
              <a:t>tree.fit(X[indices], encoded[indices])</a:t>
            </a:r>
          </a:p>
          <a:p>
            <a:pPr algn="l">
              <a:lnSpc>
                <a:spcPct val="122000"/>
              </a:lnSpc>
              <a:spcBef>
                <a:spcPts val="0"/>
              </a:spcBef>
              <a:spcAft>
                <a:spcPts val="0"/>
              </a:spcAft>
              <a:defRPr sz="1730" b="0">
                <a:solidFill>
                  <a:srgbClr val="FFFFFF"/>
                </a:solidFill>
                <a:latin typeface="DejaVu Sans Mono"/>
              </a:defRPr>
            </a:pPr>
            <a:r>
              <a:t>self.estimators_.append(tree)</a:t>
            </a:r>
          </a:p>
        </p:txBody>
      </p:sp>
      <p:sp>
        <p:nvSpPr>
          <p:cNvPr id="15" name="TextBox 14"/>
          <p:cNvSpPr txBox="1"/>
          <p:nvPr/>
        </p:nvSpPr>
        <p:spPr>
          <a:xfrm>
            <a:off x="8458200" y="2084831"/>
            <a:ext cx="283464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01</a:t>
            </a:r>
          </a:p>
        </p:txBody>
      </p:sp>
      <p:sp>
        <p:nvSpPr>
          <p:cNvPr id="16" name="TextBox 15"/>
          <p:cNvSpPr txBox="1"/>
          <p:nvPr/>
        </p:nvSpPr>
        <p:spPr>
          <a:xfrm>
            <a:off x="8458200" y="2377439"/>
            <a:ext cx="2880360" cy="384048"/>
          </a:xfrm>
          <a:prstGeom prst="rect">
            <a:avLst/>
          </a:prstGeom>
          <a:noFill/>
        </p:spPr>
        <p:txBody>
          <a:bodyPr wrap="square" lIns="0" rIns="0" tIns="0" bIns="0" anchor="t">
            <a:spAutoFit/>
          </a:bodyPr>
          <a:lstStyle/>
          <a:p>
            <a:pPr algn="l">
              <a:lnSpc>
                <a:spcPct val="112000"/>
              </a:lnSpc>
              <a:spcBef>
                <a:spcPts val="0"/>
              </a:spcBef>
              <a:spcAft>
                <a:spcPts val="0"/>
              </a:spcAft>
              <a:defRPr sz="2000" b="1">
                <a:solidFill>
                  <a:srgbClr val="142D46"/>
                </a:solidFill>
                <a:latin typeface="Noto Sans"/>
              </a:defRPr>
            </a:pPr>
            <a:r>
              <a:t>Lấy có hoàn lại</a:t>
            </a:r>
          </a:p>
        </p:txBody>
      </p:sp>
      <p:sp>
        <p:nvSpPr>
          <p:cNvPr id="17" name="TextBox 16"/>
          <p:cNvSpPr txBox="1"/>
          <p:nvPr/>
        </p:nvSpPr>
        <p:spPr>
          <a:xfrm>
            <a:off x="8458200" y="2862072"/>
            <a:ext cx="2880360" cy="320040"/>
          </a:xfrm>
          <a:prstGeom prst="rect">
            <a:avLst/>
          </a:prstGeom>
          <a:noFill/>
        </p:spPr>
        <p:txBody>
          <a:bodyPr wrap="square" lIns="0" rIns="0" tIns="0" bIns="0" anchor="t">
            <a:spAutoFit/>
          </a:bodyPr>
          <a:lstStyle/>
          <a:p>
            <a:pPr algn="l">
              <a:lnSpc>
                <a:spcPct val="112000"/>
              </a:lnSpc>
              <a:spcBef>
                <a:spcPts val="0"/>
              </a:spcBef>
              <a:spcAft>
                <a:spcPts val="0"/>
              </a:spcAft>
              <a:defRPr sz="1550" b="0">
                <a:solidFill>
                  <a:srgbClr val="5B6B7B"/>
                </a:solidFill>
                <a:latin typeface="Noto Sans"/>
              </a:defRPr>
            </a:pPr>
            <a:r>
              <a:t>Có thể lặp chỉ số.</a:t>
            </a:r>
          </a:p>
        </p:txBody>
      </p:sp>
      <p:sp>
        <p:nvSpPr>
          <p:cNvPr id="18" name="TextBox 17"/>
          <p:cNvSpPr txBox="1"/>
          <p:nvPr/>
        </p:nvSpPr>
        <p:spPr>
          <a:xfrm>
            <a:off x="8458200" y="3154679"/>
            <a:ext cx="283464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02</a:t>
            </a:r>
          </a:p>
        </p:txBody>
      </p:sp>
      <p:sp>
        <p:nvSpPr>
          <p:cNvPr id="19" name="TextBox 18"/>
          <p:cNvSpPr txBox="1"/>
          <p:nvPr/>
        </p:nvSpPr>
        <p:spPr>
          <a:xfrm>
            <a:off x="8458200" y="3447287"/>
            <a:ext cx="2880360" cy="384048"/>
          </a:xfrm>
          <a:prstGeom prst="rect">
            <a:avLst/>
          </a:prstGeom>
          <a:noFill/>
        </p:spPr>
        <p:txBody>
          <a:bodyPr wrap="square" lIns="0" rIns="0" tIns="0" bIns="0" anchor="t">
            <a:spAutoFit/>
          </a:bodyPr>
          <a:lstStyle/>
          <a:p>
            <a:pPr algn="l">
              <a:lnSpc>
                <a:spcPct val="112000"/>
              </a:lnSpc>
              <a:spcBef>
                <a:spcPts val="0"/>
              </a:spcBef>
              <a:spcAft>
                <a:spcPts val="0"/>
              </a:spcAft>
              <a:defRPr sz="2000" b="1">
                <a:solidFill>
                  <a:srgbClr val="142D46"/>
                </a:solidFill>
                <a:latin typeface="Noto Sans"/>
              </a:defRPr>
            </a:pPr>
            <a:r>
              <a:t>Seed riêng từng cây</a:t>
            </a:r>
          </a:p>
        </p:txBody>
      </p:sp>
      <p:sp>
        <p:nvSpPr>
          <p:cNvPr id="20" name="TextBox 19"/>
          <p:cNvSpPr txBox="1"/>
          <p:nvPr/>
        </p:nvSpPr>
        <p:spPr>
          <a:xfrm>
            <a:off x="8458200" y="3931920"/>
            <a:ext cx="2880360" cy="320040"/>
          </a:xfrm>
          <a:prstGeom prst="rect">
            <a:avLst/>
          </a:prstGeom>
          <a:noFill/>
        </p:spPr>
        <p:txBody>
          <a:bodyPr wrap="square" lIns="0" rIns="0" tIns="0" bIns="0" anchor="t">
            <a:spAutoFit/>
          </a:bodyPr>
          <a:lstStyle/>
          <a:p>
            <a:pPr algn="l">
              <a:lnSpc>
                <a:spcPct val="112000"/>
              </a:lnSpc>
              <a:spcBef>
                <a:spcPts val="0"/>
              </a:spcBef>
              <a:spcAft>
                <a:spcPts val="0"/>
              </a:spcAft>
              <a:defRPr sz="1550" b="0">
                <a:solidFill>
                  <a:srgbClr val="5B6B7B"/>
                </a:solidFill>
                <a:latin typeface="Noto Sans"/>
              </a:defRPr>
            </a:pPr>
            <a:r>
              <a:t>Hỗ trợ tái lập.</a:t>
            </a:r>
          </a:p>
        </p:txBody>
      </p:sp>
      <p:sp>
        <p:nvSpPr>
          <p:cNvPr id="21" name="TextBox 20"/>
          <p:cNvSpPr txBox="1"/>
          <p:nvPr/>
        </p:nvSpPr>
        <p:spPr>
          <a:xfrm>
            <a:off x="8458200" y="4224527"/>
            <a:ext cx="283464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03</a:t>
            </a:r>
          </a:p>
        </p:txBody>
      </p:sp>
      <p:sp>
        <p:nvSpPr>
          <p:cNvPr id="22" name="TextBox 21"/>
          <p:cNvSpPr txBox="1"/>
          <p:nvPr/>
        </p:nvSpPr>
        <p:spPr>
          <a:xfrm>
            <a:off x="8458200" y="4517136"/>
            <a:ext cx="2880360" cy="384048"/>
          </a:xfrm>
          <a:prstGeom prst="rect">
            <a:avLst/>
          </a:prstGeom>
          <a:noFill/>
        </p:spPr>
        <p:txBody>
          <a:bodyPr wrap="square" lIns="0" rIns="0" tIns="0" bIns="0" anchor="t">
            <a:spAutoFit/>
          </a:bodyPr>
          <a:lstStyle/>
          <a:p>
            <a:pPr algn="l">
              <a:lnSpc>
                <a:spcPct val="112000"/>
              </a:lnSpc>
              <a:spcBef>
                <a:spcPts val="0"/>
              </a:spcBef>
              <a:spcAft>
                <a:spcPts val="0"/>
              </a:spcAft>
              <a:defRPr sz="2000" b="1">
                <a:solidFill>
                  <a:srgbClr val="142D46"/>
                </a:solidFill>
                <a:latin typeface="Noto Sans"/>
              </a:defRPr>
            </a:pPr>
            <a:r>
              <a:t>Đúng cặp X và y</a:t>
            </a:r>
          </a:p>
        </p:txBody>
      </p:sp>
      <p:sp>
        <p:nvSpPr>
          <p:cNvPr id="23" name="TextBox 22"/>
          <p:cNvSpPr txBox="1"/>
          <p:nvPr/>
        </p:nvSpPr>
        <p:spPr>
          <a:xfrm>
            <a:off x="8458200" y="5001767"/>
            <a:ext cx="2880360" cy="320040"/>
          </a:xfrm>
          <a:prstGeom prst="rect">
            <a:avLst/>
          </a:prstGeom>
          <a:noFill/>
        </p:spPr>
        <p:txBody>
          <a:bodyPr wrap="square" lIns="0" rIns="0" tIns="0" bIns="0" anchor="t">
            <a:spAutoFit/>
          </a:bodyPr>
          <a:lstStyle/>
          <a:p>
            <a:pPr algn="l">
              <a:lnSpc>
                <a:spcPct val="112000"/>
              </a:lnSpc>
              <a:spcBef>
                <a:spcPts val="0"/>
              </a:spcBef>
              <a:spcAft>
                <a:spcPts val="0"/>
              </a:spcAft>
              <a:defRPr sz="1550" b="0">
                <a:solidFill>
                  <a:srgbClr val="5B6B7B"/>
                </a:solidFill>
                <a:latin typeface="Noto Sans"/>
              </a:defRPr>
            </a:pPr>
            <a:r>
              <a:t>Dùng cùng indices.</a:t>
            </a:r>
          </a:p>
        </p:txBody>
      </p:sp>
      <p:sp>
        <p:nvSpPr>
          <p:cNvPr id="24" name="Rounded Rectangle 23"/>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Cây cơ sở dùng scikit-learn; bootstrap, tổ chức các cây và OOB do nhóm triển khai.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04 / TRIỂN KHAI</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Hard voting đếm phiếu rồi ánh xạ về nhãn gốc</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Trích lược ensemble_model.py · votes / predict</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13</a:t>
            </a:r>
          </a:p>
        </p:txBody>
      </p:sp>
      <p:sp>
        <p:nvSpPr>
          <p:cNvPr id="8" name="Rectangle 7"/>
          <p:cNvSpPr/>
          <p:nvPr/>
        </p:nvSpPr>
        <p:spPr>
          <a:xfrm>
            <a:off x="10671048"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ounded Rectangle 11"/>
          <p:cNvSpPr/>
          <p:nvPr/>
        </p:nvSpPr>
        <p:spPr>
          <a:xfrm>
            <a:off x="612648" y="1828800"/>
            <a:ext cx="7507224" cy="3758184"/>
          </a:xfrm>
          <a:prstGeom prst="roundRect">
            <a:avLst>
              <a:gd name="adj" fmla="val 8000"/>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68680" y="2029968"/>
            <a:ext cx="365760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8BE0CF"/>
                </a:solidFill>
                <a:latin typeface="Noto Sans"/>
              </a:defRPr>
            </a:pPr>
            <a:r>
              <a:t>PYTHON · TRÍCH LƯỢC</a:t>
            </a:r>
          </a:p>
        </p:txBody>
      </p:sp>
      <p:sp>
        <p:nvSpPr>
          <p:cNvPr id="14" name="TextBox 13"/>
          <p:cNvSpPr txBox="1"/>
          <p:nvPr/>
        </p:nvSpPr>
        <p:spPr>
          <a:xfrm>
            <a:off x="868680" y="2551176"/>
            <a:ext cx="6995160" cy="2907792"/>
          </a:xfrm>
          <a:prstGeom prst="rect">
            <a:avLst/>
          </a:prstGeom>
          <a:noFill/>
        </p:spPr>
        <p:txBody>
          <a:bodyPr wrap="square" lIns="0" rIns="0" tIns="0" bIns="0" anchor="t">
            <a:spAutoFit/>
          </a:bodyPr>
          <a:lstStyle/>
          <a:p>
            <a:pPr algn="l">
              <a:lnSpc>
                <a:spcPct val="122000"/>
              </a:lnSpc>
              <a:spcBef>
                <a:spcPts val="0"/>
              </a:spcBef>
              <a:spcAft>
                <a:spcPts val="0"/>
              </a:spcAft>
              <a:defRPr sz="1730" b="0">
                <a:solidFill>
                  <a:srgbClr val="FFFFFF"/>
                </a:solidFill>
                <a:latin typeface="DejaVu Sans Mono"/>
              </a:defRPr>
            </a:pPr>
            <a:r>
              <a:t>counts = np.zeros(</a:t>
            </a:r>
          </a:p>
          <a:p>
            <a:pPr algn="l">
              <a:lnSpc>
                <a:spcPct val="122000"/>
              </a:lnSpc>
              <a:spcBef>
                <a:spcPts val="0"/>
              </a:spcBef>
              <a:spcAft>
                <a:spcPts val="0"/>
              </a:spcAft>
              <a:defRPr sz="1730" b="0">
                <a:solidFill>
                  <a:srgbClr val="FFFFFF"/>
                </a:solidFill>
                <a:latin typeface="DejaVu Sans Mono"/>
              </a:defRPr>
            </a:pPr>
            <a:r>
              <a:t>    (len(X), len(self.classes_)), dtype=np.int64</a:t>
            </a:r>
          </a:p>
          <a:p>
            <a:pPr algn="l">
              <a:lnSpc>
                <a:spcPct val="122000"/>
              </a:lnSpc>
              <a:spcBef>
                <a:spcPts val="0"/>
              </a:spcBef>
              <a:spcAft>
                <a:spcPts val="0"/>
              </a:spcAft>
              <a:defRPr sz="1730" b="0">
                <a:solidFill>
                  <a:srgbClr val="FFFFFF"/>
                </a:solidFill>
                <a:latin typeface="DejaVu Sans Mono"/>
              </a:defRPr>
            </a:pPr>
            <a:r>
              <a:t>)</a:t>
            </a:r>
          </a:p>
          <a:p>
            <a:pPr algn="l">
              <a:lnSpc>
                <a:spcPct val="122000"/>
              </a:lnSpc>
              <a:spcBef>
                <a:spcPts val="0"/>
              </a:spcBef>
              <a:spcAft>
                <a:spcPts val="0"/>
              </a:spcAft>
              <a:defRPr sz="1730" b="0">
                <a:solidFill>
                  <a:srgbClr val="FFFFFF"/>
                </a:solidFill>
                <a:latin typeface="DejaVu Sans Mono"/>
              </a:defRPr>
            </a:pPr>
            <a:r>
              <a:t>rows = np.arange(len(X))</a:t>
            </a:r>
          </a:p>
          <a:p>
            <a:pPr algn="l">
              <a:lnSpc>
                <a:spcPct val="122000"/>
              </a:lnSpc>
              <a:spcBef>
                <a:spcPts val="0"/>
              </a:spcBef>
              <a:spcAft>
                <a:spcPts val="0"/>
              </a:spcAft>
              <a:defRPr sz="1730" b="0">
                <a:solidFill>
                  <a:srgbClr val="FFFFFF"/>
                </a:solidFill>
                <a:latin typeface="DejaVu Sans Mono"/>
              </a:defRPr>
            </a:pPr>
            <a:r>
              <a:t>for tree in self.estimators_:</a:t>
            </a:r>
          </a:p>
          <a:p>
            <a:pPr algn="l">
              <a:lnSpc>
                <a:spcPct val="122000"/>
              </a:lnSpc>
              <a:spcBef>
                <a:spcPts val="0"/>
              </a:spcBef>
              <a:spcAft>
                <a:spcPts val="0"/>
              </a:spcAft>
              <a:defRPr sz="1730" b="0">
                <a:solidFill>
                  <a:srgbClr val="FFFFFF"/>
                </a:solidFill>
                <a:latin typeface="DejaVu Sans Mono"/>
              </a:defRPr>
            </a:pPr>
            <a:r>
              <a:t>    predicted = tree.predict(X).astype(int)</a:t>
            </a:r>
          </a:p>
          <a:p>
            <a:pPr algn="l">
              <a:lnSpc>
                <a:spcPct val="122000"/>
              </a:lnSpc>
              <a:spcBef>
                <a:spcPts val="0"/>
              </a:spcBef>
              <a:spcAft>
                <a:spcPts val="0"/>
              </a:spcAft>
              <a:defRPr sz="1730" b="0">
                <a:solidFill>
                  <a:srgbClr val="FFFFFF"/>
                </a:solidFill>
                <a:latin typeface="DejaVu Sans Mono"/>
              </a:defRPr>
            </a:pPr>
            <a:r>
              <a:t>    np.add.at(counts, (rows, predicted), 1)</a:t>
            </a:r>
          </a:p>
          <a:p>
            <a:pPr algn="l">
              <a:lnSpc>
                <a:spcPct val="122000"/>
              </a:lnSpc>
              <a:spcBef>
                <a:spcPts val="0"/>
              </a:spcBef>
              <a:spcAft>
                <a:spcPts val="0"/>
              </a:spcAft>
              <a:defRPr sz="1730" b="0">
                <a:solidFill>
                  <a:srgbClr val="FFFFFF"/>
                </a:solidFill>
                <a:latin typeface="DejaVu Sans Mono"/>
              </a:defRPr>
            </a:pPr>
            <a:r>
              <a:t>labels = self.classes_[counts.argmax(axis=1)]</a:t>
            </a:r>
          </a:p>
        </p:txBody>
      </p:sp>
      <p:sp>
        <p:nvSpPr>
          <p:cNvPr id="15" name="TextBox 14"/>
          <p:cNvSpPr txBox="1"/>
          <p:nvPr/>
        </p:nvSpPr>
        <p:spPr>
          <a:xfrm>
            <a:off x="8458200" y="2157984"/>
            <a:ext cx="2852928" cy="777240"/>
          </a:xfrm>
          <a:prstGeom prst="rect">
            <a:avLst/>
          </a:prstGeom>
          <a:noFill/>
        </p:spPr>
        <p:txBody>
          <a:bodyPr wrap="square" lIns="0" rIns="0" tIns="0" bIns="0" anchor="t">
            <a:spAutoFit/>
          </a:bodyPr>
          <a:lstStyle/>
          <a:p>
            <a:pPr algn="l">
              <a:lnSpc>
                <a:spcPct val="112000"/>
              </a:lnSpc>
              <a:spcBef>
                <a:spcPts val="0"/>
              </a:spcBef>
              <a:spcAft>
                <a:spcPts val="0"/>
              </a:spcAft>
              <a:defRPr sz="2300" b="1">
                <a:solidFill>
                  <a:srgbClr val="142D46"/>
                </a:solidFill>
                <a:latin typeface="Noto Sans"/>
              </a:defRPr>
            </a:pPr>
            <a:r>
              <a:t>Mỗi hàng =</a:t>
            </a:r>
          </a:p>
          <a:p>
            <a:pPr algn="l">
              <a:lnSpc>
                <a:spcPct val="112000"/>
              </a:lnSpc>
              <a:spcBef>
                <a:spcPts val="0"/>
              </a:spcBef>
              <a:spcAft>
                <a:spcPts val="0"/>
              </a:spcAft>
              <a:defRPr sz="2300" b="1">
                <a:solidFill>
                  <a:srgbClr val="142D46"/>
                </a:solidFill>
                <a:latin typeface="Noto Sans"/>
              </a:defRPr>
            </a:pPr>
            <a:r>
              <a:t>một quan sát</a:t>
            </a:r>
          </a:p>
        </p:txBody>
      </p:sp>
      <p:sp>
        <p:nvSpPr>
          <p:cNvPr id="16" name="TextBox 15"/>
          <p:cNvSpPr txBox="1"/>
          <p:nvPr/>
        </p:nvSpPr>
        <p:spPr>
          <a:xfrm>
            <a:off x="8458200" y="3401568"/>
            <a:ext cx="2852928" cy="777240"/>
          </a:xfrm>
          <a:prstGeom prst="rect">
            <a:avLst/>
          </a:prstGeom>
          <a:noFill/>
        </p:spPr>
        <p:txBody>
          <a:bodyPr wrap="square" lIns="0" rIns="0" tIns="0" bIns="0" anchor="t">
            <a:spAutoFit/>
          </a:bodyPr>
          <a:lstStyle/>
          <a:p>
            <a:pPr algn="l">
              <a:lnSpc>
                <a:spcPct val="112000"/>
              </a:lnSpc>
              <a:spcBef>
                <a:spcPts val="0"/>
              </a:spcBef>
              <a:spcAft>
                <a:spcPts val="0"/>
              </a:spcAft>
              <a:defRPr sz="2300" b="1">
                <a:solidFill>
                  <a:srgbClr val="142D46"/>
                </a:solidFill>
                <a:latin typeface="Noto Sans"/>
              </a:defRPr>
            </a:pPr>
            <a:r>
              <a:t>Mỗi cột =</a:t>
            </a:r>
          </a:p>
          <a:p>
            <a:pPr algn="l">
              <a:lnSpc>
                <a:spcPct val="112000"/>
              </a:lnSpc>
              <a:spcBef>
                <a:spcPts val="0"/>
              </a:spcBef>
              <a:spcAft>
                <a:spcPts val="0"/>
              </a:spcAft>
              <a:defRPr sz="2300" b="1">
                <a:solidFill>
                  <a:srgbClr val="142D46"/>
                </a:solidFill>
                <a:latin typeface="Noto Sans"/>
              </a:defRPr>
            </a:pPr>
            <a:r>
              <a:t>một lớp</a:t>
            </a:r>
          </a:p>
        </p:txBody>
      </p:sp>
      <p:sp>
        <p:nvSpPr>
          <p:cNvPr id="17" name="TextBox 16"/>
          <p:cNvSpPr txBox="1"/>
          <p:nvPr/>
        </p:nvSpPr>
        <p:spPr>
          <a:xfrm>
            <a:off x="8458200" y="4626864"/>
            <a:ext cx="2852928" cy="594360"/>
          </a:xfrm>
          <a:prstGeom prst="rect">
            <a:avLst/>
          </a:prstGeom>
          <a:noFill/>
        </p:spPr>
        <p:txBody>
          <a:bodyPr wrap="square" lIns="0" rIns="0" tIns="0" bIns="0" anchor="t">
            <a:spAutoFit/>
          </a:bodyPr>
          <a:lstStyle/>
          <a:p>
            <a:pPr algn="l">
              <a:lnSpc>
                <a:spcPct val="112000"/>
              </a:lnSpc>
              <a:spcBef>
                <a:spcPts val="0"/>
              </a:spcBef>
              <a:spcAft>
                <a:spcPts val="0"/>
              </a:spcAft>
              <a:defRPr sz="1800" b="1">
                <a:solidFill>
                  <a:srgbClr val="087F82"/>
                </a:solidFill>
                <a:latin typeface="Noto Sans"/>
              </a:defRPr>
            </a:pPr>
            <a:r>
              <a:t>Tổng phiếu / hàng = B</a:t>
            </a:r>
          </a:p>
        </p:txBody>
      </p:sp>
      <p:sp>
        <p:nvSpPr>
          <p:cNvPr id="18" name="Rounded Rectangle 17"/>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26/26 kiểm thử đạt: bootstrap, voting, OOB, nhãn, tái lập và quy trình đánh giá.</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05 / KẾT QUẢ GỐC</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Seed 42: Bagging đúng thêm 1 trên 143 mẫu test</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outputs/results.json · test n = 143 · lớp dương: ác tính (0)</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14</a:t>
            </a:r>
          </a:p>
        </p:txBody>
      </p:sp>
      <p:sp>
        <p:nvSpPr>
          <p:cNvPr id="8" name="Rectangle 7"/>
          <p:cNvSpPr/>
          <p:nvPr/>
        </p:nvSpPr>
        <p:spPr>
          <a:xfrm>
            <a:off x="10671048"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612648" y="1956816"/>
            <a:ext cx="4069080" cy="685800"/>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768096" y="2103120"/>
            <a:ext cx="3758184" cy="521208"/>
          </a:xfrm>
          <a:prstGeom prst="rect">
            <a:avLst/>
          </a:prstGeom>
          <a:noFill/>
        </p:spPr>
        <p:txBody>
          <a:bodyPr wrap="square" lIns="0" rIns="0" tIns="0" bIns="0" anchor="t">
            <a:spAutoFit/>
          </a:bodyPr>
          <a:lstStyle/>
          <a:p>
            <a:pPr algn="l">
              <a:lnSpc>
                <a:spcPct val="112000"/>
              </a:lnSpc>
              <a:spcBef>
                <a:spcPts val="0"/>
              </a:spcBef>
              <a:spcAft>
                <a:spcPts val="0"/>
              </a:spcAft>
              <a:defRPr sz="2000" b="1">
                <a:solidFill>
                  <a:srgbClr val="FFFFFF"/>
                </a:solidFill>
                <a:latin typeface="Noto Sans"/>
              </a:defRPr>
            </a:pPr>
            <a:r>
              <a:t>Mô hình</a:t>
            </a:r>
          </a:p>
        </p:txBody>
      </p:sp>
      <p:sp>
        <p:nvSpPr>
          <p:cNvPr id="14" name="Rectangle 13"/>
          <p:cNvSpPr/>
          <p:nvPr/>
        </p:nvSpPr>
        <p:spPr>
          <a:xfrm>
            <a:off x="4681728" y="1956816"/>
            <a:ext cx="2286000" cy="685800"/>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4837176" y="2103120"/>
            <a:ext cx="1975104" cy="521208"/>
          </a:xfrm>
          <a:prstGeom prst="rect">
            <a:avLst/>
          </a:prstGeom>
          <a:noFill/>
        </p:spPr>
        <p:txBody>
          <a:bodyPr wrap="square" lIns="0" rIns="0" tIns="0" bIns="0" anchor="t">
            <a:spAutoFit/>
          </a:bodyPr>
          <a:lstStyle/>
          <a:p>
            <a:pPr algn="ctr">
              <a:lnSpc>
                <a:spcPct val="112000"/>
              </a:lnSpc>
              <a:spcBef>
                <a:spcPts val="0"/>
              </a:spcBef>
              <a:spcAft>
                <a:spcPts val="0"/>
              </a:spcAft>
              <a:defRPr sz="2000" b="1">
                <a:solidFill>
                  <a:srgbClr val="FFFFFF"/>
                </a:solidFill>
                <a:latin typeface="Noto Sans"/>
              </a:defRPr>
            </a:pPr>
            <a:r>
              <a:t>Accuracy</a:t>
            </a:r>
          </a:p>
        </p:txBody>
      </p:sp>
      <p:sp>
        <p:nvSpPr>
          <p:cNvPr id="16" name="Rectangle 15"/>
          <p:cNvSpPr/>
          <p:nvPr/>
        </p:nvSpPr>
        <p:spPr>
          <a:xfrm>
            <a:off x="6967728" y="1956816"/>
            <a:ext cx="2286000" cy="685800"/>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7123176" y="2103120"/>
            <a:ext cx="1975104" cy="521208"/>
          </a:xfrm>
          <a:prstGeom prst="rect">
            <a:avLst/>
          </a:prstGeom>
          <a:noFill/>
        </p:spPr>
        <p:txBody>
          <a:bodyPr wrap="square" lIns="0" rIns="0" tIns="0" bIns="0" anchor="t">
            <a:spAutoFit/>
          </a:bodyPr>
          <a:lstStyle/>
          <a:p>
            <a:pPr algn="ctr">
              <a:lnSpc>
                <a:spcPct val="112000"/>
              </a:lnSpc>
              <a:spcBef>
                <a:spcPts val="0"/>
              </a:spcBef>
              <a:spcAft>
                <a:spcPts val="0"/>
              </a:spcAft>
              <a:defRPr sz="2000" b="1">
                <a:solidFill>
                  <a:srgbClr val="FFFFFF"/>
                </a:solidFill>
                <a:latin typeface="Noto Sans"/>
              </a:defRPr>
            </a:pPr>
            <a:r>
              <a:t>Recall ác</a:t>
            </a:r>
          </a:p>
        </p:txBody>
      </p:sp>
      <p:sp>
        <p:nvSpPr>
          <p:cNvPr id="18" name="Rectangle 17"/>
          <p:cNvSpPr/>
          <p:nvPr/>
        </p:nvSpPr>
        <p:spPr>
          <a:xfrm>
            <a:off x="9253728" y="1956816"/>
            <a:ext cx="2286000" cy="685800"/>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9409176" y="2103120"/>
            <a:ext cx="1975104" cy="521208"/>
          </a:xfrm>
          <a:prstGeom prst="rect">
            <a:avLst/>
          </a:prstGeom>
          <a:noFill/>
        </p:spPr>
        <p:txBody>
          <a:bodyPr wrap="square" lIns="0" rIns="0" tIns="0" bIns="0" anchor="t">
            <a:spAutoFit/>
          </a:bodyPr>
          <a:lstStyle/>
          <a:p>
            <a:pPr algn="ctr">
              <a:lnSpc>
                <a:spcPct val="112000"/>
              </a:lnSpc>
              <a:spcBef>
                <a:spcPts val="0"/>
              </a:spcBef>
              <a:spcAft>
                <a:spcPts val="0"/>
              </a:spcAft>
              <a:defRPr sz="2000" b="1">
                <a:solidFill>
                  <a:srgbClr val="FFFFFF"/>
                </a:solidFill>
                <a:latin typeface="Noto Sans"/>
              </a:defRPr>
            </a:pPr>
            <a:r>
              <a:t>F1 ác</a:t>
            </a:r>
          </a:p>
        </p:txBody>
      </p:sp>
      <p:sp>
        <p:nvSpPr>
          <p:cNvPr id="20" name="Rectangle 19"/>
          <p:cNvSpPr/>
          <p:nvPr/>
        </p:nvSpPr>
        <p:spPr>
          <a:xfrm>
            <a:off x="612648" y="2642616"/>
            <a:ext cx="4069080" cy="68580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768096" y="2788920"/>
            <a:ext cx="3758184" cy="521208"/>
          </a:xfrm>
          <a:prstGeom prst="rect">
            <a:avLst/>
          </a:prstGeom>
          <a:noFill/>
        </p:spPr>
        <p:txBody>
          <a:bodyPr wrap="square" lIns="0" rIns="0" tIns="0" bIns="0" anchor="t">
            <a:spAutoFit/>
          </a:bodyPr>
          <a:lstStyle/>
          <a:p>
            <a:pPr algn="l">
              <a:lnSpc>
                <a:spcPct val="112000"/>
              </a:lnSpc>
              <a:spcBef>
                <a:spcPts val="0"/>
              </a:spcBef>
              <a:spcAft>
                <a:spcPts val="0"/>
              </a:spcAft>
              <a:defRPr sz="2100" b="0">
                <a:solidFill>
                  <a:srgbClr val="192F43"/>
                </a:solidFill>
                <a:latin typeface="Noto Sans"/>
              </a:defRPr>
            </a:pPr>
            <a:r>
              <a:t>Cây đơn</a:t>
            </a:r>
          </a:p>
        </p:txBody>
      </p:sp>
      <p:sp>
        <p:nvSpPr>
          <p:cNvPr id="22" name="Rectangle 21"/>
          <p:cNvSpPr/>
          <p:nvPr/>
        </p:nvSpPr>
        <p:spPr>
          <a:xfrm>
            <a:off x="4681728" y="2642616"/>
            <a:ext cx="2286000" cy="68580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4837176" y="2788920"/>
            <a:ext cx="1975104" cy="521208"/>
          </a:xfrm>
          <a:prstGeom prst="rect">
            <a:avLst/>
          </a:prstGeom>
          <a:noFill/>
        </p:spPr>
        <p:txBody>
          <a:bodyPr wrap="square" lIns="0" rIns="0" tIns="0" bIns="0" anchor="t">
            <a:spAutoFit/>
          </a:bodyPr>
          <a:lstStyle/>
          <a:p>
            <a:pPr algn="ctr">
              <a:lnSpc>
                <a:spcPct val="112000"/>
              </a:lnSpc>
              <a:spcBef>
                <a:spcPts val="0"/>
              </a:spcBef>
              <a:spcAft>
                <a:spcPts val="0"/>
              </a:spcAft>
              <a:defRPr sz="2100" b="0">
                <a:solidFill>
                  <a:srgbClr val="192F43"/>
                </a:solidFill>
                <a:latin typeface="Noto Sans"/>
              </a:defRPr>
            </a:pPr>
            <a:r>
              <a:t>94,41%</a:t>
            </a:r>
          </a:p>
        </p:txBody>
      </p:sp>
      <p:sp>
        <p:nvSpPr>
          <p:cNvPr id="24" name="Rectangle 23"/>
          <p:cNvSpPr/>
          <p:nvPr/>
        </p:nvSpPr>
        <p:spPr>
          <a:xfrm>
            <a:off x="6967728" y="2642616"/>
            <a:ext cx="2286000" cy="68580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7123176" y="2788920"/>
            <a:ext cx="1975104" cy="521208"/>
          </a:xfrm>
          <a:prstGeom prst="rect">
            <a:avLst/>
          </a:prstGeom>
          <a:noFill/>
        </p:spPr>
        <p:txBody>
          <a:bodyPr wrap="square" lIns="0" rIns="0" tIns="0" bIns="0" anchor="t">
            <a:spAutoFit/>
          </a:bodyPr>
          <a:lstStyle/>
          <a:p>
            <a:pPr algn="ctr">
              <a:lnSpc>
                <a:spcPct val="112000"/>
              </a:lnSpc>
              <a:spcBef>
                <a:spcPts val="0"/>
              </a:spcBef>
              <a:spcAft>
                <a:spcPts val="0"/>
              </a:spcAft>
              <a:defRPr sz="2100" b="0">
                <a:solidFill>
                  <a:srgbClr val="192F43"/>
                </a:solidFill>
                <a:latin typeface="Noto Sans"/>
              </a:defRPr>
            </a:pPr>
            <a:r>
              <a:t>90,57%</a:t>
            </a:r>
          </a:p>
        </p:txBody>
      </p:sp>
      <p:sp>
        <p:nvSpPr>
          <p:cNvPr id="26" name="Rectangle 25"/>
          <p:cNvSpPr/>
          <p:nvPr/>
        </p:nvSpPr>
        <p:spPr>
          <a:xfrm>
            <a:off x="9253728" y="2642616"/>
            <a:ext cx="2286000" cy="68580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9409176" y="2788920"/>
            <a:ext cx="1975104" cy="521208"/>
          </a:xfrm>
          <a:prstGeom prst="rect">
            <a:avLst/>
          </a:prstGeom>
          <a:noFill/>
        </p:spPr>
        <p:txBody>
          <a:bodyPr wrap="square" lIns="0" rIns="0" tIns="0" bIns="0" anchor="t">
            <a:spAutoFit/>
          </a:bodyPr>
          <a:lstStyle/>
          <a:p>
            <a:pPr algn="ctr">
              <a:lnSpc>
                <a:spcPct val="112000"/>
              </a:lnSpc>
              <a:spcBef>
                <a:spcPts val="0"/>
              </a:spcBef>
              <a:spcAft>
                <a:spcPts val="0"/>
              </a:spcAft>
              <a:defRPr sz="2100" b="0">
                <a:solidFill>
                  <a:srgbClr val="192F43"/>
                </a:solidFill>
                <a:latin typeface="Noto Sans"/>
              </a:defRPr>
            </a:pPr>
            <a:r>
              <a:t>92,31%</a:t>
            </a:r>
          </a:p>
        </p:txBody>
      </p:sp>
      <p:cxnSp>
        <p:nvCxnSpPr>
          <p:cNvPr id="28" name="Connector 27"/>
          <p:cNvCxnSpPr/>
          <p:nvPr/>
        </p:nvCxnSpPr>
        <p:spPr>
          <a:xfrm>
            <a:off x="612648" y="3328416"/>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29" name="Rectangle 28"/>
          <p:cNvSpPr/>
          <p:nvPr/>
        </p:nvSpPr>
        <p:spPr>
          <a:xfrm>
            <a:off x="612648" y="3328416"/>
            <a:ext cx="4069080" cy="685800"/>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768096" y="3474720"/>
            <a:ext cx="3758184" cy="521208"/>
          </a:xfrm>
          <a:prstGeom prst="rect">
            <a:avLst/>
          </a:prstGeom>
          <a:noFill/>
        </p:spPr>
        <p:txBody>
          <a:bodyPr wrap="square" lIns="0" rIns="0" tIns="0" bIns="0" anchor="t">
            <a:spAutoFit/>
          </a:bodyPr>
          <a:lstStyle/>
          <a:p>
            <a:pPr algn="l">
              <a:lnSpc>
                <a:spcPct val="112000"/>
              </a:lnSpc>
              <a:spcBef>
                <a:spcPts val="0"/>
              </a:spcBef>
              <a:spcAft>
                <a:spcPts val="0"/>
              </a:spcAft>
              <a:defRPr sz="2100" b="1">
                <a:solidFill>
                  <a:srgbClr val="192F43"/>
                </a:solidFill>
                <a:latin typeface="Noto Sans"/>
              </a:defRPr>
            </a:pPr>
            <a:r>
              <a:t>Bagging tự viết</a:t>
            </a:r>
          </a:p>
        </p:txBody>
      </p:sp>
      <p:sp>
        <p:nvSpPr>
          <p:cNvPr id="31" name="Rectangle 30"/>
          <p:cNvSpPr/>
          <p:nvPr/>
        </p:nvSpPr>
        <p:spPr>
          <a:xfrm>
            <a:off x="4681728" y="3328416"/>
            <a:ext cx="2286000" cy="685800"/>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4837176" y="3474720"/>
            <a:ext cx="1975104" cy="521208"/>
          </a:xfrm>
          <a:prstGeom prst="rect">
            <a:avLst/>
          </a:prstGeom>
          <a:noFill/>
        </p:spPr>
        <p:txBody>
          <a:bodyPr wrap="square" lIns="0" rIns="0" tIns="0" bIns="0" anchor="t">
            <a:spAutoFit/>
          </a:bodyPr>
          <a:lstStyle/>
          <a:p>
            <a:pPr algn="ctr">
              <a:lnSpc>
                <a:spcPct val="112000"/>
              </a:lnSpc>
              <a:spcBef>
                <a:spcPts val="0"/>
              </a:spcBef>
              <a:spcAft>
                <a:spcPts val="0"/>
              </a:spcAft>
              <a:defRPr sz="2100" b="1">
                <a:solidFill>
                  <a:srgbClr val="192F43"/>
                </a:solidFill>
                <a:latin typeface="Noto Sans"/>
              </a:defRPr>
            </a:pPr>
            <a:r>
              <a:t>95,10%</a:t>
            </a:r>
          </a:p>
        </p:txBody>
      </p:sp>
      <p:sp>
        <p:nvSpPr>
          <p:cNvPr id="33" name="Rectangle 32"/>
          <p:cNvSpPr/>
          <p:nvPr/>
        </p:nvSpPr>
        <p:spPr>
          <a:xfrm>
            <a:off x="6967728" y="3328416"/>
            <a:ext cx="2286000" cy="685800"/>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7123176" y="3474720"/>
            <a:ext cx="1975104" cy="521208"/>
          </a:xfrm>
          <a:prstGeom prst="rect">
            <a:avLst/>
          </a:prstGeom>
          <a:noFill/>
        </p:spPr>
        <p:txBody>
          <a:bodyPr wrap="square" lIns="0" rIns="0" tIns="0" bIns="0" anchor="t">
            <a:spAutoFit/>
          </a:bodyPr>
          <a:lstStyle/>
          <a:p>
            <a:pPr algn="ctr">
              <a:lnSpc>
                <a:spcPct val="112000"/>
              </a:lnSpc>
              <a:spcBef>
                <a:spcPts val="0"/>
              </a:spcBef>
              <a:spcAft>
                <a:spcPts val="0"/>
              </a:spcAft>
              <a:defRPr sz="2100" b="1">
                <a:solidFill>
                  <a:srgbClr val="192F43"/>
                </a:solidFill>
                <a:latin typeface="Noto Sans"/>
              </a:defRPr>
            </a:pPr>
            <a:r>
              <a:t>92,45%</a:t>
            </a:r>
          </a:p>
        </p:txBody>
      </p:sp>
      <p:sp>
        <p:nvSpPr>
          <p:cNvPr id="35" name="Rectangle 34"/>
          <p:cNvSpPr/>
          <p:nvPr/>
        </p:nvSpPr>
        <p:spPr>
          <a:xfrm>
            <a:off x="9253728" y="3328416"/>
            <a:ext cx="2286000" cy="685800"/>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9409176" y="3474720"/>
            <a:ext cx="1975104" cy="521208"/>
          </a:xfrm>
          <a:prstGeom prst="rect">
            <a:avLst/>
          </a:prstGeom>
          <a:noFill/>
        </p:spPr>
        <p:txBody>
          <a:bodyPr wrap="square" lIns="0" rIns="0" tIns="0" bIns="0" anchor="t">
            <a:spAutoFit/>
          </a:bodyPr>
          <a:lstStyle/>
          <a:p>
            <a:pPr algn="ctr">
              <a:lnSpc>
                <a:spcPct val="112000"/>
              </a:lnSpc>
              <a:spcBef>
                <a:spcPts val="0"/>
              </a:spcBef>
              <a:spcAft>
                <a:spcPts val="0"/>
              </a:spcAft>
              <a:defRPr sz="2100" b="1">
                <a:solidFill>
                  <a:srgbClr val="192F43"/>
                </a:solidFill>
                <a:latin typeface="Noto Sans"/>
              </a:defRPr>
            </a:pPr>
            <a:r>
              <a:t>93,33%</a:t>
            </a:r>
          </a:p>
        </p:txBody>
      </p:sp>
      <p:cxnSp>
        <p:nvCxnSpPr>
          <p:cNvPr id="37" name="Connector 36"/>
          <p:cNvCxnSpPr/>
          <p:nvPr/>
        </p:nvCxnSpPr>
        <p:spPr>
          <a:xfrm>
            <a:off x="612648" y="4014216"/>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38" name="Rectangle 37"/>
          <p:cNvSpPr/>
          <p:nvPr/>
        </p:nvSpPr>
        <p:spPr>
          <a:xfrm>
            <a:off x="612648" y="4014216"/>
            <a:ext cx="4069080" cy="68580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768096" y="4160520"/>
            <a:ext cx="3758184" cy="521208"/>
          </a:xfrm>
          <a:prstGeom prst="rect">
            <a:avLst/>
          </a:prstGeom>
          <a:noFill/>
        </p:spPr>
        <p:txBody>
          <a:bodyPr wrap="square" lIns="0" rIns="0" tIns="0" bIns="0" anchor="t">
            <a:spAutoFit/>
          </a:bodyPr>
          <a:lstStyle/>
          <a:p>
            <a:pPr algn="l">
              <a:lnSpc>
                <a:spcPct val="112000"/>
              </a:lnSpc>
              <a:spcBef>
                <a:spcPts val="0"/>
              </a:spcBef>
              <a:spcAft>
                <a:spcPts val="0"/>
              </a:spcAft>
              <a:defRPr sz="2100" b="0">
                <a:solidFill>
                  <a:srgbClr val="192F43"/>
                </a:solidFill>
                <a:latin typeface="Noto Sans"/>
              </a:defRPr>
            </a:pPr>
            <a:r>
              <a:t>Random Forest</a:t>
            </a:r>
          </a:p>
        </p:txBody>
      </p:sp>
      <p:sp>
        <p:nvSpPr>
          <p:cNvPr id="40" name="Rectangle 39"/>
          <p:cNvSpPr/>
          <p:nvPr/>
        </p:nvSpPr>
        <p:spPr>
          <a:xfrm>
            <a:off x="4681728" y="4014216"/>
            <a:ext cx="2286000" cy="68580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TextBox 40"/>
          <p:cNvSpPr txBox="1"/>
          <p:nvPr/>
        </p:nvSpPr>
        <p:spPr>
          <a:xfrm>
            <a:off x="4837176" y="4160520"/>
            <a:ext cx="1975104" cy="521208"/>
          </a:xfrm>
          <a:prstGeom prst="rect">
            <a:avLst/>
          </a:prstGeom>
          <a:noFill/>
        </p:spPr>
        <p:txBody>
          <a:bodyPr wrap="square" lIns="0" rIns="0" tIns="0" bIns="0" anchor="t">
            <a:spAutoFit/>
          </a:bodyPr>
          <a:lstStyle/>
          <a:p>
            <a:pPr algn="ctr">
              <a:lnSpc>
                <a:spcPct val="112000"/>
              </a:lnSpc>
              <a:spcBef>
                <a:spcPts val="0"/>
              </a:spcBef>
              <a:spcAft>
                <a:spcPts val="0"/>
              </a:spcAft>
              <a:defRPr sz="2100" b="0">
                <a:solidFill>
                  <a:srgbClr val="192F43"/>
                </a:solidFill>
                <a:latin typeface="Noto Sans"/>
              </a:defRPr>
            </a:pPr>
            <a:r>
              <a:t>95,10%</a:t>
            </a:r>
          </a:p>
        </p:txBody>
      </p:sp>
      <p:sp>
        <p:nvSpPr>
          <p:cNvPr id="42" name="Rectangle 41"/>
          <p:cNvSpPr/>
          <p:nvPr/>
        </p:nvSpPr>
        <p:spPr>
          <a:xfrm>
            <a:off x="6967728" y="4014216"/>
            <a:ext cx="2286000" cy="68580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TextBox 42"/>
          <p:cNvSpPr txBox="1"/>
          <p:nvPr/>
        </p:nvSpPr>
        <p:spPr>
          <a:xfrm>
            <a:off x="7123176" y="4160520"/>
            <a:ext cx="1975104" cy="521208"/>
          </a:xfrm>
          <a:prstGeom prst="rect">
            <a:avLst/>
          </a:prstGeom>
          <a:noFill/>
        </p:spPr>
        <p:txBody>
          <a:bodyPr wrap="square" lIns="0" rIns="0" tIns="0" bIns="0" anchor="t">
            <a:spAutoFit/>
          </a:bodyPr>
          <a:lstStyle/>
          <a:p>
            <a:pPr algn="ctr">
              <a:lnSpc>
                <a:spcPct val="112000"/>
              </a:lnSpc>
              <a:spcBef>
                <a:spcPts val="0"/>
              </a:spcBef>
              <a:spcAft>
                <a:spcPts val="0"/>
              </a:spcAft>
              <a:defRPr sz="2100" b="0">
                <a:solidFill>
                  <a:srgbClr val="192F43"/>
                </a:solidFill>
                <a:latin typeface="Noto Sans"/>
              </a:defRPr>
            </a:pPr>
            <a:r>
              <a:t>92,45%</a:t>
            </a:r>
          </a:p>
        </p:txBody>
      </p:sp>
      <p:sp>
        <p:nvSpPr>
          <p:cNvPr id="44" name="Rectangle 43"/>
          <p:cNvSpPr/>
          <p:nvPr/>
        </p:nvSpPr>
        <p:spPr>
          <a:xfrm>
            <a:off x="9253728" y="4014216"/>
            <a:ext cx="2286000" cy="68580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TextBox 44"/>
          <p:cNvSpPr txBox="1"/>
          <p:nvPr/>
        </p:nvSpPr>
        <p:spPr>
          <a:xfrm>
            <a:off x="9409176" y="4160520"/>
            <a:ext cx="1975104" cy="521208"/>
          </a:xfrm>
          <a:prstGeom prst="rect">
            <a:avLst/>
          </a:prstGeom>
          <a:noFill/>
        </p:spPr>
        <p:txBody>
          <a:bodyPr wrap="square" lIns="0" rIns="0" tIns="0" bIns="0" anchor="t">
            <a:spAutoFit/>
          </a:bodyPr>
          <a:lstStyle/>
          <a:p>
            <a:pPr algn="ctr">
              <a:lnSpc>
                <a:spcPct val="112000"/>
              </a:lnSpc>
              <a:spcBef>
                <a:spcPts val="0"/>
              </a:spcBef>
              <a:spcAft>
                <a:spcPts val="0"/>
              </a:spcAft>
              <a:defRPr sz="2100" b="0">
                <a:solidFill>
                  <a:srgbClr val="192F43"/>
                </a:solidFill>
                <a:latin typeface="Noto Sans"/>
              </a:defRPr>
            </a:pPr>
            <a:r>
              <a:t>93,33%</a:t>
            </a:r>
          </a:p>
        </p:txBody>
      </p:sp>
      <p:cxnSp>
        <p:nvCxnSpPr>
          <p:cNvPr id="46" name="Connector 45"/>
          <p:cNvCxnSpPr/>
          <p:nvPr/>
        </p:nvCxnSpPr>
        <p:spPr>
          <a:xfrm>
            <a:off x="612648" y="4700016"/>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47" name="TextBox 46"/>
          <p:cNvSpPr txBox="1"/>
          <p:nvPr/>
        </p:nvSpPr>
        <p:spPr>
          <a:xfrm>
            <a:off x="694944" y="5029200"/>
            <a:ext cx="5120640" cy="457200"/>
          </a:xfrm>
          <a:prstGeom prst="rect">
            <a:avLst/>
          </a:prstGeom>
          <a:noFill/>
        </p:spPr>
        <p:txBody>
          <a:bodyPr wrap="square" lIns="0" rIns="0" tIns="0" bIns="0" anchor="t">
            <a:spAutoFit/>
          </a:bodyPr>
          <a:lstStyle/>
          <a:p>
            <a:pPr algn="l">
              <a:lnSpc>
                <a:spcPct val="112000"/>
              </a:lnSpc>
              <a:spcBef>
                <a:spcPts val="0"/>
              </a:spcBef>
              <a:spcAft>
                <a:spcPts val="0"/>
              </a:spcAft>
              <a:defRPr sz="2400" b="1">
                <a:solidFill>
                  <a:srgbClr val="5B6B7B"/>
                </a:solidFill>
                <a:latin typeface="Noto Sans"/>
              </a:defRPr>
            </a:pPr>
            <a:r>
              <a:t>Cây đơn: 135/143 đúng</a:t>
            </a:r>
          </a:p>
        </p:txBody>
      </p:sp>
      <p:sp>
        <p:nvSpPr>
          <p:cNvPr id="48" name="TextBox 47"/>
          <p:cNvSpPr txBox="1"/>
          <p:nvPr/>
        </p:nvSpPr>
        <p:spPr>
          <a:xfrm>
            <a:off x="6217920" y="5029200"/>
            <a:ext cx="5120640" cy="457200"/>
          </a:xfrm>
          <a:prstGeom prst="rect">
            <a:avLst/>
          </a:prstGeom>
          <a:noFill/>
        </p:spPr>
        <p:txBody>
          <a:bodyPr wrap="square" lIns="0" rIns="0" tIns="0" bIns="0" anchor="t">
            <a:spAutoFit/>
          </a:bodyPr>
          <a:lstStyle/>
          <a:p>
            <a:pPr algn="l">
              <a:lnSpc>
                <a:spcPct val="112000"/>
              </a:lnSpc>
              <a:spcBef>
                <a:spcPts val="0"/>
              </a:spcBef>
              <a:spcAft>
                <a:spcPts val="0"/>
              </a:spcAft>
              <a:defRPr sz="2400" b="1">
                <a:solidFill>
                  <a:srgbClr val="087F82"/>
                </a:solidFill>
                <a:latin typeface="Noto Sans"/>
              </a:defRPr>
            </a:pPr>
            <a:r>
              <a:t>Bagging: 136/143 đúng</a:t>
            </a:r>
          </a:p>
        </p:txBody>
      </p:sp>
      <p:sp>
        <p:nvSpPr>
          <p:cNvPr id="49" name="Rounded Rectangle 48"/>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TextBox 49"/>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Chênh lệch accuracy: +0,70 điểm phần trăm. Một lần chia chưa đủ kết luận ưu thế tổng quát.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05 / ĐỌC LOẠI LỖI</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Số ca ác tính bị bỏ sót giảm từ 5 xuống 4</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Seed 42 · hàng = nhãn thật · cột = dự đoán</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15</a:t>
            </a:r>
          </a:p>
        </p:txBody>
      </p:sp>
      <p:sp>
        <p:nvSpPr>
          <p:cNvPr id="8" name="Rectangle 7"/>
          <p:cNvSpPr/>
          <p:nvPr/>
        </p:nvSpPr>
        <p:spPr>
          <a:xfrm>
            <a:off x="10671048"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77240" y="1920240"/>
            <a:ext cx="365760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CÂY ĐƠN</a:t>
            </a:r>
          </a:p>
        </p:txBody>
      </p:sp>
      <p:sp>
        <p:nvSpPr>
          <p:cNvPr id="13" name="TextBox 12"/>
          <p:cNvSpPr txBox="1"/>
          <p:nvPr/>
        </p:nvSpPr>
        <p:spPr>
          <a:xfrm>
            <a:off x="2258568" y="2459736"/>
            <a:ext cx="2834640" cy="320040"/>
          </a:xfrm>
          <a:prstGeom prst="rect">
            <a:avLst/>
          </a:prstGeom>
          <a:noFill/>
        </p:spPr>
        <p:txBody>
          <a:bodyPr wrap="square" lIns="0" rIns="0" tIns="0" bIns="0" anchor="t">
            <a:spAutoFit/>
          </a:bodyPr>
          <a:lstStyle/>
          <a:p>
            <a:pPr algn="ctr">
              <a:lnSpc>
                <a:spcPct val="112000"/>
              </a:lnSpc>
              <a:spcBef>
                <a:spcPts val="0"/>
              </a:spcBef>
              <a:spcAft>
                <a:spcPts val="0"/>
              </a:spcAft>
              <a:defRPr sz="1100" b="1">
                <a:solidFill>
                  <a:srgbClr val="5B6B7B"/>
                </a:solidFill>
                <a:latin typeface="Noto Sans"/>
              </a:defRPr>
            </a:pPr>
            <a:r>
              <a:t>DỰ ĐOÁN</a:t>
            </a:r>
          </a:p>
        </p:txBody>
      </p:sp>
      <p:sp>
        <p:nvSpPr>
          <p:cNvPr id="14" name="TextBox 13"/>
          <p:cNvSpPr txBox="1"/>
          <p:nvPr/>
        </p:nvSpPr>
        <p:spPr>
          <a:xfrm>
            <a:off x="2130552" y="2862072"/>
            <a:ext cx="1371600" cy="320040"/>
          </a:xfrm>
          <a:prstGeom prst="rect">
            <a:avLst/>
          </a:prstGeom>
          <a:noFill/>
        </p:spPr>
        <p:txBody>
          <a:bodyPr wrap="square" lIns="0" rIns="0" tIns="0" bIns="0" anchor="t">
            <a:spAutoFit/>
          </a:bodyPr>
          <a:lstStyle/>
          <a:p>
            <a:pPr algn="ctr">
              <a:lnSpc>
                <a:spcPct val="112000"/>
              </a:lnSpc>
              <a:spcBef>
                <a:spcPts val="0"/>
              </a:spcBef>
              <a:spcAft>
                <a:spcPts val="0"/>
              </a:spcAft>
              <a:defRPr sz="1800" b="0">
                <a:solidFill>
                  <a:srgbClr val="192F43"/>
                </a:solidFill>
                <a:latin typeface="Noto Sans"/>
              </a:defRPr>
            </a:pPr>
            <a:r>
              <a:t>Ác</a:t>
            </a:r>
          </a:p>
        </p:txBody>
      </p:sp>
      <p:sp>
        <p:nvSpPr>
          <p:cNvPr id="15" name="TextBox 14"/>
          <p:cNvSpPr txBox="1"/>
          <p:nvPr/>
        </p:nvSpPr>
        <p:spPr>
          <a:xfrm>
            <a:off x="3584448" y="2862072"/>
            <a:ext cx="1371600" cy="320040"/>
          </a:xfrm>
          <a:prstGeom prst="rect">
            <a:avLst/>
          </a:prstGeom>
          <a:noFill/>
        </p:spPr>
        <p:txBody>
          <a:bodyPr wrap="square" lIns="0" rIns="0" tIns="0" bIns="0" anchor="t">
            <a:spAutoFit/>
          </a:bodyPr>
          <a:lstStyle/>
          <a:p>
            <a:pPr algn="ctr">
              <a:lnSpc>
                <a:spcPct val="112000"/>
              </a:lnSpc>
              <a:spcBef>
                <a:spcPts val="0"/>
              </a:spcBef>
              <a:spcAft>
                <a:spcPts val="0"/>
              </a:spcAft>
              <a:defRPr sz="1800" b="0">
                <a:solidFill>
                  <a:srgbClr val="192F43"/>
                </a:solidFill>
                <a:latin typeface="Noto Sans"/>
              </a:defRPr>
            </a:pPr>
            <a:r>
              <a:t>Lành</a:t>
            </a:r>
          </a:p>
        </p:txBody>
      </p:sp>
      <p:sp>
        <p:nvSpPr>
          <p:cNvPr id="16" name="TextBox 15"/>
          <p:cNvSpPr txBox="1"/>
          <p:nvPr/>
        </p:nvSpPr>
        <p:spPr>
          <a:xfrm>
            <a:off x="777240" y="3511296"/>
            <a:ext cx="1097280" cy="365760"/>
          </a:xfrm>
          <a:prstGeom prst="rect">
            <a:avLst/>
          </a:prstGeom>
          <a:noFill/>
        </p:spPr>
        <p:txBody>
          <a:bodyPr wrap="square" lIns="0" rIns="0" tIns="0" bIns="0" anchor="t">
            <a:spAutoFit/>
          </a:bodyPr>
          <a:lstStyle/>
          <a:p>
            <a:pPr algn="l">
              <a:lnSpc>
                <a:spcPct val="112000"/>
              </a:lnSpc>
              <a:spcBef>
                <a:spcPts val="0"/>
              </a:spcBef>
              <a:spcAft>
                <a:spcPts val="0"/>
              </a:spcAft>
              <a:defRPr sz="1700" b="0">
                <a:solidFill>
                  <a:srgbClr val="5B6B7B"/>
                </a:solidFill>
                <a:latin typeface="Noto Sans"/>
              </a:defRPr>
            </a:pPr>
            <a:r>
              <a:t>Thật ác</a:t>
            </a:r>
          </a:p>
        </p:txBody>
      </p:sp>
      <p:sp>
        <p:nvSpPr>
          <p:cNvPr id="17" name="TextBox 16"/>
          <p:cNvSpPr txBox="1"/>
          <p:nvPr/>
        </p:nvSpPr>
        <p:spPr>
          <a:xfrm>
            <a:off x="777240" y="4471416"/>
            <a:ext cx="1097280" cy="365760"/>
          </a:xfrm>
          <a:prstGeom prst="rect">
            <a:avLst/>
          </a:prstGeom>
          <a:noFill/>
        </p:spPr>
        <p:txBody>
          <a:bodyPr wrap="square" lIns="0" rIns="0" tIns="0" bIns="0" anchor="t">
            <a:spAutoFit/>
          </a:bodyPr>
          <a:lstStyle/>
          <a:p>
            <a:pPr algn="l">
              <a:lnSpc>
                <a:spcPct val="112000"/>
              </a:lnSpc>
              <a:spcBef>
                <a:spcPts val="0"/>
              </a:spcBef>
              <a:spcAft>
                <a:spcPts val="0"/>
              </a:spcAft>
              <a:defRPr sz="1700" b="0">
                <a:solidFill>
                  <a:srgbClr val="5B6B7B"/>
                </a:solidFill>
                <a:latin typeface="Noto Sans"/>
              </a:defRPr>
            </a:pPr>
            <a:r>
              <a:t>Thật lành</a:t>
            </a:r>
          </a:p>
        </p:txBody>
      </p:sp>
      <p:sp>
        <p:nvSpPr>
          <p:cNvPr id="18" name="Rectangle 17"/>
          <p:cNvSpPr/>
          <p:nvPr/>
        </p:nvSpPr>
        <p:spPr>
          <a:xfrm>
            <a:off x="2039112" y="3337560"/>
            <a:ext cx="1389888" cy="905256"/>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2039112" y="3520440"/>
            <a:ext cx="1389888" cy="530352"/>
          </a:xfrm>
          <a:prstGeom prst="rect">
            <a:avLst/>
          </a:prstGeom>
          <a:noFill/>
        </p:spPr>
        <p:txBody>
          <a:bodyPr wrap="square" lIns="0" rIns="0" tIns="0" bIns="0" anchor="t">
            <a:spAutoFit/>
          </a:bodyPr>
          <a:lstStyle/>
          <a:p>
            <a:pPr algn="ctr">
              <a:lnSpc>
                <a:spcPct val="112000"/>
              </a:lnSpc>
              <a:spcBef>
                <a:spcPts val="0"/>
              </a:spcBef>
              <a:spcAft>
                <a:spcPts val="0"/>
              </a:spcAft>
              <a:defRPr sz="3200" b="1">
                <a:solidFill>
                  <a:srgbClr val="087F82"/>
                </a:solidFill>
                <a:latin typeface="Noto Sans"/>
              </a:defRPr>
            </a:pPr>
            <a:r>
              <a:t>48</a:t>
            </a:r>
          </a:p>
        </p:txBody>
      </p:sp>
      <p:sp>
        <p:nvSpPr>
          <p:cNvPr id="20" name="Rectangle 19"/>
          <p:cNvSpPr/>
          <p:nvPr/>
        </p:nvSpPr>
        <p:spPr>
          <a:xfrm>
            <a:off x="3483864" y="3337560"/>
            <a:ext cx="1389888" cy="905256"/>
          </a:xfrm>
          <a:prstGeom prst="rect">
            <a:avLst/>
          </a:prstGeom>
          <a:solidFill>
            <a:srgbClr val="FAED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3483864" y="3520440"/>
            <a:ext cx="1389888" cy="530352"/>
          </a:xfrm>
          <a:prstGeom prst="rect">
            <a:avLst/>
          </a:prstGeom>
          <a:noFill/>
        </p:spPr>
        <p:txBody>
          <a:bodyPr wrap="square" lIns="0" rIns="0" tIns="0" bIns="0" anchor="t">
            <a:spAutoFit/>
          </a:bodyPr>
          <a:lstStyle/>
          <a:p>
            <a:pPr algn="ctr">
              <a:lnSpc>
                <a:spcPct val="112000"/>
              </a:lnSpc>
              <a:spcBef>
                <a:spcPts val="0"/>
              </a:spcBef>
              <a:spcAft>
                <a:spcPts val="0"/>
              </a:spcAft>
              <a:defRPr sz="3200" b="1">
                <a:solidFill>
                  <a:srgbClr val="C86449"/>
                </a:solidFill>
                <a:latin typeface="Noto Sans"/>
              </a:defRPr>
            </a:pPr>
            <a:r>
              <a:t>5</a:t>
            </a:r>
          </a:p>
        </p:txBody>
      </p:sp>
      <p:sp>
        <p:nvSpPr>
          <p:cNvPr id="22" name="Rectangle 21"/>
          <p:cNvSpPr/>
          <p:nvPr/>
        </p:nvSpPr>
        <p:spPr>
          <a:xfrm>
            <a:off x="2039112" y="4297680"/>
            <a:ext cx="1389888" cy="905256"/>
          </a:xfrm>
          <a:prstGeom prst="rect">
            <a:avLst/>
          </a:prstGeom>
          <a:solidFill>
            <a:srgbClr val="FAED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2039112" y="4480560"/>
            <a:ext cx="1389888" cy="530352"/>
          </a:xfrm>
          <a:prstGeom prst="rect">
            <a:avLst/>
          </a:prstGeom>
          <a:noFill/>
        </p:spPr>
        <p:txBody>
          <a:bodyPr wrap="square" lIns="0" rIns="0" tIns="0" bIns="0" anchor="t">
            <a:spAutoFit/>
          </a:bodyPr>
          <a:lstStyle/>
          <a:p>
            <a:pPr algn="ctr">
              <a:lnSpc>
                <a:spcPct val="112000"/>
              </a:lnSpc>
              <a:spcBef>
                <a:spcPts val="0"/>
              </a:spcBef>
              <a:spcAft>
                <a:spcPts val="0"/>
              </a:spcAft>
              <a:defRPr sz="3200" b="1">
                <a:solidFill>
                  <a:srgbClr val="C86449"/>
                </a:solidFill>
                <a:latin typeface="Noto Sans"/>
              </a:defRPr>
            </a:pPr>
            <a:r>
              <a:t>3</a:t>
            </a:r>
          </a:p>
        </p:txBody>
      </p:sp>
      <p:sp>
        <p:nvSpPr>
          <p:cNvPr id="24" name="Rectangle 23"/>
          <p:cNvSpPr/>
          <p:nvPr/>
        </p:nvSpPr>
        <p:spPr>
          <a:xfrm>
            <a:off x="3483864" y="4297680"/>
            <a:ext cx="1389888" cy="905256"/>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3483864" y="4480560"/>
            <a:ext cx="1389888" cy="530352"/>
          </a:xfrm>
          <a:prstGeom prst="rect">
            <a:avLst/>
          </a:prstGeom>
          <a:noFill/>
        </p:spPr>
        <p:txBody>
          <a:bodyPr wrap="square" lIns="0" rIns="0" tIns="0" bIns="0" anchor="t">
            <a:spAutoFit/>
          </a:bodyPr>
          <a:lstStyle/>
          <a:p>
            <a:pPr algn="ctr">
              <a:lnSpc>
                <a:spcPct val="112000"/>
              </a:lnSpc>
              <a:spcBef>
                <a:spcPts val="0"/>
              </a:spcBef>
              <a:spcAft>
                <a:spcPts val="0"/>
              </a:spcAft>
              <a:defRPr sz="3200" b="1">
                <a:solidFill>
                  <a:srgbClr val="087F82"/>
                </a:solidFill>
                <a:latin typeface="Noto Sans"/>
              </a:defRPr>
            </a:pPr>
            <a:r>
              <a:t>87</a:t>
            </a:r>
          </a:p>
        </p:txBody>
      </p:sp>
      <p:sp>
        <p:nvSpPr>
          <p:cNvPr id="26" name="TextBox 25"/>
          <p:cNvSpPr txBox="1"/>
          <p:nvPr/>
        </p:nvSpPr>
        <p:spPr>
          <a:xfrm>
            <a:off x="6446520" y="1920240"/>
            <a:ext cx="365760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BAGGING</a:t>
            </a:r>
          </a:p>
        </p:txBody>
      </p:sp>
      <p:sp>
        <p:nvSpPr>
          <p:cNvPr id="27" name="TextBox 26"/>
          <p:cNvSpPr txBox="1"/>
          <p:nvPr/>
        </p:nvSpPr>
        <p:spPr>
          <a:xfrm>
            <a:off x="7927848" y="2459736"/>
            <a:ext cx="2834640" cy="320040"/>
          </a:xfrm>
          <a:prstGeom prst="rect">
            <a:avLst/>
          </a:prstGeom>
          <a:noFill/>
        </p:spPr>
        <p:txBody>
          <a:bodyPr wrap="square" lIns="0" rIns="0" tIns="0" bIns="0" anchor="t">
            <a:spAutoFit/>
          </a:bodyPr>
          <a:lstStyle/>
          <a:p>
            <a:pPr algn="ctr">
              <a:lnSpc>
                <a:spcPct val="112000"/>
              </a:lnSpc>
              <a:spcBef>
                <a:spcPts val="0"/>
              </a:spcBef>
              <a:spcAft>
                <a:spcPts val="0"/>
              </a:spcAft>
              <a:defRPr sz="1100" b="1">
                <a:solidFill>
                  <a:srgbClr val="5B6B7B"/>
                </a:solidFill>
                <a:latin typeface="Noto Sans"/>
              </a:defRPr>
            </a:pPr>
            <a:r>
              <a:t>DỰ ĐOÁN</a:t>
            </a:r>
          </a:p>
        </p:txBody>
      </p:sp>
      <p:sp>
        <p:nvSpPr>
          <p:cNvPr id="28" name="TextBox 27"/>
          <p:cNvSpPr txBox="1"/>
          <p:nvPr/>
        </p:nvSpPr>
        <p:spPr>
          <a:xfrm>
            <a:off x="7799831" y="2862072"/>
            <a:ext cx="1371600" cy="320040"/>
          </a:xfrm>
          <a:prstGeom prst="rect">
            <a:avLst/>
          </a:prstGeom>
          <a:noFill/>
        </p:spPr>
        <p:txBody>
          <a:bodyPr wrap="square" lIns="0" rIns="0" tIns="0" bIns="0" anchor="t">
            <a:spAutoFit/>
          </a:bodyPr>
          <a:lstStyle/>
          <a:p>
            <a:pPr algn="ctr">
              <a:lnSpc>
                <a:spcPct val="112000"/>
              </a:lnSpc>
              <a:spcBef>
                <a:spcPts val="0"/>
              </a:spcBef>
              <a:spcAft>
                <a:spcPts val="0"/>
              </a:spcAft>
              <a:defRPr sz="1800" b="0">
                <a:solidFill>
                  <a:srgbClr val="192F43"/>
                </a:solidFill>
                <a:latin typeface="Noto Sans"/>
              </a:defRPr>
            </a:pPr>
            <a:r>
              <a:t>Ác</a:t>
            </a:r>
          </a:p>
        </p:txBody>
      </p:sp>
      <p:sp>
        <p:nvSpPr>
          <p:cNvPr id="29" name="TextBox 28"/>
          <p:cNvSpPr txBox="1"/>
          <p:nvPr/>
        </p:nvSpPr>
        <p:spPr>
          <a:xfrm>
            <a:off x="9253728" y="2862072"/>
            <a:ext cx="1371600" cy="320040"/>
          </a:xfrm>
          <a:prstGeom prst="rect">
            <a:avLst/>
          </a:prstGeom>
          <a:noFill/>
        </p:spPr>
        <p:txBody>
          <a:bodyPr wrap="square" lIns="0" rIns="0" tIns="0" bIns="0" anchor="t">
            <a:spAutoFit/>
          </a:bodyPr>
          <a:lstStyle/>
          <a:p>
            <a:pPr algn="ctr">
              <a:lnSpc>
                <a:spcPct val="112000"/>
              </a:lnSpc>
              <a:spcBef>
                <a:spcPts val="0"/>
              </a:spcBef>
              <a:spcAft>
                <a:spcPts val="0"/>
              </a:spcAft>
              <a:defRPr sz="1800" b="0">
                <a:solidFill>
                  <a:srgbClr val="192F43"/>
                </a:solidFill>
                <a:latin typeface="Noto Sans"/>
              </a:defRPr>
            </a:pPr>
            <a:r>
              <a:t>Lành</a:t>
            </a:r>
          </a:p>
        </p:txBody>
      </p:sp>
      <p:sp>
        <p:nvSpPr>
          <p:cNvPr id="30" name="TextBox 29"/>
          <p:cNvSpPr txBox="1"/>
          <p:nvPr/>
        </p:nvSpPr>
        <p:spPr>
          <a:xfrm>
            <a:off x="6446520" y="3511296"/>
            <a:ext cx="1097280" cy="365760"/>
          </a:xfrm>
          <a:prstGeom prst="rect">
            <a:avLst/>
          </a:prstGeom>
          <a:noFill/>
        </p:spPr>
        <p:txBody>
          <a:bodyPr wrap="square" lIns="0" rIns="0" tIns="0" bIns="0" anchor="t">
            <a:spAutoFit/>
          </a:bodyPr>
          <a:lstStyle/>
          <a:p>
            <a:pPr algn="l">
              <a:lnSpc>
                <a:spcPct val="112000"/>
              </a:lnSpc>
              <a:spcBef>
                <a:spcPts val="0"/>
              </a:spcBef>
              <a:spcAft>
                <a:spcPts val="0"/>
              </a:spcAft>
              <a:defRPr sz="1700" b="0">
                <a:solidFill>
                  <a:srgbClr val="5B6B7B"/>
                </a:solidFill>
                <a:latin typeface="Noto Sans"/>
              </a:defRPr>
            </a:pPr>
            <a:r>
              <a:t>Thật ác</a:t>
            </a:r>
          </a:p>
        </p:txBody>
      </p:sp>
      <p:sp>
        <p:nvSpPr>
          <p:cNvPr id="31" name="TextBox 30"/>
          <p:cNvSpPr txBox="1"/>
          <p:nvPr/>
        </p:nvSpPr>
        <p:spPr>
          <a:xfrm>
            <a:off x="6446520" y="4471416"/>
            <a:ext cx="1097280" cy="365760"/>
          </a:xfrm>
          <a:prstGeom prst="rect">
            <a:avLst/>
          </a:prstGeom>
          <a:noFill/>
        </p:spPr>
        <p:txBody>
          <a:bodyPr wrap="square" lIns="0" rIns="0" tIns="0" bIns="0" anchor="t">
            <a:spAutoFit/>
          </a:bodyPr>
          <a:lstStyle/>
          <a:p>
            <a:pPr algn="l">
              <a:lnSpc>
                <a:spcPct val="112000"/>
              </a:lnSpc>
              <a:spcBef>
                <a:spcPts val="0"/>
              </a:spcBef>
              <a:spcAft>
                <a:spcPts val="0"/>
              </a:spcAft>
              <a:defRPr sz="1700" b="0">
                <a:solidFill>
                  <a:srgbClr val="5B6B7B"/>
                </a:solidFill>
                <a:latin typeface="Noto Sans"/>
              </a:defRPr>
            </a:pPr>
            <a:r>
              <a:t>Thật lành</a:t>
            </a:r>
          </a:p>
        </p:txBody>
      </p:sp>
      <p:sp>
        <p:nvSpPr>
          <p:cNvPr id="32" name="Rectangle 31"/>
          <p:cNvSpPr/>
          <p:nvPr/>
        </p:nvSpPr>
        <p:spPr>
          <a:xfrm>
            <a:off x="7708392" y="3337560"/>
            <a:ext cx="1389888" cy="905256"/>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7708392" y="3520440"/>
            <a:ext cx="1389888" cy="530352"/>
          </a:xfrm>
          <a:prstGeom prst="rect">
            <a:avLst/>
          </a:prstGeom>
          <a:noFill/>
        </p:spPr>
        <p:txBody>
          <a:bodyPr wrap="square" lIns="0" rIns="0" tIns="0" bIns="0" anchor="t">
            <a:spAutoFit/>
          </a:bodyPr>
          <a:lstStyle/>
          <a:p>
            <a:pPr algn="ctr">
              <a:lnSpc>
                <a:spcPct val="112000"/>
              </a:lnSpc>
              <a:spcBef>
                <a:spcPts val="0"/>
              </a:spcBef>
              <a:spcAft>
                <a:spcPts val="0"/>
              </a:spcAft>
              <a:defRPr sz="3200" b="1">
                <a:solidFill>
                  <a:srgbClr val="087F82"/>
                </a:solidFill>
                <a:latin typeface="Noto Sans"/>
              </a:defRPr>
            </a:pPr>
            <a:r>
              <a:t>49</a:t>
            </a:r>
          </a:p>
        </p:txBody>
      </p:sp>
      <p:sp>
        <p:nvSpPr>
          <p:cNvPr id="34" name="Rectangle 33"/>
          <p:cNvSpPr/>
          <p:nvPr/>
        </p:nvSpPr>
        <p:spPr>
          <a:xfrm>
            <a:off x="9153144" y="3337560"/>
            <a:ext cx="1389888" cy="905256"/>
          </a:xfrm>
          <a:prstGeom prst="rect">
            <a:avLst/>
          </a:prstGeom>
          <a:solidFill>
            <a:srgbClr val="FAED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9153144" y="3520440"/>
            <a:ext cx="1389888" cy="530352"/>
          </a:xfrm>
          <a:prstGeom prst="rect">
            <a:avLst/>
          </a:prstGeom>
          <a:noFill/>
        </p:spPr>
        <p:txBody>
          <a:bodyPr wrap="square" lIns="0" rIns="0" tIns="0" bIns="0" anchor="t">
            <a:spAutoFit/>
          </a:bodyPr>
          <a:lstStyle/>
          <a:p>
            <a:pPr algn="ctr">
              <a:lnSpc>
                <a:spcPct val="112000"/>
              </a:lnSpc>
              <a:spcBef>
                <a:spcPts val="0"/>
              </a:spcBef>
              <a:spcAft>
                <a:spcPts val="0"/>
              </a:spcAft>
              <a:defRPr sz="3200" b="1">
                <a:solidFill>
                  <a:srgbClr val="C86449"/>
                </a:solidFill>
                <a:latin typeface="Noto Sans"/>
              </a:defRPr>
            </a:pPr>
            <a:r>
              <a:t>4</a:t>
            </a:r>
          </a:p>
        </p:txBody>
      </p:sp>
      <p:sp>
        <p:nvSpPr>
          <p:cNvPr id="36" name="Rectangle 35"/>
          <p:cNvSpPr/>
          <p:nvPr/>
        </p:nvSpPr>
        <p:spPr>
          <a:xfrm>
            <a:off x="7708392" y="4297680"/>
            <a:ext cx="1389888" cy="905256"/>
          </a:xfrm>
          <a:prstGeom prst="rect">
            <a:avLst/>
          </a:prstGeom>
          <a:solidFill>
            <a:srgbClr val="FAED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7708392" y="4480560"/>
            <a:ext cx="1389888" cy="530352"/>
          </a:xfrm>
          <a:prstGeom prst="rect">
            <a:avLst/>
          </a:prstGeom>
          <a:noFill/>
        </p:spPr>
        <p:txBody>
          <a:bodyPr wrap="square" lIns="0" rIns="0" tIns="0" bIns="0" anchor="t">
            <a:spAutoFit/>
          </a:bodyPr>
          <a:lstStyle/>
          <a:p>
            <a:pPr algn="ctr">
              <a:lnSpc>
                <a:spcPct val="112000"/>
              </a:lnSpc>
              <a:spcBef>
                <a:spcPts val="0"/>
              </a:spcBef>
              <a:spcAft>
                <a:spcPts val="0"/>
              </a:spcAft>
              <a:defRPr sz="3200" b="1">
                <a:solidFill>
                  <a:srgbClr val="C86449"/>
                </a:solidFill>
                <a:latin typeface="Noto Sans"/>
              </a:defRPr>
            </a:pPr>
            <a:r>
              <a:t>3</a:t>
            </a:r>
          </a:p>
        </p:txBody>
      </p:sp>
      <p:sp>
        <p:nvSpPr>
          <p:cNvPr id="38" name="Rectangle 37"/>
          <p:cNvSpPr/>
          <p:nvPr/>
        </p:nvSpPr>
        <p:spPr>
          <a:xfrm>
            <a:off x="9153144" y="4297680"/>
            <a:ext cx="1389888" cy="905256"/>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9153144" y="4480560"/>
            <a:ext cx="1389888" cy="530352"/>
          </a:xfrm>
          <a:prstGeom prst="rect">
            <a:avLst/>
          </a:prstGeom>
          <a:noFill/>
        </p:spPr>
        <p:txBody>
          <a:bodyPr wrap="square" lIns="0" rIns="0" tIns="0" bIns="0" anchor="t">
            <a:spAutoFit/>
          </a:bodyPr>
          <a:lstStyle/>
          <a:p>
            <a:pPr algn="ctr">
              <a:lnSpc>
                <a:spcPct val="112000"/>
              </a:lnSpc>
              <a:spcBef>
                <a:spcPts val="0"/>
              </a:spcBef>
              <a:spcAft>
                <a:spcPts val="0"/>
              </a:spcAft>
              <a:defRPr sz="3200" b="1">
                <a:solidFill>
                  <a:srgbClr val="087F82"/>
                </a:solidFill>
                <a:latin typeface="Noto Sans"/>
              </a:defRPr>
            </a:pPr>
            <a:r>
              <a:t>87</a:t>
            </a:r>
          </a:p>
        </p:txBody>
      </p:sp>
      <p:sp>
        <p:nvSpPr>
          <p:cNvPr id="40" name="Rounded Rectangle 39"/>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TextBox 40"/>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Bagging vẫn bỏ sót 4/53 mẫu ác tính; số dương tính giả giữ nguyên là 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05 / MƯỜI LẦN CHIA GỐC</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Bagging cao hơn cây đơn ở 9/10 lần chia</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outputs/results.json · controlled_comparison.json · seed 42–51</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16</a:t>
            </a:r>
          </a:p>
        </p:txBody>
      </p:sp>
      <p:sp>
        <p:nvSpPr>
          <p:cNvPr id="8" name="Rectangle 7"/>
          <p:cNvSpPr/>
          <p:nvPr/>
        </p:nvSpPr>
        <p:spPr>
          <a:xfrm>
            <a:off x="10671048"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612648" y="1920240"/>
            <a:ext cx="3200400" cy="658368"/>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768096" y="2066544"/>
            <a:ext cx="2889504" cy="493776"/>
          </a:xfrm>
          <a:prstGeom prst="rect">
            <a:avLst/>
          </a:prstGeom>
          <a:noFill/>
        </p:spPr>
        <p:txBody>
          <a:bodyPr wrap="square" lIns="0" rIns="0" tIns="0" bIns="0" anchor="t">
            <a:spAutoFit/>
          </a:bodyPr>
          <a:lstStyle/>
          <a:p>
            <a:pPr algn="l">
              <a:lnSpc>
                <a:spcPct val="112000"/>
              </a:lnSpc>
              <a:spcBef>
                <a:spcPts val="0"/>
              </a:spcBef>
              <a:spcAft>
                <a:spcPts val="0"/>
              </a:spcAft>
              <a:defRPr sz="1800" b="1">
                <a:solidFill>
                  <a:srgbClr val="FFFFFF"/>
                </a:solidFill>
                <a:latin typeface="Noto Sans"/>
              </a:defRPr>
            </a:pPr>
            <a:r>
              <a:t>Mô hình</a:t>
            </a:r>
          </a:p>
        </p:txBody>
      </p:sp>
      <p:sp>
        <p:nvSpPr>
          <p:cNvPr id="14" name="Rectangle 13"/>
          <p:cNvSpPr/>
          <p:nvPr/>
        </p:nvSpPr>
        <p:spPr>
          <a:xfrm>
            <a:off x="3813048" y="1920240"/>
            <a:ext cx="2560320" cy="658368"/>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3968496" y="2066544"/>
            <a:ext cx="2249424" cy="493776"/>
          </a:xfrm>
          <a:prstGeom prst="rect">
            <a:avLst/>
          </a:prstGeom>
          <a:noFill/>
        </p:spPr>
        <p:txBody>
          <a:bodyPr wrap="square" lIns="0" rIns="0" tIns="0" bIns="0" anchor="t">
            <a:spAutoFit/>
          </a:bodyPr>
          <a:lstStyle/>
          <a:p>
            <a:pPr algn="ctr">
              <a:lnSpc>
                <a:spcPct val="112000"/>
              </a:lnSpc>
              <a:spcBef>
                <a:spcPts val="0"/>
              </a:spcBef>
              <a:spcAft>
                <a:spcPts val="0"/>
              </a:spcAft>
              <a:defRPr sz="1800" b="1">
                <a:solidFill>
                  <a:srgbClr val="FFFFFF"/>
                </a:solidFill>
                <a:latin typeface="Noto Sans"/>
              </a:defRPr>
            </a:pPr>
            <a:r>
              <a:t>Accuracy (%)</a:t>
            </a:r>
          </a:p>
        </p:txBody>
      </p:sp>
      <p:sp>
        <p:nvSpPr>
          <p:cNvPr id="16" name="Rectangle 15"/>
          <p:cNvSpPr/>
          <p:nvPr/>
        </p:nvSpPr>
        <p:spPr>
          <a:xfrm>
            <a:off x="6373368" y="1920240"/>
            <a:ext cx="2560320" cy="658368"/>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6528816" y="2066544"/>
            <a:ext cx="2249424" cy="493776"/>
          </a:xfrm>
          <a:prstGeom prst="rect">
            <a:avLst/>
          </a:prstGeom>
          <a:noFill/>
        </p:spPr>
        <p:txBody>
          <a:bodyPr wrap="square" lIns="0" rIns="0" tIns="0" bIns="0" anchor="t">
            <a:spAutoFit/>
          </a:bodyPr>
          <a:lstStyle/>
          <a:p>
            <a:pPr algn="ctr">
              <a:lnSpc>
                <a:spcPct val="112000"/>
              </a:lnSpc>
              <a:spcBef>
                <a:spcPts val="0"/>
              </a:spcBef>
              <a:spcAft>
                <a:spcPts val="0"/>
              </a:spcAft>
              <a:defRPr sz="1800" b="1">
                <a:solidFill>
                  <a:srgbClr val="FFFFFF"/>
                </a:solidFill>
                <a:latin typeface="Noto Sans"/>
              </a:defRPr>
            </a:pPr>
            <a:r>
              <a:t>Recall ác (%)</a:t>
            </a:r>
          </a:p>
        </p:txBody>
      </p:sp>
      <p:sp>
        <p:nvSpPr>
          <p:cNvPr id="18" name="Rectangle 17"/>
          <p:cNvSpPr/>
          <p:nvPr/>
        </p:nvSpPr>
        <p:spPr>
          <a:xfrm>
            <a:off x="8933688" y="1920240"/>
            <a:ext cx="2606040" cy="658368"/>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9089136" y="2066544"/>
            <a:ext cx="2295144" cy="493776"/>
          </a:xfrm>
          <a:prstGeom prst="rect">
            <a:avLst/>
          </a:prstGeom>
          <a:noFill/>
        </p:spPr>
        <p:txBody>
          <a:bodyPr wrap="square" lIns="0" rIns="0" tIns="0" bIns="0" anchor="t">
            <a:spAutoFit/>
          </a:bodyPr>
          <a:lstStyle/>
          <a:p>
            <a:pPr algn="ctr">
              <a:lnSpc>
                <a:spcPct val="112000"/>
              </a:lnSpc>
              <a:spcBef>
                <a:spcPts val="0"/>
              </a:spcBef>
              <a:spcAft>
                <a:spcPts val="0"/>
              </a:spcAft>
              <a:defRPr sz="1800" b="1">
                <a:solidFill>
                  <a:srgbClr val="FFFFFF"/>
                </a:solidFill>
                <a:latin typeface="Noto Sans"/>
              </a:defRPr>
            </a:pPr>
            <a:r>
              <a:t>F1 ác (%)</a:t>
            </a:r>
          </a:p>
        </p:txBody>
      </p:sp>
      <p:sp>
        <p:nvSpPr>
          <p:cNvPr id="20" name="Rectangle 19"/>
          <p:cNvSpPr/>
          <p:nvPr/>
        </p:nvSpPr>
        <p:spPr>
          <a:xfrm>
            <a:off x="612648" y="2578608"/>
            <a:ext cx="3200400" cy="65836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768096" y="2724912"/>
            <a:ext cx="2889504" cy="493776"/>
          </a:xfrm>
          <a:prstGeom prst="rect">
            <a:avLst/>
          </a:prstGeom>
          <a:noFill/>
        </p:spPr>
        <p:txBody>
          <a:bodyPr wrap="square" lIns="0" rIns="0" tIns="0" bIns="0" anchor="t">
            <a:spAutoFit/>
          </a:bodyPr>
          <a:lstStyle/>
          <a:p>
            <a:pPr algn="l">
              <a:lnSpc>
                <a:spcPct val="112000"/>
              </a:lnSpc>
              <a:spcBef>
                <a:spcPts val="0"/>
              </a:spcBef>
              <a:spcAft>
                <a:spcPts val="0"/>
              </a:spcAft>
              <a:defRPr sz="1900" b="0">
                <a:solidFill>
                  <a:srgbClr val="192F43"/>
                </a:solidFill>
                <a:latin typeface="Noto Sans"/>
              </a:defRPr>
            </a:pPr>
            <a:r>
              <a:t>Cây đơn</a:t>
            </a:r>
          </a:p>
        </p:txBody>
      </p:sp>
      <p:sp>
        <p:nvSpPr>
          <p:cNvPr id="22" name="Rectangle 21"/>
          <p:cNvSpPr/>
          <p:nvPr/>
        </p:nvSpPr>
        <p:spPr>
          <a:xfrm>
            <a:off x="3813048" y="2578608"/>
            <a:ext cx="2560320" cy="65836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3968496" y="2724912"/>
            <a:ext cx="2249424" cy="493776"/>
          </a:xfrm>
          <a:prstGeom prst="rect">
            <a:avLst/>
          </a:prstGeom>
          <a:noFill/>
        </p:spPr>
        <p:txBody>
          <a:bodyPr wrap="square" lIns="0" rIns="0" tIns="0" bIns="0" anchor="t">
            <a:spAutoFit/>
          </a:bodyPr>
          <a:lstStyle/>
          <a:p>
            <a:pPr algn="ctr">
              <a:lnSpc>
                <a:spcPct val="112000"/>
              </a:lnSpc>
              <a:spcBef>
                <a:spcPts val="0"/>
              </a:spcBef>
              <a:spcAft>
                <a:spcPts val="0"/>
              </a:spcAft>
              <a:defRPr sz="1900" b="0">
                <a:solidFill>
                  <a:srgbClr val="192F43"/>
                </a:solidFill>
                <a:latin typeface="Noto Sans"/>
              </a:defRPr>
            </a:pPr>
            <a:r>
              <a:t>92,80 ± 1,84</a:t>
            </a:r>
          </a:p>
        </p:txBody>
      </p:sp>
      <p:sp>
        <p:nvSpPr>
          <p:cNvPr id="24" name="Rectangle 23"/>
          <p:cNvSpPr/>
          <p:nvPr/>
        </p:nvSpPr>
        <p:spPr>
          <a:xfrm>
            <a:off x="6373368" y="2578608"/>
            <a:ext cx="2560320" cy="65836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6528816" y="2724912"/>
            <a:ext cx="2249424" cy="493776"/>
          </a:xfrm>
          <a:prstGeom prst="rect">
            <a:avLst/>
          </a:prstGeom>
          <a:noFill/>
        </p:spPr>
        <p:txBody>
          <a:bodyPr wrap="square" lIns="0" rIns="0" tIns="0" bIns="0" anchor="t">
            <a:spAutoFit/>
          </a:bodyPr>
          <a:lstStyle/>
          <a:p>
            <a:pPr algn="ctr">
              <a:lnSpc>
                <a:spcPct val="112000"/>
              </a:lnSpc>
              <a:spcBef>
                <a:spcPts val="0"/>
              </a:spcBef>
              <a:spcAft>
                <a:spcPts val="0"/>
              </a:spcAft>
              <a:defRPr sz="1900" b="0">
                <a:solidFill>
                  <a:srgbClr val="192F43"/>
                </a:solidFill>
                <a:latin typeface="Noto Sans"/>
              </a:defRPr>
            </a:pPr>
            <a:r>
              <a:t>90,38 ± 4,66</a:t>
            </a:r>
          </a:p>
        </p:txBody>
      </p:sp>
      <p:sp>
        <p:nvSpPr>
          <p:cNvPr id="26" name="Rectangle 25"/>
          <p:cNvSpPr/>
          <p:nvPr/>
        </p:nvSpPr>
        <p:spPr>
          <a:xfrm>
            <a:off x="8933688" y="2578608"/>
            <a:ext cx="2606040" cy="65836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9089136" y="2724912"/>
            <a:ext cx="2295144" cy="493776"/>
          </a:xfrm>
          <a:prstGeom prst="rect">
            <a:avLst/>
          </a:prstGeom>
          <a:noFill/>
        </p:spPr>
        <p:txBody>
          <a:bodyPr wrap="square" lIns="0" rIns="0" tIns="0" bIns="0" anchor="t">
            <a:spAutoFit/>
          </a:bodyPr>
          <a:lstStyle/>
          <a:p>
            <a:pPr algn="ctr">
              <a:lnSpc>
                <a:spcPct val="112000"/>
              </a:lnSpc>
              <a:spcBef>
                <a:spcPts val="0"/>
              </a:spcBef>
              <a:spcAft>
                <a:spcPts val="0"/>
              </a:spcAft>
              <a:defRPr sz="1900" b="0">
                <a:solidFill>
                  <a:srgbClr val="192F43"/>
                </a:solidFill>
                <a:latin typeface="Noto Sans"/>
              </a:defRPr>
            </a:pPr>
            <a:r>
              <a:t>90,30 ± 2,42</a:t>
            </a:r>
          </a:p>
        </p:txBody>
      </p:sp>
      <p:cxnSp>
        <p:nvCxnSpPr>
          <p:cNvPr id="28" name="Connector 27"/>
          <p:cNvCxnSpPr/>
          <p:nvPr/>
        </p:nvCxnSpPr>
        <p:spPr>
          <a:xfrm>
            <a:off x="612648" y="3236976"/>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29" name="Rectangle 28"/>
          <p:cNvSpPr/>
          <p:nvPr/>
        </p:nvSpPr>
        <p:spPr>
          <a:xfrm>
            <a:off x="612648" y="3236976"/>
            <a:ext cx="3200400" cy="658368"/>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768096" y="3383280"/>
            <a:ext cx="2889504" cy="493776"/>
          </a:xfrm>
          <a:prstGeom prst="rect">
            <a:avLst/>
          </a:prstGeom>
          <a:noFill/>
        </p:spPr>
        <p:txBody>
          <a:bodyPr wrap="square" lIns="0" rIns="0" tIns="0" bIns="0" anchor="t">
            <a:spAutoFit/>
          </a:bodyPr>
          <a:lstStyle/>
          <a:p>
            <a:pPr algn="l">
              <a:lnSpc>
                <a:spcPct val="112000"/>
              </a:lnSpc>
              <a:spcBef>
                <a:spcPts val="0"/>
              </a:spcBef>
              <a:spcAft>
                <a:spcPts val="0"/>
              </a:spcAft>
              <a:defRPr sz="1900" b="1">
                <a:solidFill>
                  <a:srgbClr val="192F43"/>
                </a:solidFill>
                <a:latin typeface="Noto Sans"/>
              </a:defRPr>
            </a:pPr>
            <a:r>
              <a:t>Bagging</a:t>
            </a:r>
          </a:p>
        </p:txBody>
      </p:sp>
      <p:sp>
        <p:nvSpPr>
          <p:cNvPr id="31" name="Rectangle 30"/>
          <p:cNvSpPr/>
          <p:nvPr/>
        </p:nvSpPr>
        <p:spPr>
          <a:xfrm>
            <a:off x="3813048" y="3236976"/>
            <a:ext cx="2560320" cy="658368"/>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3968496" y="3383280"/>
            <a:ext cx="2249424" cy="493776"/>
          </a:xfrm>
          <a:prstGeom prst="rect">
            <a:avLst/>
          </a:prstGeom>
          <a:noFill/>
        </p:spPr>
        <p:txBody>
          <a:bodyPr wrap="square" lIns="0" rIns="0" tIns="0" bIns="0" anchor="t">
            <a:spAutoFit/>
          </a:bodyPr>
          <a:lstStyle/>
          <a:p>
            <a:pPr algn="ctr">
              <a:lnSpc>
                <a:spcPct val="112000"/>
              </a:lnSpc>
              <a:spcBef>
                <a:spcPts val="0"/>
              </a:spcBef>
              <a:spcAft>
                <a:spcPts val="0"/>
              </a:spcAft>
              <a:defRPr sz="1900" b="1">
                <a:solidFill>
                  <a:srgbClr val="192F43"/>
                </a:solidFill>
                <a:latin typeface="Noto Sans"/>
              </a:defRPr>
            </a:pPr>
            <a:r>
              <a:t>94,76 ± 1,59</a:t>
            </a:r>
          </a:p>
        </p:txBody>
      </p:sp>
      <p:sp>
        <p:nvSpPr>
          <p:cNvPr id="33" name="Rectangle 32"/>
          <p:cNvSpPr/>
          <p:nvPr/>
        </p:nvSpPr>
        <p:spPr>
          <a:xfrm>
            <a:off x="6373368" y="3236976"/>
            <a:ext cx="2560320" cy="658368"/>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6528816" y="3383280"/>
            <a:ext cx="2249424" cy="493776"/>
          </a:xfrm>
          <a:prstGeom prst="rect">
            <a:avLst/>
          </a:prstGeom>
          <a:noFill/>
        </p:spPr>
        <p:txBody>
          <a:bodyPr wrap="square" lIns="0" rIns="0" tIns="0" bIns="0" anchor="t">
            <a:spAutoFit/>
          </a:bodyPr>
          <a:lstStyle/>
          <a:p>
            <a:pPr algn="ctr">
              <a:lnSpc>
                <a:spcPct val="112000"/>
              </a:lnSpc>
              <a:spcBef>
                <a:spcPts val="0"/>
              </a:spcBef>
              <a:spcAft>
                <a:spcPts val="0"/>
              </a:spcAft>
              <a:defRPr sz="1900" b="1">
                <a:solidFill>
                  <a:srgbClr val="192F43"/>
                </a:solidFill>
                <a:latin typeface="Noto Sans"/>
              </a:defRPr>
            </a:pPr>
            <a:r>
              <a:t>92,45 ± 3,77</a:t>
            </a:r>
          </a:p>
        </p:txBody>
      </p:sp>
      <p:sp>
        <p:nvSpPr>
          <p:cNvPr id="35" name="Rectangle 34"/>
          <p:cNvSpPr/>
          <p:nvPr/>
        </p:nvSpPr>
        <p:spPr>
          <a:xfrm>
            <a:off x="8933688" y="3236976"/>
            <a:ext cx="2606040" cy="658368"/>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9089136" y="3383280"/>
            <a:ext cx="2295144" cy="493776"/>
          </a:xfrm>
          <a:prstGeom prst="rect">
            <a:avLst/>
          </a:prstGeom>
          <a:noFill/>
        </p:spPr>
        <p:txBody>
          <a:bodyPr wrap="square" lIns="0" rIns="0" tIns="0" bIns="0" anchor="t">
            <a:spAutoFit/>
          </a:bodyPr>
          <a:lstStyle/>
          <a:p>
            <a:pPr algn="ctr">
              <a:lnSpc>
                <a:spcPct val="112000"/>
              </a:lnSpc>
              <a:spcBef>
                <a:spcPts val="0"/>
              </a:spcBef>
              <a:spcAft>
                <a:spcPts val="0"/>
              </a:spcAft>
              <a:defRPr sz="1900" b="1">
                <a:solidFill>
                  <a:srgbClr val="192F43"/>
                </a:solidFill>
                <a:latin typeface="Noto Sans"/>
              </a:defRPr>
            </a:pPr>
            <a:r>
              <a:t>92,89 ± 2,13</a:t>
            </a:r>
          </a:p>
        </p:txBody>
      </p:sp>
      <p:cxnSp>
        <p:nvCxnSpPr>
          <p:cNvPr id="37" name="Connector 36"/>
          <p:cNvCxnSpPr/>
          <p:nvPr/>
        </p:nvCxnSpPr>
        <p:spPr>
          <a:xfrm>
            <a:off x="612648" y="3895344"/>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38" name="Rectangle 37"/>
          <p:cNvSpPr/>
          <p:nvPr/>
        </p:nvSpPr>
        <p:spPr>
          <a:xfrm>
            <a:off x="612648" y="3895344"/>
            <a:ext cx="3200400" cy="65836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768096" y="4041648"/>
            <a:ext cx="2889504" cy="493776"/>
          </a:xfrm>
          <a:prstGeom prst="rect">
            <a:avLst/>
          </a:prstGeom>
          <a:noFill/>
        </p:spPr>
        <p:txBody>
          <a:bodyPr wrap="square" lIns="0" rIns="0" tIns="0" bIns="0" anchor="t">
            <a:spAutoFit/>
          </a:bodyPr>
          <a:lstStyle/>
          <a:p>
            <a:pPr algn="l">
              <a:lnSpc>
                <a:spcPct val="112000"/>
              </a:lnSpc>
              <a:spcBef>
                <a:spcPts val="0"/>
              </a:spcBef>
              <a:spcAft>
                <a:spcPts val="0"/>
              </a:spcAft>
              <a:defRPr sz="1900" b="0">
                <a:solidFill>
                  <a:srgbClr val="192F43"/>
                </a:solidFill>
                <a:latin typeface="Noto Sans"/>
              </a:defRPr>
            </a:pPr>
            <a:r>
              <a:t>Random Forest</a:t>
            </a:r>
          </a:p>
        </p:txBody>
      </p:sp>
      <p:sp>
        <p:nvSpPr>
          <p:cNvPr id="40" name="Rectangle 39"/>
          <p:cNvSpPr/>
          <p:nvPr/>
        </p:nvSpPr>
        <p:spPr>
          <a:xfrm>
            <a:off x="3813048" y="3895344"/>
            <a:ext cx="2560320" cy="65836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TextBox 40"/>
          <p:cNvSpPr txBox="1"/>
          <p:nvPr/>
        </p:nvSpPr>
        <p:spPr>
          <a:xfrm>
            <a:off x="3968496" y="4041648"/>
            <a:ext cx="2249424" cy="493776"/>
          </a:xfrm>
          <a:prstGeom prst="rect">
            <a:avLst/>
          </a:prstGeom>
          <a:noFill/>
        </p:spPr>
        <p:txBody>
          <a:bodyPr wrap="square" lIns="0" rIns="0" tIns="0" bIns="0" anchor="t">
            <a:spAutoFit/>
          </a:bodyPr>
          <a:lstStyle/>
          <a:p>
            <a:pPr algn="ctr">
              <a:lnSpc>
                <a:spcPct val="112000"/>
              </a:lnSpc>
              <a:spcBef>
                <a:spcPts val="0"/>
              </a:spcBef>
              <a:spcAft>
                <a:spcPts val="0"/>
              </a:spcAft>
              <a:defRPr sz="1900" b="0">
                <a:solidFill>
                  <a:srgbClr val="192F43"/>
                </a:solidFill>
                <a:latin typeface="Noto Sans"/>
              </a:defRPr>
            </a:pPr>
            <a:r>
              <a:t>95,03 ± 1,85</a:t>
            </a:r>
          </a:p>
        </p:txBody>
      </p:sp>
      <p:sp>
        <p:nvSpPr>
          <p:cNvPr id="42" name="Rectangle 41"/>
          <p:cNvSpPr/>
          <p:nvPr/>
        </p:nvSpPr>
        <p:spPr>
          <a:xfrm>
            <a:off x="6373368" y="3895344"/>
            <a:ext cx="2560320" cy="65836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TextBox 42"/>
          <p:cNvSpPr txBox="1"/>
          <p:nvPr/>
        </p:nvSpPr>
        <p:spPr>
          <a:xfrm>
            <a:off x="6528816" y="4041648"/>
            <a:ext cx="2249424" cy="493776"/>
          </a:xfrm>
          <a:prstGeom prst="rect">
            <a:avLst/>
          </a:prstGeom>
          <a:noFill/>
        </p:spPr>
        <p:txBody>
          <a:bodyPr wrap="square" lIns="0" rIns="0" tIns="0" bIns="0" anchor="t">
            <a:spAutoFit/>
          </a:bodyPr>
          <a:lstStyle/>
          <a:p>
            <a:pPr algn="ctr">
              <a:lnSpc>
                <a:spcPct val="112000"/>
              </a:lnSpc>
              <a:spcBef>
                <a:spcPts val="0"/>
              </a:spcBef>
              <a:spcAft>
                <a:spcPts val="0"/>
              </a:spcAft>
              <a:defRPr sz="1900" b="0">
                <a:solidFill>
                  <a:srgbClr val="192F43"/>
                </a:solidFill>
                <a:latin typeface="Noto Sans"/>
              </a:defRPr>
            </a:pPr>
            <a:r>
              <a:t>92,26 ± 3,26</a:t>
            </a:r>
          </a:p>
        </p:txBody>
      </p:sp>
      <p:sp>
        <p:nvSpPr>
          <p:cNvPr id="44" name="Rectangle 43"/>
          <p:cNvSpPr/>
          <p:nvPr/>
        </p:nvSpPr>
        <p:spPr>
          <a:xfrm>
            <a:off x="8933688" y="3895344"/>
            <a:ext cx="2606040" cy="65836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TextBox 44"/>
          <p:cNvSpPr txBox="1"/>
          <p:nvPr/>
        </p:nvSpPr>
        <p:spPr>
          <a:xfrm>
            <a:off x="9089136" y="4041648"/>
            <a:ext cx="2295144" cy="493776"/>
          </a:xfrm>
          <a:prstGeom prst="rect">
            <a:avLst/>
          </a:prstGeom>
          <a:noFill/>
        </p:spPr>
        <p:txBody>
          <a:bodyPr wrap="square" lIns="0" rIns="0" tIns="0" bIns="0" anchor="t">
            <a:spAutoFit/>
          </a:bodyPr>
          <a:lstStyle/>
          <a:p>
            <a:pPr algn="ctr">
              <a:lnSpc>
                <a:spcPct val="112000"/>
              </a:lnSpc>
              <a:spcBef>
                <a:spcPts val="0"/>
              </a:spcBef>
              <a:spcAft>
                <a:spcPts val="0"/>
              </a:spcAft>
              <a:defRPr sz="1900" b="0">
                <a:solidFill>
                  <a:srgbClr val="192F43"/>
                </a:solidFill>
                <a:latin typeface="Noto Sans"/>
              </a:defRPr>
            </a:pPr>
            <a:r>
              <a:t>93,26 ± 2,39</a:t>
            </a:r>
          </a:p>
        </p:txBody>
      </p:sp>
      <p:cxnSp>
        <p:nvCxnSpPr>
          <p:cNvPr id="46" name="Connector 45"/>
          <p:cNvCxnSpPr/>
          <p:nvPr/>
        </p:nvCxnSpPr>
        <p:spPr>
          <a:xfrm>
            <a:off x="612648" y="4553712"/>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47" name="TextBox 46"/>
          <p:cNvSpPr txBox="1"/>
          <p:nvPr/>
        </p:nvSpPr>
        <p:spPr>
          <a:xfrm>
            <a:off x="685800" y="4846320"/>
            <a:ext cx="3657600" cy="640080"/>
          </a:xfrm>
          <a:prstGeom prst="rect">
            <a:avLst/>
          </a:prstGeom>
          <a:noFill/>
        </p:spPr>
        <p:txBody>
          <a:bodyPr wrap="square" lIns="0" rIns="0" tIns="0" bIns="0" anchor="t">
            <a:spAutoFit/>
          </a:bodyPr>
          <a:lstStyle/>
          <a:p>
            <a:pPr algn="l">
              <a:lnSpc>
                <a:spcPct val="112000"/>
              </a:lnSpc>
              <a:spcBef>
                <a:spcPts val="0"/>
              </a:spcBef>
              <a:spcAft>
                <a:spcPts val="0"/>
              </a:spcAft>
              <a:defRPr sz="3500" b="1">
                <a:solidFill>
                  <a:srgbClr val="087F82"/>
                </a:solidFill>
                <a:latin typeface="Noto Sans"/>
              </a:defRPr>
            </a:pPr>
            <a:r>
              <a:t>+1,96 đpt</a:t>
            </a:r>
          </a:p>
        </p:txBody>
      </p:sp>
      <p:sp>
        <p:nvSpPr>
          <p:cNvPr id="48" name="TextBox 47"/>
          <p:cNvSpPr txBox="1"/>
          <p:nvPr/>
        </p:nvSpPr>
        <p:spPr>
          <a:xfrm>
            <a:off x="4572000" y="4791456"/>
            <a:ext cx="6812280" cy="777240"/>
          </a:xfrm>
          <a:prstGeom prst="rect">
            <a:avLst/>
          </a:prstGeom>
          <a:noFill/>
        </p:spPr>
        <p:txBody>
          <a:bodyPr wrap="square" lIns="0" rIns="0" tIns="0" bIns="0" anchor="t">
            <a:spAutoFit/>
          </a:bodyPr>
          <a:lstStyle/>
          <a:p>
            <a:pPr algn="l">
              <a:lnSpc>
                <a:spcPct val="130000"/>
              </a:lnSpc>
              <a:spcBef>
                <a:spcPts val="0"/>
              </a:spcBef>
              <a:spcAft>
                <a:spcPts val="0"/>
              </a:spcAft>
              <a:defRPr sz="2000" b="0">
                <a:solidFill>
                  <a:srgbClr val="5B6B7B"/>
                </a:solidFill>
                <a:latin typeface="Noto Sans"/>
              </a:defRPr>
            </a:pPr>
            <a:r>
              <a:t>Accuracy trung bình Bagging − cây đơn.</a:t>
            </a:r>
          </a:p>
          <a:p>
            <a:pPr algn="l">
              <a:lnSpc>
                <a:spcPct val="130000"/>
              </a:lnSpc>
              <a:spcBef>
                <a:spcPts val="0"/>
              </a:spcBef>
              <a:spcAft>
                <a:spcPts val="0"/>
              </a:spcAft>
              <a:defRPr sz="2000" b="0">
                <a:solidFill>
                  <a:srgbClr val="5B6B7B"/>
                </a:solidFill>
                <a:latin typeface="Noto Sans"/>
              </a:defRPr>
            </a:pPr>
            <a:r>
              <a:t>So với RF: 2 thắng / 4 hòa / 4 thua.</a:t>
            </a:r>
          </a:p>
        </p:txBody>
      </p:sp>
      <p:sp>
        <p:nvSpPr>
          <p:cNvPr id="49" name="Rounded Rectangle 48"/>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TextBox 49"/>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Trung bình ± SD mẫu; các test có thể giao nhau. Chưa có kiểm định ý nghĩa thống kê.</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06 / KHẢO SÁT BỔ SUNG TRÊN TRAIN</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Tăng số cây có lợi, nhưng chưa tăng mãi</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outputs/extensions/analysis.json · CV ngoài 5 fold · không dùng test</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17</a:t>
            </a:r>
          </a:p>
        </p:txBody>
      </p:sp>
      <p:sp>
        <p:nvSpPr>
          <p:cNvPr id="8" name="Rectangle 7"/>
          <p:cNvSpPr/>
          <p:nvPr/>
        </p:nvSpPr>
        <p:spPr>
          <a:xfrm>
            <a:off x="10671048"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graphicFrame>
        <p:nvGraphicFramePr>
          <p:cNvPr id="12" name="Chart 11"/>
          <p:cNvGraphicFramePr>
            <a:graphicFrameLocks noGrp="1"/>
          </p:cNvGraphicFramePr>
          <p:nvPr/>
        </p:nvGraphicFramePr>
        <p:xfrm>
          <a:off x="640080" y="1874519"/>
          <a:ext cx="6858000" cy="3291840"/>
        </p:xfrm>
        <a:graphic>
          <a:graphicData uri="http://schemas.openxmlformats.org/drawingml/2006/chart">
            <c:chart xmlns:c="http://schemas.openxmlformats.org/drawingml/2006/chart" r:id="rId2"/>
          </a:graphicData>
        </a:graphic>
      </p:graphicFrame>
      <p:sp>
        <p:nvSpPr>
          <p:cNvPr id="13" name="TextBox 12"/>
          <p:cNvSpPr txBox="1"/>
          <p:nvPr/>
        </p:nvSpPr>
        <p:spPr>
          <a:xfrm>
            <a:off x="841248" y="1773936"/>
            <a:ext cx="621792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5B6B7B"/>
                </a:solidFill>
                <a:latin typeface="Noto Sans"/>
              </a:defRPr>
            </a:pPr>
            <a:r>
              <a:t>BALANCED ACCURACY CV (%)</a:t>
            </a:r>
          </a:p>
        </p:txBody>
      </p:sp>
      <p:sp>
        <p:nvSpPr>
          <p:cNvPr id="14" name="TextBox 13"/>
          <p:cNvSpPr txBox="1"/>
          <p:nvPr/>
        </p:nvSpPr>
        <p:spPr>
          <a:xfrm>
            <a:off x="2743200" y="5257800"/>
            <a:ext cx="3749039" cy="274320"/>
          </a:xfrm>
          <a:prstGeom prst="rect">
            <a:avLst/>
          </a:prstGeom>
          <a:noFill/>
        </p:spPr>
        <p:txBody>
          <a:bodyPr wrap="square" lIns="0" rIns="0" tIns="0" bIns="0" anchor="t">
            <a:spAutoFit/>
          </a:bodyPr>
          <a:lstStyle/>
          <a:p>
            <a:pPr algn="ctr">
              <a:lnSpc>
                <a:spcPct val="112000"/>
              </a:lnSpc>
              <a:spcBef>
                <a:spcPts val="0"/>
              </a:spcBef>
              <a:spcAft>
                <a:spcPts val="0"/>
              </a:spcAft>
              <a:defRPr sz="1300" b="0">
                <a:solidFill>
                  <a:srgbClr val="5B6B7B"/>
                </a:solidFill>
                <a:latin typeface="Noto Sans"/>
              </a:defRPr>
            </a:pPr>
            <a:r>
              <a:t>Số cây B (các cấu hình đã xét)</a:t>
            </a:r>
          </a:p>
        </p:txBody>
      </p:sp>
      <p:sp>
        <p:nvSpPr>
          <p:cNvPr id="15" name="Rounded Rectangle 14"/>
          <p:cNvSpPr/>
          <p:nvPr/>
        </p:nvSpPr>
        <p:spPr>
          <a:xfrm>
            <a:off x="8019288" y="1947672"/>
            <a:ext cx="3547872" cy="3547872"/>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8275320" y="2231136"/>
            <a:ext cx="274320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51 CÂY</a:t>
            </a:r>
          </a:p>
        </p:txBody>
      </p:sp>
      <p:sp>
        <p:nvSpPr>
          <p:cNvPr id="17" name="TextBox 16"/>
          <p:cNvSpPr txBox="1"/>
          <p:nvPr/>
        </p:nvSpPr>
        <p:spPr>
          <a:xfrm>
            <a:off x="8275320" y="2779776"/>
            <a:ext cx="3017520" cy="685800"/>
          </a:xfrm>
          <a:prstGeom prst="rect">
            <a:avLst/>
          </a:prstGeom>
          <a:noFill/>
        </p:spPr>
        <p:txBody>
          <a:bodyPr wrap="square" lIns="0" rIns="0" tIns="0" bIns="0" anchor="t">
            <a:spAutoFit/>
          </a:bodyPr>
          <a:lstStyle/>
          <a:p>
            <a:pPr algn="l">
              <a:lnSpc>
                <a:spcPct val="112000"/>
              </a:lnSpc>
              <a:spcBef>
                <a:spcPts val="0"/>
              </a:spcBef>
              <a:spcAft>
                <a:spcPts val="0"/>
              </a:spcAft>
              <a:defRPr sz="3100" b="1">
                <a:solidFill>
                  <a:srgbClr val="087F82"/>
                </a:solidFill>
                <a:latin typeface="Noto Sans"/>
              </a:defRPr>
            </a:pPr>
            <a:r>
              <a:t>95,26 ± 2,45</a:t>
            </a:r>
          </a:p>
        </p:txBody>
      </p:sp>
      <p:sp>
        <p:nvSpPr>
          <p:cNvPr id="18" name="TextBox 17"/>
          <p:cNvSpPr txBox="1"/>
          <p:nvPr/>
        </p:nvSpPr>
        <p:spPr>
          <a:xfrm>
            <a:off x="8275320" y="3657600"/>
            <a:ext cx="2880360" cy="548640"/>
          </a:xfrm>
          <a:prstGeom prst="rect">
            <a:avLst/>
          </a:prstGeom>
          <a:noFill/>
        </p:spPr>
        <p:txBody>
          <a:bodyPr wrap="square" lIns="0" rIns="0" tIns="0" bIns="0" anchor="t">
            <a:spAutoFit/>
          </a:bodyPr>
          <a:lstStyle/>
          <a:p>
            <a:pPr algn="l">
              <a:lnSpc>
                <a:spcPct val="112000"/>
              </a:lnSpc>
              <a:spcBef>
                <a:spcPts val="0"/>
              </a:spcBef>
              <a:spcAft>
                <a:spcPts val="0"/>
              </a:spcAft>
              <a:defRPr sz="1700" b="0">
                <a:solidFill>
                  <a:srgbClr val="5B6B7B"/>
                </a:solidFill>
                <a:latin typeface="Noto Sans"/>
              </a:defRPr>
            </a:pPr>
            <a:r>
              <a:t>BA CV (%) · trung bình ± SD</a:t>
            </a:r>
          </a:p>
        </p:txBody>
      </p:sp>
      <p:sp>
        <p:nvSpPr>
          <p:cNvPr id="19" name="TextBox 18"/>
          <p:cNvSpPr txBox="1"/>
          <p:nvPr/>
        </p:nvSpPr>
        <p:spPr>
          <a:xfrm>
            <a:off x="8275320" y="4425696"/>
            <a:ext cx="2880360" cy="777240"/>
          </a:xfrm>
          <a:prstGeom prst="rect">
            <a:avLst/>
          </a:prstGeom>
          <a:noFill/>
        </p:spPr>
        <p:txBody>
          <a:bodyPr wrap="square" lIns="0" rIns="0" tIns="0" bIns="0" anchor="t">
            <a:spAutoFit/>
          </a:bodyPr>
          <a:lstStyle/>
          <a:p>
            <a:pPr algn="l">
              <a:lnSpc>
                <a:spcPct val="130000"/>
              </a:lnSpc>
              <a:spcBef>
                <a:spcPts val="0"/>
              </a:spcBef>
              <a:spcAft>
                <a:spcPts val="0"/>
              </a:spcAft>
              <a:defRPr sz="2000" b="1">
                <a:solidFill>
                  <a:srgbClr val="142D46"/>
                </a:solidFill>
                <a:latin typeface="Noto Sans"/>
              </a:defRPr>
            </a:pPr>
            <a:r>
              <a:t>101 cây: 95,07%</a:t>
            </a:r>
          </a:p>
          <a:p>
            <a:pPr algn="l">
              <a:lnSpc>
                <a:spcPct val="130000"/>
              </a:lnSpc>
              <a:spcBef>
                <a:spcPts val="0"/>
              </a:spcBef>
              <a:spcAft>
                <a:spcPts val="0"/>
              </a:spcAft>
              <a:defRPr sz="2000" b="1">
                <a:solidFill>
                  <a:srgbClr val="142D46"/>
                </a:solidFill>
                <a:latin typeface="Noto Sans"/>
              </a:defRPr>
            </a:pPr>
            <a:r>
              <a:t>Chưa cải thiện thêm.</a:t>
            </a:r>
          </a:p>
        </p:txBody>
      </p:sp>
      <p:sp>
        <p:nvSpPr>
          <p:cNvPr id="20" name="Rounded Rectangle 19"/>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51 là cấu hình ban đầu; khảo sát bổ sung chưa chứng minh đó là số cây tối ưu tổng quát.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06 / PHÂN TÍCH MẪU 291</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Tổ hợp 51 cây vẫn có thể dự đoán sai</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outputs/extensions/analysis.json → reference_error</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18</a:t>
            </a:r>
          </a:p>
        </p:txBody>
      </p:sp>
      <p:sp>
        <p:nvSpPr>
          <p:cNvPr id="8" name="Rectangle 7"/>
          <p:cNvSpPr/>
          <p:nvPr/>
        </p:nvSpPr>
        <p:spPr>
          <a:xfrm>
            <a:off x="10671048"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40080" y="1938528"/>
            <a:ext cx="640080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NHÃN THẬT: LÀNH TÍNH</a:t>
            </a:r>
          </a:p>
        </p:txBody>
      </p:sp>
      <p:sp>
        <p:nvSpPr>
          <p:cNvPr id="13" name="TextBox 12"/>
          <p:cNvSpPr txBox="1"/>
          <p:nvPr/>
        </p:nvSpPr>
        <p:spPr>
          <a:xfrm>
            <a:off x="640080" y="2532888"/>
            <a:ext cx="7132320" cy="566928"/>
          </a:xfrm>
          <a:prstGeom prst="rect">
            <a:avLst/>
          </a:prstGeom>
          <a:noFill/>
        </p:spPr>
        <p:txBody>
          <a:bodyPr wrap="square" lIns="0" rIns="0" tIns="0" bIns="0" anchor="t">
            <a:spAutoFit/>
          </a:bodyPr>
          <a:lstStyle/>
          <a:p>
            <a:pPr algn="l">
              <a:lnSpc>
                <a:spcPct val="112000"/>
              </a:lnSpc>
              <a:spcBef>
                <a:spcPts val="0"/>
              </a:spcBef>
              <a:spcAft>
                <a:spcPts val="0"/>
              </a:spcAft>
              <a:defRPr sz="3200" b="1">
                <a:solidFill>
                  <a:srgbClr val="142D46"/>
                </a:solidFill>
                <a:latin typeface="Noto Sans"/>
              </a:defRPr>
            </a:pPr>
            <a:r>
              <a:t>27 phiếu ác / 24 phiếu lành</a:t>
            </a:r>
          </a:p>
        </p:txBody>
      </p:sp>
      <p:sp>
        <p:nvSpPr>
          <p:cNvPr id="14" name="Rectangle 13"/>
          <p:cNvSpPr/>
          <p:nvPr/>
        </p:nvSpPr>
        <p:spPr>
          <a:xfrm>
            <a:off x="658368" y="3593592"/>
            <a:ext cx="5751038" cy="694944"/>
          </a:xfrm>
          <a:prstGeom prst="rect">
            <a:avLst/>
          </a:prstGeom>
          <a:solidFill>
            <a:srgbClr val="C8644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Rectangle 14"/>
          <p:cNvSpPr/>
          <p:nvPr/>
        </p:nvSpPr>
        <p:spPr>
          <a:xfrm>
            <a:off x="6409406" y="3593592"/>
            <a:ext cx="5112033" cy="69494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95528" y="3739896"/>
            <a:ext cx="5394960" cy="365760"/>
          </a:xfrm>
          <a:prstGeom prst="rect">
            <a:avLst/>
          </a:prstGeom>
          <a:noFill/>
        </p:spPr>
        <p:txBody>
          <a:bodyPr wrap="square" lIns="0" rIns="0" tIns="0" bIns="0" anchor="t">
            <a:spAutoFit/>
          </a:bodyPr>
          <a:lstStyle/>
          <a:p>
            <a:pPr algn="l">
              <a:lnSpc>
                <a:spcPct val="112000"/>
              </a:lnSpc>
              <a:spcBef>
                <a:spcPts val="0"/>
              </a:spcBef>
              <a:spcAft>
                <a:spcPts val="0"/>
              </a:spcAft>
              <a:defRPr sz="2200" b="1">
                <a:solidFill>
                  <a:srgbClr val="FFFFFF"/>
                </a:solidFill>
                <a:latin typeface="Noto Sans"/>
              </a:defRPr>
            </a:pPr>
            <a:r>
              <a:t>27 · Ác</a:t>
            </a:r>
          </a:p>
        </p:txBody>
      </p:sp>
      <p:sp>
        <p:nvSpPr>
          <p:cNvPr id="17" name="TextBox 16"/>
          <p:cNvSpPr txBox="1"/>
          <p:nvPr/>
        </p:nvSpPr>
        <p:spPr>
          <a:xfrm>
            <a:off x="6446520" y="3739896"/>
            <a:ext cx="4846320" cy="365760"/>
          </a:xfrm>
          <a:prstGeom prst="rect">
            <a:avLst/>
          </a:prstGeom>
          <a:noFill/>
        </p:spPr>
        <p:txBody>
          <a:bodyPr wrap="square" lIns="0" rIns="0" tIns="0" bIns="0" anchor="t">
            <a:spAutoFit/>
          </a:bodyPr>
          <a:lstStyle/>
          <a:p>
            <a:pPr algn="r">
              <a:lnSpc>
                <a:spcPct val="112000"/>
              </a:lnSpc>
              <a:spcBef>
                <a:spcPts val="0"/>
              </a:spcBef>
              <a:spcAft>
                <a:spcPts val="0"/>
              </a:spcAft>
              <a:defRPr sz="2200" b="1">
                <a:solidFill>
                  <a:srgbClr val="FFFFFF"/>
                </a:solidFill>
                <a:latin typeface="Noto Sans"/>
              </a:defRPr>
            </a:pPr>
            <a:r>
              <a:t>24 · Lành</a:t>
            </a:r>
          </a:p>
        </p:txBody>
      </p:sp>
      <p:sp>
        <p:nvSpPr>
          <p:cNvPr id="18" name="TextBox 17"/>
          <p:cNvSpPr txBox="1"/>
          <p:nvPr/>
        </p:nvSpPr>
        <p:spPr>
          <a:xfrm>
            <a:off x="685800" y="4727448"/>
            <a:ext cx="6309360" cy="594360"/>
          </a:xfrm>
          <a:prstGeom prst="rect">
            <a:avLst/>
          </a:prstGeom>
          <a:noFill/>
        </p:spPr>
        <p:txBody>
          <a:bodyPr wrap="square" lIns="0" rIns="0" tIns="0" bIns="0" anchor="t">
            <a:spAutoFit/>
          </a:bodyPr>
          <a:lstStyle/>
          <a:p>
            <a:pPr algn="l">
              <a:lnSpc>
                <a:spcPct val="112000"/>
              </a:lnSpc>
              <a:spcBef>
                <a:spcPts val="0"/>
              </a:spcBef>
              <a:spcAft>
                <a:spcPts val="0"/>
              </a:spcAft>
              <a:defRPr sz="2500" b="1">
                <a:solidFill>
                  <a:srgbClr val="C86449"/>
                </a:solidFill>
                <a:latin typeface="Noto Sans"/>
              </a:defRPr>
            </a:pPr>
            <a:r>
              <a:t>Đa số chọn ác → dương tính giả</a:t>
            </a:r>
          </a:p>
        </p:txBody>
      </p:sp>
      <p:sp>
        <p:nvSpPr>
          <p:cNvPr id="19" name="TextBox 18"/>
          <p:cNvSpPr txBox="1"/>
          <p:nvPr/>
        </p:nvSpPr>
        <p:spPr>
          <a:xfrm>
            <a:off x="8247888" y="4681728"/>
            <a:ext cx="3017520" cy="822960"/>
          </a:xfrm>
          <a:prstGeom prst="rect">
            <a:avLst/>
          </a:prstGeom>
          <a:noFill/>
        </p:spPr>
        <p:txBody>
          <a:bodyPr wrap="square" lIns="0" rIns="0" tIns="0" bIns="0" anchor="t">
            <a:spAutoFit/>
          </a:bodyPr>
          <a:lstStyle/>
          <a:p>
            <a:pPr algn="r">
              <a:lnSpc>
                <a:spcPct val="112000"/>
              </a:lnSpc>
              <a:spcBef>
                <a:spcPts val="0"/>
              </a:spcBef>
              <a:spcAft>
                <a:spcPts val="0"/>
              </a:spcAft>
              <a:defRPr sz="1900" b="0">
                <a:solidFill>
                  <a:srgbClr val="5B6B7B"/>
                </a:solidFill>
                <a:latin typeface="Noto Sans"/>
              </a:defRPr>
            </a:pPr>
            <a:r>
              <a:t>Biên phiếu</a:t>
            </a:r>
          </a:p>
          <a:p>
            <a:pPr algn="r">
              <a:lnSpc>
                <a:spcPct val="112000"/>
              </a:lnSpc>
              <a:spcBef>
                <a:spcPts val="0"/>
              </a:spcBef>
              <a:spcAft>
                <a:spcPts val="0"/>
              </a:spcAft>
              <a:defRPr sz="1900" b="0">
                <a:solidFill>
                  <a:srgbClr val="5B6B7B"/>
                </a:solidFill>
                <a:latin typeface="Noto Sans"/>
              </a:defRPr>
            </a:pPr>
            <a:r>
              <a:t>3/51 ≈ 5,88%</a:t>
            </a:r>
          </a:p>
        </p:txBody>
      </p:sp>
      <p:sp>
        <p:nvSpPr>
          <p:cNvPr id="20" name="Rounded Rectangle 19"/>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Được chọn theo thứ tự test: đây là mẫu đầu tiên có hai phía phiếu, không chọn vì dễ giải thích.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06 / GIẢI THÍCH HÀNH VI MÔ HÌNH</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Mẫu sai nằm giữa các vùng trung tâm của hai lớp</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Đặc trưng chọn theo tần suất nút gốc trên train · outputs/extensions/analysis.json</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19</a:t>
            </a:r>
          </a:p>
        </p:txBody>
      </p:sp>
      <p:sp>
        <p:nvSpPr>
          <p:cNvPr id="8" name="Rectangle 7"/>
          <p:cNvSpPr/>
          <p:nvPr/>
        </p:nvSpPr>
        <p:spPr>
          <a:xfrm>
            <a:off x="10671048"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49224" y="2029968"/>
            <a:ext cx="3429000" cy="411480"/>
          </a:xfrm>
          <a:prstGeom prst="rect">
            <a:avLst/>
          </a:prstGeom>
          <a:noFill/>
        </p:spPr>
        <p:txBody>
          <a:bodyPr wrap="square" lIns="0" rIns="0" tIns="0" bIns="0" anchor="t">
            <a:spAutoFit/>
          </a:bodyPr>
          <a:lstStyle/>
          <a:p>
            <a:pPr algn="l">
              <a:lnSpc>
                <a:spcPct val="112000"/>
              </a:lnSpc>
              <a:spcBef>
                <a:spcPts val="0"/>
              </a:spcBef>
              <a:spcAft>
                <a:spcPts val="0"/>
              </a:spcAft>
              <a:defRPr sz="1900" b="1">
                <a:solidFill>
                  <a:srgbClr val="142D46"/>
                </a:solidFill>
                <a:latin typeface="Noto Sans"/>
              </a:defRPr>
            </a:pPr>
            <a:r>
              <a:t>worst perimeter</a:t>
            </a:r>
          </a:p>
        </p:txBody>
      </p:sp>
      <p:cxnSp>
        <p:nvCxnSpPr>
          <p:cNvPr id="13" name="Connector 12"/>
          <p:cNvCxnSpPr/>
          <p:nvPr/>
        </p:nvCxnSpPr>
        <p:spPr>
          <a:xfrm>
            <a:off x="4572000" y="2313432"/>
            <a:ext cx="5623560" cy="0"/>
          </a:xfrm>
          <a:prstGeom prst="line">
            <a:avLst/>
          </a:prstGeom>
          <a:ln w="1270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14" name="Rectangle 13"/>
          <p:cNvSpPr/>
          <p:nvPr/>
        </p:nvSpPr>
        <p:spPr>
          <a:xfrm>
            <a:off x="4754880" y="2157984"/>
            <a:ext cx="1168101" cy="310896"/>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5306891" y="2121408"/>
            <a:ext cx="0" cy="384048"/>
          </a:xfrm>
          <a:prstGeom prst="line">
            <a:avLst/>
          </a:prstGeom>
          <a:ln w="25400">
            <a:solidFill>
              <a:srgbClr val="087F82"/>
            </a:solidFill>
          </a:ln>
          <a:effectLst/>
        </p:spPr>
        <p:style>
          <a:lnRef idx="2">
            <a:schemeClr val="accent1"/>
          </a:lnRef>
          <a:fillRef idx="0">
            <a:schemeClr val="accent1"/>
          </a:fillRef>
          <a:effectRef idx="0">
            <a:schemeClr val="accent1"/>
          </a:effectRef>
          <a:fontRef idx="minor">
            <a:schemeClr val="tx1"/>
          </a:fontRef>
        </p:style>
      </p:cxnSp>
      <p:sp>
        <p:nvSpPr>
          <p:cNvPr id="16" name="Rectangle 15"/>
          <p:cNvSpPr/>
          <p:nvPr/>
        </p:nvSpPr>
        <p:spPr>
          <a:xfrm>
            <a:off x="7334267" y="2157984"/>
            <a:ext cx="2541252" cy="310896"/>
          </a:xfrm>
          <a:prstGeom prst="rect">
            <a:avLst/>
          </a:prstGeom>
          <a:solidFill>
            <a:srgbClr val="FAED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7" name="Connector 16"/>
          <p:cNvCxnSpPr/>
          <p:nvPr/>
        </p:nvCxnSpPr>
        <p:spPr>
          <a:xfrm>
            <a:off x="8325136" y="2121408"/>
            <a:ext cx="0" cy="384048"/>
          </a:xfrm>
          <a:prstGeom prst="line">
            <a:avLst/>
          </a:prstGeom>
          <a:ln w="25400">
            <a:solidFill>
              <a:srgbClr val="C86449"/>
            </a:solidFill>
          </a:ln>
          <a:effectLst/>
        </p:spPr>
        <p:style>
          <a:lnRef idx="2">
            <a:schemeClr val="accent1"/>
          </a:lnRef>
          <a:fillRef idx="0">
            <a:schemeClr val="accent1"/>
          </a:fillRef>
          <a:effectRef idx="0">
            <a:schemeClr val="accent1"/>
          </a:effectRef>
          <a:fontRef idx="minor">
            <a:schemeClr val="tx1"/>
          </a:fontRef>
        </p:style>
      </p:cxnSp>
      <p:sp>
        <p:nvSpPr>
          <p:cNvPr id="18" name="Diamond 17"/>
          <p:cNvSpPr/>
          <p:nvPr/>
        </p:nvSpPr>
        <p:spPr>
          <a:xfrm>
            <a:off x="6635727" y="2231136"/>
            <a:ext cx="128016" cy="164592"/>
          </a:xfrm>
          <a:prstGeom prst="diamond">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10387584" y="2020824"/>
            <a:ext cx="1060704" cy="384048"/>
          </a:xfrm>
          <a:prstGeom prst="rect">
            <a:avLst/>
          </a:prstGeom>
          <a:noFill/>
        </p:spPr>
        <p:txBody>
          <a:bodyPr wrap="square" lIns="0" rIns="0" tIns="0" bIns="0" anchor="t">
            <a:spAutoFit/>
          </a:bodyPr>
          <a:lstStyle/>
          <a:p>
            <a:pPr algn="r">
              <a:lnSpc>
                <a:spcPct val="112000"/>
              </a:lnSpc>
              <a:spcBef>
                <a:spcPts val="0"/>
              </a:spcBef>
              <a:spcAft>
                <a:spcPts val="0"/>
              </a:spcAft>
              <a:defRPr sz="1800" b="1">
                <a:solidFill>
                  <a:srgbClr val="142D46"/>
                </a:solidFill>
                <a:latin typeface="Noto Sans"/>
              </a:defRPr>
            </a:pPr>
            <a:r>
              <a:t>109,10</a:t>
            </a:r>
          </a:p>
        </p:txBody>
      </p:sp>
      <p:sp>
        <p:nvSpPr>
          <p:cNvPr id="20" name="TextBox 19"/>
          <p:cNvSpPr txBox="1"/>
          <p:nvPr/>
        </p:nvSpPr>
        <p:spPr>
          <a:xfrm>
            <a:off x="4617720" y="2624328"/>
            <a:ext cx="1097280" cy="228600"/>
          </a:xfrm>
          <a:prstGeom prst="rect">
            <a:avLst/>
          </a:prstGeom>
          <a:noFill/>
        </p:spPr>
        <p:txBody>
          <a:bodyPr wrap="square" lIns="0" rIns="0" tIns="0" bIns="0" anchor="t">
            <a:spAutoFit/>
          </a:bodyPr>
          <a:lstStyle/>
          <a:p>
            <a:pPr algn="l">
              <a:lnSpc>
                <a:spcPct val="112000"/>
              </a:lnSpc>
              <a:spcBef>
                <a:spcPts val="0"/>
              </a:spcBef>
              <a:spcAft>
                <a:spcPts val="0"/>
              </a:spcAft>
              <a:defRPr sz="1100" b="0">
                <a:solidFill>
                  <a:srgbClr val="5B6B7B"/>
                </a:solidFill>
                <a:latin typeface="Noto Sans"/>
              </a:defRPr>
            </a:pPr>
            <a:r>
              <a:t>78,0</a:t>
            </a:r>
          </a:p>
        </p:txBody>
      </p:sp>
      <p:sp>
        <p:nvSpPr>
          <p:cNvPr id="21" name="TextBox 20"/>
          <p:cNvSpPr txBox="1"/>
          <p:nvPr/>
        </p:nvSpPr>
        <p:spPr>
          <a:xfrm>
            <a:off x="9144000" y="2624328"/>
            <a:ext cx="1051560" cy="228600"/>
          </a:xfrm>
          <a:prstGeom prst="rect">
            <a:avLst/>
          </a:prstGeom>
          <a:noFill/>
        </p:spPr>
        <p:txBody>
          <a:bodyPr wrap="square" lIns="0" rIns="0" tIns="0" bIns="0" anchor="t">
            <a:spAutoFit/>
          </a:bodyPr>
          <a:lstStyle/>
          <a:p>
            <a:pPr algn="r">
              <a:lnSpc>
                <a:spcPct val="112000"/>
              </a:lnSpc>
              <a:spcBef>
                <a:spcPts val="0"/>
              </a:spcBef>
              <a:spcAft>
                <a:spcPts val="0"/>
              </a:spcAft>
              <a:defRPr sz="1100" b="0">
                <a:solidFill>
                  <a:srgbClr val="5B6B7B"/>
                </a:solidFill>
                <a:latin typeface="Noto Sans"/>
              </a:defRPr>
            </a:pPr>
            <a:r>
              <a:t>159,9</a:t>
            </a:r>
          </a:p>
        </p:txBody>
      </p:sp>
      <p:sp>
        <p:nvSpPr>
          <p:cNvPr id="22" name="TextBox 21"/>
          <p:cNvSpPr txBox="1"/>
          <p:nvPr/>
        </p:nvSpPr>
        <p:spPr>
          <a:xfrm>
            <a:off x="649224" y="3209544"/>
            <a:ext cx="3429000" cy="411480"/>
          </a:xfrm>
          <a:prstGeom prst="rect">
            <a:avLst/>
          </a:prstGeom>
          <a:noFill/>
        </p:spPr>
        <p:txBody>
          <a:bodyPr wrap="square" lIns="0" rIns="0" tIns="0" bIns="0" anchor="t">
            <a:spAutoFit/>
          </a:bodyPr>
          <a:lstStyle/>
          <a:p>
            <a:pPr algn="l">
              <a:lnSpc>
                <a:spcPct val="112000"/>
              </a:lnSpc>
              <a:spcBef>
                <a:spcPts val="0"/>
              </a:spcBef>
              <a:spcAft>
                <a:spcPts val="0"/>
              </a:spcAft>
              <a:defRPr sz="1900" b="1">
                <a:solidFill>
                  <a:srgbClr val="142D46"/>
                </a:solidFill>
                <a:latin typeface="Noto Sans"/>
              </a:defRPr>
            </a:pPr>
            <a:r>
              <a:t>worst concave points</a:t>
            </a:r>
          </a:p>
        </p:txBody>
      </p:sp>
      <p:cxnSp>
        <p:nvCxnSpPr>
          <p:cNvPr id="23" name="Connector 22"/>
          <p:cNvCxnSpPr/>
          <p:nvPr/>
        </p:nvCxnSpPr>
        <p:spPr>
          <a:xfrm>
            <a:off x="4572000" y="3493008"/>
            <a:ext cx="5623560" cy="0"/>
          </a:xfrm>
          <a:prstGeom prst="line">
            <a:avLst/>
          </a:prstGeom>
          <a:ln w="1270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24" name="Rectangle 23"/>
          <p:cNvSpPr/>
          <p:nvPr/>
        </p:nvSpPr>
        <p:spPr>
          <a:xfrm>
            <a:off x="4754880" y="3337560"/>
            <a:ext cx="1392722" cy="310896"/>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5" name="Connector 24"/>
          <p:cNvCxnSpPr/>
          <p:nvPr/>
        </p:nvCxnSpPr>
        <p:spPr>
          <a:xfrm>
            <a:off x="5417404" y="3300984"/>
            <a:ext cx="0" cy="384048"/>
          </a:xfrm>
          <a:prstGeom prst="line">
            <a:avLst/>
          </a:prstGeom>
          <a:ln w="25400">
            <a:solidFill>
              <a:srgbClr val="087F82"/>
            </a:solidFill>
          </a:ln>
          <a:effectLst/>
        </p:spPr>
        <p:style>
          <a:lnRef idx="2">
            <a:schemeClr val="accent1"/>
          </a:lnRef>
          <a:fillRef idx="0">
            <a:schemeClr val="accent1"/>
          </a:fillRef>
          <a:effectRef idx="0">
            <a:schemeClr val="accent1"/>
          </a:effectRef>
          <a:fontRef idx="minor">
            <a:schemeClr val="tx1"/>
          </a:fontRef>
        </p:style>
      </p:cxnSp>
      <p:sp>
        <p:nvSpPr>
          <p:cNvPr id="26" name="Rectangle 25"/>
          <p:cNvSpPr/>
          <p:nvPr/>
        </p:nvSpPr>
        <p:spPr>
          <a:xfrm>
            <a:off x="8054415" y="3337560"/>
            <a:ext cx="1821104" cy="310896"/>
          </a:xfrm>
          <a:prstGeom prst="rect">
            <a:avLst/>
          </a:prstGeom>
          <a:solidFill>
            <a:srgbClr val="FAED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7" name="Connector 26"/>
          <p:cNvCxnSpPr/>
          <p:nvPr/>
        </p:nvCxnSpPr>
        <p:spPr>
          <a:xfrm>
            <a:off x="8959381" y="3300984"/>
            <a:ext cx="0" cy="384048"/>
          </a:xfrm>
          <a:prstGeom prst="line">
            <a:avLst/>
          </a:prstGeom>
          <a:ln w="25400">
            <a:solidFill>
              <a:srgbClr val="C86449"/>
            </a:solidFill>
          </a:ln>
          <a:effectLst/>
        </p:spPr>
        <p:style>
          <a:lnRef idx="2">
            <a:schemeClr val="accent1"/>
          </a:lnRef>
          <a:fillRef idx="0">
            <a:schemeClr val="accent1"/>
          </a:fillRef>
          <a:effectRef idx="0">
            <a:schemeClr val="accent1"/>
          </a:effectRef>
          <a:fontRef idx="minor">
            <a:schemeClr val="tx1"/>
          </a:fontRef>
        </p:style>
      </p:cxnSp>
      <p:sp>
        <p:nvSpPr>
          <p:cNvPr id="28" name="Diamond 27"/>
          <p:cNvSpPr/>
          <p:nvPr/>
        </p:nvSpPr>
        <p:spPr>
          <a:xfrm>
            <a:off x="7816436" y="3410712"/>
            <a:ext cx="128016" cy="164592"/>
          </a:xfrm>
          <a:prstGeom prst="diamond">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10387584" y="3200400"/>
            <a:ext cx="1060704" cy="384048"/>
          </a:xfrm>
          <a:prstGeom prst="rect">
            <a:avLst/>
          </a:prstGeom>
          <a:noFill/>
        </p:spPr>
        <p:txBody>
          <a:bodyPr wrap="square" lIns="0" rIns="0" tIns="0" bIns="0" anchor="t">
            <a:spAutoFit/>
          </a:bodyPr>
          <a:lstStyle/>
          <a:p>
            <a:pPr algn="r">
              <a:lnSpc>
                <a:spcPct val="112000"/>
              </a:lnSpc>
              <a:spcBef>
                <a:spcPts val="0"/>
              </a:spcBef>
              <a:spcAft>
                <a:spcPts val="0"/>
              </a:spcAft>
              <a:defRPr sz="1800" b="1">
                <a:solidFill>
                  <a:srgbClr val="142D46"/>
                </a:solidFill>
                <a:latin typeface="Noto Sans"/>
              </a:defRPr>
            </a:pPr>
            <a:r>
              <a:t>0,14890</a:t>
            </a:r>
          </a:p>
        </p:txBody>
      </p:sp>
      <p:sp>
        <p:nvSpPr>
          <p:cNvPr id="30" name="TextBox 29"/>
          <p:cNvSpPr txBox="1"/>
          <p:nvPr/>
        </p:nvSpPr>
        <p:spPr>
          <a:xfrm>
            <a:off x="4617720" y="3803904"/>
            <a:ext cx="1097280" cy="228600"/>
          </a:xfrm>
          <a:prstGeom prst="rect">
            <a:avLst/>
          </a:prstGeom>
          <a:noFill/>
        </p:spPr>
        <p:txBody>
          <a:bodyPr wrap="square" lIns="0" rIns="0" tIns="0" bIns="0" anchor="t">
            <a:spAutoFit/>
          </a:bodyPr>
          <a:lstStyle/>
          <a:p>
            <a:pPr algn="l">
              <a:lnSpc>
                <a:spcPct val="112000"/>
              </a:lnSpc>
              <a:spcBef>
                <a:spcPts val="0"/>
              </a:spcBef>
              <a:spcAft>
                <a:spcPts val="0"/>
              </a:spcAft>
              <a:defRPr sz="1100" b="0">
                <a:solidFill>
                  <a:srgbClr val="5B6B7B"/>
                </a:solidFill>
                <a:latin typeface="Noto Sans"/>
              </a:defRPr>
            </a:pPr>
            <a:r>
              <a:t>0,051</a:t>
            </a:r>
          </a:p>
        </p:txBody>
      </p:sp>
      <p:sp>
        <p:nvSpPr>
          <p:cNvPr id="31" name="TextBox 30"/>
          <p:cNvSpPr txBox="1"/>
          <p:nvPr/>
        </p:nvSpPr>
        <p:spPr>
          <a:xfrm>
            <a:off x="9144000" y="3803904"/>
            <a:ext cx="1051560" cy="228600"/>
          </a:xfrm>
          <a:prstGeom prst="rect">
            <a:avLst/>
          </a:prstGeom>
          <a:noFill/>
        </p:spPr>
        <p:txBody>
          <a:bodyPr wrap="square" lIns="0" rIns="0" tIns="0" bIns="0" anchor="t">
            <a:spAutoFit/>
          </a:bodyPr>
          <a:lstStyle/>
          <a:p>
            <a:pPr algn="r">
              <a:lnSpc>
                <a:spcPct val="112000"/>
              </a:lnSpc>
              <a:spcBef>
                <a:spcPts val="0"/>
              </a:spcBef>
              <a:spcAft>
                <a:spcPts val="0"/>
              </a:spcAft>
              <a:defRPr sz="1100" b="0">
                <a:solidFill>
                  <a:srgbClr val="5B6B7B"/>
                </a:solidFill>
                <a:latin typeface="Noto Sans"/>
              </a:defRPr>
            </a:pPr>
            <a:r>
              <a:t>0,211</a:t>
            </a:r>
          </a:p>
        </p:txBody>
      </p:sp>
      <p:sp>
        <p:nvSpPr>
          <p:cNvPr id="32" name="TextBox 31"/>
          <p:cNvSpPr txBox="1"/>
          <p:nvPr/>
        </p:nvSpPr>
        <p:spPr>
          <a:xfrm>
            <a:off x="649224" y="4389120"/>
            <a:ext cx="3429000" cy="411480"/>
          </a:xfrm>
          <a:prstGeom prst="rect">
            <a:avLst/>
          </a:prstGeom>
          <a:noFill/>
        </p:spPr>
        <p:txBody>
          <a:bodyPr wrap="square" lIns="0" rIns="0" tIns="0" bIns="0" anchor="t">
            <a:spAutoFit/>
          </a:bodyPr>
          <a:lstStyle/>
          <a:p>
            <a:pPr algn="l">
              <a:lnSpc>
                <a:spcPct val="112000"/>
              </a:lnSpc>
              <a:spcBef>
                <a:spcPts val="0"/>
              </a:spcBef>
              <a:spcAft>
                <a:spcPts val="0"/>
              </a:spcAft>
              <a:defRPr sz="1900" b="1">
                <a:solidFill>
                  <a:srgbClr val="142D46"/>
                </a:solidFill>
                <a:latin typeface="Noto Sans"/>
              </a:defRPr>
            </a:pPr>
            <a:r>
              <a:t>worst radius</a:t>
            </a:r>
          </a:p>
        </p:txBody>
      </p:sp>
      <p:cxnSp>
        <p:nvCxnSpPr>
          <p:cNvPr id="33" name="Connector 32"/>
          <p:cNvCxnSpPr/>
          <p:nvPr/>
        </p:nvCxnSpPr>
        <p:spPr>
          <a:xfrm>
            <a:off x="4572000" y="4672583"/>
            <a:ext cx="5623560" cy="0"/>
          </a:xfrm>
          <a:prstGeom prst="line">
            <a:avLst/>
          </a:prstGeom>
          <a:ln w="1270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34" name="Rectangle 33"/>
          <p:cNvSpPr/>
          <p:nvPr/>
        </p:nvSpPr>
        <p:spPr>
          <a:xfrm>
            <a:off x="4754880" y="4517136"/>
            <a:ext cx="1172168" cy="310896"/>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5" name="Connector 34"/>
          <p:cNvCxnSpPr/>
          <p:nvPr/>
        </p:nvCxnSpPr>
        <p:spPr>
          <a:xfrm>
            <a:off x="5327940" y="4480559"/>
            <a:ext cx="0" cy="384048"/>
          </a:xfrm>
          <a:prstGeom prst="line">
            <a:avLst/>
          </a:prstGeom>
          <a:ln w="25400">
            <a:solidFill>
              <a:srgbClr val="087F82"/>
            </a:solidFill>
          </a:ln>
          <a:effectLst/>
        </p:spPr>
        <p:style>
          <a:lnRef idx="2">
            <a:schemeClr val="accent1"/>
          </a:lnRef>
          <a:fillRef idx="0">
            <a:schemeClr val="accent1"/>
          </a:fillRef>
          <a:effectRef idx="0">
            <a:schemeClr val="accent1"/>
          </a:effectRef>
          <a:fontRef idx="minor">
            <a:schemeClr val="tx1"/>
          </a:fontRef>
        </p:style>
      </p:cxnSp>
      <p:sp>
        <p:nvSpPr>
          <p:cNvPr id="36" name="Rectangle 35"/>
          <p:cNvSpPr/>
          <p:nvPr/>
        </p:nvSpPr>
        <p:spPr>
          <a:xfrm>
            <a:off x="7173020" y="4517136"/>
            <a:ext cx="2702499" cy="310896"/>
          </a:xfrm>
          <a:prstGeom prst="rect">
            <a:avLst/>
          </a:prstGeom>
          <a:solidFill>
            <a:srgbClr val="FAED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7" name="Connector 36"/>
          <p:cNvCxnSpPr/>
          <p:nvPr/>
        </p:nvCxnSpPr>
        <p:spPr>
          <a:xfrm>
            <a:off x="8397285" y="4480559"/>
            <a:ext cx="0" cy="384048"/>
          </a:xfrm>
          <a:prstGeom prst="line">
            <a:avLst/>
          </a:prstGeom>
          <a:ln w="25400">
            <a:solidFill>
              <a:srgbClr val="C86449"/>
            </a:solidFill>
          </a:ln>
          <a:effectLst/>
        </p:spPr>
        <p:style>
          <a:lnRef idx="2">
            <a:schemeClr val="accent1"/>
          </a:lnRef>
          <a:fillRef idx="0">
            <a:schemeClr val="accent1"/>
          </a:fillRef>
          <a:effectRef idx="0">
            <a:schemeClr val="accent1"/>
          </a:effectRef>
          <a:fontRef idx="minor">
            <a:schemeClr val="tx1"/>
          </a:fontRef>
        </p:style>
      </p:cxnSp>
      <p:sp>
        <p:nvSpPr>
          <p:cNvPr id="38" name="Diamond 37"/>
          <p:cNvSpPr/>
          <p:nvPr/>
        </p:nvSpPr>
        <p:spPr>
          <a:xfrm>
            <a:off x="6522928" y="4590288"/>
            <a:ext cx="128016" cy="164592"/>
          </a:xfrm>
          <a:prstGeom prst="diamond">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10387584" y="4379976"/>
            <a:ext cx="1060704" cy="384048"/>
          </a:xfrm>
          <a:prstGeom prst="rect">
            <a:avLst/>
          </a:prstGeom>
          <a:noFill/>
        </p:spPr>
        <p:txBody>
          <a:bodyPr wrap="square" lIns="0" rIns="0" tIns="0" bIns="0" anchor="t">
            <a:spAutoFit/>
          </a:bodyPr>
          <a:lstStyle/>
          <a:p>
            <a:pPr algn="r">
              <a:lnSpc>
                <a:spcPct val="112000"/>
              </a:lnSpc>
              <a:spcBef>
                <a:spcPts val="0"/>
              </a:spcBef>
              <a:spcAft>
                <a:spcPts val="0"/>
              </a:spcAft>
              <a:defRPr sz="1800" b="1">
                <a:solidFill>
                  <a:srgbClr val="142D46"/>
                </a:solidFill>
                <a:latin typeface="Noto Sans"/>
              </a:defRPr>
            </a:pPr>
            <a:r>
              <a:t>16,25</a:t>
            </a:r>
          </a:p>
        </p:txBody>
      </p:sp>
      <p:sp>
        <p:nvSpPr>
          <p:cNvPr id="40" name="TextBox 39"/>
          <p:cNvSpPr txBox="1"/>
          <p:nvPr/>
        </p:nvSpPr>
        <p:spPr>
          <a:xfrm>
            <a:off x="4617720" y="4983479"/>
            <a:ext cx="1097280" cy="228600"/>
          </a:xfrm>
          <a:prstGeom prst="rect">
            <a:avLst/>
          </a:prstGeom>
          <a:noFill/>
        </p:spPr>
        <p:txBody>
          <a:bodyPr wrap="square" lIns="0" rIns="0" tIns="0" bIns="0" anchor="t">
            <a:spAutoFit/>
          </a:bodyPr>
          <a:lstStyle/>
          <a:p>
            <a:pPr algn="l">
              <a:lnSpc>
                <a:spcPct val="112000"/>
              </a:lnSpc>
              <a:spcBef>
                <a:spcPts val="0"/>
              </a:spcBef>
              <a:spcAft>
                <a:spcPts val="0"/>
              </a:spcAft>
              <a:defRPr sz="1100" b="0">
                <a:solidFill>
                  <a:srgbClr val="5B6B7B"/>
                </a:solidFill>
                <a:latin typeface="Noto Sans"/>
              </a:defRPr>
            </a:pPr>
            <a:r>
              <a:t>12,0</a:t>
            </a:r>
          </a:p>
        </p:txBody>
      </p:sp>
      <p:sp>
        <p:nvSpPr>
          <p:cNvPr id="41" name="TextBox 40"/>
          <p:cNvSpPr txBox="1"/>
          <p:nvPr/>
        </p:nvSpPr>
        <p:spPr>
          <a:xfrm>
            <a:off x="9144000" y="4983479"/>
            <a:ext cx="1051560" cy="228600"/>
          </a:xfrm>
          <a:prstGeom prst="rect">
            <a:avLst/>
          </a:prstGeom>
          <a:noFill/>
        </p:spPr>
        <p:txBody>
          <a:bodyPr wrap="square" lIns="0" rIns="0" tIns="0" bIns="0" anchor="t">
            <a:spAutoFit/>
          </a:bodyPr>
          <a:lstStyle/>
          <a:p>
            <a:pPr algn="r">
              <a:lnSpc>
                <a:spcPct val="112000"/>
              </a:lnSpc>
              <a:spcBef>
                <a:spcPts val="0"/>
              </a:spcBef>
              <a:spcAft>
                <a:spcPts val="0"/>
              </a:spcAft>
              <a:defRPr sz="1100" b="0">
                <a:solidFill>
                  <a:srgbClr val="5B6B7B"/>
                </a:solidFill>
                <a:latin typeface="Noto Sans"/>
              </a:defRPr>
            </a:pPr>
            <a:r>
              <a:t>23,8</a:t>
            </a:r>
          </a:p>
        </p:txBody>
      </p:sp>
      <p:sp>
        <p:nvSpPr>
          <p:cNvPr id="42" name="Rectangle 41"/>
          <p:cNvSpPr/>
          <p:nvPr/>
        </p:nvSpPr>
        <p:spPr>
          <a:xfrm>
            <a:off x="914400" y="5559552"/>
            <a:ext cx="164592" cy="109728"/>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TextBox 42"/>
          <p:cNvSpPr txBox="1"/>
          <p:nvPr/>
        </p:nvSpPr>
        <p:spPr>
          <a:xfrm>
            <a:off x="1188720" y="5486400"/>
            <a:ext cx="3291840" cy="274320"/>
          </a:xfrm>
          <a:prstGeom prst="rect">
            <a:avLst/>
          </a:prstGeom>
          <a:noFill/>
        </p:spPr>
        <p:txBody>
          <a:bodyPr wrap="square" lIns="0" rIns="0" tIns="0" bIns="0" anchor="t">
            <a:spAutoFit/>
          </a:bodyPr>
          <a:lstStyle/>
          <a:p>
            <a:pPr algn="l">
              <a:lnSpc>
                <a:spcPct val="112000"/>
              </a:lnSpc>
              <a:spcBef>
                <a:spcPts val="0"/>
              </a:spcBef>
              <a:spcAft>
                <a:spcPts val="0"/>
              </a:spcAft>
              <a:defRPr sz="1200" b="0">
                <a:solidFill>
                  <a:srgbClr val="5B6B7B"/>
                </a:solidFill>
                <a:latin typeface="Noto Sans"/>
              </a:defRPr>
            </a:pPr>
            <a:r>
              <a:t>Lành: hộp Q1–Q3</a:t>
            </a:r>
          </a:p>
        </p:txBody>
      </p:sp>
      <p:sp>
        <p:nvSpPr>
          <p:cNvPr id="44" name="Rectangle 43"/>
          <p:cNvSpPr/>
          <p:nvPr/>
        </p:nvSpPr>
        <p:spPr>
          <a:xfrm>
            <a:off x="4251960" y="5559552"/>
            <a:ext cx="164592" cy="109728"/>
          </a:xfrm>
          <a:prstGeom prst="rect">
            <a:avLst/>
          </a:prstGeom>
          <a:solidFill>
            <a:srgbClr val="C8644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TextBox 44"/>
          <p:cNvSpPr txBox="1"/>
          <p:nvPr/>
        </p:nvSpPr>
        <p:spPr>
          <a:xfrm>
            <a:off x="4526280" y="5486400"/>
            <a:ext cx="3291840" cy="274320"/>
          </a:xfrm>
          <a:prstGeom prst="rect">
            <a:avLst/>
          </a:prstGeom>
          <a:noFill/>
        </p:spPr>
        <p:txBody>
          <a:bodyPr wrap="square" lIns="0" rIns="0" tIns="0" bIns="0" anchor="t">
            <a:spAutoFit/>
          </a:bodyPr>
          <a:lstStyle/>
          <a:p>
            <a:pPr algn="l">
              <a:lnSpc>
                <a:spcPct val="112000"/>
              </a:lnSpc>
              <a:spcBef>
                <a:spcPts val="0"/>
              </a:spcBef>
              <a:spcAft>
                <a:spcPts val="0"/>
              </a:spcAft>
              <a:defRPr sz="1200" b="0">
                <a:solidFill>
                  <a:srgbClr val="5B6B7B"/>
                </a:solidFill>
                <a:latin typeface="Noto Sans"/>
              </a:defRPr>
            </a:pPr>
            <a:r>
              <a:t>Ác: hộp Q1–Q3</a:t>
            </a:r>
          </a:p>
        </p:txBody>
      </p:sp>
      <p:sp>
        <p:nvSpPr>
          <p:cNvPr id="46" name="Rectangle 45"/>
          <p:cNvSpPr/>
          <p:nvPr/>
        </p:nvSpPr>
        <p:spPr>
          <a:xfrm>
            <a:off x="7680960" y="5559552"/>
            <a:ext cx="164592" cy="109728"/>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TextBox 46"/>
          <p:cNvSpPr txBox="1"/>
          <p:nvPr/>
        </p:nvSpPr>
        <p:spPr>
          <a:xfrm>
            <a:off x="7955280" y="5486400"/>
            <a:ext cx="3291840" cy="274320"/>
          </a:xfrm>
          <a:prstGeom prst="rect">
            <a:avLst/>
          </a:prstGeom>
          <a:noFill/>
        </p:spPr>
        <p:txBody>
          <a:bodyPr wrap="square" lIns="0" rIns="0" tIns="0" bIns="0" anchor="t">
            <a:spAutoFit/>
          </a:bodyPr>
          <a:lstStyle/>
          <a:p>
            <a:pPr algn="l">
              <a:lnSpc>
                <a:spcPct val="112000"/>
              </a:lnSpc>
              <a:spcBef>
                <a:spcPts val="0"/>
              </a:spcBef>
              <a:spcAft>
                <a:spcPts val="0"/>
              </a:spcAft>
              <a:defRPr sz="1200" b="0">
                <a:solidFill>
                  <a:srgbClr val="5B6B7B"/>
                </a:solidFill>
                <a:latin typeface="Noto Sans"/>
              </a:defRPr>
            </a:pPr>
            <a:r>
              <a:t>◆ Mẫu 291</a:t>
            </a:r>
          </a:p>
        </p:txBody>
      </p:sp>
      <p:sp>
        <p:nvSpPr>
          <p:cNvPr id="48" name="Rounded Rectangle 47"/>
          <p:cNvSpPr/>
          <p:nvPr/>
        </p:nvSpPr>
        <p:spPr>
          <a:xfrm>
            <a:off x="566928" y="5925312"/>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TextBox 48"/>
          <p:cNvSpPr txBox="1"/>
          <p:nvPr/>
        </p:nvSpPr>
        <p:spPr>
          <a:xfrm>
            <a:off x="749808" y="6021324"/>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Mỗi hàng có thang riêng. Ba đặc trưng minh họa chưa đủ giải thích toàn bộ không gian 30 chiều.</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06 / PHÂN TÍCH BỔ SUNG TRÊN TRAIN</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Đối chứng 2 × 2 để tách hai yếu tố</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experiments/controlled_comparison.py · 426 train · test 143 không tham gia</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20</a:t>
            </a:r>
          </a:p>
        </p:txBody>
      </p:sp>
      <p:sp>
        <p:nvSpPr>
          <p:cNvPr id="8" name="Rectangle 7"/>
          <p:cNvSpPr/>
          <p:nvPr/>
        </p:nvSpPr>
        <p:spPr>
          <a:xfrm>
            <a:off x="10671048"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85800" y="1947672"/>
            <a:ext cx="3657600" cy="365760"/>
          </a:xfrm>
          <a:prstGeom prst="rect">
            <a:avLst/>
          </a:prstGeom>
          <a:noFill/>
        </p:spPr>
        <p:txBody>
          <a:bodyPr wrap="square" lIns="0" rIns="0" tIns="0" bIns="0" anchor="t">
            <a:spAutoFit/>
          </a:bodyPr>
          <a:lstStyle/>
          <a:p>
            <a:pPr algn="l">
              <a:lnSpc>
                <a:spcPct val="112000"/>
              </a:lnSpc>
              <a:spcBef>
                <a:spcPts val="0"/>
              </a:spcBef>
              <a:spcAft>
                <a:spcPts val="0"/>
              </a:spcAft>
              <a:defRPr sz="1200" b="1">
                <a:solidFill>
                  <a:srgbClr val="5B6B7B"/>
                </a:solidFill>
                <a:latin typeface="Noto Sans"/>
              </a:defRPr>
            </a:pPr>
            <a:r>
              <a:t>XÉT ĐẶC TRƯNG</a:t>
            </a:r>
          </a:p>
        </p:txBody>
      </p:sp>
      <p:sp>
        <p:nvSpPr>
          <p:cNvPr id="13" name="TextBox 12"/>
          <p:cNvSpPr txBox="1"/>
          <p:nvPr/>
        </p:nvSpPr>
        <p:spPr>
          <a:xfrm>
            <a:off x="3895344" y="1938528"/>
            <a:ext cx="3566160" cy="365760"/>
          </a:xfrm>
          <a:prstGeom prst="rect">
            <a:avLst/>
          </a:prstGeom>
          <a:noFill/>
        </p:spPr>
        <p:txBody>
          <a:bodyPr wrap="square" lIns="0" rIns="0" tIns="0" bIns="0" anchor="t">
            <a:spAutoFit/>
          </a:bodyPr>
          <a:lstStyle/>
          <a:p>
            <a:pPr algn="ctr">
              <a:lnSpc>
                <a:spcPct val="112000"/>
              </a:lnSpc>
              <a:spcBef>
                <a:spcPts val="0"/>
              </a:spcBef>
              <a:spcAft>
                <a:spcPts val="0"/>
              </a:spcAft>
              <a:defRPr sz="2200" b="1">
                <a:solidFill>
                  <a:srgbClr val="142D46"/>
                </a:solidFill>
                <a:latin typeface="Noto Sans"/>
              </a:defRPr>
            </a:pPr>
            <a:r>
              <a:t>Hard voting</a:t>
            </a:r>
          </a:p>
        </p:txBody>
      </p:sp>
      <p:sp>
        <p:nvSpPr>
          <p:cNvPr id="14" name="TextBox 13"/>
          <p:cNvSpPr txBox="1"/>
          <p:nvPr/>
        </p:nvSpPr>
        <p:spPr>
          <a:xfrm>
            <a:off x="7671816" y="1938528"/>
            <a:ext cx="3566160" cy="365760"/>
          </a:xfrm>
          <a:prstGeom prst="rect">
            <a:avLst/>
          </a:prstGeom>
          <a:noFill/>
        </p:spPr>
        <p:txBody>
          <a:bodyPr wrap="square" lIns="0" rIns="0" tIns="0" bIns="0" anchor="t">
            <a:spAutoFit/>
          </a:bodyPr>
          <a:lstStyle/>
          <a:p>
            <a:pPr algn="ctr">
              <a:lnSpc>
                <a:spcPct val="112000"/>
              </a:lnSpc>
              <a:spcBef>
                <a:spcPts val="0"/>
              </a:spcBef>
              <a:spcAft>
                <a:spcPts val="0"/>
              </a:spcAft>
              <a:defRPr sz="2200" b="1">
                <a:solidFill>
                  <a:srgbClr val="142D46"/>
                </a:solidFill>
                <a:latin typeface="Noto Sans"/>
              </a:defRPr>
            </a:pPr>
            <a:r>
              <a:t>Soft voting</a:t>
            </a:r>
          </a:p>
        </p:txBody>
      </p:sp>
      <p:sp>
        <p:nvSpPr>
          <p:cNvPr id="15" name="TextBox 14"/>
          <p:cNvSpPr txBox="1"/>
          <p:nvPr/>
        </p:nvSpPr>
        <p:spPr>
          <a:xfrm>
            <a:off x="685800" y="3017520"/>
            <a:ext cx="2926080" cy="365760"/>
          </a:xfrm>
          <a:prstGeom prst="rect">
            <a:avLst/>
          </a:prstGeom>
          <a:noFill/>
        </p:spPr>
        <p:txBody>
          <a:bodyPr wrap="square" lIns="0" rIns="0" tIns="0" bIns="0" anchor="t">
            <a:spAutoFit/>
          </a:bodyPr>
          <a:lstStyle/>
          <a:p>
            <a:pPr algn="l">
              <a:lnSpc>
                <a:spcPct val="112000"/>
              </a:lnSpc>
              <a:spcBef>
                <a:spcPts val="0"/>
              </a:spcBef>
              <a:spcAft>
                <a:spcPts val="0"/>
              </a:spcAft>
              <a:defRPr sz="2500" b="1">
                <a:solidFill>
                  <a:srgbClr val="087F82"/>
                </a:solidFill>
                <a:latin typeface="Noto Sans"/>
              </a:defRPr>
            </a:pPr>
            <a:r>
              <a:t>Toàn bộ</a:t>
            </a:r>
          </a:p>
        </p:txBody>
      </p:sp>
      <p:sp>
        <p:nvSpPr>
          <p:cNvPr id="16" name="Rounded Rectangle 15"/>
          <p:cNvSpPr/>
          <p:nvPr/>
        </p:nvSpPr>
        <p:spPr>
          <a:xfrm>
            <a:off x="3767328" y="2788920"/>
            <a:ext cx="3566160" cy="841248"/>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3931920" y="3035808"/>
            <a:ext cx="3236976" cy="365760"/>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42D46"/>
                </a:solidFill>
                <a:latin typeface="Noto Sans"/>
              </a:defRPr>
            </a:pPr>
            <a:r>
              <a:t>51 cây · cùng độ sâu</a:t>
            </a:r>
          </a:p>
        </p:txBody>
      </p:sp>
      <p:sp>
        <p:nvSpPr>
          <p:cNvPr id="18" name="Rounded Rectangle 17"/>
          <p:cNvSpPr/>
          <p:nvPr/>
        </p:nvSpPr>
        <p:spPr>
          <a:xfrm>
            <a:off x="7543800" y="2788920"/>
            <a:ext cx="3566160" cy="841248"/>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7708392" y="3035808"/>
            <a:ext cx="3236976" cy="365760"/>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42D46"/>
                </a:solidFill>
                <a:latin typeface="Noto Sans"/>
              </a:defRPr>
            </a:pPr>
            <a:r>
              <a:t>51 cây · cùng độ sâu</a:t>
            </a:r>
          </a:p>
        </p:txBody>
      </p:sp>
      <p:sp>
        <p:nvSpPr>
          <p:cNvPr id="20" name="TextBox 19"/>
          <p:cNvSpPr txBox="1"/>
          <p:nvPr/>
        </p:nvSpPr>
        <p:spPr>
          <a:xfrm>
            <a:off x="685800" y="4041648"/>
            <a:ext cx="2926080" cy="365760"/>
          </a:xfrm>
          <a:prstGeom prst="rect">
            <a:avLst/>
          </a:prstGeom>
          <a:noFill/>
        </p:spPr>
        <p:txBody>
          <a:bodyPr wrap="square" lIns="0" rIns="0" tIns="0" bIns="0" anchor="t">
            <a:spAutoFit/>
          </a:bodyPr>
          <a:lstStyle/>
          <a:p>
            <a:pPr algn="l">
              <a:lnSpc>
                <a:spcPct val="112000"/>
              </a:lnSpc>
              <a:spcBef>
                <a:spcPts val="0"/>
              </a:spcBef>
              <a:spcAft>
                <a:spcPts val="0"/>
              </a:spcAft>
              <a:defRPr sz="2500" b="1">
                <a:solidFill>
                  <a:srgbClr val="087F82"/>
                </a:solidFill>
                <a:latin typeface="Noto Sans"/>
              </a:defRPr>
            </a:pPr>
            <a:r>
              <a:t>sqrt</a:t>
            </a:r>
          </a:p>
        </p:txBody>
      </p:sp>
      <p:sp>
        <p:nvSpPr>
          <p:cNvPr id="21" name="Rounded Rectangle 20"/>
          <p:cNvSpPr/>
          <p:nvPr/>
        </p:nvSpPr>
        <p:spPr>
          <a:xfrm>
            <a:off x="3767328" y="3813048"/>
            <a:ext cx="3566160" cy="841248"/>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3931920" y="4059935"/>
            <a:ext cx="3236976" cy="365760"/>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42D46"/>
                </a:solidFill>
                <a:latin typeface="Noto Sans"/>
              </a:defRPr>
            </a:pPr>
            <a:r>
              <a:t>51 cây · cùng độ sâu</a:t>
            </a:r>
          </a:p>
        </p:txBody>
      </p:sp>
      <p:sp>
        <p:nvSpPr>
          <p:cNvPr id="23" name="Rounded Rectangle 22"/>
          <p:cNvSpPr/>
          <p:nvPr/>
        </p:nvSpPr>
        <p:spPr>
          <a:xfrm>
            <a:off x="7543800" y="3813048"/>
            <a:ext cx="3566160" cy="841248"/>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7708392" y="4059935"/>
            <a:ext cx="3236976" cy="365760"/>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42D46"/>
                </a:solidFill>
                <a:latin typeface="Noto Sans"/>
              </a:defRPr>
            </a:pPr>
            <a:r>
              <a:t>51 cây · cùng độ sâu</a:t>
            </a:r>
          </a:p>
        </p:txBody>
      </p:sp>
      <p:sp>
        <p:nvSpPr>
          <p:cNvPr id="25" name="TextBox 24"/>
          <p:cNvSpPr txBox="1"/>
          <p:nvPr/>
        </p:nvSpPr>
        <p:spPr>
          <a:xfrm>
            <a:off x="685800" y="5111496"/>
            <a:ext cx="10881360" cy="393192"/>
          </a:xfrm>
          <a:prstGeom prst="rect">
            <a:avLst/>
          </a:prstGeom>
          <a:noFill/>
        </p:spPr>
        <p:txBody>
          <a:bodyPr wrap="square" lIns="0" rIns="0" tIns="0" bIns="0" anchor="t">
            <a:spAutoFit/>
          </a:bodyPr>
          <a:lstStyle/>
          <a:p>
            <a:pPr algn="l">
              <a:lnSpc>
                <a:spcPct val="112000"/>
              </a:lnSpc>
              <a:spcBef>
                <a:spcPts val="0"/>
              </a:spcBef>
              <a:spcAft>
                <a:spcPts val="0"/>
              </a:spcAft>
              <a:defRPr sz="1850" b="0">
                <a:solidFill>
                  <a:srgbClr val="5B6B7B"/>
                </a:solidFill>
                <a:latin typeface="Noto Sans"/>
              </a:defRPr>
            </a:pPr>
            <a:r>
              <a:t>Giữ chung: fold · bootstrap · seed từng cây. Hard/soft dùng cùng cây đã học.</a:t>
            </a:r>
          </a:p>
        </p:txBody>
      </p:sp>
      <p:sp>
        <p:nvSpPr>
          <p:cNvPr id="26" name="Rounded Rectangle 25"/>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Nhóm sqrt là Bagging tự xây có ngẫu nhiên hóa đặc trưng; không đồng nhất với RF sklearn.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06 / KẾT QUẢ ĐỐI CHỨNG</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Thay quy tắc tổng hợp chưa đem lại cải thiện</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controlled_comparison_summary.csv · balanced accuracy CV · 5 fold trên train</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21</a:t>
            </a:r>
          </a:p>
        </p:txBody>
      </p:sp>
      <p:sp>
        <p:nvSpPr>
          <p:cNvPr id="8" name="Rectangle 7"/>
          <p:cNvSpPr/>
          <p:nvPr/>
        </p:nvSpPr>
        <p:spPr>
          <a:xfrm>
            <a:off x="10671048"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612648" y="1901952"/>
            <a:ext cx="3017520" cy="621792"/>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768096" y="2048256"/>
            <a:ext cx="2706624" cy="457200"/>
          </a:xfrm>
          <a:prstGeom prst="rect">
            <a:avLst/>
          </a:prstGeom>
          <a:noFill/>
        </p:spPr>
        <p:txBody>
          <a:bodyPr wrap="square" lIns="0" rIns="0" tIns="0" bIns="0" anchor="t">
            <a:spAutoFit/>
          </a:bodyPr>
          <a:lstStyle/>
          <a:p>
            <a:pPr algn="l">
              <a:lnSpc>
                <a:spcPct val="112000"/>
              </a:lnSpc>
              <a:spcBef>
                <a:spcPts val="0"/>
              </a:spcBef>
              <a:spcAft>
                <a:spcPts val="0"/>
              </a:spcAft>
              <a:defRPr sz="1900" b="1">
                <a:solidFill>
                  <a:srgbClr val="FFFFFF"/>
                </a:solidFill>
                <a:latin typeface="Noto Sans"/>
              </a:defRPr>
            </a:pPr>
            <a:r>
              <a:t>Xét đặc trưng</a:t>
            </a:r>
          </a:p>
        </p:txBody>
      </p:sp>
      <p:sp>
        <p:nvSpPr>
          <p:cNvPr id="14" name="Rectangle 13"/>
          <p:cNvSpPr/>
          <p:nvPr/>
        </p:nvSpPr>
        <p:spPr>
          <a:xfrm>
            <a:off x="3630168" y="1901952"/>
            <a:ext cx="2514600" cy="621792"/>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3785615" y="2048256"/>
            <a:ext cx="2203704" cy="457200"/>
          </a:xfrm>
          <a:prstGeom prst="rect">
            <a:avLst/>
          </a:prstGeom>
          <a:noFill/>
        </p:spPr>
        <p:txBody>
          <a:bodyPr wrap="square" lIns="0" rIns="0" tIns="0" bIns="0" anchor="t">
            <a:spAutoFit/>
          </a:bodyPr>
          <a:lstStyle/>
          <a:p>
            <a:pPr algn="ctr">
              <a:lnSpc>
                <a:spcPct val="112000"/>
              </a:lnSpc>
              <a:spcBef>
                <a:spcPts val="0"/>
              </a:spcBef>
              <a:spcAft>
                <a:spcPts val="0"/>
              </a:spcAft>
              <a:defRPr sz="1900" b="1">
                <a:solidFill>
                  <a:srgbClr val="FFFFFF"/>
                </a:solidFill>
                <a:latin typeface="Noto Sans"/>
              </a:defRPr>
            </a:pPr>
            <a:r>
              <a:t>Tổng hợp</a:t>
            </a:r>
          </a:p>
        </p:txBody>
      </p:sp>
      <p:sp>
        <p:nvSpPr>
          <p:cNvPr id="16" name="Rectangle 15"/>
          <p:cNvSpPr/>
          <p:nvPr/>
        </p:nvSpPr>
        <p:spPr>
          <a:xfrm>
            <a:off x="6144768" y="1901952"/>
            <a:ext cx="5394960" cy="621792"/>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6300216" y="2048256"/>
            <a:ext cx="5084064" cy="457200"/>
          </a:xfrm>
          <a:prstGeom prst="rect">
            <a:avLst/>
          </a:prstGeom>
          <a:noFill/>
        </p:spPr>
        <p:txBody>
          <a:bodyPr wrap="square" lIns="0" rIns="0" tIns="0" bIns="0" anchor="t">
            <a:spAutoFit/>
          </a:bodyPr>
          <a:lstStyle/>
          <a:p>
            <a:pPr algn="ctr">
              <a:lnSpc>
                <a:spcPct val="112000"/>
              </a:lnSpc>
              <a:spcBef>
                <a:spcPts val="0"/>
              </a:spcBef>
              <a:spcAft>
                <a:spcPts val="0"/>
              </a:spcAft>
              <a:defRPr sz="1900" b="1">
                <a:solidFill>
                  <a:srgbClr val="FFFFFF"/>
                </a:solidFill>
                <a:latin typeface="Noto Sans"/>
              </a:defRPr>
            </a:pPr>
            <a:r>
              <a:t>BA CV (%) · trung bình ± SD</a:t>
            </a:r>
          </a:p>
        </p:txBody>
      </p:sp>
      <p:sp>
        <p:nvSpPr>
          <p:cNvPr id="18" name="Rectangle 17"/>
          <p:cNvSpPr/>
          <p:nvPr/>
        </p:nvSpPr>
        <p:spPr>
          <a:xfrm>
            <a:off x="612648" y="2523744"/>
            <a:ext cx="3017520" cy="621792"/>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768096" y="2670048"/>
            <a:ext cx="2706624" cy="457200"/>
          </a:xfrm>
          <a:prstGeom prst="rect">
            <a:avLst/>
          </a:prstGeom>
          <a:noFill/>
        </p:spPr>
        <p:txBody>
          <a:bodyPr wrap="square" lIns="0" rIns="0" tIns="0" bIns="0" anchor="t">
            <a:spAutoFit/>
          </a:bodyPr>
          <a:lstStyle/>
          <a:p>
            <a:pPr algn="l">
              <a:lnSpc>
                <a:spcPct val="112000"/>
              </a:lnSpc>
              <a:spcBef>
                <a:spcPts val="0"/>
              </a:spcBef>
              <a:spcAft>
                <a:spcPts val="0"/>
              </a:spcAft>
              <a:defRPr sz="2000" b="1">
                <a:solidFill>
                  <a:srgbClr val="192F43"/>
                </a:solidFill>
                <a:latin typeface="Noto Sans"/>
              </a:defRPr>
            </a:pPr>
            <a:r>
              <a:t>Toàn bộ</a:t>
            </a:r>
          </a:p>
        </p:txBody>
      </p:sp>
      <p:sp>
        <p:nvSpPr>
          <p:cNvPr id="20" name="Rectangle 19"/>
          <p:cNvSpPr/>
          <p:nvPr/>
        </p:nvSpPr>
        <p:spPr>
          <a:xfrm>
            <a:off x="3630168" y="2523744"/>
            <a:ext cx="2514600" cy="621792"/>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3785615" y="2670048"/>
            <a:ext cx="2203704" cy="457200"/>
          </a:xfrm>
          <a:prstGeom prst="rect">
            <a:avLst/>
          </a:prstGeom>
          <a:noFill/>
        </p:spPr>
        <p:txBody>
          <a:bodyPr wrap="square" lIns="0" rIns="0" tIns="0" bIns="0" anchor="t">
            <a:spAutoFit/>
          </a:bodyPr>
          <a:lstStyle/>
          <a:p>
            <a:pPr algn="ctr">
              <a:lnSpc>
                <a:spcPct val="112000"/>
              </a:lnSpc>
              <a:spcBef>
                <a:spcPts val="0"/>
              </a:spcBef>
              <a:spcAft>
                <a:spcPts val="0"/>
              </a:spcAft>
              <a:defRPr sz="2000" b="1">
                <a:solidFill>
                  <a:srgbClr val="192F43"/>
                </a:solidFill>
                <a:latin typeface="Noto Sans"/>
              </a:defRPr>
            </a:pPr>
            <a:r>
              <a:t>Hard</a:t>
            </a:r>
          </a:p>
        </p:txBody>
      </p:sp>
      <p:sp>
        <p:nvSpPr>
          <p:cNvPr id="22" name="Rectangle 21"/>
          <p:cNvSpPr/>
          <p:nvPr/>
        </p:nvSpPr>
        <p:spPr>
          <a:xfrm>
            <a:off x="6144768" y="2523744"/>
            <a:ext cx="5394960" cy="621792"/>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6300216" y="2670048"/>
            <a:ext cx="5084064" cy="457200"/>
          </a:xfrm>
          <a:prstGeom prst="rect">
            <a:avLst/>
          </a:prstGeom>
          <a:noFill/>
        </p:spPr>
        <p:txBody>
          <a:bodyPr wrap="square" lIns="0" rIns="0" tIns="0" bIns="0" anchor="t">
            <a:spAutoFit/>
          </a:bodyPr>
          <a:lstStyle/>
          <a:p>
            <a:pPr algn="ctr">
              <a:lnSpc>
                <a:spcPct val="112000"/>
              </a:lnSpc>
              <a:spcBef>
                <a:spcPts val="0"/>
              </a:spcBef>
              <a:spcAft>
                <a:spcPts val="0"/>
              </a:spcAft>
              <a:defRPr sz="2000" b="1">
                <a:solidFill>
                  <a:srgbClr val="192F43"/>
                </a:solidFill>
                <a:latin typeface="Noto Sans"/>
              </a:defRPr>
            </a:pPr>
            <a:r>
              <a:t>95,26 ± 2,45</a:t>
            </a:r>
          </a:p>
        </p:txBody>
      </p:sp>
      <p:cxnSp>
        <p:nvCxnSpPr>
          <p:cNvPr id="24" name="Connector 23"/>
          <p:cNvCxnSpPr/>
          <p:nvPr/>
        </p:nvCxnSpPr>
        <p:spPr>
          <a:xfrm>
            <a:off x="612648" y="3145536"/>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25" name="Rectangle 24"/>
          <p:cNvSpPr/>
          <p:nvPr/>
        </p:nvSpPr>
        <p:spPr>
          <a:xfrm>
            <a:off x="612648" y="3145536"/>
            <a:ext cx="3017520" cy="621792"/>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768096" y="3291840"/>
            <a:ext cx="2706624" cy="457200"/>
          </a:xfrm>
          <a:prstGeom prst="rect">
            <a:avLst/>
          </a:prstGeom>
          <a:noFill/>
        </p:spPr>
        <p:txBody>
          <a:bodyPr wrap="square" lIns="0" rIns="0" tIns="0" bIns="0" anchor="t">
            <a:spAutoFit/>
          </a:bodyPr>
          <a:lstStyle/>
          <a:p>
            <a:pPr algn="l">
              <a:lnSpc>
                <a:spcPct val="112000"/>
              </a:lnSpc>
              <a:spcBef>
                <a:spcPts val="0"/>
              </a:spcBef>
              <a:spcAft>
                <a:spcPts val="0"/>
              </a:spcAft>
              <a:defRPr sz="2000" b="1">
                <a:solidFill>
                  <a:srgbClr val="192F43"/>
                </a:solidFill>
                <a:latin typeface="Noto Sans"/>
              </a:defRPr>
            </a:pPr>
            <a:r>
              <a:t>Toàn bộ</a:t>
            </a:r>
          </a:p>
        </p:txBody>
      </p:sp>
      <p:sp>
        <p:nvSpPr>
          <p:cNvPr id="27" name="Rectangle 26"/>
          <p:cNvSpPr/>
          <p:nvPr/>
        </p:nvSpPr>
        <p:spPr>
          <a:xfrm>
            <a:off x="3630168" y="3145536"/>
            <a:ext cx="2514600" cy="621792"/>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3785615" y="3291840"/>
            <a:ext cx="2203704" cy="457200"/>
          </a:xfrm>
          <a:prstGeom prst="rect">
            <a:avLst/>
          </a:prstGeom>
          <a:noFill/>
        </p:spPr>
        <p:txBody>
          <a:bodyPr wrap="square" lIns="0" rIns="0" tIns="0" bIns="0" anchor="t">
            <a:spAutoFit/>
          </a:bodyPr>
          <a:lstStyle/>
          <a:p>
            <a:pPr algn="ctr">
              <a:lnSpc>
                <a:spcPct val="112000"/>
              </a:lnSpc>
              <a:spcBef>
                <a:spcPts val="0"/>
              </a:spcBef>
              <a:spcAft>
                <a:spcPts val="0"/>
              </a:spcAft>
              <a:defRPr sz="2000" b="1">
                <a:solidFill>
                  <a:srgbClr val="192F43"/>
                </a:solidFill>
                <a:latin typeface="Noto Sans"/>
              </a:defRPr>
            </a:pPr>
            <a:r>
              <a:t>Soft</a:t>
            </a:r>
          </a:p>
        </p:txBody>
      </p:sp>
      <p:sp>
        <p:nvSpPr>
          <p:cNvPr id="29" name="Rectangle 28"/>
          <p:cNvSpPr/>
          <p:nvPr/>
        </p:nvSpPr>
        <p:spPr>
          <a:xfrm>
            <a:off x="6144768" y="3145536"/>
            <a:ext cx="5394960" cy="621792"/>
          </a:xfrm>
          <a:prstGeom prst="rect">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6300216" y="3291840"/>
            <a:ext cx="5084064" cy="457200"/>
          </a:xfrm>
          <a:prstGeom prst="rect">
            <a:avLst/>
          </a:prstGeom>
          <a:noFill/>
        </p:spPr>
        <p:txBody>
          <a:bodyPr wrap="square" lIns="0" rIns="0" tIns="0" bIns="0" anchor="t">
            <a:spAutoFit/>
          </a:bodyPr>
          <a:lstStyle/>
          <a:p>
            <a:pPr algn="ctr">
              <a:lnSpc>
                <a:spcPct val="112000"/>
              </a:lnSpc>
              <a:spcBef>
                <a:spcPts val="0"/>
              </a:spcBef>
              <a:spcAft>
                <a:spcPts val="0"/>
              </a:spcAft>
              <a:defRPr sz="2000" b="1">
                <a:solidFill>
                  <a:srgbClr val="192F43"/>
                </a:solidFill>
                <a:latin typeface="Noto Sans"/>
              </a:defRPr>
            </a:pPr>
            <a:r>
              <a:t>95,26 ± 2,45</a:t>
            </a:r>
          </a:p>
        </p:txBody>
      </p:sp>
      <p:cxnSp>
        <p:nvCxnSpPr>
          <p:cNvPr id="31" name="Connector 30"/>
          <p:cNvCxnSpPr/>
          <p:nvPr/>
        </p:nvCxnSpPr>
        <p:spPr>
          <a:xfrm>
            <a:off x="612648" y="3767328"/>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32" name="Rectangle 31"/>
          <p:cNvSpPr/>
          <p:nvPr/>
        </p:nvSpPr>
        <p:spPr>
          <a:xfrm>
            <a:off x="612648" y="3767328"/>
            <a:ext cx="3017520" cy="62179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768096" y="3913632"/>
            <a:ext cx="2706624" cy="457200"/>
          </a:xfrm>
          <a:prstGeom prst="rect">
            <a:avLst/>
          </a:prstGeom>
          <a:noFill/>
        </p:spPr>
        <p:txBody>
          <a:bodyPr wrap="square" lIns="0" rIns="0" tIns="0" bIns="0" anchor="t">
            <a:spAutoFit/>
          </a:bodyPr>
          <a:lstStyle/>
          <a:p>
            <a:pPr algn="l">
              <a:lnSpc>
                <a:spcPct val="112000"/>
              </a:lnSpc>
              <a:spcBef>
                <a:spcPts val="0"/>
              </a:spcBef>
              <a:spcAft>
                <a:spcPts val="0"/>
              </a:spcAft>
              <a:defRPr sz="2000" b="0">
                <a:solidFill>
                  <a:srgbClr val="192F43"/>
                </a:solidFill>
                <a:latin typeface="Noto Sans"/>
              </a:defRPr>
            </a:pPr>
            <a:r>
              <a:t>sqrt</a:t>
            </a:r>
          </a:p>
        </p:txBody>
      </p:sp>
      <p:sp>
        <p:nvSpPr>
          <p:cNvPr id="34" name="Rectangle 33"/>
          <p:cNvSpPr/>
          <p:nvPr/>
        </p:nvSpPr>
        <p:spPr>
          <a:xfrm>
            <a:off x="3630168" y="3767328"/>
            <a:ext cx="2514600" cy="62179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3785615" y="3913632"/>
            <a:ext cx="2203704" cy="457200"/>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92F43"/>
                </a:solidFill>
                <a:latin typeface="Noto Sans"/>
              </a:defRPr>
            </a:pPr>
            <a:r>
              <a:t>Hard</a:t>
            </a:r>
          </a:p>
        </p:txBody>
      </p:sp>
      <p:sp>
        <p:nvSpPr>
          <p:cNvPr id="36" name="Rectangle 35"/>
          <p:cNvSpPr/>
          <p:nvPr/>
        </p:nvSpPr>
        <p:spPr>
          <a:xfrm>
            <a:off x="6144768" y="3767328"/>
            <a:ext cx="5394960" cy="62179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6300216" y="3913632"/>
            <a:ext cx="5084064" cy="457200"/>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92F43"/>
                </a:solidFill>
                <a:latin typeface="Noto Sans"/>
              </a:defRPr>
            </a:pPr>
            <a:r>
              <a:t>93,62 ± 3,48</a:t>
            </a:r>
          </a:p>
        </p:txBody>
      </p:sp>
      <p:cxnSp>
        <p:nvCxnSpPr>
          <p:cNvPr id="38" name="Connector 37"/>
          <p:cNvCxnSpPr/>
          <p:nvPr/>
        </p:nvCxnSpPr>
        <p:spPr>
          <a:xfrm>
            <a:off x="612648" y="4389120"/>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39" name="Rectangle 38"/>
          <p:cNvSpPr/>
          <p:nvPr/>
        </p:nvSpPr>
        <p:spPr>
          <a:xfrm>
            <a:off x="612648" y="4389120"/>
            <a:ext cx="3017520" cy="621792"/>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TextBox 39"/>
          <p:cNvSpPr txBox="1"/>
          <p:nvPr/>
        </p:nvSpPr>
        <p:spPr>
          <a:xfrm>
            <a:off x="768096" y="4535424"/>
            <a:ext cx="2706624" cy="457200"/>
          </a:xfrm>
          <a:prstGeom prst="rect">
            <a:avLst/>
          </a:prstGeom>
          <a:noFill/>
        </p:spPr>
        <p:txBody>
          <a:bodyPr wrap="square" lIns="0" rIns="0" tIns="0" bIns="0" anchor="t">
            <a:spAutoFit/>
          </a:bodyPr>
          <a:lstStyle/>
          <a:p>
            <a:pPr algn="l">
              <a:lnSpc>
                <a:spcPct val="112000"/>
              </a:lnSpc>
              <a:spcBef>
                <a:spcPts val="0"/>
              </a:spcBef>
              <a:spcAft>
                <a:spcPts val="0"/>
              </a:spcAft>
              <a:defRPr sz="2000" b="0">
                <a:solidFill>
                  <a:srgbClr val="192F43"/>
                </a:solidFill>
                <a:latin typeface="Noto Sans"/>
              </a:defRPr>
            </a:pPr>
            <a:r>
              <a:t>sqrt</a:t>
            </a:r>
          </a:p>
        </p:txBody>
      </p:sp>
      <p:sp>
        <p:nvSpPr>
          <p:cNvPr id="41" name="Rectangle 40"/>
          <p:cNvSpPr/>
          <p:nvPr/>
        </p:nvSpPr>
        <p:spPr>
          <a:xfrm>
            <a:off x="3630168" y="4389120"/>
            <a:ext cx="2514600" cy="621792"/>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TextBox 41"/>
          <p:cNvSpPr txBox="1"/>
          <p:nvPr/>
        </p:nvSpPr>
        <p:spPr>
          <a:xfrm>
            <a:off x="3785615" y="4535424"/>
            <a:ext cx="2203704" cy="457200"/>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92F43"/>
                </a:solidFill>
                <a:latin typeface="Noto Sans"/>
              </a:defRPr>
            </a:pPr>
            <a:r>
              <a:t>Soft</a:t>
            </a:r>
          </a:p>
        </p:txBody>
      </p:sp>
      <p:sp>
        <p:nvSpPr>
          <p:cNvPr id="43" name="Rectangle 42"/>
          <p:cNvSpPr/>
          <p:nvPr/>
        </p:nvSpPr>
        <p:spPr>
          <a:xfrm>
            <a:off x="6144768" y="4389120"/>
            <a:ext cx="5394960" cy="621792"/>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6300216" y="4535424"/>
            <a:ext cx="5084064" cy="457200"/>
          </a:xfrm>
          <a:prstGeom prst="rect">
            <a:avLst/>
          </a:prstGeom>
          <a:noFill/>
        </p:spPr>
        <p:txBody>
          <a:bodyPr wrap="square" lIns="0" rIns="0" tIns="0" bIns="0" anchor="t">
            <a:spAutoFit/>
          </a:bodyPr>
          <a:lstStyle/>
          <a:p>
            <a:pPr algn="ctr">
              <a:lnSpc>
                <a:spcPct val="112000"/>
              </a:lnSpc>
              <a:spcBef>
                <a:spcPts val="0"/>
              </a:spcBef>
              <a:spcAft>
                <a:spcPts val="0"/>
              </a:spcAft>
              <a:defRPr sz="2000" b="0">
                <a:solidFill>
                  <a:srgbClr val="192F43"/>
                </a:solidFill>
                <a:latin typeface="Noto Sans"/>
              </a:defRPr>
            </a:pPr>
            <a:r>
              <a:t>93,44 ± 3,77</a:t>
            </a:r>
          </a:p>
        </p:txBody>
      </p:sp>
      <p:cxnSp>
        <p:nvCxnSpPr>
          <p:cNvPr id="45" name="Connector 44"/>
          <p:cNvCxnSpPr/>
          <p:nvPr/>
        </p:nvCxnSpPr>
        <p:spPr>
          <a:xfrm>
            <a:off x="612648" y="5010912"/>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46" name="TextBox 45"/>
          <p:cNvSpPr txBox="1"/>
          <p:nvPr/>
        </p:nvSpPr>
        <p:spPr>
          <a:xfrm>
            <a:off x="704088" y="5175504"/>
            <a:ext cx="10607040" cy="411480"/>
          </a:xfrm>
          <a:prstGeom prst="rect">
            <a:avLst/>
          </a:prstGeom>
          <a:noFill/>
        </p:spPr>
        <p:txBody>
          <a:bodyPr wrap="square" lIns="0" rIns="0" tIns="0" bIns="0" anchor="t">
            <a:spAutoFit/>
          </a:bodyPr>
          <a:lstStyle/>
          <a:p>
            <a:pPr algn="l">
              <a:lnSpc>
                <a:spcPct val="112000"/>
              </a:lnSpc>
              <a:spcBef>
                <a:spcPts val="0"/>
              </a:spcBef>
              <a:spcAft>
                <a:spcPts val="0"/>
              </a:spcAft>
              <a:defRPr sz="2000" b="0">
                <a:solidFill>
                  <a:srgbClr val="5B6B7B"/>
                </a:solidFill>
                <a:latin typeface="Noto Sans"/>
              </a:defRPr>
            </a:pPr>
            <a:r>
              <a:t>All: hard/soft trùng 426 nhãn. Sqrt: khác nhau ở 1/426 quan sát.</a:t>
            </a:r>
          </a:p>
        </p:txBody>
      </p:sp>
      <p:sp>
        <p:nvSpPr>
          <p:cNvPr id="47" name="Rounded Rectangle 46"/>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TextBox 47"/>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Giữ hard voting và đổi all → sqrt: BA trung bình giảm 1,63 điểm phần trăm trong khảo sát.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42D46"/>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8BE0CF"/>
                </a:solidFill>
                <a:latin typeface="Noto Sans"/>
              </a:defRPr>
            </a:pPr>
            <a:r>
              <a:t>06 / BÀI HỌC TỪ ĐỐI CHỨNG</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FFFFFF"/>
                </a:solidFill>
                <a:latin typeface="Noto Sans"/>
              </a:defRPr>
            </a:pPr>
            <a:r>
              <a:t>Đa dạng hơn chưa đủ: cây cơ sở cũng phải đủ tốt</a:t>
            </a:r>
          </a:p>
        </p:txBody>
      </p:sp>
      <p:cxnSp>
        <p:nvCxnSpPr>
          <p:cNvPr id="4" name="Connector 3"/>
          <p:cNvCxnSpPr/>
          <p:nvPr/>
        </p:nvCxnSpPr>
        <p:spPr>
          <a:xfrm>
            <a:off x="566928" y="6419088"/>
            <a:ext cx="11045952" cy="0"/>
          </a:xfrm>
          <a:prstGeom prst="line">
            <a:avLst/>
          </a:prstGeom>
          <a:ln w="8890">
            <a:solidFill>
              <a:srgbClr val="35516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8BE0CF"/>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B5CAD8"/>
                </a:solidFill>
                <a:latin typeface="Noto Sans"/>
              </a:defRPr>
            </a:pPr>
            <a:r>
              <a:t>controlled_comparison_summary.csv · số trung bình qua 5 fold</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8BE0CF"/>
                </a:solidFill>
                <a:latin typeface="Noto Sans"/>
              </a:defRPr>
            </a:pPr>
            <a:r>
              <a:t>22</a:t>
            </a:r>
          </a:p>
        </p:txBody>
      </p:sp>
      <p:sp>
        <p:nvSpPr>
          <p:cNvPr id="8" name="Rectangle 7"/>
          <p:cNvSpPr/>
          <p:nvPr/>
        </p:nvSpPr>
        <p:spPr>
          <a:xfrm>
            <a:off x="10671048" y="329184"/>
            <a:ext cx="164592" cy="32004"/>
          </a:xfrm>
          <a:prstGeom prst="rect">
            <a:avLst/>
          </a:prstGeom>
          <a:solidFill>
            <a:srgbClr val="35516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35516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35516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8BE0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76656" y="1993392"/>
            <a:ext cx="484632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8BE0CF"/>
                </a:solidFill>
                <a:latin typeface="Noto Sans"/>
              </a:defRPr>
            </a:pPr>
            <a:r>
              <a:t>BẤT ĐỒNG GIỮA CÁC CÂY</a:t>
            </a:r>
          </a:p>
        </p:txBody>
      </p:sp>
      <p:sp>
        <p:nvSpPr>
          <p:cNvPr id="13" name="TextBox 12"/>
          <p:cNvSpPr txBox="1"/>
          <p:nvPr/>
        </p:nvSpPr>
        <p:spPr>
          <a:xfrm>
            <a:off x="676656" y="2816352"/>
            <a:ext cx="4846320" cy="704088"/>
          </a:xfrm>
          <a:prstGeom prst="rect">
            <a:avLst/>
          </a:prstGeom>
          <a:noFill/>
        </p:spPr>
        <p:txBody>
          <a:bodyPr wrap="square" lIns="0" rIns="0" tIns="0" bIns="0" anchor="t">
            <a:spAutoFit/>
          </a:bodyPr>
          <a:lstStyle/>
          <a:p>
            <a:pPr algn="l">
              <a:lnSpc>
                <a:spcPct val="112000"/>
              </a:lnSpc>
              <a:spcBef>
                <a:spcPts val="0"/>
              </a:spcBef>
              <a:spcAft>
                <a:spcPts val="0"/>
              </a:spcAft>
              <a:defRPr sz="4300" b="1">
                <a:solidFill>
                  <a:srgbClr val="FFFFFF"/>
                </a:solidFill>
                <a:latin typeface="Noto Sans"/>
              </a:defRPr>
            </a:pPr>
            <a:r>
              <a:t>7,99%</a:t>
            </a:r>
          </a:p>
        </p:txBody>
      </p:sp>
      <p:sp>
        <p:nvSpPr>
          <p:cNvPr id="14" name="TextBox 13"/>
          <p:cNvSpPr txBox="1"/>
          <p:nvPr/>
        </p:nvSpPr>
        <p:spPr>
          <a:xfrm>
            <a:off x="676656" y="3703320"/>
            <a:ext cx="4846320" cy="704088"/>
          </a:xfrm>
          <a:prstGeom prst="rect">
            <a:avLst/>
          </a:prstGeom>
          <a:noFill/>
        </p:spPr>
        <p:txBody>
          <a:bodyPr wrap="square" lIns="0" rIns="0" tIns="0" bIns="0" anchor="t">
            <a:spAutoFit/>
          </a:bodyPr>
          <a:lstStyle/>
          <a:p>
            <a:pPr algn="l">
              <a:lnSpc>
                <a:spcPct val="112000"/>
              </a:lnSpc>
              <a:spcBef>
                <a:spcPts val="0"/>
              </a:spcBef>
              <a:spcAft>
                <a:spcPts val="0"/>
              </a:spcAft>
              <a:defRPr sz="4300" b="1">
                <a:solidFill>
                  <a:srgbClr val="8BE0CF"/>
                </a:solidFill>
                <a:latin typeface="Noto Sans"/>
              </a:defRPr>
            </a:pPr>
            <a:r>
              <a:t>→ 10,52%</a:t>
            </a:r>
          </a:p>
        </p:txBody>
      </p:sp>
      <p:sp>
        <p:nvSpPr>
          <p:cNvPr id="15" name="TextBox 14"/>
          <p:cNvSpPr txBox="1"/>
          <p:nvPr/>
        </p:nvSpPr>
        <p:spPr>
          <a:xfrm>
            <a:off x="676656" y="4800600"/>
            <a:ext cx="4846320" cy="457200"/>
          </a:xfrm>
          <a:prstGeom prst="rect">
            <a:avLst/>
          </a:prstGeom>
          <a:noFill/>
        </p:spPr>
        <p:txBody>
          <a:bodyPr wrap="square" lIns="0" rIns="0" tIns="0" bIns="0" anchor="t">
            <a:spAutoFit/>
          </a:bodyPr>
          <a:lstStyle/>
          <a:p>
            <a:pPr algn="l">
              <a:lnSpc>
                <a:spcPct val="112000"/>
              </a:lnSpc>
              <a:spcBef>
                <a:spcPts val="0"/>
              </a:spcBef>
              <a:spcAft>
                <a:spcPts val="0"/>
              </a:spcAft>
              <a:defRPr sz="1900" b="0">
                <a:solidFill>
                  <a:srgbClr val="C5D6E1"/>
                </a:solidFill>
                <a:latin typeface="Noto Sans"/>
              </a:defRPr>
            </a:pPr>
            <a:r>
              <a:t>D tăng khi dùng sqrt</a:t>
            </a:r>
          </a:p>
        </p:txBody>
      </p:sp>
      <p:sp>
        <p:nvSpPr>
          <p:cNvPr id="16" name="TextBox 15"/>
          <p:cNvSpPr txBox="1"/>
          <p:nvPr/>
        </p:nvSpPr>
        <p:spPr>
          <a:xfrm>
            <a:off x="6510528" y="1993392"/>
            <a:ext cx="484632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F0AB92"/>
                </a:solidFill>
                <a:latin typeface="Noto Sans"/>
              </a:defRPr>
            </a:pPr>
            <a:r>
              <a:t>CHẤT LƯỢNG MỘT CÂY</a:t>
            </a:r>
          </a:p>
        </p:txBody>
      </p:sp>
      <p:sp>
        <p:nvSpPr>
          <p:cNvPr id="17" name="TextBox 16"/>
          <p:cNvSpPr txBox="1"/>
          <p:nvPr/>
        </p:nvSpPr>
        <p:spPr>
          <a:xfrm>
            <a:off x="6510528" y="2816352"/>
            <a:ext cx="4846320" cy="704088"/>
          </a:xfrm>
          <a:prstGeom prst="rect">
            <a:avLst/>
          </a:prstGeom>
          <a:noFill/>
        </p:spPr>
        <p:txBody>
          <a:bodyPr wrap="square" lIns="0" rIns="0" tIns="0" bIns="0" anchor="t">
            <a:spAutoFit/>
          </a:bodyPr>
          <a:lstStyle/>
          <a:p>
            <a:pPr algn="l">
              <a:lnSpc>
                <a:spcPct val="112000"/>
              </a:lnSpc>
              <a:spcBef>
                <a:spcPts val="0"/>
              </a:spcBef>
              <a:spcAft>
                <a:spcPts val="0"/>
              </a:spcAft>
              <a:defRPr sz="4300" b="1">
                <a:solidFill>
                  <a:srgbClr val="FFFFFF"/>
                </a:solidFill>
                <a:latin typeface="Noto Sans"/>
              </a:defRPr>
            </a:pPr>
            <a:r>
              <a:t>91,67%</a:t>
            </a:r>
          </a:p>
        </p:txBody>
      </p:sp>
      <p:sp>
        <p:nvSpPr>
          <p:cNvPr id="18" name="TextBox 17"/>
          <p:cNvSpPr txBox="1"/>
          <p:nvPr/>
        </p:nvSpPr>
        <p:spPr>
          <a:xfrm>
            <a:off x="6510528" y="3703320"/>
            <a:ext cx="4846320" cy="704088"/>
          </a:xfrm>
          <a:prstGeom prst="rect">
            <a:avLst/>
          </a:prstGeom>
          <a:noFill/>
        </p:spPr>
        <p:txBody>
          <a:bodyPr wrap="square" lIns="0" rIns="0" tIns="0" bIns="0" anchor="t">
            <a:spAutoFit/>
          </a:bodyPr>
          <a:lstStyle/>
          <a:p>
            <a:pPr algn="l">
              <a:lnSpc>
                <a:spcPct val="112000"/>
              </a:lnSpc>
              <a:spcBef>
                <a:spcPts val="0"/>
              </a:spcBef>
              <a:spcAft>
                <a:spcPts val="0"/>
              </a:spcAft>
              <a:defRPr sz="4300" b="1">
                <a:solidFill>
                  <a:srgbClr val="F0AB92"/>
                </a:solidFill>
                <a:latin typeface="Noto Sans"/>
              </a:defRPr>
            </a:pPr>
            <a:r>
              <a:t>→ 89,75%</a:t>
            </a:r>
          </a:p>
        </p:txBody>
      </p:sp>
      <p:sp>
        <p:nvSpPr>
          <p:cNvPr id="19" name="TextBox 18"/>
          <p:cNvSpPr txBox="1"/>
          <p:nvPr/>
        </p:nvSpPr>
        <p:spPr>
          <a:xfrm>
            <a:off x="6510528" y="4800600"/>
            <a:ext cx="4846320" cy="457200"/>
          </a:xfrm>
          <a:prstGeom prst="rect">
            <a:avLst/>
          </a:prstGeom>
          <a:noFill/>
        </p:spPr>
        <p:txBody>
          <a:bodyPr wrap="square" lIns="0" rIns="0" tIns="0" bIns="0" anchor="t">
            <a:spAutoFit/>
          </a:bodyPr>
          <a:lstStyle/>
          <a:p>
            <a:pPr algn="l">
              <a:lnSpc>
                <a:spcPct val="112000"/>
              </a:lnSpc>
              <a:spcBef>
                <a:spcPts val="0"/>
              </a:spcBef>
              <a:spcAft>
                <a:spcPts val="0"/>
              </a:spcAft>
              <a:defRPr sz="1900" b="0">
                <a:solidFill>
                  <a:srgbClr val="C5D6E1"/>
                </a:solidFill>
                <a:latin typeface="Noto Sans"/>
              </a:defRPr>
            </a:pPr>
            <a:r>
              <a:t>Balanced accuracy trung bình giảm</a:t>
            </a:r>
          </a:p>
        </p:txBody>
      </p:sp>
      <p:sp>
        <p:nvSpPr>
          <p:cNvPr id="20" name="Rounded Rectangle 19"/>
          <p:cNvSpPr/>
          <p:nvPr/>
        </p:nvSpPr>
        <p:spPr>
          <a:xfrm>
            <a:off x="566928" y="5769864"/>
            <a:ext cx="11045952" cy="438912"/>
          </a:xfrm>
          <a:prstGeom prst="roundRect">
            <a:avLst>
              <a:gd name="adj" fmla="val 8000"/>
            </a:avLst>
          </a:prstGeom>
          <a:solidFill>
            <a:srgbClr val="213E5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8BE0CF"/>
                </a:solidFill>
                <a:latin typeface="Noto Sans"/>
              </a:defRPr>
            </a:pPr>
            <a:r>
              <a:t>Kết quả tổ hợp hard: 95,26% → 93,62%. Đây là quan sát trong cấu hình được kiểm soát.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07 / THẢO LUẬN</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Kết quả có thể tái lập, nhưng kết luận có giới hạn</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Mã, cấu hình và kết quả được cung cấp trong repository</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23</a:t>
            </a:r>
          </a:p>
        </p:txBody>
      </p:sp>
      <p:sp>
        <p:nvSpPr>
          <p:cNvPr id="8" name="Rectangle 7"/>
          <p:cNvSpPr/>
          <p:nvPr/>
        </p:nvSpPr>
        <p:spPr>
          <a:xfrm>
            <a:off x="10671048"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DCE4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ounded Rectangle 11"/>
          <p:cNvSpPr/>
          <p:nvPr/>
        </p:nvSpPr>
        <p:spPr>
          <a:xfrm>
            <a:off x="621792" y="1965960"/>
            <a:ext cx="3456432" cy="2852928"/>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41248" y="2304288"/>
            <a:ext cx="3017520" cy="731520"/>
          </a:xfrm>
          <a:prstGeom prst="rect">
            <a:avLst/>
          </a:prstGeom>
          <a:noFill/>
        </p:spPr>
        <p:txBody>
          <a:bodyPr wrap="square" lIns="0" rIns="0" tIns="0" bIns="0" anchor="t">
            <a:spAutoFit/>
          </a:bodyPr>
          <a:lstStyle/>
          <a:p>
            <a:pPr algn="l">
              <a:lnSpc>
                <a:spcPct val="112000"/>
              </a:lnSpc>
              <a:spcBef>
                <a:spcPts val="0"/>
              </a:spcBef>
              <a:spcAft>
                <a:spcPts val="0"/>
              </a:spcAft>
              <a:defRPr sz="2400" b="1">
                <a:solidFill>
                  <a:srgbClr val="142D46"/>
                </a:solidFill>
                <a:latin typeface="Noto Sans"/>
              </a:defRPr>
            </a:pPr>
            <a:r>
              <a:t>Chưa tuning riêng</a:t>
            </a:r>
          </a:p>
        </p:txBody>
      </p:sp>
      <p:sp>
        <p:nvSpPr>
          <p:cNvPr id="14" name="TextBox 13"/>
          <p:cNvSpPr txBox="1"/>
          <p:nvPr/>
        </p:nvSpPr>
        <p:spPr>
          <a:xfrm>
            <a:off x="841248" y="3374136"/>
            <a:ext cx="3017520" cy="1325880"/>
          </a:xfrm>
          <a:prstGeom prst="rect">
            <a:avLst/>
          </a:prstGeom>
          <a:noFill/>
        </p:spPr>
        <p:txBody>
          <a:bodyPr wrap="square" lIns="0" rIns="0" tIns="0" bIns="0" anchor="t">
            <a:spAutoFit/>
          </a:bodyPr>
          <a:lstStyle/>
          <a:p>
            <a:pPr algn="l">
              <a:lnSpc>
                <a:spcPct val="130000"/>
              </a:lnSpc>
              <a:spcBef>
                <a:spcPts val="0"/>
              </a:spcBef>
              <a:spcAft>
                <a:spcPts val="0"/>
              </a:spcAft>
              <a:defRPr sz="1800" b="0">
                <a:solidFill>
                  <a:srgbClr val="5B6B7B"/>
                </a:solidFill>
                <a:latin typeface="Noto Sans"/>
              </a:defRPr>
            </a:pPr>
            <a:r>
              <a:t>Độ sâu chọn bằng cây đơn</a:t>
            </a:r>
          </a:p>
          <a:p>
            <a:pPr algn="l">
              <a:lnSpc>
                <a:spcPct val="130000"/>
              </a:lnSpc>
              <a:spcBef>
                <a:spcPts val="0"/>
              </a:spcBef>
              <a:spcAft>
                <a:spcPts val="0"/>
              </a:spcAft>
              <a:defRPr sz="1800" b="0">
                <a:solidFill>
                  <a:srgbClr val="5B6B7B"/>
                </a:solidFill>
                <a:latin typeface="Noto Sans"/>
              </a:defRPr>
            </a:pPr>
            <a:r>
              <a:t>rồi dùng chung cho các mô hình.</a:t>
            </a:r>
          </a:p>
        </p:txBody>
      </p:sp>
      <p:sp>
        <p:nvSpPr>
          <p:cNvPr id="15" name="Rounded Rectangle 14"/>
          <p:cNvSpPr/>
          <p:nvPr/>
        </p:nvSpPr>
        <p:spPr>
          <a:xfrm>
            <a:off x="4398264" y="1965960"/>
            <a:ext cx="3456432" cy="2852928"/>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4617720" y="2304288"/>
            <a:ext cx="3017520" cy="731520"/>
          </a:xfrm>
          <a:prstGeom prst="rect">
            <a:avLst/>
          </a:prstGeom>
          <a:noFill/>
        </p:spPr>
        <p:txBody>
          <a:bodyPr wrap="square" lIns="0" rIns="0" tIns="0" bIns="0" anchor="t">
            <a:spAutoFit/>
          </a:bodyPr>
          <a:lstStyle/>
          <a:p>
            <a:pPr algn="l">
              <a:lnSpc>
                <a:spcPct val="112000"/>
              </a:lnSpc>
              <a:spcBef>
                <a:spcPts val="0"/>
              </a:spcBef>
              <a:spcAft>
                <a:spcPts val="0"/>
              </a:spcAft>
              <a:defRPr sz="2400" b="1">
                <a:solidFill>
                  <a:srgbClr val="142D46"/>
                </a:solidFill>
                <a:latin typeface="Noto Sans"/>
              </a:defRPr>
            </a:pPr>
            <a:r>
              <a:t>Các holdout giao nhau</a:t>
            </a:r>
          </a:p>
        </p:txBody>
      </p:sp>
      <p:sp>
        <p:nvSpPr>
          <p:cNvPr id="17" name="TextBox 16"/>
          <p:cNvSpPr txBox="1"/>
          <p:nvPr/>
        </p:nvSpPr>
        <p:spPr>
          <a:xfrm>
            <a:off x="4617720" y="3374136"/>
            <a:ext cx="3017520" cy="1325880"/>
          </a:xfrm>
          <a:prstGeom prst="rect">
            <a:avLst/>
          </a:prstGeom>
          <a:noFill/>
        </p:spPr>
        <p:txBody>
          <a:bodyPr wrap="square" lIns="0" rIns="0" tIns="0" bIns="0" anchor="t">
            <a:spAutoFit/>
          </a:bodyPr>
          <a:lstStyle/>
          <a:p>
            <a:pPr algn="l">
              <a:lnSpc>
                <a:spcPct val="130000"/>
              </a:lnSpc>
              <a:spcBef>
                <a:spcPts val="0"/>
              </a:spcBef>
              <a:spcAft>
                <a:spcPts val="0"/>
              </a:spcAft>
              <a:defRPr sz="1800" b="0">
                <a:solidFill>
                  <a:srgbClr val="5B6B7B"/>
                </a:solidFill>
                <a:latin typeface="Noto Sans"/>
              </a:defRPr>
            </a:pPr>
            <a:r>
              <a:t>SD mô tả dao động;</a:t>
            </a:r>
          </a:p>
          <a:p>
            <a:pPr algn="l">
              <a:lnSpc>
                <a:spcPct val="130000"/>
              </a:lnSpc>
              <a:spcBef>
                <a:spcPts val="0"/>
              </a:spcBef>
              <a:spcAft>
                <a:spcPts val="0"/>
              </a:spcAft>
              <a:defRPr sz="1800" b="0">
                <a:solidFill>
                  <a:srgbClr val="5B6B7B"/>
                </a:solidFill>
                <a:latin typeface="Noto Sans"/>
              </a:defRPr>
            </a:pPr>
            <a:r>
              <a:t>chưa phải khoảng tin cậy.</a:t>
            </a:r>
          </a:p>
        </p:txBody>
      </p:sp>
      <p:sp>
        <p:nvSpPr>
          <p:cNvPr id="18" name="Rounded Rectangle 17"/>
          <p:cNvSpPr/>
          <p:nvPr/>
        </p:nvSpPr>
        <p:spPr>
          <a:xfrm>
            <a:off x="8174736" y="1965960"/>
            <a:ext cx="3456432" cy="2852928"/>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394192" y="2304288"/>
            <a:ext cx="3017520" cy="731520"/>
          </a:xfrm>
          <a:prstGeom prst="rect">
            <a:avLst/>
          </a:prstGeom>
          <a:noFill/>
        </p:spPr>
        <p:txBody>
          <a:bodyPr wrap="square" lIns="0" rIns="0" tIns="0" bIns="0" anchor="t">
            <a:spAutoFit/>
          </a:bodyPr>
          <a:lstStyle/>
          <a:p>
            <a:pPr algn="l">
              <a:lnSpc>
                <a:spcPct val="112000"/>
              </a:lnSpc>
              <a:spcBef>
                <a:spcPts val="0"/>
              </a:spcBef>
              <a:spcAft>
                <a:spcPts val="0"/>
              </a:spcAft>
              <a:defRPr sz="2400" b="1">
                <a:solidFill>
                  <a:srgbClr val="142D46"/>
                </a:solidFill>
                <a:latin typeface="Noto Sans"/>
              </a:defRPr>
            </a:pPr>
            <a:r>
              <a:t>Phân tích bổ sung</a:t>
            </a:r>
          </a:p>
        </p:txBody>
      </p:sp>
      <p:sp>
        <p:nvSpPr>
          <p:cNvPr id="20" name="TextBox 19"/>
          <p:cNvSpPr txBox="1"/>
          <p:nvPr/>
        </p:nvSpPr>
        <p:spPr>
          <a:xfrm>
            <a:off x="8394192" y="3374136"/>
            <a:ext cx="3017520" cy="1325880"/>
          </a:xfrm>
          <a:prstGeom prst="rect">
            <a:avLst/>
          </a:prstGeom>
          <a:noFill/>
        </p:spPr>
        <p:txBody>
          <a:bodyPr wrap="square" lIns="0" rIns="0" tIns="0" bIns="0" anchor="t">
            <a:spAutoFit/>
          </a:bodyPr>
          <a:lstStyle/>
          <a:p>
            <a:pPr algn="l">
              <a:lnSpc>
                <a:spcPct val="130000"/>
              </a:lnSpc>
              <a:spcBef>
                <a:spcPts val="0"/>
              </a:spcBef>
              <a:spcAft>
                <a:spcPts val="0"/>
              </a:spcAft>
              <a:defRPr sz="1800" b="0">
                <a:solidFill>
                  <a:srgbClr val="5B6B7B"/>
                </a:solidFill>
                <a:latin typeface="Noto Sans"/>
              </a:defRPr>
            </a:pPr>
            <a:r>
              <a:t>Chỉ dùng train seed 42.</a:t>
            </a:r>
          </a:p>
          <a:p>
            <a:pPr algn="l">
              <a:lnSpc>
                <a:spcPct val="130000"/>
              </a:lnSpc>
              <a:spcBef>
                <a:spcPts val="0"/>
              </a:spcBef>
              <a:spcAft>
                <a:spcPts val="0"/>
              </a:spcAft>
              <a:defRPr sz="1800" b="0">
                <a:solidFill>
                  <a:srgbClr val="5B6B7B"/>
                </a:solidFill>
                <a:latin typeface="Noto Sans"/>
              </a:defRPr>
            </a:pPr>
            <a:r>
              <a:t>Chưa đánh giá trên</a:t>
            </a:r>
          </a:p>
          <a:p>
            <a:pPr algn="l">
              <a:lnSpc>
                <a:spcPct val="130000"/>
              </a:lnSpc>
              <a:spcBef>
                <a:spcPts val="0"/>
              </a:spcBef>
              <a:spcAft>
                <a:spcPts val="0"/>
              </a:spcAft>
              <a:defRPr sz="1800" b="0">
                <a:solidFill>
                  <a:srgbClr val="5B6B7B"/>
                </a:solidFill>
                <a:latin typeface="Noto Sans"/>
              </a:defRPr>
            </a:pPr>
            <a:r>
              <a:t>dữ liệu ngoài độc lập.</a:t>
            </a:r>
          </a:p>
        </p:txBody>
      </p:sp>
      <p:sp>
        <p:nvSpPr>
          <p:cNvPr id="21" name="TextBox 20"/>
          <p:cNvSpPr txBox="1"/>
          <p:nvPr/>
        </p:nvSpPr>
        <p:spPr>
          <a:xfrm>
            <a:off x="685800" y="4965192"/>
            <a:ext cx="3017520" cy="548640"/>
          </a:xfrm>
          <a:prstGeom prst="rect">
            <a:avLst/>
          </a:prstGeom>
          <a:noFill/>
        </p:spPr>
        <p:txBody>
          <a:bodyPr wrap="square" lIns="0" rIns="0" tIns="0" bIns="0" anchor="t">
            <a:spAutoFit/>
          </a:bodyPr>
          <a:lstStyle/>
          <a:p>
            <a:pPr algn="l">
              <a:lnSpc>
                <a:spcPct val="112000"/>
              </a:lnSpc>
              <a:spcBef>
                <a:spcPts val="0"/>
              </a:spcBef>
              <a:spcAft>
                <a:spcPts val="0"/>
              </a:spcAft>
              <a:defRPr sz="2800" b="1">
                <a:solidFill>
                  <a:srgbClr val="087F82"/>
                </a:solidFill>
                <a:latin typeface="Noto Sans"/>
              </a:defRPr>
            </a:pPr>
            <a:r>
              <a:t>26/26 kiểm thử</a:t>
            </a:r>
          </a:p>
        </p:txBody>
      </p:sp>
      <p:sp>
        <p:nvSpPr>
          <p:cNvPr id="22" name="TextBox 21">
            <a:hlinkClick r:id="rId2"/>
          </p:cNvPr>
          <p:cNvSpPr txBox="1"/>
          <p:nvPr/>
        </p:nvSpPr>
        <p:spPr>
          <a:xfrm>
            <a:off x="4572000" y="5074920"/>
            <a:ext cx="6720840" cy="411480"/>
          </a:xfrm>
          <a:prstGeom prst="rect">
            <a:avLst/>
          </a:prstGeom>
          <a:noFill/>
        </p:spPr>
        <p:txBody>
          <a:bodyPr wrap="square" lIns="0" rIns="0" tIns="0" bIns="0" anchor="t">
            <a:spAutoFit/>
          </a:bodyPr>
          <a:lstStyle/>
          <a:p>
            <a:pPr algn="l">
              <a:lnSpc>
                <a:spcPct val="112000"/>
              </a:lnSpc>
              <a:spcBef>
                <a:spcPts val="0"/>
              </a:spcBef>
              <a:spcAft>
                <a:spcPts val="0"/>
              </a:spcAft>
              <a:defRPr sz="2100" b="0">
                <a:solidFill>
                  <a:srgbClr val="416DC4"/>
                </a:solidFill>
                <a:latin typeface="Noto Sans"/>
              </a:defRPr>
            </a:pPr>
            <a:r>
              <a:t>github.com/Huyngaongow/hocmaygk</a:t>
            </a:r>
          </a:p>
        </p:txBody>
      </p:sp>
      <p:sp>
        <p:nvSpPr>
          <p:cNvPr id="23" name="Rounded Rectangle 22"/>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Bài minh họa phương pháp học máy; chưa đủ bằng chứng đánh giá hiệu quả chẩn đoán lâm sàng.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42D46"/>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8BE0CF"/>
                </a:solidFill>
                <a:latin typeface="Noto Sans"/>
              </a:defRPr>
            </a:pPr>
            <a:r>
              <a:t>07 / KẾT LUẬN VÀ TRAO ĐỔI</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FFFFFF"/>
                </a:solidFill>
                <a:latin typeface="Noto Sans"/>
              </a:defRPr>
            </a:pPr>
            <a:r>
              <a:t>Ba kết luận từ dữ liệu đã khảo sát</a:t>
            </a:r>
          </a:p>
        </p:txBody>
      </p:sp>
      <p:cxnSp>
        <p:nvCxnSpPr>
          <p:cNvPr id="4" name="Connector 3"/>
          <p:cNvCxnSpPr/>
          <p:nvPr/>
        </p:nvCxnSpPr>
        <p:spPr>
          <a:xfrm>
            <a:off x="566928" y="6419088"/>
            <a:ext cx="11045952" cy="0"/>
          </a:xfrm>
          <a:prstGeom prst="line">
            <a:avLst/>
          </a:prstGeom>
          <a:ln w="8890">
            <a:solidFill>
              <a:srgbClr val="35516A"/>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8BE0CF"/>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B5CAD8"/>
                </a:solidFill>
                <a:latin typeface="Noto Sans"/>
              </a:defRPr>
            </a:pPr>
            <a:r>
              <a:t>Cảm ơn thầy và các bạn · Slide 25–28 dành cho hỏi đáp</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8BE0CF"/>
                </a:solidFill>
                <a:latin typeface="Noto Sans"/>
              </a:defRPr>
            </a:pPr>
            <a:r>
              <a:t>24</a:t>
            </a:r>
          </a:p>
        </p:txBody>
      </p:sp>
      <p:sp>
        <p:nvSpPr>
          <p:cNvPr id="8" name="Rectangle 7"/>
          <p:cNvSpPr/>
          <p:nvPr/>
        </p:nvSpPr>
        <p:spPr>
          <a:xfrm>
            <a:off x="10671048" y="329184"/>
            <a:ext cx="164592" cy="32004"/>
          </a:xfrm>
          <a:prstGeom prst="rect">
            <a:avLst/>
          </a:prstGeom>
          <a:solidFill>
            <a:srgbClr val="35516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35516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35516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8BE0C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85800" y="1892807"/>
            <a:ext cx="548640" cy="502920"/>
          </a:xfrm>
          <a:prstGeom prst="rect">
            <a:avLst/>
          </a:prstGeom>
          <a:noFill/>
        </p:spPr>
        <p:txBody>
          <a:bodyPr wrap="square" lIns="0" rIns="0" tIns="0" bIns="0" anchor="t">
            <a:spAutoFit/>
          </a:bodyPr>
          <a:lstStyle/>
          <a:p>
            <a:pPr algn="l">
              <a:lnSpc>
                <a:spcPct val="112000"/>
              </a:lnSpc>
              <a:spcBef>
                <a:spcPts val="0"/>
              </a:spcBef>
              <a:spcAft>
                <a:spcPts val="0"/>
              </a:spcAft>
              <a:defRPr sz="2400" b="1">
                <a:solidFill>
                  <a:srgbClr val="8BE0CF"/>
                </a:solidFill>
                <a:latin typeface="Noto Sans"/>
              </a:defRPr>
            </a:pPr>
            <a:r>
              <a:t>01</a:t>
            </a:r>
          </a:p>
        </p:txBody>
      </p:sp>
      <p:sp>
        <p:nvSpPr>
          <p:cNvPr id="13" name="TextBox 12"/>
          <p:cNvSpPr txBox="1"/>
          <p:nvPr/>
        </p:nvSpPr>
        <p:spPr>
          <a:xfrm>
            <a:off x="1554480" y="1892807"/>
            <a:ext cx="9692640" cy="475488"/>
          </a:xfrm>
          <a:prstGeom prst="rect">
            <a:avLst/>
          </a:prstGeom>
          <a:noFill/>
        </p:spPr>
        <p:txBody>
          <a:bodyPr wrap="square" lIns="0" rIns="0" tIns="0" bIns="0" anchor="t">
            <a:spAutoFit/>
          </a:bodyPr>
          <a:lstStyle/>
          <a:p>
            <a:pPr algn="l">
              <a:lnSpc>
                <a:spcPct val="112000"/>
              </a:lnSpc>
              <a:spcBef>
                <a:spcPts val="0"/>
              </a:spcBef>
              <a:spcAft>
                <a:spcPts val="0"/>
              </a:spcAft>
              <a:defRPr sz="2700" b="1">
                <a:solidFill>
                  <a:srgbClr val="FFFFFF"/>
                </a:solidFill>
                <a:latin typeface="Noto Sans"/>
              </a:defRPr>
            </a:pPr>
            <a:r>
              <a:t>Bagging cải thiện so với cây đơn</a:t>
            </a:r>
          </a:p>
        </p:txBody>
      </p:sp>
      <p:sp>
        <p:nvSpPr>
          <p:cNvPr id="14" name="TextBox 13"/>
          <p:cNvSpPr txBox="1"/>
          <p:nvPr/>
        </p:nvSpPr>
        <p:spPr>
          <a:xfrm>
            <a:off x="1554480" y="2514600"/>
            <a:ext cx="9692640" cy="457200"/>
          </a:xfrm>
          <a:prstGeom prst="rect">
            <a:avLst/>
          </a:prstGeom>
          <a:noFill/>
        </p:spPr>
        <p:txBody>
          <a:bodyPr wrap="square" lIns="0" rIns="0" tIns="0" bIns="0" anchor="t">
            <a:spAutoFit/>
          </a:bodyPr>
          <a:lstStyle/>
          <a:p>
            <a:pPr algn="l">
              <a:lnSpc>
                <a:spcPct val="112000"/>
              </a:lnSpc>
              <a:spcBef>
                <a:spcPts val="0"/>
              </a:spcBef>
              <a:spcAft>
                <a:spcPts val="0"/>
              </a:spcAft>
              <a:defRPr sz="1900" b="0">
                <a:solidFill>
                  <a:srgbClr val="C5D6E1"/>
                </a:solidFill>
                <a:latin typeface="Noto Sans"/>
              </a:defRPr>
            </a:pPr>
            <a:r>
              <a:t>Accuracy cao hơn ở 9/10 lần chia; trung bình +1,96 điểm phần trăm.</a:t>
            </a:r>
          </a:p>
        </p:txBody>
      </p:sp>
      <p:sp>
        <p:nvSpPr>
          <p:cNvPr id="15" name="TextBox 14"/>
          <p:cNvSpPr txBox="1"/>
          <p:nvPr/>
        </p:nvSpPr>
        <p:spPr>
          <a:xfrm>
            <a:off x="685800" y="3191256"/>
            <a:ext cx="548640" cy="502920"/>
          </a:xfrm>
          <a:prstGeom prst="rect">
            <a:avLst/>
          </a:prstGeom>
          <a:noFill/>
        </p:spPr>
        <p:txBody>
          <a:bodyPr wrap="square" lIns="0" rIns="0" tIns="0" bIns="0" anchor="t">
            <a:spAutoFit/>
          </a:bodyPr>
          <a:lstStyle/>
          <a:p>
            <a:pPr algn="l">
              <a:lnSpc>
                <a:spcPct val="112000"/>
              </a:lnSpc>
              <a:spcBef>
                <a:spcPts val="0"/>
              </a:spcBef>
              <a:spcAft>
                <a:spcPts val="0"/>
              </a:spcAft>
              <a:defRPr sz="2400" b="1">
                <a:solidFill>
                  <a:srgbClr val="8BE0CF"/>
                </a:solidFill>
                <a:latin typeface="Noto Sans"/>
              </a:defRPr>
            </a:pPr>
            <a:r>
              <a:t>02</a:t>
            </a:r>
          </a:p>
        </p:txBody>
      </p:sp>
      <p:sp>
        <p:nvSpPr>
          <p:cNvPr id="16" name="TextBox 15"/>
          <p:cNvSpPr txBox="1"/>
          <p:nvPr/>
        </p:nvSpPr>
        <p:spPr>
          <a:xfrm>
            <a:off x="1554480" y="3191256"/>
            <a:ext cx="9692640" cy="475488"/>
          </a:xfrm>
          <a:prstGeom prst="rect">
            <a:avLst/>
          </a:prstGeom>
          <a:noFill/>
        </p:spPr>
        <p:txBody>
          <a:bodyPr wrap="square" lIns="0" rIns="0" tIns="0" bIns="0" anchor="t">
            <a:spAutoFit/>
          </a:bodyPr>
          <a:lstStyle/>
          <a:p>
            <a:pPr algn="l">
              <a:lnSpc>
                <a:spcPct val="112000"/>
              </a:lnSpc>
              <a:spcBef>
                <a:spcPts val="0"/>
              </a:spcBef>
              <a:spcAft>
                <a:spcPts val="0"/>
              </a:spcAft>
              <a:defRPr sz="2700" b="1">
                <a:solidFill>
                  <a:srgbClr val="FFFFFF"/>
                </a:solidFill>
                <a:latin typeface="Noto Sans"/>
              </a:defRPr>
            </a:pPr>
            <a:r>
              <a:t>Số cây cần được kiểm tra</a:t>
            </a:r>
          </a:p>
        </p:txBody>
      </p:sp>
      <p:sp>
        <p:nvSpPr>
          <p:cNvPr id="17" name="TextBox 16"/>
          <p:cNvSpPr txBox="1"/>
          <p:nvPr/>
        </p:nvSpPr>
        <p:spPr>
          <a:xfrm>
            <a:off x="1554480" y="3813048"/>
            <a:ext cx="9692640" cy="457200"/>
          </a:xfrm>
          <a:prstGeom prst="rect">
            <a:avLst/>
          </a:prstGeom>
          <a:noFill/>
        </p:spPr>
        <p:txBody>
          <a:bodyPr wrap="square" lIns="0" rIns="0" tIns="0" bIns="0" anchor="t">
            <a:spAutoFit/>
          </a:bodyPr>
          <a:lstStyle/>
          <a:p>
            <a:pPr algn="l">
              <a:lnSpc>
                <a:spcPct val="112000"/>
              </a:lnSpc>
              <a:spcBef>
                <a:spcPts val="0"/>
              </a:spcBef>
              <a:spcAft>
                <a:spcPts val="0"/>
              </a:spcAft>
              <a:defRPr sz="1900" b="0">
                <a:solidFill>
                  <a:srgbClr val="C5D6E1"/>
                </a:solidFill>
                <a:latin typeface="Noto Sans"/>
              </a:defRPr>
            </a:pPr>
            <a:r>
              <a:t>Tăng từ 51 lên 101 cây chưa cải thiện BA CV trong thiết kế đã chạy.</a:t>
            </a:r>
          </a:p>
        </p:txBody>
      </p:sp>
      <p:sp>
        <p:nvSpPr>
          <p:cNvPr id="18" name="TextBox 17"/>
          <p:cNvSpPr txBox="1"/>
          <p:nvPr/>
        </p:nvSpPr>
        <p:spPr>
          <a:xfrm>
            <a:off x="685800" y="4489704"/>
            <a:ext cx="548640" cy="502920"/>
          </a:xfrm>
          <a:prstGeom prst="rect">
            <a:avLst/>
          </a:prstGeom>
          <a:noFill/>
        </p:spPr>
        <p:txBody>
          <a:bodyPr wrap="square" lIns="0" rIns="0" tIns="0" bIns="0" anchor="t">
            <a:spAutoFit/>
          </a:bodyPr>
          <a:lstStyle/>
          <a:p>
            <a:pPr algn="l">
              <a:lnSpc>
                <a:spcPct val="112000"/>
              </a:lnSpc>
              <a:spcBef>
                <a:spcPts val="0"/>
              </a:spcBef>
              <a:spcAft>
                <a:spcPts val="0"/>
              </a:spcAft>
              <a:defRPr sz="2400" b="1">
                <a:solidFill>
                  <a:srgbClr val="8BE0CF"/>
                </a:solidFill>
                <a:latin typeface="Noto Sans"/>
              </a:defRPr>
            </a:pPr>
            <a:r>
              <a:t>03</a:t>
            </a:r>
          </a:p>
        </p:txBody>
      </p:sp>
      <p:sp>
        <p:nvSpPr>
          <p:cNvPr id="19" name="TextBox 18"/>
          <p:cNvSpPr txBox="1"/>
          <p:nvPr/>
        </p:nvSpPr>
        <p:spPr>
          <a:xfrm>
            <a:off x="1554480" y="4489704"/>
            <a:ext cx="9692640" cy="475488"/>
          </a:xfrm>
          <a:prstGeom prst="rect">
            <a:avLst/>
          </a:prstGeom>
          <a:noFill/>
        </p:spPr>
        <p:txBody>
          <a:bodyPr wrap="square" lIns="0" rIns="0" tIns="0" bIns="0" anchor="t">
            <a:spAutoFit/>
          </a:bodyPr>
          <a:lstStyle/>
          <a:p>
            <a:pPr algn="l">
              <a:lnSpc>
                <a:spcPct val="112000"/>
              </a:lnSpc>
              <a:spcBef>
                <a:spcPts val="0"/>
              </a:spcBef>
              <a:spcAft>
                <a:spcPts val="0"/>
              </a:spcAft>
              <a:defRPr sz="2700" b="1">
                <a:solidFill>
                  <a:srgbClr val="FFFFFF"/>
                </a:solidFill>
                <a:latin typeface="Noto Sans"/>
              </a:defRPr>
            </a:pPr>
            <a:r>
              <a:t>Đa dạng đi cùng chất lượng</a:t>
            </a:r>
          </a:p>
        </p:txBody>
      </p:sp>
      <p:sp>
        <p:nvSpPr>
          <p:cNvPr id="20" name="TextBox 19"/>
          <p:cNvSpPr txBox="1"/>
          <p:nvPr/>
        </p:nvSpPr>
        <p:spPr>
          <a:xfrm>
            <a:off x="1554480" y="5111496"/>
            <a:ext cx="9692640" cy="457200"/>
          </a:xfrm>
          <a:prstGeom prst="rect">
            <a:avLst/>
          </a:prstGeom>
          <a:noFill/>
        </p:spPr>
        <p:txBody>
          <a:bodyPr wrap="square" lIns="0" rIns="0" tIns="0" bIns="0" anchor="t">
            <a:spAutoFit/>
          </a:bodyPr>
          <a:lstStyle/>
          <a:p>
            <a:pPr algn="l">
              <a:lnSpc>
                <a:spcPct val="112000"/>
              </a:lnSpc>
              <a:spcBef>
                <a:spcPts val="0"/>
              </a:spcBef>
              <a:spcAft>
                <a:spcPts val="0"/>
              </a:spcAft>
              <a:defRPr sz="1900" b="0">
                <a:solidFill>
                  <a:srgbClr val="C5D6E1"/>
                </a:solidFill>
                <a:latin typeface="Noto Sans"/>
              </a:defRPr>
            </a:pPr>
            <a:r>
              <a:t>Các cây khác nhau hơn chưa bảo đảm tổ hợp dự đoán tốt hơn.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PHỤ LỤC / TRUY VẾT CÂY</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A. Cùng mẫu 291, hai cây đi tới hai nhãn</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outputs/extensions/analysis.json · representative_paths</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25</a:t>
            </a:r>
          </a:p>
        </p:txBody>
      </p:sp>
      <p:sp>
        <p:nvSpPr>
          <p:cNvPr id="8" name="Rectangle 7"/>
          <p:cNvSpPr/>
          <p:nvPr/>
        </p:nvSpPr>
        <p:spPr>
          <a:xfrm>
            <a:off x="10671048"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ounded Rectangle 11"/>
          <p:cNvSpPr/>
          <p:nvPr/>
        </p:nvSpPr>
        <p:spPr>
          <a:xfrm>
            <a:off x="621792" y="1938528"/>
            <a:ext cx="5285232" cy="3593592"/>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41248" y="2249424"/>
            <a:ext cx="484632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C86449"/>
                </a:solidFill>
                <a:latin typeface="Noto Sans"/>
              </a:defRPr>
            </a:pPr>
            <a:r>
              <a:t>CÂY 1 → ÁC</a:t>
            </a:r>
          </a:p>
        </p:txBody>
      </p:sp>
      <p:sp>
        <p:nvSpPr>
          <p:cNvPr id="14" name="TextBox 13"/>
          <p:cNvSpPr txBox="1"/>
          <p:nvPr/>
        </p:nvSpPr>
        <p:spPr>
          <a:xfrm>
            <a:off x="850392" y="2898648"/>
            <a:ext cx="4818888" cy="384048"/>
          </a:xfrm>
          <a:prstGeom prst="rect">
            <a:avLst/>
          </a:prstGeom>
          <a:noFill/>
        </p:spPr>
        <p:txBody>
          <a:bodyPr wrap="square" lIns="0" rIns="0" tIns="0" bIns="0" anchor="t">
            <a:spAutoFit/>
          </a:bodyPr>
          <a:lstStyle/>
          <a:p>
            <a:pPr algn="l">
              <a:lnSpc>
                <a:spcPct val="112000"/>
              </a:lnSpc>
              <a:spcBef>
                <a:spcPts val="0"/>
              </a:spcBef>
              <a:spcAft>
                <a:spcPts val="0"/>
              </a:spcAft>
              <a:defRPr sz="1720" b="0">
                <a:solidFill>
                  <a:srgbClr val="142D46"/>
                </a:solidFill>
                <a:latin typeface="Noto Sans"/>
              </a:defRPr>
            </a:pPr>
            <a:r>
              <a:t>1. worst radius ≤ 16,79500</a:t>
            </a:r>
          </a:p>
        </p:txBody>
      </p:sp>
      <p:sp>
        <p:nvSpPr>
          <p:cNvPr id="15" name="TextBox 14"/>
          <p:cNvSpPr txBox="1"/>
          <p:nvPr/>
        </p:nvSpPr>
        <p:spPr>
          <a:xfrm>
            <a:off x="850392" y="3465576"/>
            <a:ext cx="4818888" cy="384048"/>
          </a:xfrm>
          <a:prstGeom prst="rect">
            <a:avLst/>
          </a:prstGeom>
          <a:noFill/>
        </p:spPr>
        <p:txBody>
          <a:bodyPr wrap="square" lIns="0" rIns="0" tIns="0" bIns="0" anchor="t">
            <a:spAutoFit/>
          </a:bodyPr>
          <a:lstStyle/>
          <a:p>
            <a:pPr algn="l">
              <a:lnSpc>
                <a:spcPct val="112000"/>
              </a:lnSpc>
              <a:spcBef>
                <a:spcPts val="0"/>
              </a:spcBef>
              <a:spcAft>
                <a:spcPts val="0"/>
              </a:spcAft>
              <a:defRPr sz="1720" b="0">
                <a:solidFill>
                  <a:srgbClr val="142D46"/>
                </a:solidFill>
                <a:latin typeface="Noto Sans"/>
              </a:defRPr>
            </a:pPr>
            <a:r>
              <a:t>2. worst concave points &gt; 0,14315</a:t>
            </a:r>
          </a:p>
        </p:txBody>
      </p:sp>
      <p:sp>
        <p:nvSpPr>
          <p:cNvPr id="16" name="TextBox 15"/>
          <p:cNvSpPr txBox="1"/>
          <p:nvPr/>
        </p:nvSpPr>
        <p:spPr>
          <a:xfrm>
            <a:off x="850392" y="4032504"/>
            <a:ext cx="4818888" cy="384048"/>
          </a:xfrm>
          <a:prstGeom prst="rect">
            <a:avLst/>
          </a:prstGeom>
          <a:noFill/>
        </p:spPr>
        <p:txBody>
          <a:bodyPr wrap="square" lIns="0" rIns="0" tIns="0" bIns="0" anchor="t">
            <a:spAutoFit/>
          </a:bodyPr>
          <a:lstStyle/>
          <a:p>
            <a:pPr algn="l">
              <a:lnSpc>
                <a:spcPct val="112000"/>
              </a:lnSpc>
              <a:spcBef>
                <a:spcPts val="0"/>
              </a:spcBef>
              <a:spcAft>
                <a:spcPts val="0"/>
              </a:spcAft>
              <a:defRPr sz="1720" b="0">
                <a:solidFill>
                  <a:srgbClr val="142D46"/>
                </a:solidFill>
                <a:latin typeface="Noto Sans"/>
              </a:defRPr>
            </a:pPr>
            <a:r>
              <a:t>3. worst symmetry &gt; 0,28855</a:t>
            </a:r>
          </a:p>
        </p:txBody>
      </p:sp>
      <p:sp>
        <p:nvSpPr>
          <p:cNvPr id="17" name="TextBox 16"/>
          <p:cNvSpPr txBox="1"/>
          <p:nvPr/>
        </p:nvSpPr>
        <p:spPr>
          <a:xfrm>
            <a:off x="850392" y="4873752"/>
            <a:ext cx="4818888" cy="502920"/>
          </a:xfrm>
          <a:prstGeom prst="rect">
            <a:avLst/>
          </a:prstGeom>
          <a:noFill/>
        </p:spPr>
        <p:txBody>
          <a:bodyPr wrap="square" lIns="0" rIns="0" tIns="0" bIns="0" anchor="t">
            <a:spAutoFit/>
          </a:bodyPr>
          <a:lstStyle/>
          <a:p>
            <a:pPr algn="l">
              <a:lnSpc>
                <a:spcPct val="112000"/>
              </a:lnSpc>
              <a:spcBef>
                <a:spcPts val="0"/>
              </a:spcBef>
              <a:spcAft>
                <a:spcPts val="0"/>
              </a:spcAft>
              <a:defRPr sz="1540" b="1">
                <a:solidFill>
                  <a:srgbClr val="C86449"/>
                </a:solidFill>
                <a:latin typeface="Noto Sans"/>
              </a:defRPr>
            </a:pPr>
            <a:r>
              <a:t>Lá: 18 lượt bootstrap, tất cả nhãn ác.</a:t>
            </a:r>
          </a:p>
        </p:txBody>
      </p:sp>
      <p:sp>
        <p:nvSpPr>
          <p:cNvPr id="18" name="Rounded Rectangle 17"/>
          <p:cNvSpPr/>
          <p:nvPr/>
        </p:nvSpPr>
        <p:spPr>
          <a:xfrm>
            <a:off x="6291072" y="1938528"/>
            <a:ext cx="5285232" cy="3593592"/>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6510528" y="2249424"/>
            <a:ext cx="4846320" cy="256032"/>
          </a:xfrm>
          <a:prstGeom prst="rect">
            <a:avLst/>
          </a:prstGeom>
          <a:noFill/>
        </p:spPr>
        <p:txBody>
          <a:bodyPr wrap="square" lIns="0" rIns="0" tIns="0" bIns="0" anchor="t">
            <a:spAutoFit/>
          </a:bodyPr>
          <a:lstStyle/>
          <a:p>
            <a:pPr algn="l">
              <a:lnSpc>
                <a:spcPct val="112000"/>
              </a:lnSpc>
              <a:spcBef>
                <a:spcPts val="0"/>
              </a:spcBef>
              <a:spcAft>
                <a:spcPts val="0"/>
              </a:spcAft>
              <a:defRPr sz="1100" b="1">
                <a:solidFill>
                  <a:srgbClr val="087F82"/>
                </a:solidFill>
                <a:latin typeface="Noto Sans"/>
              </a:defRPr>
            </a:pPr>
            <a:r>
              <a:t>CÂY 2 → LÀNH</a:t>
            </a:r>
          </a:p>
        </p:txBody>
      </p:sp>
      <p:sp>
        <p:nvSpPr>
          <p:cNvPr id="20" name="TextBox 19"/>
          <p:cNvSpPr txBox="1"/>
          <p:nvPr/>
        </p:nvSpPr>
        <p:spPr>
          <a:xfrm>
            <a:off x="6519672" y="2898648"/>
            <a:ext cx="4818888" cy="384048"/>
          </a:xfrm>
          <a:prstGeom prst="rect">
            <a:avLst/>
          </a:prstGeom>
          <a:noFill/>
        </p:spPr>
        <p:txBody>
          <a:bodyPr wrap="square" lIns="0" rIns="0" tIns="0" bIns="0" anchor="t">
            <a:spAutoFit/>
          </a:bodyPr>
          <a:lstStyle/>
          <a:p>
            <a:pPr algn="l">
              <a:lnSpc>
                <a:spcPct val="112000"/>
              </a:lnSpc>
              <a:spcBef>
                <a:spcPts val="0"/>
              </a:spcBef>
              <a:spcAft>
                <a:spcPts val="0"/>
              </a:spcAft>
              <a:defRPr sz="1720" b="0">
                <a:solidFill>
                  <a:srgbClr val="142D46"/>
                </a:solidFill>
                <a:latin typeface="Noto Sans"/>
              </a:defRPr>
            </a:pPr>
            <a:r>
              <a:t>1. mean concave points ≤ 0,04989</a:t>
            </a:r>
          </a:p>
        </p:txBody>
      </p:sp>
      <p:sp>
        <p:nvSpPr>
          <p:cNvPr id="21" name="TextBox 20"/>
          <p:cNvSpPr txBox="1"/>
          <p:nvPr/>
        </p:nvSpPr>
        <p:spPr>
          <a:xfrm>
            <a:off x="6519672" y="3465576"/>
            <a:ext cx="4818888" cy="384048"/>
          </a:xfrm>
          <a:prstGeom prst="rect">
            <a:avLst/>
          </a:prstGeom>
          <a:noFill/>
        </p:spPr>
        <p:txBody>
          <a:bodyPr wrap="square" lIns="0" rIns="0" tIns="0" bIns="0" anchor="t">
            <a:spAutoFit/>
          </a:bodyPr>
          <a:lstStyle/>
          <a:p>
            <a:pPr algn="l">
              <a:lnSpc>
                <a:spcPct val="112000"/>
              </a:lnSpc>
              <a:spcBef>
                <a:spcPts val="0"/>
              </a:spcBef>
              <a:spcAft>
                <a:spcPts val="0"/>
              </a:spcAft>
              <a:defRPr sz="1720" b="0">
                <a:solidFill>
                  <a:srgbClr val="142D46"/>
                </a:solidFill>
                <a:latin typeface="Noto Sans"/>
              </a:defRPr>
            </a:pPr>
            <a:r>
              <a:t>2. worst symmetry &gt; 0,16385</a:t>
            </a:r>
          </a:p>
        </p:txBody>
      </p:sp>
      <p:sp>
        <p:nvSpPr>
          <p:cNvPr id="22" name="TextBox 21"/>
          <p:cNvSpPr txBox="1"/>
          <p:nvPr/>
        </p:nvSpPr>
        <p:spPr>
          <a:xfrm>
            <a:off x="6519672" y="4032504"/>
            <a:ext cx="4818888" cy="384048"/>
          </a:xfrm>
          <a:prstGeom prst="rect">
            <a:avLst/>
          </a:prstGeom>
          <a:noFill/>
        </p:spPr>
        <p:txBody>
          <a:bodyPr wrap="square" lIns="0" rIns="0" tIns="0" bIns="0" anchor="t">
            <a:spAutoFit/>
          </a:bodyPr>
          <a:lstStyle/>
          <a:p>
            <a:pPr algn="l">
              <a:lnSpc>
                <a:spcPct val="112000"/>
              </a:lnSpc>
              <a:spcBef>
                <a:spcPts val="0"/>
              </a:spcBef>
              <a:spcAft>
                <a:spcPts val="0"/>
              </a:spcAft>
              <a:defRPr sz="1720" b="0">
                <a:solidFill>
                  <a:srgbClr val="142D46"/>
                </a:solidFill>
                <a:latin typeface="Noto Sans"/>
              </a:defRPr>
            </a:pPr>
            <a:r>
              <a:t>3. worst perimeter ≤ 127,20000</a:t>
            </a:r>
          </a:p>
        </p:txBody>
      </p:sp>
      <p:sp>
        <p:nvSpPr>
          <p:cNvPr id="23" name="TextBox 22"/>
          <p:cNvSpPr txBox="1"/>
          <p:nvPr/>
        </p:nvSpPr>
        <p:spPr>
          <a:xfrm>
            <a:off x="6519672" y="4873752"/>
            <a:ext cx="4818888" cy="502920"/>
          </a:xfrm>
          <a:prstGeom prst="rect">
            <a:avLst/>
          </a:prstGeom>
          <a:noFill/>
        </p:spPr>
        <p:txBody>
          <a:bodyPr wrap="square" lIns="0" rIns="0" tIns="0" bIns="0" anchor="t">
            <a:spAutoFit/>
          </a:bodyPr>
          <a:lstStyle/>
          <a:p>
            <a:pPr algn="l">
              <a:lnSpc>
                <a:spcPct val="112000"/>
              </a:lnSpc>
              <a:spcBef>
                <a:spcPts val="0"/>
              </a:spcBef>
              <a:spcAft>
                <a:spcPts val="0"/>
              </a:spcAft>
              <a:defRPr sz="1540" b="1">
                <a:solidFill>
                  <a:srgbClr val="087F82"/>
                </a:solidFill>
                <a:latin typeface="Noto Sans"/>
              </a:defRPr>
            </a:pPr>
            <a:r>
              <a:t>Lá: 256/259 lượt nhãn lành (98,84%).</a:t>
            </a:r>
          </a:p>
        </p:txBody>
      </p:sp>
      <p:sp>
        <p:nvSpPr>
          <p:cNvPr id="24" name="Rounded Rectangle 23"/>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Các lượt bootstrap có thể lặp hàng; độ thuần tại lá không bảo đảm đúng với quan sát mới.</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PHỤ LỤC / KIỂM TRA PHÉP TÍNH</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B. Tính chỉ số với ác tính là lớp dương</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Bagging seed 42 · TP=49, FN=4, FP=3, TN=87</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26</a:t>
            </a:r>
          </a:p>
        </p:txBody>
      </p:sp>
      <p:sp>
        <p:nvSpPr>
          <p:cNvPr id="8" name="Rectangle 7"/>
          <p:cNvSpPr/>
          <p:nvPr/>
        </p:nvSpPr>
        <p:spPr>
          <a:xfrm>
            <a:off x="10671048"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612648" y="1847088"/>
            <a:ext cx="2834640" cy="512064"/>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768096" y="1993392"/>
            <a:ext cx="2523744" cy="347472"/>
          </a:xfrm>
          <a:prstGeom prst="rect">
            <a:avLst/>
          </a:prstGeom>
          <a:noFill/>
        </p:spPr>
        <p:txBody>
          <a:bodyPr wrap="square" lIns="0" rIns="0" tIns="0" bIns="0" anchor="t">
            <a:spAutoFit/>
          </a:bodyPr>
          <a:lstStyle/>
          <a:p>
            <a:pPr algn="l">
              <a:lnSpc>
                <a:spcPct val="112000"/>
              </a:lnSpc>
              <a:spcBef>
                <a:spcPts val="0"/>
              </a:spcBef>
              <a:spcAft>
                <a:spcPts val="0"/>
              </a:spcAft>
              <a:defRPr sz="1650" b="1">
                <a:solidFill>
                  <a:srgbClr val="FFFFFF"/>
                </a:solidFill>
                <a:latin typeface="Noto Sans"/>
              </a:defRPr>
            </a:pPr>
            <a:r>
              <a:t>Chỉ số</a:t>
            </a:r>
          </a:p>
        </p:txBody>
      </p:sp>
      <p:sp>
        <p:nvSpPr>
          <p:cNvPr id="14" name="Rectangle 13"/>
          <p:cNvSpPr/>
          <p:nvPr/>
        </p:nvSpPr>
        <p:spPr>
          <a:xfrm>
            <a:off x="3447288" y="1847088"/>
            <a:ext cx="3977639" cy="512064"/>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3602736" y="1993392"/>
            <a:ext cx="3666744" cy="347472"/>
          </a:xfrm>
          <a:prstGeom prst="rect">
            <a:avLst/>
          </a:prstGeom>
          <a:noFill/>
        </p:spPr>
        <p:txBody>
          <a:bodyPr wrap="square" lIns="0" rIns="0" tIns="0" bIns="0" anchor="t">
            <a:spAutoFit/>
          </a:bodyPr>
          <a:lstStyle/>
          <a:p>
            <a:pPr algn="ctr">
              <a:lnSpc>
                <a:spcPct val="112000"/>
              </a:lnSpc>
              <a:spcBef>
                <a:spcPts val="0"/>
              </a:spcBef>
              <a:spcAft>
                <a:spcPts val="0"/>
              </a:spcAft>
              <a:defRPr sz="1650" b="1">
                <a:solidFill>
                  <a:srgbClr val="FFFFFF"/>
                </a:solidFill>
                <a:latin typeface="Noto Sans"/>
              </a:defRPr>
            </a:pPr>
            <a:r>
              <a:t>Công thức</a:t>
            </a:r>
          </a:p>
        </p:txBody>
      </p:sp>
      <p:sp>
        <p:nvSpPr>
          <p:cNvPr id="16" name="Rectangle 15"/>
          <p:cNvSpPr/>
          <p:nvPr/>
        </p:nvSpPr>
        <p:spPr>
          <a:xfrm>
            <a:off x="7424927" y="1847088"/>
            <a:ext cx="4114800" cy="512064"/>
          </a:xfrm>
          <a:prstGeom prst="rect">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7580375" y="1993392"/>
            <a:ext cx="3803904" cy="347472"/>
          </a:xfrm>
          <a:prstGeom prst="rect">
            <a:avLst/>
          </a:prstGeom>
          <a:noFill/>
        </p:spPr>
        <p:txBody>
          <a:bodyPr wrap="square" lIns="0" rIns="0" tIns="0" bIns="0" anchor="t">
            <a:spAutoFit/>
          </a:bodyPr>
          <a:lstStyle/>
          <a:p>
            <a:pPr algn="ctr">
              <a:lnSpc>
                <a:spcPct val="112000"/>
              </a:lnSpc>
              <a:spcBef>
                <a:spcPts val="0"/>
              </a:spcBef>
              <a:spcAft>
                <a:spcPts val="0"/>
              </a:spcAft>
              <a:defRPr sz="1650" b="1">
                <a:solidFill>
                  <a:srgbClr val="FFFFFF"/>
                </a:solidFill>
                <a:latin typeface="Noto Sans"/>
              </a:defRPr>
            </a:pPr>
            <a:r>
              <a:t>Kết quả</a:t>
            </a:r>
          </a:p>
        </p:txBody>
      </p:sp>
      <p:sp>
        <p:nvSpPr>
          <p:cNvPr id="18" name="Rectangle 17"/>
          <p:cNvSpPr/>
          <p:nvPr/>
        </p:nvSpPr>
        <p:spPr>
          <a:xfrm>
            <a:off x="612648" y="2359152"/>
            <a:ext cx="283464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768096" y="2505456"/>
            <a:ext cx="2523744" cy="347472"/>
          </a:xfrm>
          <a:prstGeom prst="rect">
            <a:avLst/>
          </a:prstGeom>
          <a:noFill/>
        </p:spPr>
        <p:txBody>
          <a:bodyPr wrap="square" lIns="0" rIns="0" tIns="0" bIns="0" anchor="t">
            <a:spAutoFit/>
          </a:bodyPr>
          <a:lstStyle/>
          <a:p>
            <a:pPr algn="l">
              <a:lnSpc>
                <a:spcPct val="112000"/>
              </a:lnSpc>
              <a:spcBef>
                <a:spcPts val="0"/>
              </a:spcBef>
              <a:spcAft>
                <a:spcPts val="0"/>
              </a:spcAft>
              <a:defRPr sz="1750" b="0">
                <a:solidFill>
                  <a:srgbClr val="192F43"/>
                </a:solidFill>
                <a:latin typeface="Noto Sans"/>
              </a:defRPr>
            </a:pPr>
            <a:r>
              <a:t>Accuracy</a:t>
            </a:r>
          </a:p>
        </p:txBody>
      </p:sp>
      <p:sp>
        <p:nvSpPr>
          <p:cNvPr id="20" name="Rectangle 19"/>
          <p:cNvSpPr/>
          <p:nvPr/>
        </p:nvSpPr>
        <p:spPr>
          <a:xfrm>
            <a:off x="3447288" y="2359152"/>
            <a:ext cx="3977639"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3602736" y="2505456"/>
            <a:ext cx="3666744" cy="347472"/>
          </a:xfrm>
          <a:prstGeom prst="rect">
            <a:avLst/>
          </a:prstGeom>
          <a:noFill/>
        </p:spPr>
        <p:txBody>
          <a:bodyPr wrap="square" lIns="0" rIns="0" tIns="0" bIns="0" anchor="t">
            <a:spAutoFit/>
          </a:bodyPr>
          <a:lstStyle/>
          <a:p>
            <a:pPr algn="ctr">
              <a:lnSpc>
                <a:spcPct val="112000"/>
              </a:lnSpc>
              <a:spcBef>
                <a:spcPts val="0"/>
              </a:spcBef>
              <a:spcAft>
                <a:spcPts val="0"/>
              </a:spcAft>
              <a:defRPr sz="1750" b="0">
                <a:solidFill>
                  <a:srgbClr val="192F43"/>
                </a:solidFill>
                <a:latin typeface="Noto Sans"/>
              </a:defRPr>
            </a:pPr>
            <a:r>
              <a:t>(TP + TN) / N</a:t>
            </a:r>
          </a:p>
        </p:txBody>
      </p:sp>
      <p:sp>
        <p:nvSpPr>
          <p:cNvPr id="22" name="Rectangle 21"/>
          <p:cNvSpPr/>
          <p:nvPr/>
        </p:nvSpPr>
        <p:spPr>
          <a:xfrm>
            <a:off x="7424927" y="2359152"/>
            <a:ext cx="411480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7580375" y="2505456"/>
            <a:ext cx="3803904" cy="347472"/>
          </a:xfrm>
          <a:prstGeom prst="rect">
            <a:avLst/>
          </a:prstGeom>
          <a:noFill/>
        </p:spPr>
        <p:txBody>
          <a:bodyPr wrap="square" lIns="0" rIns="0" tIns="0" bIns="0" anchor="t">
            <a:spAutoFit/>
          </a:bodyPr>
          <a:lstStyle/>
          <a:p>
            <a:pPr algn="ctr">
              <a:lnSpc>
                <a:spcPct val="112000"/>
              </a:lnSpc>
              <a:spcBef>
                <a:spcPts val="0"/>
              </a:spcBef>
              <a:spcAft>
                <a:spcPts val="0"/>
              </a:spcAft>
              <a:defRPr sz="1750" b="0">
                <a:solidFill>
                  <a:srgbClr val="192F43"/>
                </a:solidFill>
                <a:latin typeface="Noto Sans"/>
              </a:defRPr>
            </a:pPr>
            <a:r>
              <a:t>136/143 = 95,10%</a:t>
            </a:r>
          </a:p>
        </p:txBody>
      </p:sp>
      <p:cxnSp>
        <p:nvCxnSpPr>
          <p:cNvPr id="24" name="Connector 23"/>
          <p:cNvCxnSpPr/>
          <p:nvPr/>
        </p:nvCxnSpPr>
        <p:spPr>
          <a:xfrm>
            <a:off x="612648" y="2871216"/>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25" name="Rectangle 24"/>
          <p:cNvSpPr/>
          <p:nvPr/>
        </p:nvSpPr>
        <p:spPr>
          <a:xfrm>
            <a:off x="612648" y="2871216"/>
            <a:ext cx="2834640" cy="512064"/>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768096" y="3017520"/>
            <a:ext cx="2523744" cy="347472"/>
          </a:xfrm>
          <a:prstGeom prst="rect">
            <a:avLst/>
          </a:prstGeom>
          <a:noFill/>
        </p:spPr>
        <p:txBody>
          <a:bodyPr wrap="square" lIns="0" rIns="0" tIns="0" bIns="0" anchor="t">
            <a:spAutoFit/>
          </a:bodyPr>
          <a:lstStyle/>
          <a:p>
            <a:pPr algn="l">
              <a:lnSpc>
                <a:spcPct val="112000"/>
              </a:lnSpc>
              <a:spcBef>
                <a:spcPts val="0"/>
              </a:spcBef>
              <a:spcAft>
                <a:spcPts val="0"/>
              </a:spcAft>
              <a:defRPr sz="1750" b="0">
                <a:solidFill>
                  <a:srgbClr val="192F43"/>
                </a:solidFill>
                <a:latin typeface="Noto Sans"/>
              </a:defRPr>
            </a:pPr>
            <a:r>
              <a:t>Precision ác</a:t>
            </a:r>
          </a:p>
        </p:txBody>
      </p:sp>
      <p:sp>
        <p:nvSpPr>
          <p:cNvPr id="27" name="Rectangle 26"/>
          <p:cNvSpPr/>
          <p:nvPr/>
        </p:nvSpPr>
        <p:spPr>
          <a:xfrm>
            <a:off x="3447288" y="2871216"/>
            <a:ext cx="3977639" cy="512064"/>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3602736" y="3017520"/>
            <a:ext cx="3666744" cy="347472"/>
          </a:xfrm>
          <a:prstGeom prst="rect">
            <a:avLst/>
          </a:prstGeom>
          <a:noFill/>
        </p:spPr>
        <p:txBody>
          <a:bodyPr wrap="square" lIns="0" rIns="0" tIns="0" bIns="0" anchor="t">
            <a:spAutoFit/>
          </a:bodyPr>
          <a:lstStyle/>
          <a:p>
            <a:pPr algn="ctr">
              <a:lnSpc>
                <a:spcPct val="112000"/>
              </a:lnSpc>
              <a:spcBef>
                <a:spcPts val="0"/>
              </a:spcBef>
              <a:spcAft>
                <a:spcPts val="0"/>
              </a:spcAft>
              <a:defRPr sz="1750" b="0">
                <a:solidFill>
                  <a:srgbClr val="192F43"/>
                </a:solidFill>
                <a:latin typeface="Noto Sans"/>
              </a:defRPr>
            </a:pPr>
            <a:r>
              <a:t>TP / (TP + FP)</a:t>
            </a:r>
          </a:p>
        </p:txBody>
      </p:sp>
      <p:sp>
        <p:nvSpPr>
          <p:cNvPr id="29" name="Rectangle 28"/>
          <p:cNvSpPr/>
          <p:nvPr/>
        </p:nvSpPr>
        <p:spPr>
          <a:xfrm>
            <a:off x="7424927" y="2871216"/>
            <a:ext cx="4114800" cy="512064"/>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7580375" y="3017520"/>
            <a:ext cx="3803904" cy="347472"/>
          </a:xfrm>
          <a:prstGeom prst="rect">
            <a:avLst/>
          </a:prstGeom>
          <a:noFill/>
        </p:spPr>
        <p:txBody>
          <a:bodyPr wrap="square" lIns="0" rIns="0" tIns="0" bIns="0" anchor="t">
            <a:spAutoFit/>
          </a:bodyPr>
          <a:lstStyle/>
          <a:p>
            <a:pPr algn="ctr">
              <a:lnSpc>
                <a:spcPct val="112000"/>
              </a:lnSpc>
              <a:spcBef>
                <a:spcPts val="0"/>
              </a:spcBef>
              <a:spcAft>
                <a:spcPts val="0"/>
              </a:spcAft>
              <a:defRPr sz="1750" b="0">
                <a:solidFill>
                  <a:srgbClr val="192F43"/>
                </a:solidFill>
                <a:latin typeface="Noto Sans"/>
              </a:defRPr>
            </a:pPr>
            <a:r>
              <a:t>49/52 = 94,23%</a:t>
            </a:r>
          </a:p>
        </p:txBody>
      </p:sp>
      <p:cxnSp>
        <p:nvCxnSpPr>
          <p:cNvPr id="31" name="Connector 30"/>
          <p:cNvCxnSpPr/>
          <p:nvPr/>
        </p:nvCxnSpPr>
        <p:spPr>
          <a:xfrm>
            <a:off x="612648" y="3383280"/>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32" name="Rectangle 31"/>
          <p:cNvSpPr/>
          <p:nvPr/>
        </p:nvSpPr>
        <p:spPr>
          <a:xfrm>
            <a:off x="612648" y="3383280"/>
            <a:ext cx="283464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768096" y="3529584"/>
            <a:ext cx="2523744" cy="347472"/>
          </a:xfrm>
          <a:prstGeom prst="rect">
            <a:avLst/>
          </a:prstGeom>
          <a:noFill/>
        </p:spPr>
        <p:txBody>
          <a:bodyPr wrap="square" lIns="0" rIns="0" tIns="0" bIns="0" anchor="t">
            <a:spAutoFit/>
          </a:bodyPr>
          <a:lstStyle/>
          <a:p>
            <a:pPr algn="l">
              <a:lnSpc>
                <a:spcPct val="112000"/>
              </a:lnSpc>
              <a:spcBef>
                <a:spcPts val="0"/>
              </a:spcBef>
              <a:spcAft>
                <a:spcPts val="0"/>
              </a:spcAft>
              <a:defRPr sz="1750" b="0">
                <a:solidFill>
                  <a:srgbClr val="192F43"/>
                </a:solidFill>
                <a:latin typeface="Noto Sans"/>
              </a:defRPr>
            </a:pPr>
            <a:r>
              <a:t>Recall ác</a:t>
            </a:r>
          </a:p>
        </p:txBody>
      </p:sp>
      <p:sp>
        <p:nvSpPr>
          <p:cNvPr id="34" name="Rectangle 33"/>
          <p:cNvSpPr/>
          <p:nvPr/>
        </p:nvSpPr>
        <p:spPr>
          <a:xfrm>
            <a:off x="3447288" y="3383280"/>
            <a:ext cx="3977639"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3602736" y="3529584"/>
            <a:ext cx="3666744" cy="347472"/>
          </a:xfrm>
          <a:prstGeom prst="rect">
            <a:avLst/>
          </a:prstGeom>
          <a:noFill/>
        </p:spPr>
        <p:txBody>
          <a:bodyPr wrap="square" lIns="0" rIns="0" tIns="0" bIns="0" anchor="t">
            <a:spAutoFit/>
          </a:bodyPr>
          <a:lstStyle/>
          <a:p>
            <a:pPr algn="ctr">
              <a:lnSpc>
                <a:spcPct val="112000"/>
              </a:lnSpc>
              <a:spcBef>
                <a:spcPts val="0"/>
              </a:spcBef>
              <a:spcAft>
                <a:spcPts val="0"/>
              </a:spcAft>
              <a:defRPr sz="1750" b="0">
                <a:solidFill>
                  <a:srgbClr val="192F43"/>
                </a:solidFill>
                <a:latin typeface="Noto Sans"/>
              </a:defRPr>
            </a:pPr>
            <a:r>
              <a:t>TP / (TP + FN)</a:t>
            </a:r>
          </a:p>
        </p:txBody>
      </p:sp>
      <p:sp>
        <p:nvSpPr>
          <p:cNvPr id="36" name="Rectangle 35"/>
          <p:cNvSpPr/>
          <p:nvPr/>
        </p:nvSpPr>
        <p:spPr>
          <a:xfrm>
            <a:off x="7424927" y="3383280"/>
            <a:ext cx="411480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7580375" y="3529584"/>
            <a:ext cx="3803904" cy="347472"/>
          </a:xfrm>
          <a:prstGeom prst="rect">
            <a:avLst/>
          </a:prstGeom>
          <a:noFill/>
        </p:spPr>
        <p:txBody>
          <a:bodyPr wrap="square" lIns="0" rIns="0" tIns="0" bIns="0" anchor="t">
            <a:spAutoFit/>
          </a:bodyPr>
          <a:lstStyle/>
          <a:p>
            <a:pPr algn="ctr">
              <a:lnSpc>
                <a:spcPct val="112000"/>
              </a:lnSpc>
              <a:spcBef>
                <a:spcPts val="0"/>
              </a:spcBef>
              <a:spcAft>
                <a:spcPts val="0"/>
              </a:spcAft>
              <a:defRPr sz="1750" b="0">
                <a:solidFill>
                  <a:srgbClr val="192F43"/>
                </a:solidFill>
                <a:latin typeface="Noto Sans"/>
              </a:defRPr>
            </a:pPr>
            <a:r>
              <a:t>49/53 = 92,45%</a:t>
            </a:r>
          </a:p>
        </p:txBody>
      </p:sp>
      <p:cxnSp>
        <p:nvCxnSpPr>
          <p:cNvPr id="38" name="Connector 37"/>
          <p:cNvCxnSpPr/>
          <p:nvPr/>
        </p:nvCxnSpPr>
        <p:spPr>
          <a:xfrm>
            <a:off x="612648" y="3895344"/>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39" name="Rectangle 38"/>
          <p:cNvSpPr/>
          <p:nvPr/>
        </p:nvSpPr>
        <p:spPr>
          <a:xfrm>
            <a:off x="612648" y="3895344"/>
            <a:ext cx="2834640" cy="512064"/>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TextBox 39"/>
          <p:cNvSpPr txBox="1"/>
          <p:nvPr/>
        </p:nvSpPr>
        <p:spPr>
          <a:xfrm>
            <a:off x="768096" y="4041648"/>
            <a:ext cx="2523744" cy="347472"/>
          </a:xfrm>
          <a:prstGeom prst="rect">
            <a:avLst/>
          </a:prstGeom>
          <a:noFill/>
        </p:spPr>
        <p:txBody>
          <a:bodyPr wrap="square" lIns="0" rIns="0" tIns="0" bIns="0" anchor="t">
            <a:spAutoFit/>
          </a:bodyPr>
          <a:lstStyle/>
          <a:p>
            <a:pPr algn="l">
              <a:lnSpc>
                <a:spcPct val="112000"/>
              </a:lnSpc>
              <a:spcBef>
                <a:spcPts val="0"/>
              </a:spcBef>
              <a:spcAft>
                <a:spcPts val="0"/>
              </a:spcAft>
              <a:defRPr sz="1750" b="0">
                <a:solidFill>
                  <a:srgbClr val="192F43"/>
                </a:solidFill>
                <a:latin typeface="Noto Sans"/>
              </a:defRPr>
            </a:pPr>
            <a:r>
              <a:t>F1 ác</a:t>
            </a:r>
          </a:p>
        </p:txBody>
      </p:sp>
      <p:sp>
        <p:nvSpPr>
          <p:cNvPr id="41" name="Rectangle 40"/>
          <p:cNvSpPr/>
          <p:nvPr/>
        </p:nvSpPr>
        <p:spPr>
          <a:xfrm>
            <a:off x="3447288" y="3895344"/>
            <a:ext cx="3977639" cy="512064"/>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TextBox 41"/>
          <p:cNvSpPr txBox="1"/>
          <p:nvPr/>
        </p:nvSpPr>
        <p:spPr>
          <a:xfrm>
            <a:off x="3602736" y="4041648"/>
            <a:ext cx="3666744" cy="347472"/>
          </a:xfrm>
          <a:prstGeom prst="rect">
            <a:avLst/>
          </a:prstGeom>
          <a:noFill/>
        </p:spPr>
        <p:txBody>
          <a:bodyPr wrap="square" lIns="0" rIns="0" tIns="0" bIns="0" anchor="t">
            <a:spAutoFit/>
          </a:bodyPr>
          <a:lstStyle/>
          <a:p>
            <a:pPr algn="ctr">
              <a:lnSpc>
                <a:spcPct val="112000"/>
              </a:lnSpc>
              <a:spcBef>
                <a:spcPts val="0"/>
              </a:spcBef>
              <a:spcAft>
                <a:spcPts val="0"/>
              </a:spcAft>
              <a:defRPr sz="1750" b="0">
                <a:solidFill>
                  <a:srgbClr val="192F43"/>
                </a:solidFill>
                <a:latin typeface="Noto Sans"/>
              </a:defRPr>
            </a:pPr>
            <a:r>
              <a:t>2TP / (2TP + FP + FN)</a:t>
            </a:r>
          </a:p>
        </p:txBody>
      </p:sp>
      <p:sp>
        <p:nvSpPr>
          <p:cNvPr id="43" name="Rectangle 42"/>
          <p:cNvSpPr/>
          <p:nvPr/>
        </p:nvSpPr>
        <p:spPr>
          <a:xfrm>
            <a:off x="7424927" y="3895344"/>
            <a:ext cx="4114800" cy="512064"/>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7580375" y="4041648"/>
            <a:ext cx="3803904" cy="347472"/>
          </a:xfrm>
          <a:prstGeom prst="rect">
            <a:avLst/>
          </a:prstGeom>
          <a:noFill/>
        </p:spPr>
        <p:txBody>
          <a:bodyPr wrap="square" lIns="0" rIns="0" tIns="0" bIns="0" anchor="t">
            <a:spAutoFit/>
          </a:bodyPr>
          <a:lstStyle/>
          <a:p>
            <a:pPr algn="ctr">
              <a:lnSpc>
                <a:spcPct val="112000"/>
              </a:lnSpc>
              <a:spcBef>
                <a:spcPts val="0"/>
              </a:spcBef>
              <a:spcAft>
                <a:spcPts val="0"/>
              </a:spcAft>
              <a:defRPr sz="1750" b="0">
                <a:solidFill>
                  <a:srgbClr val="192F43"/>
                </a:solidFill>
                <a:latin typeface="Noto Sans"/>
              </a:defRPr>
            </a:pPr>
            <a:r>
              <a:t>98/105 = 93,33%</a:t>
            </a:r>
          </a:p>
        </p:txBody>
      </p:sp>
      <p:cxnSp>
        <p:nvCxnSpPr>
          <p:cNvPr id="45" name="Connector 44"/>
          <p:cNvCxnSpPr/>
          <p:nvPr/>
        </p:nvCxnSpPr>
        <p:spPr>
          <a:xfrm>
            <a:off x="612648" y="4407408"/>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46" name="Rectangle 45"/>
          <p:cNvSpPr/>
          <p:nvPr/>
        </p:nvSpPr>
        <p:spPr>
          <a:xfrm>
            <a:off x="612648" y="4407408"/>
            <a:ext cx="283464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TextBox 46"/>
          <p:cNvSpPr txBox="1"/>
          <p:nvPr/>
        </p:nvSpPr>
        <p:spPr>
          <a:xfrm>
            <a:off x="768096" y="4553712"/>
            <a:ext cx="2523744" cy="347472"/>
          </a:xfrm>
          <a:prstGeom prst="rect">
            <a:avLst/>
          </a:prstGeom>
          <a:noFill/>
        </p:spPr>
        <p:txBody>
          <a:bodyPr wrap="square" lIns="0" rIns="0" tIns="0" bIns="0" anchor="t">
            <a:spAutoFit/>
          </a:bodyPr>
          <a:lstStyle/>
          <a:p>
            <a:pPr algn="l">
              <a:lnSpc>
                <a:spcPct val="112000"/>
              </a:lnSpc>
              <a:spcBef>
                <a:spcPts val="0"/>
              </a:spcBef>
              <a:spcAft>
                <a:spcPts val="0"/>
              </a:spcAft>
              <a:defRPr sz="1750" b="0">
                <a:solidFill>
                  <a:srgbClr val="192F43"/>
                </a:solidFill>
                <a:latin typeface="Noto Sans"/>
              </a:defRPr>
            </a:pPr>
            <a:r>
              <a:t>Specificity</a:t>
            </a:r>
          </a:p>
        </p:txBody>
      </p:sp>
      <p:sp>
        <p:nvSpPr>
          <p:cNvPr id="48" name="Rectangle 47"/>
          <p:cNvSpPr/>
          <p:nvPr/>
        </p:nvSpPr>
        <p:spPr>
          <a:xfrm>
            <a:off x="3447288" y="4407408"/>
            <a:ext cx="3977639"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TextBox 48"/>
          <p:cNvSpPr txBox="1"/>
          <p:nvPr/>
        </p:nvSpPr>
        <p:spPr>
          <a:xfrm>
            <a:off x="3602736" y="4553712"/>
            <a:ext cx="3666744" cy="347472"/>
          </a:xfrm>
          <a:prstGeom prst="rect">
            <a:avLst/>
          </a:prstGeom>
          <a:noFill/>
        </p:spPr>
        <p:txBody>
          <a:bodyPr wrap="square" lIns="0" rIns="0" tIns="0" bIns="0" anchor="t">
            <a:spAutoFit/>
          </a:bodyPr>
          <a:lstStyle/>
          <a:p>
            <a:pPr algn="ctr">
              <a:lnSpc>
                <a:spcPct val="112000"/>
              </a:lnSpc>
              <a:spcBef>
                <a:spcPts val="0"/>
              </a:spcBef>
              <a:spcAft>
                <a:spcPts val="0"/>
              </a:spcAft>
              <a:defRPr sz="1750" b="0">
                <a:solidFill>
                  <a:srgbClr val="192F43"/>
                </a:solidFill>
                <a:latin typeface="Noto Sans"/>
              </a:defRPr>
            </a:pPr>
            <a:r>
              <a:t>TN / (TN + FP)</a:t>
            </a:r>
          </a:p>
        </p:txBody>
      </p:sp>
      <p:sp>
        <p:nvSpPr>
          <p:cNvPr id="50" name="Rectangle 49"/>
          <p:cNvSpPr/>
          <p:nvPr/>
        </p:nvSpPr>
        <p:spPr>
          <a:xfrm>
            <a:off x="7424927" y="4407408"/>
            <a:ext cx="411480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TextBox 50"/>
          <p:cNvSpPr txBox="1"/>
          <p:nvPr/>
        </p:nvSpPr>
        <p:spPr>
          <a:xfrm>
            <a:off x="7580375" y="4553712"/>
            <a:ext cx="3803904" cy="347472"/>
          </a:xfrm>
          <a:prstGeom prst="rect">
            <a:avLst/>
          </a:prstGeom>
          <a:noFill/>
        </p:spPr>
        <p:txBody>
          <a:bodyPr wrap="square" lIns="0" rIns="0" tIns="0" bIns="0" anchor="t">
            <a:spAutoFit/>
          </a:bodyPr>
          <a:lstStyle/>
          <a:p>
            <a:pPr algn="ctr">
              <a:lnSpc>
                <a:spcPct val="112000"/>
              </a:lnSpc>
              <a:spcBef>
                <a:spcPts val="0"/>
              </a:spcBef>
              <a:spcAft>
                <a:spcPts val="0"/>
              </a:spcAft>
              <a:defRPr sz="1750" b="0">
                <a:solidFill>
                  <a:srgbClr val="192F43"/>
                </a:solidFill>
                <a:latin typeface="Noto Sans"/>
              </a:defRPr>
            </a:pPr>
            <a:r>
              <a:t>87/90 = 96,67%</a:t>
            </a:r>
          </a:p>
        </p:txBody>
      </p:sp>
      <p:cxnSp>
        <p:nvCxnSpPr>
          <p:cNvPr id="52" name="Connector 51"/>
          <p:cNvCxnSpPr/>
          <p:nvPr/>
        </p:nvCxnSpPr>
        <p:spPr>
          <a:xfrm>
            <a:off x="612648" y="4919472"/>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3" name="Rectangle 52"/>
          <p:cNvSpPr/>
          <p:nvPr/>
        </p:nvSpPr>
        <p:spPr>
          <a:xfrm>
            <a:off x="612648" y="4919472"/>
            <a:ext cx="2834640" cy="512064"/>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TextBox 53"/>
          <p:cNvSpPr txBox="1"/>
          <p:nvPr/>
        </p:nvSpPr>
        <p:spPr>
          <a:xfrm>
            <a:off x="768096" y="5065776"/>
            <a:ext cx="2523744" cy="347472"/>
          </a:xfrm>
          <a:prstGeom prst="rect">
            <a:avLst/>
          </a:prstGeom>
          <a:noFill/>
        </p:spPr>
        <p:txBody>
          <a:bodyPr wrap="square" lIns="0" rIns="0" tIns="0" bIns="0" anchor="t">
            <a:spAutoFit/>
          </a:bodyPr>
          <a:lstStyle/>
          <a:p>
            <a:pPr algn="l">
              <a:lnSpc>
                <a:spcPct val="112000"/>
              </a:lnSpc>
              <a:spcBef>
                <a:spcPts val="0"/>
              </a:spcBef>
              <a:spcAft>
                <a:spcPts val="0"/>
              </a:spcAft>
              <a:defRPr sz="1750" b="0">
                <a:solidFill>
                  <a:srgbClr val="192F43"/>
                </a:solidFill>
                <a:latin typeface="Noto Sans"/>
              </a:defRPr>
            </a:pPr>
            <a:r>
              <a:t>Balanced accuracy</a:t>
            </a:r>
          </a:p>
        </p:txBody>
      </p:sp>
      <p:sp>
        <p:nvSpPr>
          <p:cNvPr id="55" name="Rectangle 54"/>
          <p:cNvSpPr/>
          <p:nvPr/>
        </p:nvSpPr>
        <p:spPr>
          <a:xfrm>
            <a:off x="3447288" y="4919472"/>
            <a:ext cx="3977639" cy="512064"/>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TextBox 55"/>
          <p:cNvSpPr txBox="1"/>
          <p:nvPr/>
        </p:nvSpPr>
        <p:spPr>
          <a:xfrm>
            <a:off x="3602736" y="5065776"/>
            <a:ext cx="3666744" cy="347472"/>
          </a:xfrm>
          <a:prstGeom prst="rect">
            <a:avLst/>
          </a:prstGeom>
          <a:noFill/>
        </p:spPr>
        <p:txBody>
          <a:bodyPr wrap="square" lIns="0" rIns="0" tIns="0" bIns="0" anchor="t">
            <a:spAutoFit/>
          </a:bodyPr>
          <a:lstStyle/>
          <a:p>
            <a:pPr algn="ctr">
              <a:lnSpc>
                <a:spcPct val="112000"/>
              </a:lnSpc>
              <a:spcBef>
                <a:spcPts val="0"/>
              </a:spcBef>
              <a:spcAft>
                <a:spcPts val="0"/>
              </a:spcAft>
              <a:defRPr sz="1750" b="0">
                <a:solidFill>
                  <a:srgbClr val="192F43"/>
                </a:solidFill>
                <a:latin typeface="Noto Sans"/>
              </a:defRPr>
            </a:pPr>
            <a:r>
              <a:t>Trung bình recall hai lớp</a:t>
            </a:r>
          </a:p>
        </p:txBody>
      </p:sp>
      <p:sp>
        <p:nvSpPr>
          <p:cNvPr id="57" name="Rectangle 56"/>
          <p:cNvSpPr/>
          <p:nvPr/>
        </p:nvSpPr>
        <p:spPr>
          <a:xfrm>
            <a:off x="7424927" y="4919472"/>
            <a:ext cx="4114800" cy="512064"/>
          </a:xfrm>
          <a:prstGeom prst="rect">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TextBox 57"/>
          <p:cNvSpPr txBox="1"/>
          <p:nvPr/>
        </p:nvSpPr>
        <p:spPr>
          <a:xfrm>
            <a:off x="7580375" y="5065776"/>
            <a:ext cx="3803904" cy="347472"/>
          </a:xfrm>
          <a:prstGeom prst="rect">
            <a:avLst/>
          </a:prstGeom>
          <a:noFill/>
        </p:spPr>
        <p:txBody>
          <a:bodyPr wrap="square" lIns="0" rIns="0" tIns="0" bIns="0" anchor="t">
            <a:spAutoFit/>
          </a:bodyPr>
          <a:lstStyle/>
          <a:p>
            <a:pPr algn="ctr">
              <a:lnSpc>
                <a:spcPct val="112000"/>
              </a:lnSpc>
              <a:spcBef>
                <a:spcPts val="0"/>
              </a:spcBef>
              <a:spcAft>
                <a:spcPts val="0"/>
              </a:spcAft>
              <a:defRPr sz="1750" b="0">
                <a:solidFill>
                  <a:srgbClr val="192F43"/>
                </a:solidFill>
                <a:latin typeface="Noto Sans"/>
              </a:defRPr>
            </a:pPr>
            <a:r>
              <a:t>94,56%</a:t>
            </a:r>
          </a:p>
        </p:txBody>
      </p:sp>
      <p:cxnSp>
        <p:nvCxnSpPr>
          <p:cNvPr id="59" name="Connector 58"/>
          <p:cNvCxnSpPr/>
          <p:nvPr/>
        </p:nvCxnSpPr>
        <p:spPr>
          <a:xfrm>
            <a:off x="612648" y="5431536"/>
            <a:ext cx="10927080" cy="0"/>
          </a:xfrm>
          <a:prstGeom prst="line">
            <a:avLst/>
          </a:prstGeom>
          <a:ln w="6985">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60" name="Rounded Rectangle 59"/>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1" name="TextBox 60"/>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Accuracy test, balanced accuracy CV và OOB là các phép đánh giá khác nhau.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PHỤ LỤC / MỞ RỘNG LÝ THUYẾT</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C. Boosting và Stacking khác Bagging ở đâu?</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[3], [6], [7] · Chưa chạy thực nghiệm hai phương pháp này</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27</a:t>
            </a:r>
          </a:p>
        </p:txBody>
      </p:sp>
      <p:sp>
        <p:nvSpPr>
          <p:cNvPr id="8" name="Rectangle 7"/>
          <p:cNvSpPr/>
          <p:nvPr/>
        </p:nvSpPr>
        <p:spPr>
          <a:xfrm>
            <a:off x="10671048"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ounded Rectangle 11"/>
          <p:cNvSpPr/>
          <p:nvPr/>
        </p:nvSpPr>
        <p:spPr>
          <a:xfrm>
            <a:off x="621792" y="2011680"/>
            <a:ext cx="5285232" cy="3429000"/>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59536" y="2368296"/>
            <a:ext cx="4754880" cy="457200"/>
          </a:xfrm>
          <a:prstGeom prst="rect">
            <a:avLst/>
          </a:prstGeom>
          <a:noFill/>
        </p:spPr>
        <p:txBody>
          <a:bodyPr wrap="square" lIns="0" rIns="0" tIns="0" bIns="0" anchor="t">
            <a:spAutoFit/>
          </a:bodyPr>
          <a:lstStyle/>
          <a:p>
            <a:pPr algn="l">
              <a:lnSpc>
                <a:spcPct val="112000"/>
              </a:lnSpc>
              <a:spcBef>
                <a:spcPts val="0"/>
              </a:spcBef>
              <a:spcAft>
                <a:spcPts val="0"/>
              </a:spcAft>
              <a:defRPr sz="2600" b="1">
                <a:solidFill>
                  <a:srgbClr val="142D46"/>
                </a:solidFill>
                <a:latin typeface="Noto Sans"/>
              </a:defRPr>
            </a:pPr>
            <a:r>
              <a:t>BOOSTING</a:t>
            </a:r>
          </a:p>
        </p:txBody>
      </p:sp>
      <p:sp>
        <p:nvSpPr>
          <p:cNvPr id="14" name="TextBox 13"/>
          <p:cNvSpPr txBox="1"/>
          <p:nvPr/>
        </p:nvSpPr>
        <p:spPr>
          <a:xfrm>
            <a:off x="859536" y="3264408"/>
            <a:ext cx="4754880" cy="1737360"/>
          </a:xfrm>
          <a:prstGeom prst="rect">
            <a:avLst/>
          </a:prstGeom>
          <a:noFill/>
        </p:spPr>
        <p:txBody>
          <a:bodyPr wrap="square" lIns="0" rIns="0" tIns="0" bIns="0" anchor="t">
            <a:spAutoFit/>
          </a:bodyPr>
          <a:lstStyle/>
          <a:p>
            <a:pPr algn="l">
              <a:lnSpc>
                <a:spcPct val="140000"/>
              </a:lnSpc>
              <a:spcBef>
                <a:spcPts val="0"/>
              </a:spcBef>
              <a:spcAft>
                <a:spcPts val="0"/>
              </a:spcAft>
              <a:defRPr sz="1900" b="0">
                <a:solidFill>
                  <a:srgbClr val="5B6B7B"/>
                </a:solidFill>
                <a:latin typeface="Noto Sans"/>
              </a:defRPr>
            </a:pPr>
            <a:r>
              <a:t>Học một chuỗi mô hình.</a:t>
            </a:r>
          </a:p>
          <a:p>
            <a:pPr algn="l">
              <a:lnSpc>
                <a:spcPct val="140000"/>
              </a:lnSpc>
              <a:spcBef>
                <a:spcPts val="0"/>
              </a:spcBef>
              <a:spcAft>
                <a:spcPts val="0"/>
              </a:spcAft>
              <a:defRPr sz="1900" b="0">
                <a:solidFill>
                  <a:srgbClr val="5B6B7B"/>
                </a:solidFill>
                <a:latin typeface="Noto Sans"/>
              </a:defRPr>
            </a:pPr>
            <a:r>
              <a:t>AdaBoost tăng trọng số tương đối</a:t>
            </a:r>
          </a:p>
          <a:p>
            <a:pPr algn="l">
              <a:lnSpc>
                <a:spcPct val="140000"/>
              </a:lnSpc>
              <a:spcBef>
                <a:spcPts val="0"/>
              </a:spcBef>
              <a:spcAft>
                <a:spcPts val="0"/>
              </a:spcAft>
              <a:defRPr sz="1900" b="0">
                <a:solidFill>
                  <a:srgbClr val="5B6B7B"/>
                </a:solidFill>
                <a:latin typeface="Noto Sans"/>
              </a:defRPr>
            </a:pPr>
            <a:r>
              <a:t>cho mẫu dự đoán sai.</a:t>
            </a:r>
          </a:p>
          <a:p>
            <a:pPr algn="l">
              <a:lnSpc>
                <a:spcPct val="140000"/>
              </a:lnSpc>
              <a:spcBef>
                <a:spcPts val="0"/>
              </a:spcBef>
              <a:spcAft>
                <a:spcPts val="0"/>
              </a:spcAft>
              <a:defRPr sz="1900" b="0">
                <a:solidFill>
                  <a:srgbClr val="5B6B7B"/>
                </a:solidFill>
                <a:latin typeface="Noto Sans"/>
              </a:defRPr>
            </a:pPr>
            <a:r>
              <a:t>Gradient Boosting giảm hàm mất mát.</a:t>
            </a:r>
          </a:p>
        </p:txBody>
      </p:sp>
      <p:sp>
        <p:nvSpPr>
          <p:cNvPr id="15" name="Rounded Rectangle 14"/>
          <p:cNvSpPr/>
          <p:nvPr/>
        </p:nvSpPr>
        <p:spPr>
          <a:xfrm>
            <a:off x="6291072" y="2011680"/>
            <a:ext cx="5285232" cy="3429000"/>
          </a:xfrm>
          <a:prstGeom prst="roundRect">
            <a:avLst>
              <a:gd name="adj" fmla="val 8000"/>
            </a:avLst>
          </a:prstGeom>
          <a:solidFill>
            <a:srgbClr val="F4F7F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6528816" y="2368296"/>
            <a:ext cx="4754880" cy="457200"/>
          </a:xfrm>
          <a:prstGeom prst="rect">
            <a:avLst/>
          </a:prstGeom>
          <a:noFill/>
        </p:spPr>
        <p:txBody>
          <a:bodyPr wrap="square" lIns="0" rIns="0" tIns="0" bIns="0" anchor="t">
            <a:spAutoFit/>
          </a:bodyPr>
          <a:lstStyle/>
          <a:p>
            <a:pPr algn="l">
              <a:lnSpc>
                <a:spcPct val="112000"/>
              </a:lnSpc>
              <a:spcBef>
                <a:spcPts val="0"/>
              </a:spcBef>
              <a:spcAft>
                <a:spcPts val="0"/>
              </a:spcAft>
              <a:defRPr sz="2600" b="1">
                <a:solidFill>
                  <a:srgbClr val="142D46"/>
                </a:solidFill>
                <a:latin typeface="Noto Sans"/>
              </a:defRPr>
            </a:pPr>
            <a:r>
              <a:t>STACKING</a:t>
            </a:r>
          </a:p>
        </p:txBody>
      </p:sp>
      <p:sp>
        <p:nvSpPr>
          <p:cNvPr id="17" name="TextBox 16"/>
          <p:cNvSpPr txBox="1"/>
          <p:nvPr/>
        </p:nvSpPr>
        <p:spPr>
          <a:xfrm>
            <a:off x="6528816" y="3264408"/>
            <a:ext cx="4754880" cy="1737360"/>
          </a:xfrm>
          <a:prstGeom prst="rect">
            <a:avLst/>
          </a:prstGeom>
          <a:noFill/>
        </p:spPr>
        <p:txBody>
          <a:bodyPr wrap="square" lIns="0" rIns="0" tIns="0" bIns="0" anchor="t">
            <a:spAutoFit/>
          </a:bodyPr>
          <a:lstStyle/>
          <a:p>
            <a:pPr algn="l">
              <a:lnSpc>
                <a:spcPct val="140000"/>
              </a:lnSpc>
              <a:spcBef>
                <a:spcPts val="0"/>
              </a:spcBef>
              <a:spcAft>
                <a:spcPts val="0"/>
              </a:spcAft>
              <a:defRPr sz="1900" b="0">
                <a:solidFill>
                  <a:srgbClr val="5B6B7B"/>
                </a:solidFill>
                <a:latin typeface="Noto Sans"/>
              </a:defRPr>
            </a:pPr>
            <a:r>
              <a:t>Học mô hình tầng hai.</a:t>
            </a:r>
          </a:p>
          <a:p>
            <a:pPr algn="l">
              <a:lnSpc>
                <a:spcPct val="140000"/>
              </a:lnSpc>
              <a:spcBef>
                <a:spcPts val="0"/>
              </a:spcBef>
              <a:spcAft>
                <a:spcPts val="0"/>
              </a:spcAft>
              <a:defRPr sz="1900" b="0">
                <a:solidFill>
                  <a:srgbClr val="5B6B7B"/>
                </a:solidFill>
                <a:latin typeface="Noto Sans"/>
              </a:defRPr>
            </a:pPr>
            <a:r>
              <a:t>Đầu vào là dự đoán ngoài fold (OOF)</a:t>
            </a:r>
          </a:p>
          <a:p>
            <a:pPr algn="l">
              <a:lnSpc>
                <a:spcPct val="140000"/>
              </a:lnSpc>
              <a:spcBef>
                <a:spcPts val="0"/>
              </a:spcBef>
              <a:spcAft>
                <a:spcPts val="0"/>
              </a:spcAft>
              <a:defRPr sz="1900" b="0">
                <a:solidFill>
                  <a:srgbClr val="5B6B7B"/>
                </a:solidFill>
                <a:latin typeface="Noto Sans"/>
              </a:defRPr>
            </a:pPr>
            <a:r>
              <a:t>của các mô hình cơ sở.</a:t>
            </a:r>
          </a:p>
          <a:p>
            <a:pPr algn="l">
              <a:lnSpc>
                <a:spcPct val="140000"/>
              </a:lnSpc>
              <a:spcBef>
                <a:spcPts val="0"/>
              </a:spcBef>
              <a:spcAft>
                <a:spcPts val="0"/>
              </a:spcAft>
              <a:defRPr sz="1900" b="0">
                <a:solidFill>
                  <a:srgbClr val="5B6B7B"/>
                </a:solidFill>
                <a:latin typeface="Noto Sans"/>
              </a:defRPr>
            </a:pPr>
            <a:r>
              <a:t>Tránh dùng dự đoán in-sample để học tầng hai.</a:t>
            </a:r>
          </a:p>
        </p:txBody>
      </p:sp>
      <p:sp>
        <p:nvSpPr>
          <p:cNvPr id="18" name="Rounded Rectangle 17"/>
          <p:cNvSpPr/>
          <p:nvPr/>
        </p:nvSpPr>
        <p:spPr>
          <a:xfrm>
            <a:off x="566928" y="5769864"/>
            <a:ext cx="11045952" cy="438912"/>
          </a:xfrm>
          <a:prstGeom prst="roundRect">
            <a:avLst>
              <a:gd name="adj" fmla="val 8000"/>
            </a:avLst>
          </a:prstGeom>
          <a:solidFill>
            <a:srgbClr val="E9F4F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749808" y="5865876"/>
            <a:ext cx="10652760" cy="265176"/>
          </a:xfrm>
          <a:prstGeom prst="rect">
            <a:avLst/>
          </a:prstGeom>
          <a:noFill/>
        </p:spPr>
        <p:txBody>
          <a:bodyPr wrap="square" lIns="0" rIns="0" tIns="0" bIns="0" anchor="t">
            <a:spAutoFit/>
          </a:bodyPr>
          <a:lstStyle/>
          <a:p>
            <a:pPr algn="l">
              <a:lnSpc>
                <a:spcPct val="112000"/>
              </a:lnSpc>
              <a:spcBef>
                <a:spcPts val="0"/>
              </a:spcBef>
              <a:spcAft>
                <a:spcPts val="0"/>
              </a:spcAft>
              <a:defRPr sz="1550" b="1">
                <a:solidFill>
                  <a:srgbClr val="087F82"/>
                </a:solidFill>
                <a:latin typeface="Noto Sans"/>
              </a:defRPr>
            </a:pPr>
            <a:r>
              <a:t>Bagging đổi mẫu train để học các mô hình độc lập; hai hướng trên thay đổi cách phối hợp.</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65176"/>
            <a:ext cx="9875520" cy="228600"/>
          </a:xfrm>
          <a:prstGeom prst="rect">
            <a:avLst/>
          </a:prstGeom>
          <a:noFill/>
        </p:spPr>
        <p:txBody>
          <a:bodyPr wrap="square" lIns="0" rIns="0" tIns="0" bIns="0" anchor="t">
            <a:spAutoFit/>
          </a:bodyPr>
          <a:lstStyle/>
          <a:p>
            <a:pPr algn="l">
              <a:lnSpc>
                <a:spcPct val="112000"/>
              </a:lnSpc>
              <a:spcBef>
                <a:spcPts val="0"/>
              </a:spcBef>
              <a:spcAft>
                <a:spcPts val="0"/>
              </a:spcAft>
              <a:defRPr sz="1050" b="1">
                <a:solidFill>
                  <a:srgbClr val="087F82"/>
                </a:solidFill>
                <a:latin typeface="Noto Sans"/>
              </a:defRPr>
            </a:pPr>
            <a:r>
              <a:t>PHỤ LỤC / NGUỒN</a:t>
            </a:r>
          </a:p>
        </p:txBody>
      </p:sp>
      <p:sp>
        <p:nvSpPr>
          <p:cNvPr id="3" name="TextBox 2"/>
          <p:cNvSpPr txBox="1"/>
          <p:nvPr/>
        </p:nvSpPr>
        <p:spPr>
          <a:xfrm>
            <a:off x="566928" y="795528"/>
            <a:ext cx="11045952" cy="868680"/>
          </a:xfrm>
          <a:prstGeom prst="rect">
            <a:avLst/>
          </a:prstGeom>
          <a:noFill/>
        </p:spPr>
        <p:txBody>
          <a:bodyPr wrap="square" lIns="0" rIns="0" tIns="0" bIns="0" anchor="t">
            <a:spAutoFit/>
          </a:bodyPr>
          <a:lstStyle/>
          <a:p>
            <a:pPr algn="l">
              <a:lnSpc>
                <a:spcPct val="112000"/>
              </a:lnSpc>
              <a:spcBef>
                <a:spcPts val="0"/>
              </a:spcBef>
              <a:spcAft>
                <a:spcPts val="0"/>
              </a:spcAft>
              <a:defRPr sz="3000" b="1">
                <a:solidFill>
                  <a:srgbClr val="142D46"/>
                </a:solidFill>
                <a:latin typeface="Noto Sans"/>
              </a:defRPr>
            </a:pPr>
            <a:r>
              <a:t>D. Tài liệu tham khảo và cách tái lập</a:t>
            </a:r>
          </a:p>
        </p:txBody>
      </p:sp>
      <p:cxnSp>
        <p:nvCxnSpPr>
          <p:cNvPr id="4" name="Connector 3"/>
          <p:cNvCxnSpPr/>
          <p:nvPr/>
        </p:nvCxnSpPr>
        <p:spPr>
          <a:xfrm>
            <a:off x="566928" y="6419088"/>
            <a:ext cx="11045952" cy="0"/>
          </a:xfrm>
          <a:prstGeom prst="line">
            <a:avLst/>
          </a:prstGeom>
          <a:ln w="8890">
            <a:solidFill>
              <a:srgbClr val="DCE4EB"/>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66928" y="6528816"/>
            <a:ext cx="3429000" cy="155448"/>
          </a:xfrm>
          <a:prstGeom prst="rect">
            <a:avLst/>
          </a:prstGeom>
          <a:noFill/>
        </p:spPr>
        <p:txBody>
          <a:bodyPr wrap="square" lIns="0" rIns="0" tIns="0" bIns="0" anchor="t">
            <a:spAutoFit/>
          </a:bodyPr>
          <a:lstStyle/>
          <a:p>
            <a:pPr algn="l">
              <a:lnSpc>
                <a:spcPct val="112000"/>
              </a:lnSpc>
              <a:spcBef>
                <a:spcPts val="0"/>
              </a:spcBef>
              <a:spcAft>
                <a:spcPts val="0"/>
              </a:spcAft>
              <a:defRPr sz="819" b="0">
                <a:solidFill>
                  <a:srgbClr val="5B6B7B"/>
                </a:solidFill>
                <a:latin typeface="Noto Sans"/>
              </a:defRPr>
            </a:pPr>
            <a:r>
              <a:t>ĐỀ 5 / ENSEMBLE LEARNING</a:t>
            </a:r>
          </a:p>
        </p:txBody>
      </p:sp>
      <p:sp>
        <p:nvSpPr>
          <p:cNvPr id="6" name="TextBox 5"/>
          <p:cNvSpPr txBox="1"/>
          <p:nvPr/>
        </p:nvSpPr>
        <p:spPr>
          <a:xfrm>
            <a:off x="3840480" y="6528816"/>
            <a:ext cx="7059168" cy="155448"/>
          </a:xfrm>
          <a:prstGeom prst="rect">
            <a:avLst/>
          </a:prstGeom>
          <a:noFill/>
        </p:spPr>
        <p:txBody>
          <a:bodyPr wrap="square" lIns="0" rIns="0" tIns="0" bIns="0" anchor="t">
            <a:spAutoFit/>
          </a:bodyPr>
          <a:lstStyle/>
          <a:p>
            <a:pPr algn="r">
              <a:lnSpc>
                <a:spcPct val="112000"/>
              </a:lnSpc>
              <a:spcBef>
                <a:spcPts val="0"/>
              </a:spcBef>
              <a:spcAft>
                <a:spcPts val="0"/>
              </a:spcAft>
              <a:defRPr sz="819" b="0">
                <a:solidFill>
                  <a:srgbClr val="5B6B7B"/>
                </a:solidFill>
                <a:latin typeface="Noto Sans"/>
              </a:defRPr>
            </a:pPr>
            <a:r>
              <a:t>Danh mục đầy đủ và DOI nằm trong báo cáo Word/PDF</a:t>
            </a:r>
          </a:p>
        </p:txBody>
      </p:sp>
      <p:sp>
        <p:nvSpPr>
          <p:cNvPr id="7" name="TextBox 6"/>
          <p:cNvSpPr txBox="1"/>
          <p:nvPr/>
        </p:nvSpPr>
        <p:spPr>
          <a:xfrm>
            <a:off x="11100816" y="6492240"/>
            <a:ext cx="512064" cy="228600"/>
          </a:xfrm>
          <a:prstGeom prst="rect">
            <a:avLst/>
          </a:prstGeom>
          <a:noFill/>
        </p:spPr>
        <p:txBody>
          <a:bodyPr wrap="square" lIns="0" rIns="0" tIns="0" bIns="0" anchor="t">
            <a:spAutoFit/>
          </a:bodyPr>
          <a:lstStyle/>
          <a:p>
            <a:pPr algn="r">
              <a:lnSpc>
                <a:spcPct val="112000"/>
              </a:lnSpc>
              <a:spcBef>
                <a:spcPts val="0"/>
              </a:spcBef>
              <a:spcAft>
                <a:spcPts val="0"/>
              </a:spcAft>
              <a:defRPr sz="1100" b="1">
                <a:solidFill>
                  <a:srgbClr val="087F82"/>
                </a:solidFill>
                <a:latin typeface="Noto Sans"/>
              </a:defRPr>
            </a:pPr>
            <a:r>
              <a:t>28</a:t>
            </a:r>
          </a:p>
        </p:txBody>
      </p:sp>
      <p:sp>
        <p:nvSpPr>
          <p:cNvPr id="8" name="Rectangle 7"/>
          <p:cNvSpPr/>
          <p:nvPr/>
        </p:nvSpPr>
        <p:spPr>
          <a:xfrm>
            <a:off x="10671048"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10917936"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11164824"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11411712" y="329184"/>
            <a:ext cx="164592" cy="32004"/>
          </a:xfrm>
          <a:prstGeom prst="rect">
            <a:avLst/>
          </a:prstGeom>
          <a:solidFill>
            <a:srgbClr val="087F8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67512" y="1856231"/>
            <a:ext cx="10881360" cy="2377440"/>
          </a:xfrm>
          <a:prstGeom prst="rect">
            <a:avLst/>
          </a:prstGeom>
          <a:noFill/>
        </p:spPr>
        <p:txBody>
          <a:bodyPr wrap="square" lIns="0" rIns="0" tIns="0" bIns="0" anchor="t">
            <a:spAutoFit/>
          </a:bodyPr>
          <a:lstStyle/>
          <a:p>
            <a:pPr algn="l">
              <a:lnSpc>
                <a:spcPct val="152000"/>
              </a:lnSpc>
              <a:spcBef>
                <a:spcPts val="0"/>
              </a:spcBef>
              <a:spcAft>
                <a:spcPts val="0"/>
              </a:spcAft>
              <a:defRPr sz="1580" b="0">
                <a:solidFill>
                  <a:srgbClr val="192F43"/>
                </a:solidFill>
                <a:latin typeface="Noto Sans"/>
              </a:defRPr>
            </a:pPr>
            <a:r>
              <a:t>[1] Breiman (1996). Bagging Predictors. Machine Learning 24, 123–140.</a:t>
            </a:r>
          </a:p>
          <a:p>
            <a:pPr algn="l">
              <a:lnSpc>
                <a:spcPct val="152000"/>
              </a:lnSpc>
              <a:spcBef>
                <a:spcPts val="0"/>
              </a:spcBef>
              <a:spcAft>
                <a:spcPts val="0"/>
              </a:spcAft>
              <a:defRPr sz="1580" b="0">
                <a:solidFill>
                  <a:srgbClr val="192F43"/>
                </a:solidFill>
                <a:latin typeface="Noto Sans"/>
              </a:defRPr>
            </a:pPr>
            <a:r>
              <a:t>[2] Breiman (2001). Random Forests. Machine Learning 45, 5–32.</a:t>
            </a:r>
          </a:p>
          <a:p>
            <a:pPr algn="l">
              <a:lnSpc>
                <a:spcPct val="152000"/>
              </a:lnSpc>
              <a:spcBef>
                <a:spcPts val="0"/>
              </a:spcBef>
              <a:spcAft>
                <a:spcPts val="0"/>
              </a:spcAft>
              <a:defRPr sz="1580" b="0">
                <a:solidFill>
                  <a:srgbClr val="192F43"/>
                </a:solidFill>
                <a:latin typeface="Noto Sans"/>
              </a:defRPr>
            </a:pPr>
            <a:r>
              <a:t>[3] scikit-learn User Guide. Ensemble methods.</a:t>
            </a:r>
          </a:p>
          <a:p>
            <a:pPr algn="l">
              <a:lnSpc>
                <a:spcPct val="152000"/>
              </a:lnSpc>
              <a:spcBef>
                <a:spcPts val="0"/>
              </a:spcBef>
              <a:spcAft>
                <a:spcPts val="0"/>
              </a:spcAft>
              <a:defRPr sz="1580" b="0">
                <a:solidFill>
                  <a:srgbClr val="192F43"/>
                </a:solidFill>
                <a:latin typeface="Noto Sans"/>
              </a:defRPr>
            </a:pPr>
            <a:r>
              <a:t>[4] scikit-learn API. load_breast_cancer.</a:t>
            </a:r>
          </a:p>
          <a:p>
            <a:pPr algn="l">
              <a:lnSpc>
                <a:spcPct val="152000"/>
              </a:lnSpc>
              <a:spcBef>
                <a:spcPts val="0"/>
              </a:spcBef>
              <a:spcAft>
                <a:spcPts val="0"/>
              </a:spcAft>
              <a:defRPr sz="1580" b="0">
                <a:solidFill>
                  <a:srgbClr val="192F43"/>
                </a:solidFill>
                <a:latin typeface="Noto Sans"/>
              </a:defRPr>
            </a:pPr>
            <a:r>
              <a:t>[5] scikit-learn User Guide. Decision Trees.</a:t>
            </a:r>
          </a:p>
          <a:p>
            <a:pPr algn="l">
              <a:lnSpc>
                <a:spcPct val="152000"/>
              </a:lnSpc>
              <a:spcBef>
                <a:spcPts val="0"/>
              </a:spcBef>
              <a:spcAft>
                <a:spcPts val="0"/>
              </a:spcAft>
              <a:defRPr sz="1580" b="0">
                <a:solidFill>
                  <a:srgbClr val="192F43"/>
                </a:solidFill>
                <a:latin typeface="Noto Sans"/>
              </a:defRPr>
            </a:pPr>
            <a:r>
              <a:t>[6] Freund &amp; Schapire (1997). An Application to Boosting. JCSS 55(1).</a:t>
            </a:r>
          </a:p>
          <a:p>
            <a:pPr algn="l">
              <a:lnSpc>
                <a:spcPct val="152000"/>
              </a:lnSpc>
              <a:spcBef>
                <a:spcPts val="0"/>
              </a:spcBef>
              <a:spcAft>
                <a:spcPts val="0"/>
              </a:spcAft>
              <a:defRPr sz="1580" b="0">
                <a:solidFill>
                  <a:srgbClr val="192F43"/>
                </a:solidFill>
                <a:latin typeface="Noto Sans"/>
              </a:defRPr>
            </a:pPr>
            <a:r>
              <a:t>[7] Wolpert (1992). Stacked Generalization. Neural Networks 5(2).</a:t>
            </a:r>
          </a:p>
        </p:txBody>
      </p:sp>
      <p:sp>
        <p:nvSpPr>
          <p:cNvPr id="13" name="Rounded Rectangle 12"/>
          <p:cNvSpPr/>
          <p:nvPr/>
        </p:nvSpPr>
        <p:spPr>
          <a:xfrm>
            <a:off x="612648" y="4581144"/>
            <a:ext cx="10927080" cy="1325880"/>
          </a:xfrm>
          <a:prstGeom prst="roundRect">
            <a:avLst>
              <a:gd name="adj" fmla="val 8000"/>
            </a:avLst>
          </a:prstGeom>
          <a:solidFill>
            <a:srgbClr val="142D4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50392" y="4773168"/>
            <a:ext cx="10424160" cy="960120"/>
          </a:xfrm>
          <a:prstGeom prst="rect">
            <a:avLst/>
          </a:prstGeom>
          <a:noFill/>
        </p:spPr>
        <p:txBody>
          <a:bodyPr wrap="square" lIns="0" rIns="0" tIns="0" bIns="0" anchor="t">
            <a:spAutoFit/>
          </a:bodyPr>
          <a:lstStyle/>
          <a:p>
            <a:pPr algn="l">
              <a:lnSpc>
                <a:spcPct val="128000"/>
              </a:lnSpc>
              <a:spcBef>
                <a:spcPts val="0"/>
              </a:spcBef>
              <a:spcAft>
                <a:spcPts val="0"/>
              </a:spcAft>
              <a:defRPr sz="1730" b="0">
                <a:solidFill>
                  <a:srgbClr val="FFFFFF"/>
                </a:solidFill>
                <a:latin typeface="DejaVu Sans Mono"/>
              </a:defRPr>
            </a:pPr>
            <a:r>
              <a:t>python de_5_ensemble_learning.py</a:t>
            </a:r>
          </a:p>
          <a:p>
            <a:pPr algn="l">
              <a:lnSpc>
                <a:spcPct val="128000"/>
              </a:lnSpc>
              <a:spcBef>
                <a:spcPts val="0"/>
              </a:spcBef>
              <a:spcAft>
                <a:spcPts val="0"/>
              </a:spcAft>
              <a:defRPr sz="1730" b="0">
                <a:solidFill>
                  <a:srgbClr val="FFFFFF"/>
                </a:solidFill>
                <a:latin typeface="DejaVu Sans Mono"/>
              </a:defRPr>
            </a:pPr>
            <a:r>
              <a:t>python experiments/report_extensions.py</a:t>
            </a:r>
          </a:p>
          <a:p>
            <a:pPr algn="l">
              <a:lnSpc>
                <a:spcPct val="128000"/>
              </a:lnSpc>
              <a:spcBef>
                <a:spcPts val="0"/>
              </a:spcBef>
              <a:spcAft>
                <a:spcPts val="0"/>
              </a:spcAft>
              <a:defRPr sz="1730" b="0">
                <a:solidFill>
                  <a:srgbClr val="FFFFFF"/>
                </a:solidFill>
                <a:latin typeface="DejaVu Sans Mono"/>
              </a:defRPr>
            </a:pPr>
            <a:r>
              <a:t>python experiments/controlled_comparison.py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Đề 5 — Ensemble Learning | Bagging cây quyết định</dc:title>
  <dc:subject>Báo cáo giữa kỳ — Nhập môn học máy</dc:subject>
  <dc:creator>Nguyễn Nghĩa Hiếu; Trần Quốc Bảo</dc:creator>
  <cp:keywords>Bagging, bootstrap, hard voting, OOB, đối chứng</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